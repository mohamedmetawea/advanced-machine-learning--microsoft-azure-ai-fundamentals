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ppt/media/image50.jpg" ContentType="image/jpg"/>
  <Override PartName="/ppt/media/image51.jpg" ContentType="image/jpg"/>
  <Override PartName="/ppt/media/image52.jpg" ContentType="image/jpg"/>
  <Override PartName="/ppt/media/image53.jpg" ContentType="image/jpg"/>
  <Override PartName="/ppt/media/image54.jpg" ContentType="image/jpg"/>
  <Override PartName="/ppt/media/image55.jpg" ContentType="image/jpg"/>
  <Override PartName="/ppt/media/image56.jpg" ContentType="image/jpg"/>
  <Override PartName="/ppt/media/image57.jpg" ContentType="image/jpg"/>
  <Override PartName="/ppt/media/image58.jpg" ContentType="image/jpg"/>
  <Override PartName="/ppt/media/image59.jpg" ContentType="image/jpg"/>
  <Override PartName="/ppt/media/image60.jpg" ContentType="image/jpg"/>
  <Override PartName="/ppt/media/image61.jpg" ContentType="image/jpg"/>
  <Override PartName="/ppt/media/image62.jpg" ContentType="image/jpg"/>
  <Override PartName="/ppt/media/image63.jpg" ContentType="image/jpg"/>
  <Override PartName="/ppt/media/image64.jpg" ContentType="image/jpg"/>
  <Override PartName="/ppt/media/image65.jpg" ContentType="image/jpg"/>
  <Override PartName="/ppt/media/image66.jpg" ContentType="image/jpg"/>
  <Override PartName="/ppt/media/image67.jpg" ContentType="image/jpg"/>
  <Override PartName="/ppt/media/image68.jpg" ContentType="image/jpg"/>
  <Override PartName="/ppt/media/image69.jpg" ContentType="image/jpg"/>
  <Override PartName="/ppt/media/image70.jpg" ContentType="image/jpg"/>
  <Override PartName="/ppt/media/image71.jpg" ContentType="image/jpg"/>
  <Override PartName="/ppt/media/image72.jpg" ContentType="image/jpg"/>
  <Override PartName="/ppt/media/image73.jpg" ContentType="image/jpg"/>
  <Override PartName="/ppt/media/image74.jpg" ContentType="image/jpg"/>
  <Override PartName="/ppt/media/image75.jpg" ContentType="image/jpg"/>
  <Override PartName="/ppt/media/image76.jpg" ContentType="image/jpg"/>
  <Override PartName="/ppt/media/image78.jpg" ContentType="image/jpg"/>
  <Override PartName="/ppt/media/image79.jpg" ContentType="image/jpg"/>
  <Override PartName="/ppt/media/image80.jpg" ContentType="image/jpg"/>
  <Override PartName="/ppt/media/image81.jpg" ContentType="image/jpg"/>
  <Override PartName="/ppt/media/image82.jpg" ContentType="image/jpg"/>
  <Override PartName="/ppt/media/image83.jpg" ContentType="image/jpg"/>
  <Override PartName="/ppt/media/image84.jpg" ContentType="image/jpg"/>
  <Override PartName="/ppt/media/image85.jpg" ContentType="image/jpg"/>
  <Override PartName="/ppt/media/image86.jpg" ContentType="image/jpg"/>
  <Override PartName="/ppt/media/image87.jpg" ContentType="image/jpg"/>
  <Override PartName="/ppt/media/image88.jpg" ContentType="image/jpg"/>
  <Override PartName="/ppt/media/image89.jpg" ContentType="image/jpg"/>
  <Override PartName="/ppt/media/image90.jpg" ContentType="image/jpg"/>
  <Override PartName="/ppt/media/image91.jpg" ContentType="image/jpg"/>
  <Override PartName="/ppt/media/image92.jpg" ContentType="image/jpg"/>
  <Override PartName="/ppt/media/image93.jpg" ContentType="image/jpg"/>
  <Override PartName="/ppt/media/image94.jpg" ContentType="image/jpg"/>
  <Override PartName="/ppt/media/image95.jpg" ContentType="image/jpg"/>
  <Override PartName="/ppt/media/image96.jpg" ContentType="image/jpg"/>
  <Override PartName="/ppt/media/image97.jpg" ContentType="image/jpg"/>
  <Override PartName="/ppt/media/image98.jpg" ContentType="image/jpg"/>
  <Override PartName="/ppt/media/image99.jpg" ContentType="image/jpg"/>
  <Override PartName="/ppt/media/image100.jpg" ContentType="image/jpg"/>
  <Override PartName="/ppt/media/image101.jpg" ContentType="image/jpg"/>
  <Override PartName="/ppt/media/image102.jpg" ContentType="image/jpg"/>
  <Override PartName="/ppt/media/image103.jpg" ContentType="image/jpg"/>
  <Override PartName="/ppt/media/image104.jpg" ContentType="image/jpg"/>
  <Override PartName="/ppt/media/image105.jpg" ContentType="image/jpg"/>
  <Override PartName="/ppt/media/image106.jpg" ContentType="image/jpg"/>
  <Override PartName="/ppt/media/image107.jpg" ContentType="image/jpg"/>
  <Override PartName="/ppt/media/image108.jpg" ContentType="image/jpg"/>
  <Override PartName="/ppt/media/image109.jpg" ContentType="image/jpg"/>
  <Override PartName="/ppt/media/image110.jpg" ContentType="image/jpg"/>
  <Override PartName="/ppt/media/image111.jpg" ContentType="image/jpg"/>
  <Override PartName="/ppt/media/image112.jpg" ContentType="image/jpg"/>
  <Override PartName="/ppt/media/image113.jpg" ContentType="image/jpg"/>
  <Override PartName="/ppt/media/image114.jpg" ContentType="image/jpg"/>
  <Override PartName="/ppt/media/image115.jpg" ContentType="image/jpg"/>
  <Override PartName="/ppt/media/image116.jpg" ContentType="image/jpg"/>
  <Override PartName="/ppt/media/image117.jpg" ContentType="image/jpg"/>
  <Override PartName="/ppt/media/image118.jpg" ContentType="image/jpg"/>
  <Override PartName="/ppt/media/image119.jpg" ContentType="image/jpg"/>
  <Override PartName="/ppt/media/image120.jpg" ContentType="image/jpg"/>
  <Override PartName="/ppt/media/image121.jpg" ContentType="image/jpg"/>
  <Override PartName="/ppt/media/image122.jpg" ContentType="image/jpg"/>
  <Override PartName="/ppt/media/image123.jpg" ContentType="image/jpg"/>
  <Override PartName="/ppt/media/image124.jpg" ContentType="image/jpg"/>
  <Override PartName="/ppt/media/image125.jpg" ContentType="image/jpg"/>
  <Override PartName="/ppt/media/image127.jpg" ContentType="image/jpg"/>
  <Override PartName="/ppt/media/image128.jpg" ContentType="image/jpg"/>
  <Override PartName="/ppt/media/image129.jpg" ContentType="image/jpg"/>
  <Override PartName="/ppt/media/image130.jpg" ContentType="image/jpg"/>
  <Override PartName="/ppt/media/image131.jpg" ContentType="image/jpg"/>
  <Override PartName="/ppt/media/image132.jpg" ContentType="image/jpg"/>
  <Override PartName="/ppt/media/image133.jpg" ContentType="image/jpg"/>
  <Override PartName="/ppt/media/image134.jpg" ContentType="image/jpg"/>
  <Override PartName="/ppt/media/image135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7"/>
  </p:notesMasterIdLst>
  <p:handoutMasterIdLst>
    <p:handoutMasterId r:id="rId158"/>
  </p:handoutMasterIdLst>
  <p:sldIdLst>
    <p:sldId id="256" r:id="rId2"/>
    <p:sldId id="284" r:id="rId3"/>
    <p:sldId id="41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408" r:id="rId29"/>
    <p:sldId id="281" r:id="rId30"/>
    <p:sldId id="282" r:id="rId31"/>
    <p:sldId id="283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409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410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8" r:id="rId147"/>
    <p:sldId id="399" r:id="rId148"/>
    <p:sldId id="400" r:id="rId149"/>
    <p:sldId id="401" r:id="rId150"/>
    <p:sldId id="402" r:id="rId151"/>
    <p:sldId id="403" r:id="rId152"/>
    <p:sldId id="404" r:id="rId153"/>
    <p:sldId id="405" r:id="rId154"/>
    <p:sldId id="406" r:id="rId155"/>
    <p:sldId id="407" r:id="rId1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E7"/>
    <a:srgbClr val="0FAB7D"/>
    <a:srgbClr val="336EA8"/>
    <a:srgbClr val="94B9D6"/>
    <a:srgbClr val="1869A6"/>
    <a:srgbClr val="2AA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69D18C-F614-AA06-7896-C2537A503F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33310-1084-80E5-77A5-58D9FF9781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A934D-986A-461F-A56A-008EB77503FA}" type="datetimeFigureOut">
              <a:rPr lang="en-GB" smtClean="0"/>
              <a:t>17/04/2024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369A7-2F8D-89A0-ECB3-4F455C56F7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0CFA2-3CB1-B738-9B34-7A952AF88B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49821-D232-445A-BEEB-776290B88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10709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01773-843B-402D-B943-E7367BE302C1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223A7-FDE5-4555-AB7B-2BBB96A8A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9031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B26E85-A47D-4EB8-AACC-5D71388BF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96502-5A71-49D7-91EF-E9D795A0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02CB4-0340-43A8-A558-65E5F6C99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E7D51-1B41-4AAB-838C-EF900F85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E0C4BE-FE7F-4C02-9A3E-71BC3A48C6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  <p:sp>
        <p:nvSpPr>
          <p:cNvPr id="15" name="Freeform 6">
            <a:extLst>
              <a:ext uri="{FF2B5EF4-FFF2-40B4-BE49-F238E27FC236}">
                <a16:creationId xmlns:a16="http://schemas.microsoft.com/office/drawing/2014/main" id="{5140D0A2-F8A9-7918-6D42-0B21462A7985}"/>
              </a:ext>
            </a:extLst>
          </p:cNvPr>
          <p:cNvSpPr/>
          <p:nvPr userDrawn="1"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</p:spPr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E9A13-D855-42EA-8471-DDA8E13B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5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0B6D-1D51-4444-8393-E35BA63F1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61446-D5C8-48D6-8362-2691AC20F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07058-AB46-40A5-B5AE-E9862D3C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C426E-5AEB-4C83-A17B-24163816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28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4BE44-49C7-449D-9550-1E7B65970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AA4F7-FE01-4FEF-BC23-4EBFFF370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387F4-F1D2-4A96-86BB-A4831077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4A87DE-453B-43B6-A2E7-B7ACAB1CBB72}" type="datetime1">
              <a:rPr lang="en-US" smtClean="0"/>
              <a:t>4/17/2024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9BA3-57A0-4B4B-A089-2C5CE870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2FDF6D-CD2D-433E-84D7-E83F8FCE5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2BDD0D-C88D-431E-BC92-4367CEB006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FBEB5-E386-9685-E6D3-A062E9E4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37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25BB-1073-4118-9189-772DE573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BC724-756A-4777-8D83-3CD9AFD19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FC4DE-2AB7-4E43-BFBA-6FF436D9B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BCCFF-F409-4BF2-9883-91BA170B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19074-3525-4C53-BB5F-EDBE2C3919B2}" type="datetime1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82A71-7516-408D-862B-A5F34041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613D0-7994-4BCE-AE17-12E991FE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214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CC53-ADBE-4538-BDCF-8A6C0C074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37BC3-80C1-40A0-B8BD-B9E9F5642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B7EDB-C158-4B0F-AC48-1D7DE7DC8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7E96D1-3002-4810-98AF-A275B6334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DDBB9A-2C9B-4E96-9E5C-6C3BE6449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99CCF-14FE-46E4-AEF3-3520D661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7DF3FA-3BBB-4E21-B01F-8E78166C2641}" type="datetime1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493FD-6F8C-4BED-896C-CBA26D0E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F6D6A-EFFC-4E81-9BDD-C595B6C9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75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16566-0B23-4F08-ACF0-2DDFF54A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396B25-2A2B-41A7-AF6D-57D5055F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51039-3078-40BB-9654-06ADED92961B}" type="datetime1">
              <a:rPr lang="en-US" smtClean="0"/>
              <a:t>4/17/2024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5C9F0-C082-4566-AEB4-F08316DE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F48D6-A9E0-485D-BA28-15D5DACA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021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2526D-307A-4059-80C4-1413758A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B2CCE6-15BD-43D7-B1E2-4DA008F6C4FD}" type="datetime1">
              <a:rPr lang="en-US" smtClean="0"/>
              <a:t>4/17/2024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1822F-3DE8-45A0-9F67-6061DB1F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1B196-D439-43FF-B35C-F9A301B0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48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350E-3F73-4F95-89B8-BF9D660E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CE4F2-B1FE-4665-B99F-04C8EBAAC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1F0C4-D797-433C-B73A-9C3B4D1BA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3DABF-2DE9-4FD5-B4A8-5E200B98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84D01C-F978-47A5-82BB-936A35605786}" type="datetime1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32E28-C4D1-4761-BD12-20FBE946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CF5A0-DC82-4F6C-8E49-2C9987C4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81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7410-9CC3-4CD7-A18A-2A1FBD8F7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17FFE-99AB-4F61-A4A2-7D7A5832C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EFC75-BA25-436F-A339-F8970D50B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AE525-9C27-44A4-ADC4-FEBFF450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F1BF65-6261-4506-9B18-09D466A4862C}" type="datetime1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2E2F3-7DBB-4D25-9537-D2D24B0D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7A639-0697-4DE3-8BE3-94C24D6F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37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7062-6971-4C1F-A975-AC85DCD0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55ECB-B9CD-4FA5-AACA-CDD01AACF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F606B-F0E0-4BB1-94D6-738E49DF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5B0235-769B-4CA0-A62B-C6A5AB72DE14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65738-7A1D-4D54-ADFC-91C34D4F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7C986-B0A0-4B82-9134-1B7676F5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87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45B8BC-3AC4-4059-BB3C-B12B6148A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C1D0E-02A9-4DFB-8CA3-A94A10E72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3F7A1-D368-4F71-BA41-54CA742F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1D8335-0A38-47E0-BDB5-15E3DCC52633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D9678-2347-4C47-858A-5508F838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0E8F-0367-4945-87E5-F2D254AD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47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8A88-1EE1-3422-84E1-7CB361B1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1FC91-FAA2-D65F-E901-C6884F9C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227FE5-55EA-4524-9391-07C0F38E76CE}" type="datetime1">
              <a:rPr lang="en-US" smtClean="0"/>
              <a:t>4/17/2024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48D4D-60AF-93C1-9BF4-DCE9AEF7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DD901-3047-7838-FFFA-C6F934BA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37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7168" y="814605"/>
            <a:ext cx="1167766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129D2-17F6-4B39-943E-17309EE20ADE}" type="datetime1">
              <a:rPr lang="en-US" smtClean="0"/>
              <a:t>4/17/2024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783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F972D6-1319-4F4E-A35B-D719D3F5F86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85C812-25A0-4E40-A6AB-B4A290A6315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91E89A-F8E2-4201-95AC-F9DBA9C318F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  <p:sp>
        <p:nvSpPr>
          <p:cNvPr id="11" name="Freeform 6">
            <a:extLst>
              <a:ext uri="{FF2B5EF4-FFF2-40B4-BE49-F238E27FC236}">
                <a16:creationId xmlns:a16="http://schemas.microsoft.com/office/drawing/2014/main" id="{BE728FAA-6989-49E4-827F-768285FCB943}"/>
              </a:ext>
            </a:extLst>
          </p:cNvPr>
          <p:cNvSpPr/>
          <p:nvPr userDrawn="1"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</p:spPr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A08C-8FDB-46C4-8ADC-9425CB5F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C7012-56A5-4A5F-AE60-B293BCF52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82B0E-0FEF-49F7-B246-1C5E6D54C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E8069-45EF-4F1D-8025-75594D26D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24C92-1265-4741-8F9F-404A15D938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3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GB6Q5T7w5vCoZe5W-kwAAulvDQcWRYL6?usp=sharing" TargetMode="Externa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5.jpg"/><Relationship Id="rId4" Type="http://schemas.openxmlformats.org/officeDocument/2006/relationships/image" Target="../media/image124.jp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g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87559" y="2530228"/>
            <a:ext cx="9221045" cy="174064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GB" sz="5600" dirty="0">
                <a:latin typeface="Trebuchet MS"/>
                <a:cs typeface="Trebuchet MS"/>
              </a:rPr>
              <a:t>Natural Language Processing  with Attention Models</a:t>
            </a:r>
            <a:endParaRPr sz="5600" dirty="0">
              <a:latin typeface="Trebuchet MS"/>
              <a:cs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21858-7F18-0D45-1BCB-689905658EE4}"/>
              </a:ext>
            </a:extLst>
          </p:cNvPr>
          <p:cNvSpPr txBox="1"/>
          <p:nvPr/>
        </p:nvSpPr>
        <p:spPr>
          <a:xfrm>
            <a:off x="1487559" y="6322814"/>
            <a:ext cx="257644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rgbClr val="FFF9E7"/>
                </a:solidFill>
              </a:rPr>
              <a:t>17/04/2024</a:t>
            </a:r>
            <a:endParaRPr lang="en-GB" dirty="0">
              <a:solidFill>
                <a:srgbClr val="FFF9E7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C85FC3-47E8-8C76-DB20-73B20765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7FB26-76DB-BA1E-1948-08B97C25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60805"/>
            <a:ext cx="10515600" cy="1325563"/>
          </a:xfrm>
        </p:spPr>
        <p:txBody>
          <a:bodyPr/>
          <a:lstStyle/>
          <a:p>
            <a:r>
              <a:rPr lang="en-GB" dirty="0"/>
              <a:t>Course Overview</a:t>
            </a:r>
            <a:br>
              <a:rPr lang="en-GB" dirty="0"/>
            </a:b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33C18-B0E5-F9E4-F2E1-D93C79BA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2F96A3-106E-FC4B-FC85-7B1E38FB9744}"/>
              </a:ext>
            </a:extLst>
          </p:cNvPr>
          <p:cNvSpPr txBox="1"/>
          <p:nvPr/>
        </p:nvSpPr>
        <p:spPr>
          <a:xfrm>
            <a:off x="1630680" y="2694305"/>
            <a:ext cx="8930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course is designed for everyone, including professionals, executives, students, and enthusiasts, interested in learning about generative AI and leveraging its capabilities in their work and lives.   </a:t>
            </a:r>
          </a:p>
          <a:p>
            <a:r>
              <a:rPr lang="en-GB" dirty="0"/>
              <a:t>This course is your first step toward understanding the capabilities of generative AI, powered by different models, including large language models.  </a:t>
            </a:r>
          </a:p>
        </p:txBody>
      </p:sp>
    </p:spTree>
    <p:extLst>
      <p:ext uri="{BB962C8B-B14F-4D97-AF65-F5344CB8AC3E}">
        <p14:creationId xmlns:p14="http://schemas.microsoft.com/office/powerpoint/2010/main" val="4041477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67457-A974-1F70-9D44-B28C4396B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E219-9827-2CE3-5ABC-3A7C808AA2D9}"/>
              </a:ext>
            </a:extLst>
          </p:cNvPr>
          <p:cNvSpPr txBox="1"/>
          <p:nvPr/>
        </p:nvSpPr>
        <p:spPr>
          <a:xfrm>
            <a:off x="1463040" y="264417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NLP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LSTM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Transformers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9C9D7DB-6665-7A53-1140-9F122E7F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60805"/>
            <a:ext cx="10515600" cy="1325563"/>
          </a:xfrm>
        </p:spPr>
        <p:txBody>
          <a:bodyPr/>
          <a:lstStyle/>
          <a:p>
            <a:r>
              <a:rPr lang="en-GB" dirty="0"/>
              <a:t>Topics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4955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9408" y="1259722"/>
            <a:ext cx="2528993" cy="495927"/>
          </a:xfrm>
          <a:prstGeom prst="rect">
            <a:avLst/>
          </a:prstGeom>
        </p:spPr>
        <p:txBody>
          <a:bodyPr vert="horz" wrap="square" lIns="0" tIns="2370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87"/>
              </a:spcBef>
            </a:pPr>
            <a:r>
              <a:rPr sz="3067" spc="187" dirty="0">
                <a:solidFill>
                  <a:srgbClr val="1A1A1A"/>
                </a:solidFill>
                <a:latin typeface="Trebuchet MS"/>
                <a:cs typeface="Trebuchet MS"/>
              </a:rPr>
              <a:t>What</a:t>
            </a:r>
            <a:r>
              <a:rPr sz="3067"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067" spc="47" dirty="0">
                <a:solidFill>
                  <a:srgbClr val="1A1A1A"/>
                </a:solidFill>
                <a:latin typeface="Trebuchet MS"/>
                <a:cs typeface="Trebuchet MS"/>
              </a:rPr>
              <a:t>is</a:t>
            </a:r>
            <a:r>
              <a:rPr sz="3067" spc="-22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067" spc="193" dirty="0">
                <a:solidFill>
                  <a:srgbClr val="1A1A1A"/>
                </a:solidFill>
                <a:latin typeface="Trebuchet MS"/>
                <a:cs typeface="Trebuchet MS"/>
              </a:rPr>
              <a:t>NLP?</a:t>
            </a:r>
            <a:endParaRPr sz="3067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916" y="2249255"/>
            <a:ext cx="5104553" cy="251387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13818">
              <a:lnSpc>
                <a:spcPct val="114999"/>
              </a:lnSpc>
              <a:spcBef>
                <a:spcPts val="133"/>
              </a:spcBef>
            </a:pPr>
            <a:r>
              <a:rPr sz="2000" spc="187" dirty="0">
                <a:solidFill>
                  <a:srgbClr val="1A1A1A"/>
                </a:solidFill>
                <a:latin typeface="Trebuchet MS"/>
                <a:ea typeface="+mj-ea"/>
              </a:rPr>
              <a:t>Natural Language =&gt;  Means/Media of  Communication between  Humans:</a:t>
            </a:r>
          </a:p>
          <a:p>
            <a:pPr marL="625671">
              <a:spcBef>
                <a:spcPts val="593"/>
              </a:spcBef>
            </a:pPr>
            <a:r>
              <a:rPr sz="2000" spc="187" dirty="0">
                <a:solidFill>
                  <a:srgbClr val="1A1A1A"/>
                </a:solidFill>
                <a:latin typeface="Trebuchet MS"/>
                <a:ea typeface="+mj-ea"/>
              </a:rPr>
              <a:t>-Verbal □Speech</a:t>
            </a:r>
          </a:p>
          <a:p>
            <a:pPr marL="625671">
              <a:spcBef>
                <a:spcPts val="480"/>
              </a:spcBef>
            </a:pPr>
            <a:r>
              <a:rPr sz="2000" spc="187" dirty="0">
                <a:solidFill>
                  <a:srgbClr val="1A1A1A"/>
                </a:solidFill>
                <a:latin typeface="Trebuchet MS"/>
                <a:ea typeface="+mj-ea"/>
              </a:rPr>
              <a:t>-Textual</a:t>
            </a:r>
          </a:p>
          <a:p>
            <a:pPr marL="625671" marR="6773">
              <a:lnSpc>
                <a:spcPct val="114999"/>
              </a:lnSpc>
            </a:pPr>
            <a:r>
              <a:rPr sz="2000" spc="187" dirty="0">
                <a:solidFill>
                  <a:srgbClr val="1A1A1A"/>
                </a:solidFill>
                <a:latin typeface="Trebuchet MS"/>
                <a:ea typeface="+mj-ea"/>
              </a:rPr>
              <a:t>-Sometimes: Visual(Visual QA,  OCR)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4564" y="1755649"/>
            <a:ext cx="6248616" cy="42219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60543A-8A4E-3B13-66B5-531E11CD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0478" y="1261383"/>
            <a:ext cx="2528993" cy="495927"/>
          </a:xfrm>
          <a:prstGeom prst="rect">
            <a:avLst/>
          </a:prstGeom>
        </p:spPr>
        <p:txBody>
          <a:bodyPr vert="horz" wrap="square" lIns="0" tIns="2370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87"/>
              </a:spcBef>
            </a:pPr>
            <a:r>
              <a:rPr sz="3067" spc="187" dirty="0">
                <a:solidFill>
                  <a:srgbClr val="1A1A1A"/>
                </a:solidFill>
                <a:latin typeface="Trebuchet MS"/>
                <a:cs typeface="Trebuchet MS"/>
              </a:rPr>
              <a:t>What</a:t>
            </a:r>
            <a:r>
              <a:rPr sz="3067"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067" spc="47" dirty="0">
                <a:solidFill>
                  <a:srgbClr val="1A1A1A"/>
                </a:solidFill>
                <a:latin typeface="Trebuchet MS"/>
                <a:cs typeface="Trebuchet MS"/>
              </a:rPr>
              <a:t>is</a:t>
            </a:r>
            <a:r>
              <a:rPr sz="3067" spc="-22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067" spc="193" dirty="0">
                <a:solidFill>
                  <a:srgbClr val="1A1A1A"/>
                </a:solidFill>
                <a:latin typeface="Trebuchet MS"/>
                <a:cs typeface="Trebuchet MS"/>
              </a:rPr>
              <a:t>NLP?</a:t>
            </a:r>
            <a:endParaRPr sz="3067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5577" y="2195253"/>
            <a:ext cx="5276427" cy="286916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754361">
              <a:lnSpc>
                <a:spcPct val="114999"/>
              </a:lnSpc>
              <a:spcBef>
                <a:spcPts val="133"/>
              </a:spcBef>
            </a:pPr>
            <a:r>
              <a:rPr sz="2000" spc="187" dirty="0">
                <a:solidFill>
                  <a:srgbClr val="1A1A1A"/>
                </a:solidFill>
                <a:latin typeface="Trebuchet MS"/>
                <a:ea typeface="+mj-ea"/>
              </a:rPr>
              <a:t>How to make language  understandable to computers?</a:t>
            </a:r>
          </a:p>
          <a:p>
            <a:pPr>
              <a:spcBef>
                <a:spcPts val="53"/>
              </a:spcBef>
            </a:pPr>
            <a:endParaRPr sz="2000" spc="187" dirty="0">
              <a:solidFill>
                <a:srgbClr val="1A1A1A"/>
              </a:solidFill>
              <a:latin typeface="Trebuchet MS"/>
              <a:ea typeface="+mj-ea"/>
            </a:endParaRPr>
          </a:p>
          <a:p>
            <a:pPr marL="16933" marR="6773">
              <a:lnSpc>
                <a:spcPct val="114999"/>
              </a:lnSpc>
              <a:spcBef>
                <a:spcPts val="7"/>
              </a:spcBef>
            </a:pPr>
            <a:r>
              <a:rPr sz="2000" spc="187" dirty="0">
                <a:solidFill>
                  <a:srgbClr val="1A1A1A"/>
                </a:solidFill>
                <a:latin typeface="Trebuchet MS"/>
                <a:ea typeface="+mj-ea"/>
              </a:rPr>
              <a:t>Then develop algorithms to operate  on the input language:</a:t>
            </a:r>
          </a:p>
          <a:p>
            <a:pPr marL="396230" indent="-379297">
              <a:spcBef>
                <a:spcPts val="479"/>
              </a:spcBef>
              <a:buAutoNum type="arabicPlain"/>
              <a:tabLst>
                <a:tab pos="396230" algn="l"/>
              </a:tabLst>
            </a:pPr>
            <a:r>
              <a:rPr sz="2000" spc="187" dirty="0">
                <a:solidFill>
                  <a:srgbClr val="1A1A1A"/>
                </a:solidFill>
                <a:latin typeface="Trebuchet MS"/>
                <a:ea typeface="+mj-ea"/>
              </a:rPr>
              <a:t>CS</a:t>
            </a:r>
          </a:p>
          <a:p>
            <a:pPr marL="396230" indent="-379297">
              <a:spcBef>
                <a:spcPts val="479"/>
              </a:spcBef>
              <a:buAutoNum type="arabicPlain"/>
              <a:tabLst>
                <a:tab pos="396230" algn="l"/>
              </a:tabLst>
            </a:pPr>
            <a:r>
              <a:rPr sz="2000" spc="187" dirty="0">
                <a:solidFill>
                  <a:srgbClr val="1A1A1A"/>
                </a:solidFill>
                <a:latin typeface="Trebuchet MS"/>
                <a:ea typeface="+mj-ea"/>
              </a:rPr>
              <a:t>AI</a:t>
            </a:r>
          </a:p>
          <a:p>
            <a:pPr marL="396230" indent="-379297">
              <a:spcBef>
                <a:spcPts val="479"/>
              </a:spcBef>
              <a:buAutoNum type="arabicPlain"/>
              <a:tabLst>
                <a:tab pos="396230" algn="l"/>
              </a:tabLst>
            </a:pPr>
            <a:r>
              <a:rPr sz="2000" spc="187" dirty="0">
                <a:solidFill>
                  <a:srgbClr val="1A1A1A"/>
                </a:solidFill>
                <a:latin typeface="Trebuchet MS"/>
                <a:ea typeface="+mj-ea"/>
              </a:rPr>
              <a:t>Linguistics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2" y="942849"/>
            <a:ext cx="5950055" cy="570590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0B38A8-575A-2DD3-0187-876C0929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5246" y="1483810"/>
            <a:ext cx="9546455" cy="456031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3247" y="1379239"/>
            <a:ext cx="1964267" cy="495927"/>
          </a:xfrm>
          <a:prstGeom prst="rect">
            <a:avLst/>
          </a:prstGeom>
        </p:spPr>
        <p:txBody>
          <a:bodyPr vert="horz" wrap="square" lIns="0" tIns="2370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87"/>
              </a:spcBef>
            </a:pPr>
            <a:r>
              <a:rPr sz="3067" spc="380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z="3067" spc="220" dirty="0">
                <a:solidFill>
                  <a:srgbClr val="1A1A1A"/>
                </a:solidFill>
                <a:latin typeface="Trebuchet MS"/>
                <a:cs typeface="Trebuchet MS"/>
              </a:rPr>
              <a:t>h</a:t>
            </a:r>
            <a:r>
              <a:rPr sz="3067" spc="73" dirty="0">
                <a:solidFill>
                  <a:srgbClr val="1A1A1A"/>
                </a:solidFill>
                <a:latin typeface="Trebuchet MS"/>
                <a:cs typeface="Trebuchet MS"/>
              </a:rPr>
              <a:t>y</a:t>
            </a:r>
            <a:r>
              <a:rPr sz="3067" spc="-25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067" spc="193" dirty="0">
                <a:solidFill>
                  <a:srgbClr val="1A1A1A"/>
                </a:solidFill>
                <a:latin typeface="Trebuchet MS"/>
                <a:cs typeface="Trebuchet MS"/>
              </a:rPr>
              <a:t>NLP?</a:t>
            </a:r>
            <a:endParaRPr sz="3067" dirty="0">
              <a:latin typeface="Trebuchet MS"/>
              <a:cs typeface="Trebuchet M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99C608-D911-8F6E-87E1-343F840A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0881" y="1226739"/>
            <a:ext cx="6691152" cy="482862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3566" y="1934574"/>
            <a:ext cx="2516513" cy="149442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sz="3200" b="1" spc="-7" dirty="0"/>
              <a:t>Human-M  achine </a:t>
            </a:r>
            <a:r>
              <a:rPr sz="3200" b="1" dirty="0"/>
              <a:t> </a:t>
            </a:r>
            <a:r>
              <a:rPr sz="3200" b="1" spc="-7" dirty="0"/>
              <a:t>Interactio </a:t>
            </a:r>
            <a:r>
              <a:rPr sz="3200" b="1" spc="-873" dirty="0"/>
              <a:t> </a:t>
            </a:r>
            <a:r>
              <a:rPr sz="3200" b="1" spc="-7" dirty="0"/>
              <a:t>ns</a:t>
            </a:r>
            <a:endParaRPr sz="3200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161589-B496-B2E8-DA9D-DCCE4805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9440" y="2535696"/>
            <a:ext cx="8008957" cy="350088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1007" y="1428754"/>
            <a:ext cx="4064847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/>
              <a:t>What</a:t>
            </a:r>
            <a:r>
              <a:rPr sz="3200" spc="-53" dirty="0"/>
              <a:t> </a:t>
            </a:r>
            <a:r>
              <a:rPr sz="3200" spc="-7" dirty="0"/>
              <a:t>are</a:t>
            </a:r>
            <a:r>
              <a:rPr sz="3200" spc="-40" dirty="0"/>
              <a:t> </a:t>
            </a:r>
            <a:r>
              <a:rPr sz="3200" spc="-7" dirty="0"/>
              <a:t>NLP</a:t>
            </a:r>
            <a:r>
              <a:rPr sz="3200" spc="-100" dirty="0"/>
              <a:t> </a:t>
            </a:r>
            <a:r>
              <a:rPr sz="3200" dirty="0"/>
              <a:t>tasks?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B9A0E6-5691-2A2C-9371-E70F2BF7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095" y="1149192"/>
            <a:ext cx="4385733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13" dirty="0">
                <a:latin typeface="Arial"/>
                <a:cs typeface="Arial"/>
              </a:rPr>
              <a:t>Why</a:t>
            </a:r>
            <a:r>
              <a:rPr sz="4267" spc="-53" dirty="0">
                <a:latin typeface="Arial"/>
                <a:cs typeface="Arial"/>
              </a:rPr>
              <a:t> </a:t>
            </a:r>
            <a:r>
              <a:rPr sz="4267" spc="-7" dirty="0">
                <a:latin typeface="Arial"/>
                <a:cs typeface="Arial"/>
              </a:rPr>
              <a:t>NLP</a:t>
            </a:r>
            <a:r>
              <a:rPr sz="4267" spc="-113" dirty="0">
                <a:latin typeface="Arial"/>
                <a:cs typeface="Arial"/>
              </a:rPr>
              <a:t> </a:t>
            </a:r>
            <a:r>
              <a:rPr sz="4267" spc="-7" dirty="0">
                <a:latin typeface="Arial"/>
                <a:cs typeface="Arial"/>
              </a:rPr>
              <a:t>is</a:t>
            </a:r>
            <a:r>
              <a:rPr sz="4267" spc="-47" dirty="0">
                <a:latin typeface="Arial"/>
                <a:cs typeface="Arial"/>
              </a:rPr>
              <a:t> </a:t>
            </a:r>
            <a:r>
              <a:rPr sz="4267" spc="-7" dirty="0">
                <a:latin typeface="Arial"/>
                <a:cs typeface="Arial"/>
              </a:rPr>
              <a:t>hard?</a:t>
            </a:r>
            <a:endParaRPr sz="4267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76269" y="1983525"/>
            <a:ext cx="5008033" cy="474489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13"/>
              </a:lnSpc>
            </a:pPr>
            <a:r>
              <a:rPr sz="3200" spc="-7" dirty="0">
                <a:latin typeface="Arial"/>
                <a:cs typeface="Arial"/>
              </a:rPr>
              <a:t>Human</a:t>
            </a:r>
            <a:r>
              <a:rPr sz="3200" spc="-4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Language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is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13" dirty="0">
                <a:latin typeface="Arial"/>
                <a:cs typeface="Arial"/>
              </a:rPr>
              <a:t>difficult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455" y="3088641"/>
            <a:ext cx="8625840" cy="27720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sz="2667" spc="-7" dirty="0">
                <a:latin typeface="Arial"/>
                <a:cs typeface="Arial"/>
              </a:rPr>
              <a:t>Symbolic</a:t>
            </a:r>
            <a:endParaRPr sz="2667" dirty="0">
              <a:latin typeface="Arial"/>
              <a:cs typeface="Arial"/>
            </a:endParaRPr>
          </a:p>
          <a:p>
            <a:pPr marL="223514" indent="-206582">
              <a:buChar char="-"/>
              <a:tabLst>
                <a:tab pos="223514" algn="l"/>
              </a:tabLst>
            </a:pPr>
            <a:r>
              <a:rPr sz="2667" spc="-7" dirty="0">
                <a:latin typeface="Arial"/>
                <a:cs typeface="Arial"/>
              </a:rPr>
              <a:t>Implicit</a:t>
            </a:r>
            <a:r>
              <a:rPr sz="2667" spc="-67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(Sarcasm!)</a:t>
            </a:r>
          </a:p>
          <a:p>
            <a:pPr marL="397923" indent="-325112">
              <a:buChar char="-"/>
              <a:tabLst>
                <a:tab pos="397077" algn="l"/>
                <a:tab pos="397923" algn="l"/>
              </a:tabLst>
            </a:pPr>
            <a:r>
              <a:rPr sz="2667" spc="-13" dirty="0">
                <a:latin typeface="Arial"/>
                <a:cs typeface="Arial"/>
              </a:rPr>
              <a:t>Different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Encodings</a:t>
            </a:r>
            <a:r>
              <a:rPr sz="2667" spc="-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for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same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symbol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meaning:</a:t>
            </a:r>
          </a:p>
          <a:p>
            <a:pPr marL="683243">
              <a:spcBef>
                <a:spcPts val="633"/>
              </a:spcBef>
            </a:pPr>
            <a:r>
              <a:rPr sz="2400" dirty="0">
                <a:latin typeface="Arial"/>
                <a:cs typeface="Arial"/>
              </a:rPr>
              <a:t>-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Could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include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other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signals(gestures,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emoticons,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speech)</a:t>
            </a:r>
          </a:p>
          <a:p>
            <a:pPr marL="434329" lvl="1" indent="-207428">
              <a:spcBef>
                <a:spcPts val="1987"/>
              </a:spcBef>
              <a:buChar char="-"/>
              <a:tabLst>
                <a:tab pos="435176" algn="l"/>
              </a:tabLst>
            </a:pPr>
            <a:r>
              <a:rPr sz="2667" spc="-7" dirty="0">
                <a:latin typeface="Arial"/>
                <a:cs typeface="Arial"/>
              </a:rPr>
              <a:t>Sparse:</a:t>
            </a:r>
            <a:r>
              <a:rPr sz="2667" spc="-5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large</a:t>
            </a:r>
            <a:r>
              <a:rPr sz="2667" spc="-47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vocab</a:t>
            </a:r>
          </a:p>
          <a:p>
            <a:pPr marL="434329" lvl="1" indent="-207428">
              <a:buChar char="-"/>
              <a:tabLst>
                <a:tab pos="435176" algn="l"/>
              </a:tabLst>
            </a:pPr>
            <a:r>
              <a:rPr sz="2667" spc="-7" dirty="0">
                <a:latin typeface="Arial"/>
                <a:cs typeface="Arial"/>
              </a:rPr>
              <a:t>Diverse:</a:t>
            </a:r>
            <a:r>
              <a:rPr sz="2667" spc="-27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many</a:t>
            </a:r>
            <a:r>
              <a:rPr sz="2667" spc="-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languages,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dialects,</a:t>
            </a:r>
            <a:r>
              <a:rPr sz="2667" spc="-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accents,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…etc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F5594-6215-520A-FAB4-E662B20B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432" y="1265627"/>
            <a:ext cx="6187608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>
                <a:latin typeface="Arial"/>
                <a:cs typeface="Arial"/>
              </a:rPr>
              <a:t>Semantic</a:t>
            </a:r>
            <a:r>
              <a:rPr spc="-4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gap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</a:t>
            </a:r>
            <a:r>
              <a:rPr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ML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3084" y="2096498"/>
            <a:ext cx="9409920" cy="32346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7A65F-3C06-AB55-991F-EA9B12F45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000" y="1179916"/>
            <a:ext cx="421555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13" dirty="0">
                <a:latin typeface="Arial"/>
                <a:cs typeface="Arial"/>
              </a:rPr>
              <a:t>Semantic</a:t>
            </a:r>
            <a:r>
              <a:rPr sz="3733" spc="-47" dirty="0">
                <a:latin typeface="Arial"/>
                <a:cs typeface="Arial"/>
              </a:rPr>
              <a:t> </a:t>
            </a:r>
            <a:r>
              <a:rPr sz="3733" spc="-7" dirty="0">
                <a:latin typeface="Arial"/>
                <a:cs typeface="Arial"/>
              </a:rPr>
              <a:t>gap</a:t>
            </a:r>
            <a:r>
              <a:rPr sz="3733" spc="-40" dirty="0">
                <a:latin typeface="Arial"/>
                <a:cs typeface="Arial"/>
              </a:rPr>
              <a:t> </a:t>
            </a:r>
            <a:r>
              <a:rPr sz="3733" spc="-7" dirty="0">
                <a:latin typeface="Arial"/>
                <a:cs typeface="Arial"/>
              </a:rPr>
              <a:t>in</a:t>
            </a:r>
            <a:r>
              <a:rPr sz="3733" spc="-40" dirty="0">
                <a:latin typeface="Arial"/>
                <a:cs typeface="Arial"/>
              </a:rPr>
              <a:t> </a:t>
            </a:r>
            <a:r>
              <a:rPr sz="3733" dirty="0">
                <a:latin typeface="Arial"/>
                <a:cs typeface="Arial"/>
              </a:rPr>
              <a:t>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1239" y="2150534"/>
            <a:ext cx="400981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33" dirty="0">
                <a:latin typeface="Arial"/>
                <a:cs typeface="Arial"/>
              </a:rPr>
              <a:t>CV: </a:t>
            </a:r>
            <a:r>
              <a:rPr sz="2133" spc="-7" dirty="0">
                <a:latin typeface="Arial"/>
                <a:cs typeface="Arial"/>
              </a:rPr>
              <a:t>What</a:t>
            </a:r>
            <a:r>
              <a:rPr sz="2133" spc="-27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the</a:t>
            </a:r>
            <a:r>
              <a:rPr sz="2133" spc="-27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computer</a:t>
            </a:r>
            <a:r>
              <a:rPr sz="2133" spc="-27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can</a:t>
            </a:r>
            <a:r>
              <a:rPr sz="2133" spc="-27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see?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622" y="2874931"/>
            <a:ext cx="7159301" cy="332266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811A7-284F-39E0-2794-698E1FA431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3040" y="1899242"/>
            <a:ext cx="3674615" cy="46649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2487" y="1213585"/>
            <a:ext cx="516212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>
                <a:latin typeface="Arial"/>
                <a:cs typeface="Arial"/>
              </a:rPr>
              <a:t>Semantic</a:t>
            </a:r>
            <a:r>
              <a:rPr spc="-4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gap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Speech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5DE53-06DD-7AEC-6840-080552485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886" y="1145739"/>
            <a:ext cx="656759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>
                <a:latin typeface="Arial"/>
                <a:cs typeface="Arial"/>
              </a:rPr>
              <a:t>Semantic</a:t>
            </a:r>
            <a:r>
              <a:rPr spc="-4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gap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</a:t>
            </a:r>
            <a:r>
              <a:rPr spc="-107" dirty="0">
                <a:latin typeface="Arial"/>
                <a:cs typeface="Arial"/>
              </a:rPr>
              <a:t> </a:t>
            </a:r>
            <a:r>
              <a:rPr spc="-113" dirty="0">
                <a:latin typeface="Arial"/>
                <a:cs typeface="Arial"/>
              </a:rPr>
              <a:t>Text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0560" y="2153919"/>
            <a:ext cx="8005803" cy="409448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A1F8E-71FA-709B-A1C9-0131402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967" y="1242815"/>
            <a:ext cx="10229427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DL</a:t>
            </a:r>
            <a:r>
              <a:rPr sz="3200" spc="-14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way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of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thinking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467" dirty="0">
                <a:latin typeface="Arial"/>
                <a:cs typeface="Arial"/>
              </a:rPr>
              <a:t>□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Hierarchical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refinement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of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concepts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4160" y="2077577"/>
            <a:ext cx="5891276" cy="24436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0" y="4961408"/>
            <a:ext cx="9262364" cy="129285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3F8DB-CF4F-B2A7-70B2-734F6B29E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487" y="1212335"/>
            <a:ext cx="10229427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DL</a:t>
            </a:r>
            <a:r>
              <a:rPr sz="3200" spc="-14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way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of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thinking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467" dirty="0">
                <a:latin typeface="Arial"/>
                <a:cs typeface="Arial"/>
              </a:rPr>
              <a:t>□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Hierarchical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refinement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of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concepts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7610" y="2098041"/>
            <a:ext cx="4419599" cy="43687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AB54A-CC2D-4D1F-84E8-0068C62F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887" y="1187538"/>
            <a:ext cx="411903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latin typeface="Arial"/>
                <a:cs typeface="Arial"/>
              </a:rPr>
              <a:t>CV</a:t>
            </a:r>
            <a:r>
              <a:rPr spc="-6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is</a:t>
            </a:r>
            <a:r>
              <a:rPr spc="-6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spatial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6720" y="2007395"/>
            <a:ext cx="5838188" cy="42511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4F465-97E7-2289-2244-27456679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767" y="1166991"/>
            <a:ext cx="650663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latin typeface="Arial"/>
                <a:cs typeface="Arial"/>
              </a:rPr>
              <a:t>NLP</a:t>
            </a:r>
            <a:r>
              <a:rPr spc="-1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is</a:t>
            </a:r>
            <a:r>
              <a:rPr spc="-6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sequential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946" y="2028489"/>
            <a:ext cx="8585575" cy="36625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FBDC6-7954-BE43-7B85-C0DE53C8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447" y="1207858"/>
            <a:ext cx="518583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latin typeface="Arial"/>
                <a:cs typeface="Arial"/>
              </a:rPr>
              <a:t>NLP</a:t>
            </a:r>
            <a:r>
              <a:rPr spc="-1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is</a:t>
            </a:r>
            <a:r>
              <a:rPr spc="-6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hierarchical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3999" y="2609597"/>
            <a:ext cx="7120195" cy="37200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90AF4-6781-CF85-95C4-163037D5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593" y="1248498"/>
            <a:ext cx="716872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latin typeface="Arial"/>
                <a:cs typeface="Arial"/>
              </a:rPr>
              <a:t>NLP</a:t>
            </a:r>
            <a:r>
              <a:rPr spc="-1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is</a:t>
            </a:r>
            <a:r>
              <a:rPr spc="-6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sequential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2062480"/>
            <a:ext cx="7631330" cy="39217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A382C-C5EE-17BB-2775-B7E08796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295" y="1237141"/>
            <a:ext cx="10511705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7" dirty="0">
                <a:latin typeface="Arial"/>
                <a:cs typeface="Arial"/>
              </a:rPr>
              <a:t>CV</a:t>
            </a:r>
            <a:r>
              <a:rPr sz="4000" spc="-27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is</a:t>
            </a:r>
            <a:r>
              <a:rPr sz="4000" spc="-27" dirty="0">
                <a:latin typeface="Arial"/>
                <a:cs typeface="Arial"/>
              </a:rPr>
              <a:t> </a:t>
            </a:r>
            <a:r>
              <a:rPr sz="4000" b="0" dirty="0">
                <a:latin typeface="Arial"/>
                <a:cs typeface="Arial"/>
              </a:rPr>
              <a:t>continuous</a:t>
            </a:r>
            <a:r>
              <a:rPr sz="4000" spc="-20" dirty="0">
                <a:latin typeface="Arial"/>
                <a:cs typeface="Arial"/>
              </a:rPr>
              <a:t> </a:t>
            </a:r>
            <a:r>
              <a:rPr sz="4000" b="0" dirty="0">
                <a:latin typeface="Arial"/>
                <a:cs typeface="Arial"/>
              </a:rPr>
              <a:t>–</a:t>
            </a:r>
            <a:r>
              <a:rPr sz="4000" spc="-27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NLP</a:t>
            </a:r>
            <a:r>
              <a:rPr sz="4000" spc="-87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is</a:t>
            </a:r>
            <a:r>
              <a:rPr sz="4000" spc="-27" dirty="0">
                <a:latin typeface="Arial"/>
                <a:cs typeface="Arial"/>
              </a:rPr>
              <a:t> </a:t>
            </a:r>
            <a:r>
              <a:rPr sz="4000" b="0" dirty="0">
                <a:latin typeface="Arial"/>
                <a:cs typeface="Arial"/>
              </a:rPr>
              <a:t>categorical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900570"/>
            <a:ext cx="7051040" cy="42767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436EA-97F1-5276-2446-C92BF17C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126" y="1289400"/>
            <a:ext cx="7814733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13" dirty="0">
                <a:latin typeface="Arial"/>
                <a:cs typeface="Arial"/>
              </a:rPr>
              <a:t>Analogy</a:t>
            </a:r>
            <a:r>
              <a:rPr sz="4267" spc="-40" dirty="0">
                <a:latin typeface="Arial"/>
                <a:cs typeface="Arial"/>
              </a:rPr>
              <a:t> </a:t>
            </a:r>
            <a:r>
              <a:rPr sz="4267" spc="-7" dirty="0">
                <a:latin typeface="Arial"/>
                <a:cs typeface="Arial"/>
              </a:rPr>
              <a:t>CV</a:t>
            </a:r>
            <a:r>
              <a:rPr sz="4267" spc="-27" dirty="0">
                <a:latin typeface="Arial"/>
                <a:cs typeface="Arial"/>
              </a:rPr>
              <a:t> </a:t>
            </a:r>
            <a:r>
              <a:rPr sz="4267" dirty="0">
                <a:latin typeface="Arial"/>
                <a:cs typeface="Arial"/>
              </a:rPr>
              <a:t>vs</a:t>
            </a:r>
            <a:r>
              <a:rPr sz="4267" spc="-27" dirty="0">
                <a:latin typeface="Arial"/>
                <a:cs typeface="Arial"/>
              </a:rPr>
              <a:t> </a:t>
            </a:r>
            <a:r>
              <a:rPr sz="4267" spc="-7" dirty="0">
                <a:latin typeface="Arial"/>
                <a:cs typeface="Arial"/>
              </a:rPr>
              <a:t>NLP</a:t>
            </a:r>
            <a:r>
              <a:rPr sz="4267" spc="-107" dirty="0">
                <a:latin typeface="Arial"/>
                <a:cs typeface="Arial"/>
              </a:rPr>
              <a:t> </a:t>
            </a:r>
            <a:r>
              <a:rPr sz="4267" dirty="0">
                <a:latin typeface="Arial"/>
                <a:cs typeface="Arial"/>
              </a:rPr>
              <a:t>-</a:t>
            </a:r>
            <a:r>
              <a:rPr sz="4267" spc="-27" dirty="0">
                <a:latin typeface="Arial"/>
                <a:cs typeface="Arial"/>
              </a:rPr>
              <a:t> </a:t>
            </a:r>
            <a:r>
              <a:rPr sz="4267" dirty="0">
                <a:latin typeface="Arial"/>
                <a:cs typeface="Arial"/>
              </a:rPr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046" y="2306828"/>
            <a:ext cx="10277337" cy="40276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0EE79-FC41-B38F-5734-D20CAA925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967" y="1094327"/>
            <a:ext cx="3095413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7" dirty="0">
                <a:latin typeface="Arial"/>
                <a:cs typeface="Arial"/>
              </a:rPr>
              <a:t>NLP</a:t>
            </a:r>
            <a:r>
              <a:rPr sz="4267" spc="-200" dirty="0">
                <a:latin typeface="Arial"/>
                <a:cs typeface="Arial"/>
              </a:rPr>
              <a:t> </a:t>
            </a:r>
            <a:r>
              <a:rPr sz="4267" spc="-7" dirty="0">
                <a:latin typeface="Arial"/>
                <a:cs typeface="Arial"/>
              </a:rPr>
              <a:t>pipeline</a:t>
            </a:r>
            <a:endParaRPr sz="4267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5520" y="1297861"/>
            <a:ext cx="4631942" cy="46051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1680" y="2067898"/>
            <a:ext cx="5985255" cy="40181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Low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level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tasks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347" dirty="0">
                <a:latin typeface="Arial"/>
                <a:cs typeface="Arial"/>
              </a:rPr>
              <a:t>□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Medium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dependent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NLP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Levels</a:t>
            </a:r>
            <a:endParaRPr sz="2000" dirty="0">
              <a:latin typeface="Arial"/>
              <a:cs typeface="Arial"/>
            </a:endParaRPr>
          </a:p>
          <a:p>
            <a:pPr marL="16933"/>
            <a:r>
              <a:rPr sz="2000" dirty="0">
                <a:latin typeface="Arial"/>
                <a:cs typeface="Arial"/>
              </a:rPr>
              <a:t>(speech,text,</a:t>
            </a:r>
            <a:r>
              <a:rPr sz="2000" spc="-7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..</a:t>
            </a:r>
            <a:r>
              <a:rPr sz="2000" spc="-7" dirty="0" err="1">
                <a:latin typeface="Arial"/>
                <a:cs typeface="Arial"/>
              </a:rPr>
              <a:t>etc</a:t>
            </a:r>
            <a:r>
              <a:rPr sz="2000" spc="-7" dirty="0">
                <a:latin typeface="Arial"/>
                <a:cs typeface="Arial"/>
              </a:rPr>
              <a:t>)</a:t>
            </a:r>
            <a:endParaRPr lang="en-GB" sz="2000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lang="en-GB" sz="2000" dirty="0">
              <a:latin typeface="Arial"/>
              <a:cs typeface="Arial"/>
            </a:endParaRPr>
          </a:p>
          <a:p>
            <a:pPr marL="16933" marR="28786"/>
            <a:r>
              <a:rPr sz="2000" dirty="0">
                <a:latin typeface="Arial"/>
                <a:cs typeface="Arial"/>
              </a:rPr>
              <a:t>Morphology:</a:t>
            </a:r>
            <a:r>
              <a:rPr sz="2000" spc="-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Normalize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symbols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variations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(synonyms,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phonemes,…etc)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2000" dirty="0">
              <a:latin typeface="Arial"/>
              <a:cs typeface="Arial"/>
            </a:endParaRPr>
          </a:p>
          <a:p>
            <a:pPr marL="16933" marR="88051"/>
            <a:r>
              <a:rPr sz="2000" spc="-7" dirty="0">
                <a:latin typeface="Arial"/>
                <a:cs typeface="Arial"/>
              </a:rPr>
              <a:t>Syntax: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Parse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symbols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according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some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template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347" dirty="0">
                <a:latin typeface="Arial"/>
                <a:cs typeface="Arial"/>
              </a:rPr>
              <a:t>□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“grammar”</a:t>
            </a:r>
          </a:p>
          <a:p>
            <a:pPr>
              <a:spcBef>
                <a:spcPts val="40"/>
              </a:spcBef>
            </a:pPr>
            <a:endParaRPr sz="2000" dirty="0">
              <a:latin typeface="Arial"/>
              <a:cs typeface="Arial"/>
            </a:endParaRPr>
          </a:p>
          <a:p>
            <a:pPr marL="16933" marR="1559521"/>
            <a:r>
              <a:rPr sz="2000" spc="-7" dirty="0">
                <a:latin typeface="Arial"/>
                <a:cs typeface="Arial"/>
              </a:rPr>
              <a:t>Semantics:</a:t>
            </a:r>
            <a:r>
              <a:rPr sz="2000" spc="-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Convert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symbols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meaningful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structures</a:t>
            </a:r>
          </a:p>
          <a:p>
            <a:pPr>
              <a:spcBef>
                <a:spcPts val="47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Processing: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Perform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task!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A7670-0AA9-27A4-D0B5-F65E3D7A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631" y="1200141"/>
            <a:ext cx="776901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>
                <a:latin typeface="Arial"/>
                <a:cs typeface="Arial"/>
              </a:rPr>
              <a:t>Supervised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Learning</a:t>
            </a:r>
            <a:r>
              <a:rPr sz="3200" spc="-3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Model</a:t>
            </a:r>
            <a:r>
              <a:rPr sz="3200" spc="-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Design</a:t>
            </a:r>
            <a:r>
              <a:rPr sz="3200" spc="-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Pattern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2111486"/>
            <a:ext cx="8623117" cy="371019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55976-5445-E6D5-A874-C92C273C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695" y="1268988"/>
            <a:ext cx="10528300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spc="-13" dirty="0">
                <a:latin typeface="Arial"/>
                <a:cs typeface="Arial"/>
              </a:rPr>
              <a:t>Encoder-Decoder</a:t>
            </a:r>
            <a:r>
              <a:rPr sz="4000" spc="-27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to</a:t>
            </a:r>
            <a:r>
              <a:rPr sz="4000" spc="-27" dirty="0">
                <a:latin typeface="Arial"/>
                <a:cs typeface="Arial"/>
              </a:rPr>
              <a:t> </a:t>
            </a:r>
            <a:r>
              <a:rPr sz="4000" b="0" dirty="0">
                <a:latin typeface="Arial"/>
                <a:cs typeface="Arial"/>
              </a:rPr>
              <a:t>close</a:t>
            </a:r>
            <a:r>
              <a:rPr sz="4000" spc="-20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the</a:t>
            </a:r>
            <a:r>
              <a:rPr sz="4000" spc="-27" dirty="0">
                <a:latin typeface="Arial"/>
                <a:cs typeface="Arial"/>
              </a:rPr>
              <a:t> </a:t>
            </a:r>
            <a:r>
              <a:rPr sz="4000" b="0" dirty="0">
                <a:latin typeface="Arial"/>
                <a:cs typeface="Arial"/>
              </a:rPr>
              <a:t>semantic</a:t>
            </a:r>
            <a:r>
              <a:rPr sz="4000" spc="-20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gap</a:t>
            </a:r>
            <a:r>
              <a:rPr sz="4000" spc="-20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in</a:t>
            </a:r>
            <a:r>
              <a:rPr sz="4000" spc="-20" dirty="0">
                <a:latin typeface="Arial"/>
                <a:cs typeface="Arial"/>
              </a:rPr>
              <a:t> </a:t>
            </a:r>
            <a:r>
              <a:rPr sz="4000" b="0" dirty="0">
                <a:latin typeface="Arial"/>
                <a:cs typeface="Arial"/>
              </a:rPr>
              <a:t>ML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975" y="3908599"/>
            <a:ext cx="11699232" cy="15895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6789D-89E7-7AAD-813F-CF758663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854" y="1251015"/>
            <a:ext cx="10552345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13" dirty="0">
                <a:latin typeface="Arial"/>
                <a:cs typeface="Arial"/>
              </a:rPr>
              <a:t>Encoder-Decoder</a:t>
            </a:r>
            <a:r>
              <a:rPr sz="4000" spc="-47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pattern</a:t>
            </a:r>
            <a:r>
              <a:rPr sz="4000" spc="-40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in</a:t>
            </a:r>
            <a:r>
              <a:rPr sz="4000" spc="-40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NLP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360" y="2075341"/>
            <a:ext cx="3545191" cy="46709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25CDD-B4FA-3560-613E-49D5C124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096" y="1304236"/>
            <a:ext cx="9719224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>
                <a:latin typeface="Arial"/>
                <a:cs typeface="Arial"/>
              </a:rPr>
              <a:t>Encoder-Decoder</a:t>
            </a:r>
            <a:r>
              <a:rPr spc="-1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pattern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693671"/>
            <a:ext cx="9429758" cy="299593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0B1B6-F393-BDE2-8E2A-3E8D5020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096" y="1332822"/>
            <a:ext cx="4019464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latin typeface="Arial"/>
                <a:cs typeface="Arial"/>
              </a:rPr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6853" y="2390987"/>
            <a:ext cx="10898293" cy="27870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2205" marR="292939" indent="-336118">
              <a:spcBef>
                <a:spcPts val="133"/>
              </a:spcBef>
              <a:buChar char="•"/>
              <a:tabLst>
                <a:tab pos="351358" algn="l"/>
                <a:tab pos="353051" algn="l"/>
              </a:tabLst>
            </a:pPr>
            <a:r>
              <a:rPr sz="2000" spc="-7" dirty="0">
                <a:latin typeface="Arial"/>
                <a:cs typeface="Arial"/>
              </a:rPr>
              <a:t>One-One: </a:t>
            </a:r>
            <a:r>
              <a:rPr sz="2000" spc="-33" dirty="0">
                <a:latin typeface="Arial"/>
                <a:cs typeface="Arial"/>
              </a:rPr>
              <a:t>Vanilla </a:t>
            </a:r>
            <a:r>
              <a:rPr sz="2000" dirty="0">
                <a:latin typeface="Arial"/>
                <a:cs typeface="Arial"/>
              </a:rPr>
              <a:t>mode </a:t>
            </a:r>
            <a:r>
              <a:rPr sz="2000" spc="-7" dirty="0">
                <a:latin typeface="Arial"/>
                <a:cs typeface="Arial"/>
              </a:rPr>
              <a:t>of processing without RNN, from fixed-sized input to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fixed-sized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output </a:t>
            </a:r>
            <a:r>
              <a:rPr sz="2000" dirty="0">
                <a:latin typeface="Arial"/>
                <a:cs typeface="Arial"/>
              </a:rPr>
              <a:t>(e.g.</a:t>
            </a:r>
            <a:r>
              <a:rPr sz="2000" spc="-7" dirty="0">
                <a:latin typeface="Arial"/>
                <a:cs typeface="Arial"/>
              </a:rPr>
              <a:t> image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classification)</a:t>
            </a:r>
          </a:p>
          <a:p>
            <a:pPr marL="352205" marR="825479" indent="-336118">
              <a:buChar char="•"/>
              <a:tabLst>
                <a:tab pos="351358" algn="l"/>
                <a:tab pos="353051" algn="l"/>
              </a:tabLst>
            </a:pPr>
            <a:r>
              <a:rPr sz="2000" spc="-7" dirty="0">
                <a:latin typeface="Arial"/>
                <a:cs typeface="Arial"/>
              </a:rPr>
              <a:t>One-many: Sequence output </a:t>
            </a:r>
            <a:r>
              <a:rPr sz="2000" dirty="0">
                <a:latin typeface="Arial"/>
                <a:cs typeface="Arial"/>
              </a:rPr>
              <a:t>(e.g. </a:t>
            </a:r>
            <a:r>
              <a:rPr sz="2000" spc="-7" dirty="0">
                <a:latin typeface="Arial"/>
                <a:cs typeface="Arial"/>
              </a:rPr>
              <a:t>image </a:t>
            </a:r>
            <a:r>
              <a:rPr sz="2000" dirty="0">
                <a:latin typeface="Arial"/>
                <a:cs typeface="Arial"/>
              </a:rPr>
              <a:t>captioning </a:t>
            </a:r>
            <a:r>
              <a:rPr sz="2000" spc="-7" dirty="0">
                <a:latin typeface="Arial"/>
                <a:cs typeface="Arial"/>
              </a:rPr>
              <a:t>takes an image and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outputs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sentence</a:t>
            </a:r>
            <a:r>
              <a:rPr sz="2000" spc="-7" dirty="0">
                <a:latin typeface="Arial"/>
                <a:cs typeface="Arial"/>
              </a:rPr>
              <a:t> of words)</a:t>
            </a:r>
            <a:endParaRPr sz="2000" dirty="0">
              <a:latin typeface="Arial"/>
              <a:cs typeface="Arial"/>
            </a:endParaRPr>
          </a:p>
          <a:p>
            <a:pPr marL="352205" marR="6773" indent="-336118">
              <a:buChar char="•"/>
              <a:tabLst>
                <a:tab pos="351358" algn="l"/>
                <a:tab pos="353051" algn="l"/>
              </a:tabLst>
            </a:pPr>
            <a:r>
              <a:rPr sz="2000" dirty="0">
                <a:latin typeface="Arial"/>
                <a:cs typeface="Arial"/>
              </a:rPr>
              <a:t>Many-one: </a:t>
            </a:r>
            <a:r>
              <a:rPr sz="2000" spc="-7" dirty="0">
                <a:latin typeface="Arial"/>
                <a:cs typeface="Arial"/>
              </a:rPr>
              <a:t>Sequence input </a:t>
            </a:r>
            <a:r>
              <a:rPr sz="2000" dirty="0">
                <a:latin typeface="Arial"/>
                <a:cs typeface="Arial"/>
              </a:rPr>
              <a:t>(e.g. sentiment </a:t>
            </a:r>
            <a:r>
              <a:rPr sz="2000" spc="-7" dirty="0">
                <a:latin typeface="Arial"/>
                <a:cs typeface="Arial"/>
              </a:rPr>
              <a:t>analysis where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given </a:t>
            </a:r>
            <a:r>
              <a:rPr sz="2000" dirty="0">
                <a:latin typeface="Arial"/>
                <a:cs typeface="Arial"/>
              </a:rPr>
              <a:t>sentence </a:t>
            </a:r>
            <a:r>
              <a:rPr sz="2000" spc="-7" dirty="0">
                <a:latin typeface="Arial"/>
                <a:cs typeface="Arial"/>
              </a:rPr>
              <a:t>is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classified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as expressing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positive or negative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sentiment)</a:t>
            </a:r>
          </a:p>
          <a:p>
            <a:pPr marL="352205" marR="139697" indent="-336118">
              <a:buChar char="•"/>
              <a:tabLst>
                <a:tab pos="351358" algn="l"/>
                <a:tab pos="353051" algn="l"/>
              </a:tabLst>
            </a:pPr>
            <a:r>
              <a:rPr sz="2000" dirty="0">
                <a:latin typeface="Arial"/>
                <a:cs typeface="Arial"/>
              </a:rPr>
              <a:t>Many-Many: </a:t>
            </a:r>
            <a:r>
              <a:rPr sz="2000" spc="-7" dirty="0">
                <a:latin typeface="Arial"/>
                <a:cs typeface="Arial"/>
              </a:rPr>
              <a:t>Sequence input and </a:t>
            </a:r>
            <a:r>
              <a:rPr sz="2000" dirty="0">
                <a:latin typeface="Arial"/>
                <a:cs typeface="Arial"/>
              </a:rPr>
              <a:t>sequence </a:t>
            </a:r>
            <a:r>
              <a:rPr sz="2000" spc="-7" dirty="0">
                <a:latin typeface="Arial"/>
                <a:cs typeface="Arial"/>
              </a:rPr>
              <a:t>output </a:t>
            </a:r>
            <a:r>
              <a:rPr sz="2000" dirty="0">
                <a:latin typeface="Arial"/>
                <a:cs typeface="Arial"/>
              </a:rPr>
              <a:t>(e.g. Machine </a:t>
            </a:r>
            <a:r>
              <a:rPr sz="2000" spc="-13" dirty="0">
                <a:latin typeface="Arial"/>
                <a:cs typeface="Arial"/>
              </a:rPr>
              <a:t>Translation: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RNN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reads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sentence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 English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outputs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sentence</a:t>
            </a:r>
            <a:r>
              <a:rPr sz="2000" spc="-7" dirty="0">
                <a:latin typeface="Arial"/>
                <a:cs typeface="Arial"/>
              </a:rPr>
              <a:t> in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French)</a:t>
            </a:r>
            <a:endParaRPr sz="2000" dirty="0">
              <a:latin typeface="Arial"/>
              <a:cs typeface="Arial"/>
            </a:endParaRPr>
          </a:p>
          <a:p>
            <a:pPr marL="352205" indent="-336118">
              <a:buChar char="•"/>
              <a:tabLst>
                <a:tab pos="351358" algn="l"/>
                <a:tab pos="353051" algn="l"/>
              </a:tabLst>
            </a:pPr>
            <a:r>
              <a:rPr sz="2000" spc="-7" dirty="0">
                <a:latin typeface="Arial"/>
                <a:cs typeface="Arial"/>
              </a:rPr>
              <a:t>Synced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sequence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input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and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output: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NER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58B1B-EFA2-8396-81BC-35912A1ED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EE7-88EC-F184-D13D-13E2EE86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D4ADF94-81BB-990F-F6D2-110CA9210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" y="140906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ar-EG" dirty="0"/>
          </a:p>
          <a:p>
            <a:pPr marL="0" indent="0" algn="ctr">
              <a:buNone/>
            </a:pPr>
            <a:r>
              <a:rPr lang="en-GB" sz="3200" dirty="0"/>
              <a:t>Q&amp;A </a:t>
            </a:r>
          </a:p>
          <a:p>
            <a:pPr marL="0" indent="0" algn="ctr">
              <a:buNone/>
            </a:pPr>
            <a:endParaRPr lang="ar-EG" sz="3200" dirty="0"/>
          </a:p>
          <a:p>
            <a:pPr marL="0" indent="0" algn="ctr">
              <a:buNone/>
            </a:pPr>
            <a:r>
              <a:rPr lang="en-GB" sz="3200" dirty="0"/>
              <a:t>Questions and answers </a:t>
            </a:r>
          </a:p>
        </p:txBody>
      </p:sp>
    </p:spTree>
    <p:extLst>
      <p:ext uri="{BB962C8B-B14F-4D97-AF65-F5344CB8AC3E}">
        <p14:creationId xmlns:p14="http://schemas.microsoft.com/office/powerpoint/2010/main" val="4242153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415" y="1158722"/>
            <a:ext cx="946065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latin typeface="Arial"/>
                <a:cs typeface="Arial"/>
              </a:rPr>
              <a:t>What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best</a:t>
            </a:r>
            <a:r>
              <a:rPr spc="-2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representation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of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language?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673" y="2958592"/>
            <a:ext cx="11461327" cy="21715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520348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This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question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summarizes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all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NLP</a:t>
            </a:r>
            <a:r>
              <a:rPr sz="2000" spc="-73" dirty="0">
                <a:latin typeface="Arial"/>
                <a:cs typeface="Arial"/>
              </a:rPr>
              <a:t> </a:t>
            </a:r>
            <a:r>
              <a:rPr sz="2000" spc="-13" dirty="0">
                <a:latin typeface="Arial"/>
                <a:cs typeface="Arial"/>
              </a:rPr>
              <a:t>efforts! </a:t>
            </a:r>
            <a:r>
              <a:rPr sz="2000" spc="-7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For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what?</a:t>
            </a:r>
            <a:endParaRPr sz="2000" dirty="0">
              <a:latin typeface="Arial"/>
              <a:cs typeface="Arial"/>
            </a:endParaRPr>
          </a:p>
          <a:p>
            <a:pPr marL="223514" indent="-206582">
              <a:buChar char="-"/>
              <a:tabLst>
                <a:tab pos="223514" algn="l"/>
              </a:tabLst>
            </a:pPr>
            <a:r>
              <a:rPr sz="2000" spc="-7" dirty="0">
                <a:latin typeface="Arial"/>
                <a:cs typeface="Arial"/>
              </a:rPr>
              <a:t>Classification</a:t>
            </a:r>
            <a:endParaRPr sz="2000" dirty="0">
              <a:latin typeface="Arial"/>
              <a:cs typeface="Arial"/>
            </a:endParaRPr>
          </a:p>
          <a:p>
            <a:pPr marL="879665" lvl="1" indent="-207428">
              <a:buChar char="-"/>
              <a:tabLst>
                <a:tab pos="880511" algn="l"/>
              </a:tabLst>
            </a:pPr>
            <a:r>
              <a:rPr sz="2000" dirty="0">
                <a:latin typeface="Arial"/>
                <a:cs typeface="Arial"/>
              </a:rPr>
              <a:t>Many-to-one:</a:t>
            </a:r>
            <a:r>
              <a:rPr sz="2000" spc="-7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Seq2Class</a:t>
            </a:r>
            <a:endParaRPr sz="2000" dirty="0">
              <a:latin typeface="Arial"/>
              <a:cs typeface="Arial"/>
            </a:endParaRPr>
          </a:p>
          <a:p>
            <a:pPr marL="626518" marR="6773" lvl="1" indent="46566">
              <a:buChar char="-"/>
              <a:tabLst>
                <a:tab pos="880511" algn="l"/>
              </a:tabLst>
            </a:pPr>
            <a:r>
              <a:rPr sz="2000" spc="-7" dirty="0">
                <a:latin typeface="Arial"/>
                <a:cs typeface="Arial"/>
              </a:rPr>
              <a:t>Sentiment analysis, </a:t>
            </a:r>
            <a:r>
              <a:rPr sz="2000" spc="-47" dirty="0">
                <a:latin typeface="Arial"/>
                <a:cs typeface="Arial"/>
              </a:rPr>
              <a:t>Toxicity </a:t>
            </a:r>
            <a:r>
              <a:rPr sz="2000" spc="-7" dirty="0">
                <a:latin typeface="Arial"/>
                <a:cs typeface="Arial"/>
              </a:rPr>
              <a:t>detection </a:t>
            </a:r>
            <a:r>
              <a:rPr sz="2000" spc="-13" dirty="0">
                <a:latin typeface="Arial"/>
                <a:cs typeface="Arial"/>
              </a:rPr>
              <a:t>(JIGSAW), </a:t>
            </a:r>
            <a:r>
              <a:rPr sz="2000" spc="-7" dirty="0">
                <a:latin typeface="Arial"/>
                <a:cs typeface="Arial"/>
              </a:rPr>
              <a:t>Real or not? Disaster </a:t>
            </a:r>
            <a:r>
              <a:rPr sz="2000" spc="-7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tweets</a:t>
            </a:r>
            <a:endParaRPr sz="2000" dirty="0">
              <a:latin typeface="Arial"/>
              <a:cs typeface="Arial"/>
            </a:endParaRPr>
          </a:p>
          <a:p>
            <a:pPr marL="397923" indent="-325112">
              <a:buChar char="-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Dialogue:</a:t>
            </a:r>
            <a:endParaRPr sz="2000" dirty="0">
              <a:latin typeface="Arial"/>
              <a:cs typeface="Arial"/>
            </a:endParaRPr>
          </a:p>
          <a:p>
            <a:pPr marL="973642" lvl="1" indent="-207428">
              <a:buChar char="-"/>
              <a:tabLst>
                <a:tab pos="974489" algn="l"/>
              </a:tabLst>
            </a:pPr>
            <a:r>
              <a:rPr sz="2000" dirty="0">
                <a:latin typeface="Arial"/>
                <a:cs typeface="Arial"/>
              </a:rPr>
              <a:t>Many-to-many: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Seq2Seq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387" dirty="0">
                <a:latin typeface="Arial"/>
                <a:cs typeface="Arial"/>
              </a:rPr>
              <a:t>□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Unaligned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case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73" dirty="0">
                <a:latin typeface="Arial"/>
                <a:cs typeface="Arial"/>
              </a:rPr>
              <a:t>□More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later</a:t>
            </a:r>
            <a:endParaRPr sz="2000" dirty="0">
              <a:latin typeface="Arial"/>
              <a:cs typeface="Arial"/>
            </a:endParaRPr>
          </a:p>
          <a:p>
            <a:pPr marL="973642" lvl="1" indent="-207428">
              <a:buChar char="-"/>
              <a:tabLst>
                <a:tab pos="974489" algn="l"/>
              </a:tabLst>
            </a:pPr>
            <a:r>
              <a:rPr sz="2000" spc="-100" dirty="0">
                <a:latin typeface="Arial"/>
                <a:cs typeface="Arial"/>
              </a:rPr>
              <a:t>MT,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Spelling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correction,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Speech,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OCR,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…etc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27F9F-38F8-3B61-AECD-4A68252A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414" y="1161996"/>
            <a:ext cx="8174905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latin typeface="Arial"/>
                <a:cs typeface="Arial"/>
              </a:rPr>
              <a:t>NLP</a:t>
            </a:r>
            <a:r>
              <a:rPr spc="-133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models</a:t>
            </a:r>
            <a:r>
              <a:rPr spc="-67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meta-architectures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2800" y="2450297"/>
            <a:ext cx="7769236" cy="38793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F2490-B8FC-765D-25B8-EFB86CD6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480" y="1087772"/>
            <a:ext cx="664210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latin typeface="Arial"/>
                <a:cs typeface="Arial"/>
              </a:rPr>
              <a:t>How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</a:t>
            </a:r>
            <a:r>
              <a:rPr spc="-33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represent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words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NN?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4480" y="2728977"/>
            <a:ext cx="5811520" cy="313333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894058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If we use Dense layers, we need </a:t>
            </a:r>
            <a:r>
              <a:rPr sz="2000" spc="-7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fixed-sized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input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vectors</a:t>
            </a:r>
          </a:p>
          <a:p>
            <a:pPr>
              <a:spcBef>
                <a:spcPts val="53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20" dirty="0">
                <a:latin typeface="Arial"/>
                <a:cs typeface="Arial"/>
              </a:rPr>
              <a:t>Words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Symbols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60"/>
              </a:spcBef>
            </a:pPr>
            <a:endParaRPr sz="2000" dirty="0">
              <a:latin typeface="Arial"/>
              <a:cs typeface="Arial"/>
            </a:endParaRPr>
          </a:p>
          <a:p>
            <a:pPr marL="16933" marR="1196310"/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alphabet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symbols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spc="-7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vocabulary</a:t>
            </a:r>
          </a:p>
          <a:p>
            <a:pPr>
              <a:spcBef>
                <a:spcPts val="53"/>
              </a:spcBef>
            </a:pPr>
            <a:endParaRPr sz="2000" dirty="0">
              <a:latin typeface="Arial"/>
              <a:cs typeface="Arial"/>
            </a:endParaRPr>
          </a:p>
          <a:p>
            <a:pPr marL="16933" marR="6773"/>
            <a:r>
              <a:rPr sz="2000" spc="-7" dirty="0">
                <a:latin typeface="Arial"/>
                <a:cs typeface="Arial"/>
              </a:rPr>
              <a:t>For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each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piece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text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387" dirty="0">
                <a:latin typeface="Arial"/>
                <a:cs typeface="Arial"/>
              </a:rPr>
              <a:t>□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Put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bag </a:t>
            </a:r>
            <a:r>
              <a:rPr sz="2000" spc="-7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what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 in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 text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2075" y="1087772"/>
            <a:ext cx="5159925" cy="477454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9B49A-A6E8-E18F-910F-F225C2CF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294" y="1262906"/>
            <a:ext cx="9018185" cy="1186649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latin typeface="Arial"/>
                <a:cs typeface="Arial"/>
              </a:rPr>
              <a:t>How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</a:t>
            </a:r>
            <a:r>
              <a:rPr spc="-33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represent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words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NN?</a:t>
            </a:r>
          </a:p>
          <a:p>
            <a:pPr marL="16933">
              <a:lnSpc>
                <a:spcPct val="100000"/>
              </a:lnSpc>
              <a:spcBef>
                <a:spcPts val="20"/>
              </a:spcBef>
            </a:pPr>
            <a:r>
              <a:rPr sz="3200" spc="-13" dirty="0">
                <a:solidFill>
                  <a:srgbClr val="595959"/>
                </a:solidFill>
                <a:latin typeface="Arial"/>
                <a:cs typeface="Arial"/>
              </a:rPr>
              <a:t>Bag-of-Words</a:t>
            </a:r>
            <a:r>
              <a:rPr sz="32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40" y="3214877"/>
            <a:ext cx="10228959" cy="25153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DCC0C-A6CE-7D36-7482-D9898F33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0311" y="2609011"/>
            <a:ext cx="9304867" cy="91997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867" spc="-167" dirty="0">
                <a:solidFill>
                  <a:srgbClr val="1A1A1A"/>
                </a:solidFill>
                <a:latin typeface="Arial"/>
                <a:cs typeface="Arial"/>
              </a:rPr>
              <a:t>Text</a:t>
            </a:r>
            <a:r>
              <a:rPr sz="5867" spc="-6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5867" spc="-7" dirty="0">
                <a:solidFill>
                  <a:srgbClr val="1A1A1A"/>
                </a:solidFill>
                <a:latin typeface="Arial"/>
                <a:cs typeface="Arial"/>
              </a:rPr>
              <a:t>pre-processing</a:t>
            </a:r>
            <a:r>
              <a:rPr sz="5867" spc="-6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5867" spc="-7" dirty="0">
                <a:solidFill>
                  <a:srgbClr val="1A1A1A"/>
                </a:solidFill>
                <a:latin typeface="Arial"/>
                <a:cs typeface="Arial"/>
              </a:rPr>
              <a:t>pipeline</a:t>
            </a:r>
            <a:endParaRPr sz="5867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FA3280-04F8-FB8D-A3F4-E7D8B1202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6711" y="769019"/>
            <a:ext cx="5721773" cy="94042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4247"/>
              </a:lnSpc>
              <a:spcBef>
                <a:spcPts val="133"/>
              </a:spcBef>
            </a:pPr>
            <a:r>
              <a:rPr sz="3733" b="1" spc="-100" dirty="0">
                <a:latin typeface="Arial"/>
                <a:cs typeface="Arial"/>
              </a:rPr>
              <a:t>Two</a:t>
            </a:r>
            <a:r>
              <a:rPr sz="3733" b="1" spc="-73" dirty="0">
                <a:latin typeface="Arial"/>
                <a:cs typeface="Arial"/>
              </a:rPr>
              <a:t> </a:t>
            </a:r>
            <a:r>
              <a:rPr sz="3733" b="1" spc="-7" dirty="0">
                <a:latin typeface="Arial"/>
                <a:cs typeface="Arial"/>
              </a:rPr>
              <a:t>Phases</a:t>
            </a:r>
            <a:endParaRPr sz="3733" dirty="0">
              <a:latin typeface="Arial"/>
              <a:cs typeface="Arial"/>
            </a:endParaRPr>
          </a:p>
          <a:p>
            <a:pPr marL="2495911">
              <a:lnSpc>
                <a:spcPts val="2967"/>
              </a:lnSpc>
            </a:pPr>
            <a:r>
              <a:rPr sz="2667" spc="-60" dirty="0">
                <a:latin typeface="Arial"/>
                <a:cs typeface="Arial"/>
              </a:rPr>
              <a:t>A-Text</a:t>
            </a:r>
            <a:r>
              <a:rPr sz="2667" spc="-9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Preprocessing</a:t>
            </a:r>
            <a:endParaRPr sz="2667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7991" y="1958956"/>
            <a:ext cx="9235949" cy="3222772"/>
            <a:chOff x="158496" y="695737"/>
            <a:chExt cx="8879205" cy="28282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9536" y="695737"/>
              <a:ext cx="2240381" cy="4238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496" y="1156211"/>
              <a:ext cx="8878933" cy="236778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807807" y="5205544"/>
            <a:ext cx="283040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60" dirty="0">
                <a:latin typeface="Arial"/>
                <a:cs typeface="Arial"/>
              </a:rPr>
              <a:t>B-Text</a:t>
            </a:r>
            <a:r>
              <a:rPr sz="2667" spc="-9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Preparation</a:t>
            </a:r>
            <a:endParaRPr sz="2667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5142928"/>
            <a:ext cx="3409948" cy="5139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1031" y="5680707"/>
            <a:ext cx="10884916" cy="6431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33A555-F23C-C12E-9134-9D016CCF12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34</a:t>
            </a:fld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975" y="1114977"/>
            <a:ext cx="971804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>
                <a:latin typeface="Arial"/>
                <a:cs typeface="Arial"/>
              </a:rPr>
              <a:t>Same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pre-processing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training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and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inference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360" y="2486292"/>
            <a:ext cx="8531465" cy="40461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75ACE-8AE7-310D-E7A1-4F4D8A6C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008" y="1356456"/>
            <a:ext cx="7090833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13" dirty="0">
                <a:latin typeface="Arial"/>
                <a:cs typeface="Arial"/>
              </a:rPr>
              <a:t>Sequencing</a:t>
            </a:r>
            <a:r>
              <a:rPr sz="4267" spc="-60" dirty="0">
                <a:latin typeface="Arial"/>
                <a:cs typeface="Arial"/>
              </a:rPr>
              <a:t> </a:t>
            </a:r>
            <a:r>
              <a:rPr sz="4267" spc="-7" dirty="0">
                <a:latin typeface="Arial"/>
                <a:cs typeface="Arial"/>
              </a:rPr>
              <a:t>and</a:t>
            </a:r>
            <a:r>
              <a:rPr sz="4267" spc="-133" dirty="0">
                <a:latin typeface="Arial"/>
                <a:cs typeface="Arial"/>
              </a:rPr>
              <a:t> </a:t>
            </a:r>
            <a:r>
              <a:rPr sz="4267" spc="-47" dirty="0">
                <a:latin typeface="Arial"/>
                <a:cs typeface="Arial"/>
              </a:rPr>
              <a:t>Tokenization</a:t>
            </a:r>
            <a:endParaRPr sz="4267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000" y="2426723"/>
            <a:ext cx="10411296" cy="328319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C52F8-FDB8-DB2E-2D80-232313DF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687" y="1315816"/>
            <a:ext cx="3346027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7" dirty="0">
                <a:latin typeface="Arial"/>
                <a:cs typeface="Arial"/>
              </a:rPr>
              <a:t>Normalization</a:t>
            </a:r>
            <a:endParaRPr sz="4267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0341" y="2357208"/>
            <a:ext cx="10636673" cy="3736065"/>
          </a:xfrm>
          <a:prstGeom prst="rect">
            <a:avLst/>
          </a:prstGeom>
        </p:spPr>
        <p:txBody>
          <a:bodyPr vert="horz" wrap="square" lIns="0" tIns="344593" rIns="0" bIns="0" rtlCol="0">
            <a:spAutoFit/>
          </a:bodyPr>
          <a:lstStyle/>
          <a:p>
            <a:pPr marL="318339" indent="-302252">
              <a:spcBef>
                <a:spcPts val="2713"/>
              </a:spcBef>
              <a:buChar char="-"/>
              <a:tabLst>
                <a:tab pos="319185" algn="l"/>
              </a:tabLst>
            </a:pPr>
            <a:r>
              <a:rPr sz="2800" spc="-7" dirty="0">
                <a:latin typeface="Arial"/>
                <a:cs typeface="Arial"/>
              </a:rPr>
              <a:t>Case-normalization</a:t>
            </a:r>
            <a:endParaRPr sz="2800" dirty="0">
              <a:latin typeface="Arial"/>
              <a:cs typeface="Arial"/>
            </a:endParaRPr>
          </a:p>
          <a:p>
            <a:pPr marL="773834" lvl="1" indent="-187109">
              <a:spcBef>
                <a:spcPts val="1660"/>
              </a:spcBef>
              <a:buChar char="-"/>
              <a:tabLst>
                <a:tab pos="774681" algn="l"/>
              </a:tabLst>
            </a:pPr>
            <a:r>
              <a:rPr sz="2000" spc="-7" dirty="0">
                <a:latin typeface="Arial"/>
                <a:cs typeface="Arial"/>
              </a:rPr>
              <a:t>Less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vocab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347" dirty="0">
                <a:latin typeface="Arial"/>
                <a:cs typeface="Arial"/>
              </a:rPr>
              <a:t>□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Hello,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hello,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HELLO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347" dirty="0">
                <a:latin typeface="Arial"/>
                <a:cs typeface="Arial"/>
              </a:rPr>
              <a:t>□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hello</a:t>
            </a:r>
            <a:endParaRPr sz="2000" dirty="0">
              <a:latin typeface="Arial"/>
              <a:cs typeface="Arial"/>
            </a:endParaRPr>
          </a:p>
          <a:p>
            <a:pPr marL="773834" lvl="1" indent="-187109">
              <a:buChar char="-"/>
              <a:tabLst>
                <a:tab pos="774681" algn="l"/>
              </a:tabLst>
            </a:pPr>
            <a:r>
              <a:rPr sz="2000" spc="-7" dirty="0">
                <a:latin typeface="Arial"/>
                <a:cs typeface="Arial"/>
              </a:rPr>
              <a:t>Hence,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reduce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OOV</a:t>
            </a:r>
            <a:endParaRPr sz="2000" dirty="0">
              <a:latin typeface="Arial"/>
              <a:cs typeface="Arial"/>
            </a:endParaRPr>
          </a:p>
          <a:p>
            <a:pPr marL="773834" lvl="1" indent="-187109">
              <a:buChar char="-"/>
              <a:tabLst>
                <a:tab pos="774681" algn="l"/>
              </a:tabLst>
            </a:pPr>
            <a:r>
              <a:rPr sz="2000" spc="-7" dirty="0">
                <a:latin typeface="Arial"/>
                <a:cs typeface="Arial"/>
              </a:rPr>
              <a:t>Could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remove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some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meaning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347" dirty="0">
                <a:latin typeface="Arial"/>
                <a:cs typeface="Arial"/>
              </a:rPr>
              <a:t>□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47" dirty="0">
                <a:latin typeface="Arial"/>
                <a:cs typeface="Arial"/>
              </a:rPr>
              <a:t>WHAT!</a:t>
            </a:r>
            <a:endParaRPr sz="2000" dirty="0">
              <a:latin typeface="Arial"/>
              <a:cs typeface="Arial"/>
            </a:endParaRPr>
          </a:p>
          <a:p>
            <a:pPr marL="424169" indent="-303098">
              <a:spcBef>
                <a:spcPts val="1667"/>
              </a:spcBef>
              <a:buChar char="-"/>
              <a:tabLst>
                <a:tab pos="425016" algn="l"/>
              </a:tabLst>
            </a:pPr>
            <a:r>
              <a:rPr sz="2800" spc="-7" dirty="0">
                <a:latin typeface="Arial"/>
                <a:cs typeface="Arial"/>
              </a:rPr>
              <a:t>Remove</a:t>
            </a:r>
            <a:r>
              <a:rPr sz="2800" spc="-47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stop</a:t>
            </a:r>
            <a:r>
              <a:rPr sz="2800" spc="-47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words</a:t>
            </a:r>
            <a:endParaRPr sz="2800" dirty="0">
              <a:latin typeface="Arial"/>
              <a:cs typeface="Arial"/>
            </a:endParaRPr>
          </a:p>
          <a:p>
            <a:pPr marL="967716" lvl="1" indent="-169329">
              <a:spcBef>
                <a:spcPts val="1913"/>
              </a:spcBef>
              <a:buChar char="-"/>
              <a:tabLst>
                <a:tab pos="968562" algn="l"/>
              </a:tabLst>
            </a:pPr>
            <a:r>
              <a:rPr sz="2000" spc="-7" dirty="0">
                <a:latin typeface="Arial"/>
                <a:cs typeface="Arial"/>
              </a:rPr>
              <a:t>Again</a:t>
            </a:r>
            <a:r>
              <a:rPr sz="2000" spc="-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reduces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vocab</a:t>
            </a:r>
          </a:p>
          <a:p>
            <a:pPr marL="799233" marR="6773" lvl="1">
              <a:buChar char="-"/>
              <a:tabLst>
                <a:tab pos="985495" algn="l"/>
              </a:tabLst>
            </a:pPr>
            <a:r>
              <a:rPr sz="2000" spc="-7" dirty="0">
                <a:latin typeface="Arial"/>
                <a:cs typeface="Arial"/>
              </a:rPr>
              <a:t>But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could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remove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some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347" dirty="0">
                <a:latin typeface="Arial"/>
                <a:cs typeface="Arial"/>
              </a:rPr>
              <a:t>□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with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context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co-reference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347" dirty="0">
                <a:latin typeface="Arial"/>
                <a:cs typeface="Arial"/>
              </a:rPr>
              <a:t>□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No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need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with </a:t>
            </a:r>
            <a:r>
              <a:rPr sz="2000" dirty="0">
                <a:latin typeface="Arial"/>
                <a:cs typeface="Arial"/>
              </a:rPr>
              <a:t>sequence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models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and DL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059A4-66B2-F200-5ACD-F7E420F3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855" y="1228440"/>
            <a:ext cx="3045460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47" dirty="0">
                <a:latin typeface="Arial"/>
                <a:cs typeface="Arial"/>
              </a:rPr>
              <a:t>Tokenization</a:t>
            </a:r>
            <a:endParaRPr sz="4267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4417" y="2332708"/>
            <a:ext cx="11508740" cy="341802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2205" marR="215895" indent="-336118">
              <a:spcBef>
                <a:spcPts val="133"/>
              </a:spcBef>
              <a:buChar char="•"/>
              <a:tabLst>
                <a:tab pos="351358" algn="l"/>
                <a:tab pos="353051" algn="l"/>
              </a:tabLst>
            </a:pPr>
            <a:r>
              <a:rPr spc="-33" dirty="0">
                <a:latin typeface="Arial"/>
                <a:cs typeface="Arial"/>
              </a:rPr>
              <a:t>Tokenization</a:t>
            </a:r>
            <a:r>
              <a:rPr spc="-7" dirty="0">
                <a:latin typeface="Arial"/>
                <a:cs typeface="Arial"/>
              </a:rPr>
              <a:t> is one of the </a:t>
            </a:r>
            <a:r>
              <a:rPr dirty="0">
                <a:latin typeface="Arial"/>
                <a:cs typeface="Arial"/>
              </a:rPr>
              <a:t>most</a:t>
            </a:r>
            <a:r>
              <a:rPr spc="-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common</a:t>
            </a:r>
            <a:r>
              <a:rPr spc="-7" dirty="0">
                <a:latin typeface="Arial"/>
                <a:cs typeface="Arial"/>
              </a:rPr>
              <a:t> tasks when it </a:t>
            </a:r>
            <a:r>
              <a:rPr dirty="0">
                <a:latin typeface="Arial"/>
                <a:cs typeface="Arial"/>
              </a:rPr>
              <a:t>comes</a:t>
            </a:r>
            <a:r>
              <a:rPr spc="-7" dirty="0">
                <a:latin typeface="Arial"/>
                <a:cs typeface="Arial"/>
              </a:rPr>
              <a:t> to working with text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data</a:t>
            </a:r>
            <a:endParaRPr dirty="0">
              <a:latin typeface="Arial"/>
              <a:cs typeface="Arial"/>
            </a:endParaRPr>
          </a:p>
          <a:p>
            <a:pPr marL="352205" marR="6773" indent="-336118">
              <a:buChar char="•"/>
              <a:tabLst>
                <a:tab pos="351358" algn="l"/>
                <a:tab pos="353051" algn="l"/>
              </a:tabLst>
            </a:pPr>
            <a:r>
              <a:rPr spc="-33" dirty="0">
                <a:latin typeface="Arial"/>
                <a:cs typeface="Arial"/>
              </a:rPr>
              <a:t>Tokenization </a:t>
            </a:r>
            <a:r>
              <a:rPr spc="-7" dirty="0">
                <a:latin typeface="Arial"/>
                <a:cs typeface="Arial"/>
              </a:rPr>
              <a:t>is essentially </a:t>
            </a:r>
            <a:r>
              <a:rPr dirty="0">
                <a:latin typeface="Arial"/>
                <a:cs typeface="Arial"/>
              </a:rPr>
              <a:t>splitting a </a:t>
            </a:r>
            <a:r>
              <a:rPr spc="-7" dirty="0">
                <a:latin typeface="Arial"/>
                <a:cs typeface="Arial"/>
              </a:rPr>
              <a:t>phrase, </a:t>
            </a:r>
            <a:r>
              <a:rPr dirty="0">
                <a:latin typeface="Arial"/>
                <a:cs typeface="Arial"/>
              </a:rPr>
              <a:t>sentence, </a:t>
            </a:r>
            <a:r>
              <a:rPr spc="-7" dirty="0">
                <a:latin typeface="Arial"/>
                <a:cs typeface="Arial"/>
              </a:rPr>
              <a:t>paragraph, or an entire text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document into </a:t>
            </a:r>
            <a:r>
              <a:rPr dirty="0">
                <a:latin typeface="Arial"/>
                <a:cs typeface="Arial"/>
              </a:rPr>
              <a:t>smaller </a:t>
            </a:r>
            <a:r>
              <a:rPr spc="-7" dirty="0">
                <a:latin typeface="Arial"/>
                <a:cs typeface="Arial"/>
              </a:rPr>
              <a:t>units, </a:t>
            </a:r>
            <a:r>
              <a:rPr dirty="0">
                <a:latin typeface="Arial"/>
                <a:cs typeface="Arial"/>
              </a:rPr>
              <a:t>such </a:t>
            </a:r>
            <a:r>
              <a:rPr spc="-7" dirty="0">
                <a:latin typeface="Arial"/>
                <a:cs typeface="Arial"/>
              </a:rPr>
              <a:t>as individual words or terms. Each of these </a:t>
            </a:r>
            <a:r>
              <a:rPr dirty="0">
                <a:latin typeface="Arial"/>
                <a:cs typeface="Arial"/>
              </a:rPr>
              <a:t> smaller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units are </a:t>
            </a:r>
            <a:r>
              <a:rPr dirty="0">
                <a:latin typeface="Arial"/>
                <a:cs typeface="Arial"/>
              </a:rPr>
              <a:t>called</a:t>
            </a:r>
            <a:r>
              <a:rPr spc="-7" dirty="0">
                <a:latin typeface="Arial"/>
                <a:cs typeface="Arial"/>
              </a:rPr>
              <a:t> tokens.</a:t>
            </a:r>
            <a:endParaRPr dirty="0">
              <a:latin typeface="Arial"/>
              <a:cs typeface="Arial"/>
            </a:endParaRPr>
          </a:p>
          <a:p>
            <a:pPr marL="352205" marR="858499" indent="-336118">
              <a:buChar char="•"/>
              <a:tabLst>
                <a:tab pos="351358" algn="l"/>
                <a:tab pos="353051" algn="l"/>
              </a:tabLst>
            </a:pPr>
            <a:r>
              <a:rPr spc="-7" dirty="0">
                <a:latin typeface="Arial"/>
                <a:cs typeface="Arial"/>
              </a:rPr>
              <a:t>It is important because the </a:t>
            </a:r>
            <a:r>
              <a:rPr dirty="0">
                <a:latin typeface="Arial"/>
                <a:cs typeface="Arial"/>
              </a:rPr>
              <a:t>meaning </a:t>
            </a:r>
            <a:r>
              <a:rPr spc="-7" dirty="0">
                <a:latin typeface="Arial"/>
                <a:cs typeface="Arial"/>
              </a:rPr>
              <a:t>of the text </a:t>
            </a:r>
            <a:r>
              <a:rPr dirty="0">
                <a:latin typeface="Arial"/>
                <a:cs typeface="Arial"/>
              </a:rPr>
              <a:t>could </a:t>
            </a:r>
            <a:r>
              <a:rPr spc="-7" dirty="0">
                <a:latin typeface="Arial"/>
                <a:cs typeface="Arial"/>
              </a:rPr>
              <a:t>easily be interpreted by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analyzing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 words present in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 text.</a:t>
            </a:r>
            <a:endParaRPr dirty="0">
              <a:latin typeface="Arial"/>
              <a:cs typeface="Arial"/>
            </a:endParaRPr>
          </a:p>
          <a:p>
            <a:pPr marL="436022" indent="-419936">
              <a:buChar char="•"/>
              <a:tabLst>
                <a:tab pos="436022" algn="l"/>
                <a:tab pos="436869" algn="l"/>
              </a:tabLst>
            </a:pPr>
            <a:r>
              <a:rPr dirty="0">
                <a:latin typeface="Arial"/>
                <a:cs typeface="Arial"/>
              </a:rPr>
              <a:t>Methods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Perform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33" dirty="0">
                <a:latin typeface="Arial"/>
                <a:cs typeface="Arial"/>
              </a:rPr>
              <a:t>Tokenization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Python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:</a:t>
            </a:r>
          </a:p>
          <a:p>
            <a:pPr marL="1728003" lvl="1" indent="-384377">
              <a:spcBef>
                <a:spcPts val="507"/>
              </a:spcBef>
              <a:buFont typeface="MS PGothic"/>
              <a:buChar char="✓"/>
              <a:tabLst>
                <a:tab pos="1728850" algn="l"/>
              </a:tabLst>
            </a:pPr>
            <a:r>
              <a:rPr spc="-33" dirty="0">
                <a:latin typeface="Arial"/>
                <a:cs typeface="Arial"/>
              </a:rPr>
              <a:t>Tokenization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using</a:t>
            </a:r>
            <a:r>
              <a:rPr spc="-13" dirty="0">
                <a:latin typeface="Arial"/>
                <a:cs typeface="Arial"/>
              </a:rPr>
              <a:t> Python’s </a:t>
            </a:r>
            <a:r>
              <a:rPr dirty="0">
                <a:latin typeface="Arial"/>
                <a:cs typeface="Arial"/>
              </a:rPr>
              <a:t>split()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function</a:t>
            </a:r>
            <a:endParaRPr dirty="0">
              <a:latin typeface="Arial"/>
              <a:cs typeface="Arial"/>
            </a:endParaRPr>
          </a:p>
          <a:p>
            <a:pPr marL="1728003" lvl="1" indent="-384377">
              <a:buFont typeface="MS PGothic"/>
              <a:buChar char="✓"/>
              <a:tabLst>
                <a:tab pos="1728850" algn="l"/>
              </a:tabLst>
            </a:pPr>
            <a:r>
              <a:rPr spc="-33" dirty="0">
                <a:latin typeface="Arial"/>
                <a:cs typeface="Arial"/>
              </a:rPr>
              <a:t>Tokenization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using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Regular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Expressions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(RegEx)</a:t>
            </a:r>
          </a:p>
          <a:p>
            <a:pPr marL="1728003" lvl="1" indent="-384377">
              <a:buFont typeface="MS PGothic"/>
              <a:buChar char="✓"/>
              <a:tabLst>
                <a:tab pos="1728850" algn="l"/>
              </a:tabLst>
            </a:pPr>
            <a:r>
              <a:rPr spc="-33" dirty="0">
                <a:latin typeface="Arial"/>
                <a:cs typeface="Arial"/>
              </a:rPr>
              <a:t>Tokenization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using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3" dirty="0">
                <a:latin typeface="Arial"/>
                <a:cs typeface="Arial"/>
              </a:rPr>
              <a:t>NLTK</a:t>
            </a:r>
            <a:endParaRPr dirty="0">
              <a:latin typeface="Arial"/>
              <a:cs typeface="Arial"/>
            </a:endParaRPr>
          </a:p>
          <a:p>
            <a:pPr marL="1728003" lvl="1" indent="-384377">
              <a:buFont typeface="MS PGothic"/>
              <a:buChar char="✓"/>
              <a:tabLst>
                <a:tab pos="1728850" algn="l"/>
              </a:tabLst>
            </a:pPr>
            <a:r>
              <a:rPr spc="-33" dirty="0">
                <a:latin typeface="Arial"/>
                <a:cs typeface="Arial"/>
              </a:rPr>
              <a:t>Tokenization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using the other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libraries like </a:t>
            </a:r>
            <a:r>
              <a:rPr dirty="0">
                <a:latin typeface="Arial"/>
                <a:cs typeface="Arial"/>
              </a:rPr>
              <a:t>spaCy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and Gensim library</a:t>
            </a:r>
            <a:endParaRPr dirty="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dirty="0">
              <a:latin typeface="Arial"/>
              <a:cs typeface="Arial"/>
            </a:endParaRPr>
          </a:p>
          <a:p>
            <a:pPr marL="863578" indent="-336118">
              <a:buChar char="•"/>
              <a:tabLst>
                <a:tab pos="863578" algn="l"/>
                <a:tab pos="864425" algn="l"/>
              </a:tabLst>
            </a:pPr>
            <a:r>
              <a:rPr spc="-7" dirty="0">
                <a:latin typeface="Arial"/>
                <a:cs typeface="Arial"/>
              </a:rPr>
              <a:t>The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final Goal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of</a:t>
            </a:r>
            <a:r>
              <a:rPr spc="-47" dirty="0">
                <a:latin typeface="Arial"/>
                <a:cs typeface="Arial"/>
              </a:rPr>
              <a:t> </a:t>
            </a:r>
            <a:r>
              <a:rPr spc="-33" dirty="0">
                <a:latin typeface="Arial"/>
                <a:cs typeface="Arial"/>
              </a:rPr>
              <a:t>Tokenization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is </a:t>
            </a:r>
            <a:r>
              <a:rPr dirty="0">
                <a:latin typeface="Arial"/>
                <a:cs typeface="Arial"/>
              </a:rPr>
              <a:t>: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Creating </a:t>
            </a:r>
            <a:r>
              <a:rPr spc="-20" dirty="0">
                <a:latin typeface="Arial"/>
                <a:cs typeface="Arial"/>
              </a:rPr>
              <a:t>Vocabulary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030DF-7213-296C-1C84-B4FE8CEF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103" y="1372708"/>
            <a:ext cx="3797300" cy="83777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333" spc="-60" dirty="0">
                <a:latin typeface="Arial"/>
                <a:cs typeface="Arial"/>
              </a:rPr>
              <a:t>Tokenization</a:t>
            </a:r>
            <a:endParaRPr sz="5333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320" y="3037873"/>
            <a:ext cx="10175292" cy="25196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CE69C-3B86-59E6-AFDE-530E581E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695" y="1147160"/>
            <a:ext cx="2468880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7" dirty="0">
                <a:latin typeface="Arial"/>
                <a:cs typeface="Arial"/>
              </a:rPr>
              <a:t>Stemming</a:t>
            </a:r>
            <a:endParaRPr sz="4267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7313" y="2119349"/>
            <a:ext cx="11674687" cy="190735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7923" marR="193035" indent="-336118">
              <a:spcBef>
                <a:spcPts val="133"/>
              </a:spcBef>
              <a:buChar char="•"/>
              <a:tabLst>
                <a:tab pos="397077" algn="l"/>
                <a:tab pos="397923" algn="l"/>
              </a:tabLst>
            </a:pPr>
            <a:r>
              <a:rPr spc="-7" dirty="0">
                <a:latin typeface="Arial"/>
                <a:cs typeface="Arial"/>
              </a:rPr>
              <a:t>Another</a:t>
            </a:r>
            <a:r>
              <a:rPr spc="-2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source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of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redundancy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and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highly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variable/unexpected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morphology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are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 </a:t>
            </a:r>
            <a:r>
              <a:rPr spc="-645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prefixes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and </a:t>
            </a:r>
            <a:r>
              <a:rPr spc="-13" dirty="0">
                <a:latin typeface="Arial"/>
                <a:cs typeface="Arial"/>
              </a:rPr>
              <a:t>suffixes</a:t>
            </a:r>
            <a:endParaRPr dirty="0">
              <a:latin typeface="Arial"/>
              <a:cs typeface="Arial"/>
            </a:endParaRPr>
          </a:p>
          <a:p>
            <a:pPr marL="397923" indent="-336118">
              <a:buChar char="•"/>
              <a:tabLst>
                <a:tab pos="397077" algn="l"/>
                <a:tab pos="397923" algn="l"/>
              </a:tabLst>
            </a:pPr>
            <a:r>
              <a:rPr spc="-7" dirty="0">
                <a:latin typeface="Arial"/>
                <a:cs typeface="Arial"/>
              </a:rPr>
              <a:t>The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most</a:t>
            </a:r>
            <a:r>
              <a:rPr spc="-7" dirty="0">
                <a:latin typeface="Arial"/>
                <a:cs typeface="Arial"/>
              </a:rPr>
              <a:t> basic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ones trims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prefixes and</a:t>
            </a:r>
            <a:r>
              <a:rPr spc="-13" dirty="0">
                <a:latin typeface="Arial"/>
                <a:cs typeface="Arial"/>
              </a:rPr>
              <a:t> suffixes,</a:t>
            </a:r>
            <a:r>
              <a:rPr spc="-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known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 the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language</a:t>
            </a:r>
            <a:endParaRPr dirty="0">
              <a:latin typeface="Arial"/>
              <a:cs typeface="Arial"/>
            </a:endParaRPr>
          </a:p>
          <a:p>
            <a:pPr marL="397923" indent="-336118">
              <a:buChar char="•"/>
              <a:tabLst>
                <a:tab pos="397077" algn="l"/>
                <a:tab pos="397923" algn="l"/>
              </a:tabLst>
            </a:pPr>
            <a:r>
              <a:rPr spc="-7" dirty="0">
                <a:latin typeface="Arial"/>
                <a:cs typeface="Arial"/>
              </a:rPr>
              <a:t>Note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that: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stemming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might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produce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meaningless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words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sometimes!</a:t>
            </a:r>
          </a:p>
          <a:p>
            <a:pPr marL="397923" indent="-336118">
              <a:buChar char="•"/>
              <a:tabLst>
                <a:tab pos="397077" algn="l"/>
                <a:tab pos="397923" algn="l"/>
              </a:tabLst>
            </a:pPr>
            <a:r>
              <a:rPr spc="-7" dirty="0">
                <a:latin typeface="Arial"/>
                <a:cs typeface="Arial"/>
              </a:rPr>
              <a:t>Also,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notice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how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stemming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automatically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reduce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lower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case.</a:t>
            </a:r>
          </a:p>
          <a:p>
            <a:pPr marL="397923" marR="183722" indent="-336118">
              <a:buChar char="•"/>
              <a:tabLst>
                <a:tab pos="397077" algn="l"/>
                <a:tab pos="397923" algn="l"/>
              </a:tabLst>
            </a:pPr>
            <a:r>
              <a:rPr spc="-7" dirty="0">
                <a:latin typeface="Arial"/>
                <a:cs typeface="Arial"/>
              </a:rPr>
              <a:t>If we are going to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preprocess with </a:t>
            </a:r>
            <a:r>
              <a:rPr dirty="0">
                <a:latin typeface="Arial"/>
                <a:cs typeface="Arial"/>
              </a:rPr>
              <a:t>stemming, </a:t>
            </a:r>
            <a:r>
              <a:rPr spc="-7" dirty="0">
                <a:latin typeface="Arial"/>
                <a:cs typeface="Arial"/>
              </a:rPr>
              <a:t>we </a:t>
            </a:r>
            <a:r>
              <a:rPr dirty="0">
                <a:latin typeface="Arial"/>
                <a:cs typeface="Arial"/>
              </a:rPr>
              <a:t>must </a:t>
            </a:r>
            <a:r>
              <a:rPr spc="-7" dirty="0">
                <a:latin typeface="Arial"/>
                <a:cs typeface="Arial"/>
              </a:rPr>
              <a:t>do the </a:t>
            </a:r>
            <a:r>
              <a:rPr dirty="0">
                <a:latin typeface="Arial"/>
                <a:cs typeface="Arial"/>
              </a:rPr>
              <a:t>same </a:t>
            </a:r>
            <a:r>
              <a:rPr spc="-7" dirty="0">
                <a:latin typeface="Arial"/>
                <a:cs typeface="Arial"/>
              </a:rPr>
              <a:t>on the text we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use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for building our </a:t>
            </a:r>
            <a:r>
              <a:rPr dirty="0">
                <a:latin typeface="Arial"/>
                <a:cs typeface="Arial"/>
              </a:rPr>
              <a:t>vocab!</a:t>
            </a:r>
          </a:p>
          <a:p>
            <a:pPr>
              <a:spcBef>
                <a:spcPts val="60"/>
              </a:spcBef>
            </a:pPr>
            <a:endParaRPr sz="1600" dirty="0">
              <a:latin typeface="Arial"/>
              <a:cs typeface="Arial"/>
            </a:endParaRPr>
          </a:p>
          <a:p>
            <a:pPr marL="16933" marR="6773"/>
            <a:r>
              <a:rPr sz="1600" b="1" spc="-7" dirty="0">
                <a:latin typeface="Arial"/>
                <a:cs typeface="Arial"/>
              </a:rPr>
              <a:t>AS </a:t>
            </a:r>
            <a:r>
              <a:rPr sz="1600" b="1" dirty="0">
                <a:latin typeface="Arial"/>
                <a:cs typeface="Arial"/>
              </a:rPr>
              <a:t>a </a:t>
            </a:r>
            <a:r>
              <a:rPr sz="1600" b="1" spc="-7" dirty="0">
                <a:latin typeface="Arial"/>
                <a:cs typeface="Arial"/>
              </a:rPr>
              <a:t>rule of </a:t>
            </a:r>
            <a:r>
              <a:rPr sz="1600" b="1" dirty="0">
                <a:latin typeface="Arial"/>
                <a:cs typeface="Arial"/>
              </a:rPr>
              <a:t>thumb, </a:t>
            </a:r>
            <a:r>
              <a:rPr sz="1600" b="1" spc="-7" dirty="0">
                <a:latin typeface="Arial"/>
                <a:cs typeface="Arial"/>
              </a:rPr>
              <a:t>perform </a:t>
            </a:r>
            <a:r>
              <a:rPr sz="1600" b="1" dirty="0">
                <a:latin typeface="Arial"/>
                <a:cs typeface="Arial"/>
              </a:rPr>
              <a:t>the </a:t>
            </a:r>
            <a:r>
              <a:rPr sz="1600" b="1" spc="-7" dirty="0">
                <a:latin typeface="Arial"/>
                <a:cs typeface="Arial"/>
              </a:rPr>
              <a:t>same preprocessing on </a:t>
            </a:r>
            <a:r>
              <a:rPr sz="1600" b="1" dirty="0">
                <a:latin typeface="Arial"/>
                <a:cs typeface="Arial"/>
              </a:rPr>
              <a:t>the </a:t>
            </a:r>
            <a:r>
              <a:rPr sz="1600" b="1" spc="-7" dirty="0">
                <a:latin typeface="Arial"/>
                <a:cs typeface="Arial"/>
              </a:rPr>
              <a:t>vocab(or its </a:t>
            </a:r>
            <a:r>
              <a:rPr sz="1600" b="1" dirty="0">
                <a:latin typeface="Arial"/>
                <a:cs typeface="Arial"/>
              </a:rPr>
              <a:t>training </a:t>
            </a:r>
            <a:r>
              <a:rPr sz="1600" b="1" spc="-7" dirty="0">
                <a:latin typeface="Arial"/>
                <a:cs typeface="Arial"/>
              </a:rPr>
              <a:t>corpus), as </a:t>
            </a:r>
            <a:r>
              <a:rPr sz="1600" b="1" dirty="0">
                <a:latin typeface="Arial"/>
                <a:cs typeface="Arial"/>
              </a:rPr>
              <a:t>that </a:t>
            </a:r>
            <a:r>
              <a:rPr sz="1600" b="1" spc="-7" dirty="0">
                <a:latin typeface="Arial"/>
                <a:cs typeface="Arial"/>
              </a:rPr>
              <a:t>on </a:t>
            </a:r>
            <a:r>
              <a:rPr sz="1600" b="1" dirty="0">
                <a:latin typeface="Arial"/>
                <a:cs typeface="Arial"/>
              </a:rPr>
              <a:t>the </a:t>
            </a:r>
            <a:r>
              <a:rPr sz="1600" b="1" spc="-500" dirty="0">
                <a:latin typeface="Arial"/>
                <a:cs typeface="Arial"/>
              </a:rPr>
              <a:t> </a:t>
            </a:r>
            <a:r>
              <a:rPr sz="1600" b="1" spc="-7" dirty="0">
                <a:latin typeface="Arial"/>
                <a:cs typeface="Arial"/>
              </a:rPr>
              <a:t>input</a:t>
            </a:r>
            <a:r>
              <a:rPr sz="1600" b="1" spc="-13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text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5103784"/>
            <a:ext cx="7200953" cy="132205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335EE-90B8-C47D-D77F-59FA5875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1230603"/>
            <a:ext cx="3556847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7" dirty="0">
                <a:latin typeface="Arial"/>
                <a:cs typeface="Arial"/>
              </a:rPr>
              <a:t>Lemmatization</a:t>
            </a:r>
            <a:endParaRPr sz="4267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04800" y="2170008"/>
            <a:ext cx="11043920" cy="312051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47875" marR="658690" indent="-330192">
              <a:lnSpc>
                <a:spcPct val="100000"/>
              </a:lnSpc>
              <a:spcBef>
                <a:spcPts val="133"/>
              </a:spcBef>
              <a:tabLst>
                <a:tab pos="447029" algn="l"/>
                <a:tab pos="447875" algn="l"/>
              </a:tabLst>
            </a:pPr>
            <a:r>
              <a:rPr sz="2000" spc="-7" dirty="0"/>
              <a:t>Unlike </a:t>
            </a:r>
            <a:r>
              <a:rPr sz="2000" dirty="0"/>
              <a:t>stemming, </a:t>
            </a:r>
            <a:r>
              <a:rPr sz="2000" spc="-7" dirty="0"/>
              <a:t>lemmatization understand the </a:t>
            </a:r>
            <a:r>
              <a:rPr sz="2000" dirty="0"/>
              <a:t>root </a:t>
            </a:r>
            <a:r>
              <a:rPr sz="2000" spc="-7" dirty="0"/>
              <a:t>of the word in the </a:t>
            </a:r>
            <a:r>
              <a:rPr sz="2000" spc="-727" dirty="0"/>
              <a:t> </a:t>
            </a:r>
            <a:r>
              <a:rPr sz="2000" spc="-7" dirty="0"/>
              <a:t>language:</a:t>
            </a:r>
          </a:p>
          <a:p>
            <a:pPr marL="66885">
              <a:lnSpc>
                <a:spcPct val="100000"/>
              </a:lnSpc>
            </a:pPr>
            <a:r>
              <a:rPr sz="2000" dirty="0"/>
              <a:t>(am,</a:t>
            </a:r>
            <a:r>
              <a:rPr sz="2000" spc="-40" dirty="0"/>
              <a:t> </a:t>
            </a:r>
            <a:r>
              <a:rPr sz="2000" spc="-7" dirty="0"/>
              <a:t>is,</a:t>
            </a:r>
            <a:r>
              <a:rPr sz="2000" spc="-33" dirty="0"/>
              <a:t> </a:t>
            </a:r>
            <a:r>
              <a:rPr sz="2000" spc="-7" dirty="0"/>
              <a:t>are</a:t>
            </a:r>
            <a:r>
              <a:rPr sz="2000" spc="-40" dirty="0"/>
              <a:t> </a:t>
            </a:r>
            <a:r>
              <a:rPr sz="2000" spc="387" dirty="0"/>
              <a:t>□</a:t>
            </a:r>
            <a:r>
              <a:rPr sz="2000" spc="-33" dirty="0"/>
              <a:t> </a:t>
            </a:r>
            <a:r>
              <a:rPr sz="2000" spc="-7" dirty="0"/>
              <a:t>Be)</a:t>
            </a:r>
          </a:p>
          <a:p>
            <a:pPr marL="447875" marR="6773" indent="-330192">
              <a:lnSpc>
                <a:spcPct val="100000"/>
              </a:lnSpc>
              <a:tabLst>
                <a:tab pos="447029" algn="l"/>
                <a:tab pos="447875" algn="l"/>
              </a:tabLst>
            </a:pPr>
            <a:r>
              <a:rPr sz="2000" spc="-7" dirty="0"/>
              <a:t>So</a:t>
            </a:r>
            <a:r>
              <a:rPr sz="2000" spc="-20" dirty="0"/>
              <a:t> </a:t>
            </a:r>
            <a:r>
              <a:rPr sz="2000" spc="-7" dirty="0"/>
              <a:t>not</a:t>
            </a:r>
            <a:r>
              <a:rPr sz="2000" spc="-13" dirty="0"/>
              <a:t> </a:t>
            </a:r>
            <a:r>
              <a:rPr sz="2000" spc="-7" dirty="0"/>
              <a:t>only</a:t>
            </a:r>
            <a:r>
              <a:rPr sz="2000" spc="-13" dirty="0"/>
              <a:t> </a:t>
            </a:r>
            <a:r>
              <a:rPr sz="2000" spc="-7" dirty="0"/>
              <a:t>the</a:t>
            </a:r>
            <a:r>
              <a:rPr sz="2000" spc="-13" dirty="0"/>
              <a:t> </a:t>
            </a:r>
            <a:r>
              <a:rPr sz="2000" dirty="0"/>
              <a:t>morphology</a:t>
            </a:r>
            <a:r>
              <a:rPr sz="2000" spc="-7" dirty="0"/>
              <a:t> is</a:t>
            </a:r>
            <a:r>
              <a:rPr sz="2000" spc="-13" dirty="0"/>
              <a:t> </a:t>
            </a:r>
            <a:r>
              <a:rPr sz="2000" dirty="0"/>
              <a:t>considered,</a:t>
            </a:r>
            <a:r>
              <a:rPr sz="2000" spc="-13" dirty="0"/>
              <a:t> </a:t>
            </a:r>
            <a:r>
              <a:rPr sz="2000" spc="-7" dirty="0"/>
              <a:t>but</a:t>
            </a:r>
            <a:r>
              <a:rPr sz="2000" spc="-13" dirty="0"/>
              <a:t> </a:t>
            </a:r>
            <a:r>
              <a:rPr sz="2000" spc="-7" dirty="0"/>
              <a:t>also the</a:t>
            </a:r>
            <a:r>
              <a:rPr sz="2000" spc="-13" dirty="0"/>
              <a:t> </a:t>
            </a:r>
            <a:r>
              <a:rPr sz="2000" dirty="0"/>
              <a:t>root.</a:t>
            </a:r>
            <a:r>
              <a:rPr sz="2000" spc="-60" dirty="0"/>
              <a:t> </a:t>
            </a:r>
            <a:r>
              <a:rPr sz="2000" spc="-7" dirty="0"/>
              <a:t>This</a:t>
            </a:r>
            <a:r>
              <a:rPr sz="2000" spc="-13" dirty="0"/>
              <a:t> </a:t>
            </a:r>
            <a:r>
              <a:rPr sz="2000" spc="-7" dirty="0"/>
              <a:t>has </a:t>
            </a:r>
            <a:r>
              <a:rPr sz="2000" dirty="0"/>
              <a:t>more </a:t>
            </a:r>
            <a:r>
              <a:rPr sz="2000" spc="-720" dirty="0"/>
              <a:t> </a:t>
            </a:r>
            <a:r>
              <a:rPr sz="2000" spc="-7" dirty="0"/>
              <a:t>importance in languages like Arabic </a:t>
            </a:r>
            <a:r>
              <a:rPr sz="2000" dirty="0"/>
              <a:t>(requires special </a:t>
            </a:r>
            <a:r>
              <a:rPr sz="2000" spc="-7" dirty="0"/>
              <a:t>lemmatizers and </a:t>
            </a:r>
            <a:r>
              <a:rPr sz="2000" dirty="0"/>
              <a:t> stemmers)</a:t>
            </a:r>
          </a:p>
          <a:p>
            <a:pPr marL="49952">
              <a:lnSpc>
                <a:spcPct val="100000"/>
              </a:lnSpc>
              <a:buFont typeface="Arial"/>
              <a:buChar char="•"/>
            </a:pPr>
            <a:endParaRPr sz="2000" dirty="0"/>
          </a:p>
          <a:p>
            <a:pPr marL="447029" marR="6790944" indent="-447029">
              <a:lnSpc>
                <a:spcPct val="100000"/>
              </a:lnSpc>
              <a:tabLst>
                <a:tab pos="447029" algn="l"/>
                <a:tab pos="447875" algn="l"/>
              </a:tabLst>
            </a:pPr>
            <a:r>
              <a:rPr sz="2000" spc="-7" dirty="0"/>
              <a:t>Either </a:t>
            </a:r>
            <a:r>
              <a:rPr sz="2000" dirty="0"/>
              <a:t>stem </a:t>
            </a:r>
            <a:r>
              <a:rPr sz="2000" spc="-7" dirty="0"/>
              <a:t>or lemmatize </a:t>
            </a:r>
            <a:r>
              <a:rPr sz="2000" dirty="0"/>
              <a:t> </a:t>
            </a:r>
            <a:r>
              <a:rPr sz="2000" spc="-13" dirty="0"/>
              <a:t>There’s</a:t>
            </a:r>
            <a:r>
              <a:rPr sz="2000" spc="-27" dirty="0"/>
              <a:t> </a:t>
            </a:r>
            <a:r>
              <a:rPr sz="2000" spc="-7" dirty="0"/>
              <a:t>no</a:t>
            </a:r>
            <a:r>
              <a:rPr sz="2000" spc="-27" dirty="0"/>
              <a:t> </a:t>
            </a:r>
            <a:r>
              <a:rPr sz="2000" spc="-7" dirty="0"/>
              <a:t>need</a:t>
            </a:r>
            <a:r>
              <a:rPr sz="2000" spc="-27" dirty="0"/>
              <a:t> </a:t>
            </a:r>
            <a:r>
              <a:rPr sz="2000" spc="-7" dirty="0"/>
              <a:t>to</a:t>
            </a:r>
            <a:r>
              <a:rPr sz="2000" spc="-27" dirty="0"/>
              <a:t> </a:t>
            </a:r>
            <a:r>
              <a:rPr sz="2000" spc="-7" dirty="0"/>
              <a:t>do</a:t>
            </a:r>
            <a:r>
              <a:rPr sz="2000" spc="-27" dirty="0"/>
              <a:t> </a:t>
            </a:r>
            <a:r>
              <a:rPr sz="2000" spc="-7" dirty="0"/>
              <a:t>both.</a:t>
            </a:r>
          </a:p>
          <a:p>
            <a:pPr marL="676470">
              <a:lnSpc>
                <a:spcPct val="100000"/>
              </a:lnSpc>
            </a:pPr>
            <a:r>
              <a:rPr sz="2000" spc="-7" dirty="0"/>
              <a:t>Actually</a:t>
            </a:r>
            <a:r>
              <a:rPr sz="2000" spc="-33" dirty="0"/>
              <a:t> </a:t>
            </a:r>
            <a:r>
              <a:rPr sz="2000" dirty="0"/>
              <a:t>stemming</a:t>
            </a:r>
            <a:r>
              <a:rPr sz="2000" spc="-20" dirty="0"/>
              <a:t> </a:t>
            </a:r>
            <a:r>
              <a:rPr sz="2000" dirty="0"/>
              <a:t>might</a:t>
            </a:r>
            <a:r>
              <a:rPr sz="2000" spc="-27" dirty="0"/>
              <a:t> </a:t>
            </a:r>
            <a:r>
              <a:rPr sz="2000" dirty="0"/>
              <a:t>make</a:t>
            </a:r>
            <a:r>
              <a:rPr sz="2000" spc="-20" dirty="0"/>
              <a:t> </a:t>
            </a:r>
            <a:r>
              <a:rPr sz="2000" spc="-7" dirty="0"/>
              <a:t>lemmatization</a:t>
            </a:r>
            <a:r>
              <a:rPr sz="2000" spc="-20" dirty="0"/>
              <a:t> </a:t>
            </a:r>
            <a:r>
              <a:rPr sz="2000" spc="-7" dirty="0"/>
              <a:t>not</a:t>
            </a:r>
            <a:r>
              <a:rPr sz="2000" spc="-27" dirty="0"/>
              <a:t> </a:t>
            </a:r>
            <a:r>
              <a:rPr sz="2000" spc="-7" dirty="0"/>
              <a:t>working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1F584-1A0B-7994-7E98-BA59CB46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216" y="1380840"/>
            <a:ext cx="2340185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13" dirty="0">
                <a:latin typeface="Arial"/>
                <a:cs typeface="Arial"/>
              </a:rPr>
              <a:t>PoS</a:t>
            </a:r>
            <a:r>
              <a:rPr sz="4267" spc="-187" dirty="0">
                <a:latin typeface="Arial"/>
                <a:cs typeface="Arial"/>
              </a:rPr>
              <a:t> </a:t>
            </a:r>
            <a:r>
              <a:rPr sz="4267" spc="-127" dirty="0">
                <a:latin typeface="Arial"/>
                <a:cs typeface="Arial"/>
              </a:rPr>
              <a:t>Tags</a:t>
            </a:r>
            <a:endParaRPr sz="4267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353" y="2829193"/>
            <a:ext cx="5893647" cy="25100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7923" marR="140543" indent="-330192" algn="just">
              <a:spcBef>
                <a:spcPts val="133"/>
              </a:spcBef>
              <a:buChar char="•"/>
              <a:tabLst>
                <a:tab pos="397923" algn="l"/>
              </a:tabLst>
            </a:pPr>
            <a:r>
              <a:rPr spc="-7" dirty="0">
                <a:latin typeface="Arial"/>
                <a:cs typeface="Arial"/>
              </a:rPr>
              <a:t>In </a:t>
            </a:r>
            <a:r>
              <a:rPr spc="-93" dirty="0">
                <a:latin typeface="Arial"/>
                <a:cs typeface="Arial"/>
              </a:rPr>
              <a:t>NLP, </a:t>
            </a:r>
            <a:r>
              <a:rPr spc="-7" dirty="0">
                <a:latin typeface="Arial"/>
                <a:cs typeface="Arial"/>
              </a:rPr>
              <a:t>Part-of-Speech </a:t>
            </a:r>
            <a:r>
              <a:rPr dirty="0">
                <a:latin typeface="Arial"/>
                <a:cs typeface="Arial"/>
              </a:rPr>
              <a:t>refers </a:t>
            </a:r>
            <a:r>
              <a:rPr spc="-7" dirty="0">
                <a:latin typeface="Arial"/>
                <a:cs typeface="Arial"/>
              </a:rPr>
              <a:t>to the </a:t>
            </a:r>
            <a:r>
              <a:rPr spc="-727" dirty="0">
                <a:latin typeface="Arial"/>
                <a:cs typeface="Arial"/>
              </a:rPr>
              <a:t> </a:t>
            </a:r>
            <a:r>
              <a:rPr spc="-13" dirty="0">
                <a:latin typeface="Arial"/>
                <a:cs typeface="Arial"/>
              </a:rPr>
              <a:t>different </a:t>
            </a:r>
            <a:r>
              <a:rPr dirty="0">
                <a:latin typeface="Arial"/>
                <a:cs typeface="Arial"/>
              </a:rPr>
              <a:t>classes a </a:t>
            </a:r>
            <a:r>
              <a:rPr spc="-7" dirty="0">
                <a:latin typeface="Arial"/>
                <a:cs typeface="Arial"/>
              </a:rPr>
              <a:t>word </a:t>
            </a:r>
            <a:r>
              <a:rPr dirty="0">
                <a:latin typeface="Arial"/>
                <a:cs typeface="Arial"/>
              </a:rPr>
              <a:t>can </a:t>
            </a:r>
            <a:r>
              <a:rPr spc="-7" dirty="0">
                <a:latin typeface="Arial"/>
                <a:cs typeface="Arial"/>
              </a:rPr>
              <a:t>belong </a:t>
            </a:r>
            <a:r>
              <a:rPr spc="-7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to:</a:t>
            </a:r>
            <a:endParaRPr dirty="0">
              <a:latin typeface="Arial"/>
              <a:cs typeface="Arial"/>
            </a:endParaRPr>
          </a:p>
          <a:p>
            <a:pPr marL="16933" algn="just"/>
            <a:r>
              <a:rPr spc="-7" dirty="0">
                <a:latin typeface="Arial"/>
                <a:cs typeface="Arial"/>
              </a:rPr>
              <a:t>Noun</a:t>
            </a:r>
            <a:r>
              <a:rPr dirty="0">
                <a:latin typeface="Arial"/>
                <a:cs typeface="Arial"/>
              </a:rPr>
              <a:t>,</a:t>
            </a:r>
            <a:r>
              <a:rPr spc="-7" dirty="0">
                <a:latin typeface="Arial"/>
                <a:cs typeface="Arial"/>
              </a:rPr>
              <a:t> </a:t>
            </a:r>
            <a:r>
              <a:rPr spc="-152" dirty="0">
                <a:latin typeface="Arial"/>
                <a:cs typeface="Arial"/>
              </a:rPr>
              <a:t>V</a:t>
            </a:r>
            <a:r>
              <a:rPr spc="-7" dirty="0">
                <a:latin typeface="Arial"/>
                <a:cs typeface="Arial"/>
              </a:rPr>
              <a:t>erb</a:t>
            </a:r>
            <a:r>
              <a:rPr dirty="0">
                <a:latin typeface="Arial"/>
                <a:cs typeface="Arial"/>
              </a:rPr>
              <a:t>,</a:t>
            </a:r>
            <a:r>
              <a:rPr spc="-152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Adjective</a:t>
            </a:r>
            <a:r>
              <a:rPr dirty="0">
                <a:latin typeface="Arial"/>
                <a:cs typeface="Arial"/>
              </a:rPr>
              <a:t>,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…etc.</a:t>
            </a:r>
          </a:p>
          <a:p>
            <a:pPr marL="474121" marR="6773" indent="-406390">
              <a:buChar char="•"/>
              <a:tabLst>
                <a:tab pos="473275" algn="l"/>
                <a:tab pos="474121" algn="l"/>
              </a:tabLst>
            </a:pPr>
            <a:r>
              <a:rPr spc="-7" dirty="0">
                <a:latin typeface="Arial"/>
                <a:cs typeface="Arial"/>
              </a:rPr>
              <a:t>The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13" dirty="0">
                <a:latin typeface="Arial"/>
                <a:cs typeface="Arial"/>
              </a:rPr>
              <a:t>different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tags/classes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are</a:t>
            </a:r>
            <a:r>
              <a:rPr spc="-2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called </a:t>
            </a:r>
            <a:r>
              <a:rPr spc="-7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tagset, and </a:t>
            </a:r>
            <a:r>
              <a:rPr spc="-13" dirty="0">
                <a:latin typeface="Arial"/>
                <a:cs typeface="Arial"/>
              </a:rPr>
              <a:t>there’s </a:t>
            </a:r>
            <a:r>
              <a:rPr spc="-7" dirty="0">
                <a:latin typeface="Arial"/>
                <a:cs typeface="Arial"/>
              </a:rPr>
              <a:t>no </a:t>
            </a:r>
            <a:r>
              <a:rPr dirty="0">
                <a:latin typeface="Arial"/>
                <a:cs typeface="Arial"/>
              </a:rPr>
              <a:t>common </a:t>
            </a:r>
            <a:r>
              <a:rPr spc="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standard.</a:t>
            </a:r>
          </a:p>
          <a:p>
            <a:pPr marL="474121" marR="566406" indent="-406390">
              <a:buChar char="•"/>
              <a:tabLst>
                <a:tab pos="473275" algn="l"/>
                <a:tab pos="474121" algn="l"/>
              </a:tabLst>
            </a:pPr>
            <a:r>
              <a:rPr spc="-7" dirty="0">
                <a:latin typeface="Arial"/>
                <a:cs typeface="Arial"/>
              </a:rPr>
              <a:t>They usually encode grammar </a:t>
            </a:r>
            <a:r>
              <a:rPr dirty="0">
                <a:latin typeface="Arial"/>
                <a:cs typeface="Arial"/>
              </a:rPr>
              <a:t>+ </a:t>
            </a:r>
            <a:r>
              <a:rPr spc="-7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tense.</a:t>
            </a:r>
            <a:endParaRPr dirty="0">
              <a:latin typeface="Arial"/>
              <a:cs typeface="Arial"/>
            </a:endParaRPr>
          </a:p>
          <a:p>
            <a:pPr marL="474121" marR="44026" indent="-406390">
              <a:buChar char="•"/>
              <a:tabLst>
                <a:tab pos="473275" algn="l"/>
                <a:tab pos="474121" algn="l"/>
              </a:tabLst>
            </a:pPr>
            <a:r>
              <a:rPr spc="-7" dirty="0">
                <a:latin typeface="Arial"/>
                <a:cs typeface="Arial"/>
              </a:rPr>
              <a:t>The task of PoS tagging </a:t>
            </a:r>
            <a:r>
              <a:rPr dirty="0">
                <a:latin typeface="Arial"/>
                <a:cs typeface="Arial"/>
              </a:rPr>
              <a:t>resembles </a:t>
            </a:r>
            <a:r>
              <a:rPr spc="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 task of </a:t>
            </a:r>
            <a:r>
              <a:rPr dirty="0">
                <a:latin typeface="Arial"/>
                <a:cs typeface="Arial"/>
              </a:rPr>
              <a:t>semantic segmentation </a:t>
            </a:r>
            <a:r>
              <a:rPr spc="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40" dirty="0">
                <a:latin typeface="Arial"/>
                <a:cs typeface="Arial"/>
              </a:rPr>
              <a:t>CV;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assign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class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for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every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word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4563" y="1189737"/>
            <a:ext cx="5962412" cy="49293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A5016-8B84-69E2-7E0E-071539B3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591" y="1272635"/>
            <a:ext cx="422740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b="1" spc="-13" dirty="0">
                <a:latin typeface="Arial"/>
                <a:cs typeface="Arial"/>
              </a:rPr>
              <a:t>Extra</a:t>
            </a:r>
            <a:r>
              <a:rPr sz="4800" b="1" spc="-127" dirty="0">
                <a:latin typeface="Arial"/>
                <a:cs typeface="Arial"/>
              </a:rPr>
              <a:t> </a:t>
            </a:r>
            <a:r>
              <a:rPr sz="4800" b="1" spc="-7" dirty="0">
                <a:latin typeface="Arial"/>
                <a:cs typeface="Arial"/>
              </a:rPr>
              <a:t>clean-up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8952" y="2270422"/>
            <a:ext cx="1068239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lang="en-GB" sz="2000" spc="-27">
                <a:latin typeface="Arial"/>
                <a:cs typeface="Arial"/>
              </a:rPr>
              <a:t>We </a:t>
            </a:r>
            <a:r>
              <a:rPr lang="en-GB" sz="2000">
                <a:latin typeface="Arial"/>
                <a:cs typeface="Arial"/>
              </a:rPr>
              <a:t>might </a:t>
            </a:r>
            <a:r>
              <a:rPr lang="en-GB" sz="2000" spc="-7">
                <a:latin typeface="Arial"/>
                <a:cs typeface="Arial"/>
              </a:rPr>
              <a:t>encounter non ascii </a:t>
            </a:r>
            <a:r>
              <a:rPr lang="en-GB" sz="2000">
                <a:latin typeface="Arial"/>
                <a:cs typeface="Arial"/>
              </a:rPr>
              <a:t>codes. </a:t>
            </a:r>
            <a:r>
              <a:rPr lang="en-GB" sz="2000" spc="-7">
                <a:latin typeface="Arial"/>
                <a:cs typeface="Arial"/>
              </a:rPr>
              <a:t>In this </a:t>
            </a:r>
            <a:r>
              <a:rPr lang="en-GB" sz="2000">
                <a:latin typeface="Arial"/>
                <a:cs typeface="Arial"/>
              </a:rPr>
              <a:t>case </a:t>
            </a:r>
            <a:r>
              <a:rPr lang="en-GB" sz="2000" spc="-7">
                <a:latin typeface="Arial"/>
                <a:cs typeface="Arial"/>
              </a:rPr>
              <a:t>we need to decode Unicode </a:t>
            </a:r>
            <a:r>
              <a:rPr lang="en-GB" sz="2000">
                <a:latin typeface="Arial"/>
                <a:cs typeface="Arial"/>
              </a:rPr>
              <a:t>characters </a:t>
            </a:r>
            <a:r>
              <a:rPr lang="en-GB" sz="2000" spc="-573">
                <a:latin typeface="Arial"/>
                <a:cs typeface="Arial"/>
              </a:rPr>
              <a:t> </a:t>
            </a:r>
            <a:r>
              <a:rPr lang="en-GB" sz="2000" spc="-7">
                <a:latin typeface="Arial"/>
                <a:cs typeface="Arial"/>
              </a:rPr>
              <a:t>into</a:t>
            </a:r>
            <a:r>
              <a:rPr lang="en-GB" sz="2000" spc="-13">
                <a:latin typeface="Arial"/>
                <a:cs typeface="Arial"/>
              </a:rPr>
              <a:t> </a:t>
            </a:r>
            <a:r>
              <a:rPr lang="en-GB" sz="2000">
                <a:latin typeface="Arial"/>
                <a:cs typeface="Arial"/>
              </a:rPr>
              <a:t>a</a:t>
            </a:r>
            <a:r>
              <a:rPr lang="en-GB" sz="2000" spc="-7">
                <a:latin typeface="Arial"/>
                <a:cs typeface="Arial"/>
              </a:rPr>
              <a:t> normalized form, </a:t>
            </a:r>
            <a:r>
              <a:rPr lang="en-GB" sz="2000">
                <a:latin typeface="Arial"/>
                <a:cs typeface="Arial"/>
              </a:rPr>
              <a:t>such</a:t>
            </a:r>
            <a:r>
              <a:rPr lang="en-GB" sz="2000" spc="-7">
                <a:latin typeface="Arial"/>
                <a:cs typeface="Arial"/>
              </a:rPr>
              <a:t> as</a:t>
            </a:r>
            <a:r>
              <a:rPr lang="en-GB" sz="2000" spc="-13">
                <a:latin typeface="Arial"/>
                <a:cs typeface="Arial"/>
              </a:rPr>
              <a:t> </a:t>
            </a:r>
            <a:r>
              <a:rPr lang="en-GB" sz="2000" spc="-7">
                <a:latin typeface="Arial"/>
                <a:cs typeface="Arial"/>
              </a:rPr>
              <a:t>UTF8</a:t>
            </a:r>
            <a:endParaRPr lang="en-GB"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740" y="3522979"/>
            <a:ext cx="11824520" cy="116484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39BB5-B6AF-4303-6EF3-D364E58658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43</a:t>
            </a:fld>
            <a:endParaRPr lang="en-GB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031" y="1251782"/>
            <a:ext cx="422740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800" spc="-13" dirty="0"/>
              <a:t>Extra</a:t>
            </a:r>
            <a:r>
              <a:rPr sz="4800" spc="-127" dirty="0"/>
              <a:t> </a:t>
            </a:r>
            <a:r>
              <a:rPr sz="4800" spc="-7" dirty="0"/>
              <a:t>clean-up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545508" y="2097702"/>
            <a:ext cx="10682393" cy="12482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000" spc="-27" dirty="0">
                <a:latin typeface="Arial"/>
                <a:cs typeface="Arial"/>
              </a:rPr>
              <a:t>We </a:t>
            </a:r>
            <a:r>
              <a:rPr sz="2000" dirty="0">
                <a:latin typeface="Arial"/>
                <a:cs typeface="Arial"/>
              </a:rPr>
              <a:t>might </a:t>
            </a:r>
            <a:r>
              <a:rPr sz="2000" spc="-7" dirty="0">
                <a:latin typeface="Arial"/>
                <a:cs typeface="Arial"/>
              </a:rPr>
              <a:t>encounter non ascii </a:t>
            </a:r>
            <a:r>
              <a:rPr sz="2000" dirty="0">
                <a:latin typeface="Arial"/>
                <a:cs typeface="Arial"/>
              </a:rPr>
              <a:t>codes. </a:t>
            </a:r>
            <a:r>
              <a:rPr sz="2000" spc="-7" dirty="0">
                <a:latin typeface="Arial"/>
                <a:cs typeface="Arial"/>
              </a:rPr>
              <a:t>In this </a:t>
            </a:r>
            <a:r>
              <a:rPr sz="2000" dirty="0">
                <a:latin typeface="Arial"/>
                <a:cs typeface="Arial"/>
              </a:rPr>
              <a:t>case </a:t>
            </a:r>
            <a:r>
              <a:rPr sz="2000" spc="-7" dirty="0">
                <a:latin typeface="Arial"/>
                <a:cs typeface="Arial"/>
              </a:rPr>
              <a:t>we need to decode Unicode </a:t>
            </a:r>
            <a:r>
              <a:rPr sz="2000" dirty="0">
                <a:latin typeface="Arial"/>
                <a:cs typeface="Arial"/>
              </a:rPr>
              <a:t>characters </a:t>
            </a:r>
            <a:r>
              <a:rPr sz="2000" spc="-57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into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7" dirty="0">
                <a:latin typeface="Arial"/>
                <a:cs typeface="Arial"/>
              </a:rPr>
              <a:t> normalized form, </a:t>
            </a:r>
            <a:r>
              <a:rPr sz="2000" dirty="0">
                <a:latin typeface="Arial"/>
                <a:cs typeface="Arial"/>
              </a:rPr>
              <a:t>such</a:t>
            </a:r>
            <a:r>
              <a:rPr sz="2000" spc="-7" dirty="0">
                <a:latin typeface="Arial"/>
                <a:cs typeface="Arial"/>
              </a:rPr>
              <a:t> as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UTF8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Remove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special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characters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786" y="3699733"/>
            <a:ext cx="10403839" cy="224928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ED947-6B2F-09CB-73E4-3729A802F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551" y="1104233"/>
            <a:ext cx="3826933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800" spc="-33" dirty="0"/>
              <a:t>Vectorization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796936" y="2111925"/>
            <a:ext cx="8116147" cy="22330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2205" indent="-336118">
              <a:spcBef>
                <a:spcPts val="133"/>
              </a:spcBef>
              <a:buChar char="-"/>
              <a:tabLst>
                <a:tab pos="352205" algn="l"/>
                <a:tab pos="353051" algn="l"/>
              </a:tabLst>
            </a:pPr>
            <a:r>
              <a:rPr spc="-7" dirty="0">
                <a:latin typeface="Arial"/>
                <a:cs typeface="Arial"/>
              </a:rPr>
              <a:t>Build</a:t>
            </a:r>
            <a:r>
              <a:rPr spc="-6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vocab</a:t>
            </a:r>
          </a:p>
          <a:p>
            <a:pPr marL="352205" indent="-336118">
              <a:buChar char="-"/>
              <a:tabLst>
                <a:tab pos="352205" algn="l"/>
                <a:tab pos="353051" algn="l"/>
              </a:tabLst>
            </a:pPr>
            <a:r>
              <a:rPr spc="-7" dirty="0">
                <a:latin typeface="Arial"/>
                <a:cs typeface="Arial"/>
              </a:rPr>
              <a:t>Register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index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of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word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from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vocab</a:t>
            </a:r>
          </a:p>
          <a:p>
            <a:pPr marL="352205" indent="-336118">
              <a:buChar char="-"/>
              <a:tabLst>
                <a:tab pos="352205" algn="l"/>
                <a:tab pos="353051" algn="l"/>
              </a:tabLst>
            </a:pPr>
            <a:r>
              <a:rPr spc="-7" dirty="0">
                <a:latin typeface="Arial"/>
                <a:cs typeface="Arial"/>
              </a:rPr>
              <a:t>Not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vocab?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305" dirty="0">
                <a:latin typeface="Arial"/>
                <a:cs typeface="Arial"/>
              </a:rPr>
              <a:t>□</a:t>
            </a:r>
            <a:r>
              <a:rPr spc="-2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store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UNK</a:t>
            </a:r>
            <a:endParaRPr dirty="0">
              <a:latin typeface="Arial"/>
              <a:cs typeface="Arial"/>
            </a:endParaRPr>
          </a:p>
          <a:p>
            <a:pPr marL="352205" indent="-336118">
              <a:buChar char="-"/>
              <a:tabLst>
                <a:tab pos="352205" algn="l"/>
                <a:tab pos="353051" algn="l"/>
              </a:tabLst>
            </a:pPr>
            <a:r>
              <a:rPr spc="-7" dirty="0">
                <a:latin typeface="Arial"/>
                <a:cs typeface="Arial"/>
              </a:rPr>
              <a:t>Need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pad?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305" dirty="0">
                <a:latin typeface="Arial"/>
                <a:cs typeface="Arial"/>
              </a:rPr>
              <a:t>□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encode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PAD</a:t>
            </a:r>
            <a:endParaRPr dirty="0">
              <a:latin typeface="Arial"/>
              <a:cs typeface="Arial"/>
            </a:endParaRPr>
          </a:p>
          <a:p>
            <a:pPr marL="352205" indent="-336118">
              <a:buChar char="-"/>
              <a:tabLst>
                <a:tab pos="352205" algn="l"/>
                <a:tab pos="353051" algn="l"/>
              </a:tabLst>
            </a:pPr>
            <a:r>
              <a:rPr spc="-7" dirty="0">
                <a:latin typeface="Arial"/>
                <a:cs typeface="Arial"/>
              </a:rPr>
              <a:t>All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special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tokens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must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NOT</a:t>
            </a:r>
            <a:r>
              <a:rPr spc="-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be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used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for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other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symbols</a:t>
            </a:r>
          </a:p>
          <a:p>
            <a:pPr marL="352205" indent="-336118">
              <a:buChar char="-"/>
              <a:tabLst>
                <a:tab pos="352205" algn="l"/>
                <a:tab pos="353051" algn="l"/>
              </a:tabLst>
            </a:pPr>
            <a:r>
              <a:rPr spc="-7" dirty="0">
                <a:latin typeface="Arial"/>
                <a:cs typeface="Arial"/>
              </a:rPr>
              <a:t>Example: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if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33" dirty="0">
                <a:latin typeface="Arial"/>
                <a:cs typeface="Arial"/>
              </a:rPr>
              <a:t>PAD=0,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don’t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use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0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as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word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index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(known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mistake)</a:t>
            </a:r>
          </a:p>
          <a:p>
            <a:pPr marL="352205" indent="-336118">
              <a:buChar char="-"/>
              <a:tabLst>
                <a:tab pos="352205" algn="l"/>
                <a:tab pos="353051" algn="l"/>
              </a:tabLst>
            </a:pPr>
            <a:r>
              <a:rPr dirty="0">
                <a:latin typeface="Arial"/>
                <a:cs typeface="Arial"/>
              </a:rPr>
              <a:t>Manual</a:t>
            </a:r>
            <a:r>
              <a:rPr spc="-4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or</a:t>
            </a:r>
            <a:r>
              <a:rPr spc="-87" dirty="0">
                <a:latin typeface="Arial"/>
                <a:cs typeface="Arial"/>
              </a:rPr>
              <a:t> </a:t>
            </a:r>
            <a:r>
              <a:rPr spc="-33" dirty="0">
                <a:latin typeface="Arial"/>
                <a:cs typeface="Arial"/>
              </a:rPr>
              <a:t>Tokenizer</a:t>
            </a:r>
            <a:endParaRPr dirty="0">
              <a:latin typeface="Arial"/>
              <a:cs typeface="Arial"/>
            </a:endParaRPr>
          </a:p>
          <a:p>
            <a:pPr marL="580797"/>
            <a:r>
              <a:rPr dirty="0">
                <a:latin typeface="Arial"/>
                <a:cs typeface="Arial"/>
              </a:rPr>
              <a:t>Most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tokenizers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do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both: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splitting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+</a:t>
            </a:r>
            <a:r>
              <a:rPr spc="-2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vectorization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240" y="4596945"/>
            <a:ext cx="7498080" cy="19968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C7882-FC1C-DA12-93C0-23CD9B25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671" y="1166437"/>
            <a:ext cx="301498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800" spc="-33" dirty="0">
                <a:latin typeface="Arial"/>
                <a:cs typeface="Arial"/>
              </a:rPr>
              <a:t>Vectorizing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671" y="2592154"/>
            <a:ext cx="11507893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7923" marR="300559" indent="-336118">
              <a:spcBef>
                <a:spcPts val="133"/>
              </a:spcBef>
              <a:buChar char="•"/>
              <a:tabLst>
                <a:tab pos="397077" algn="l"/>
                <a:tab pos="397923" algn="l"/>
              </a:tabLst>
            </a:pPr>
            <a:r>
              <a:rPr sz="2000" spc="-20" dirty="0">
                <a:latin typeface="Arial"/>
                <a:cs typeface="Arial"/>
              </a:rPr>
              <a:t>Vectorizing </a:t>
            </a:r>
            <a:r>
              <a:rPr sz="2000" dirty="0">
                <a:latin typeface="Arial"/>
                <a:cs typeface="Arial"/>
              </a:rPr>
              <a:t>: </a:t>
            </a:r>
            <a:r>
              <a:rPr sz="2000" spc="-7" dirty="0">
                <a:latin typeface="Arial"/>
                <a:cs typeface="Arial"/>
              </a:rPr>
              <a:t>The process that we use to </a:t>
            </a:r>
            <a:r>
              <a:rPr sz="2000" dirty="0">
                <a:latin typeface="Arial"/>
                <a:cs typeface="Arial"/>
              </a:rPr>
              <a:t>convert </a:t>
            </a:r>
            <a:r>
              <a:rPr sz="2000" spc="-7" dirty="0">
                <a:latin typeface="Arial"/>
                <a:cs typeface="Arial"/>
              </a:rPr>
              <a:t>text to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form that Python and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machine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learning </a:t>
            </a:r>
            <a:r>
              <a:rPr sz="2000" dirty="0">
                <a:latin typeface="Arial"/>
                <a:cs typeface="Arial"/>
              </a:rPr>
              <a:t>model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understand</a:t>
            </a:r>
            <a:endParaRPr sz="2000" dirty="0">
              <a:latin typeface="Arial"/>
              <a:cs typeface="Arial"/>
            </a:endParaRPr>
          </a:p>
          <a:p>
            <a:pPr marL="397923" indent="-336118">
              <a:buChar char="•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It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 defined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as the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process of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encoding text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as integers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create</a:t>
            </a:r>
            <a:r>
              <a:rPr sz="2000" spc="-7" dirty="0">
                <a:latin typeface="Arial"/>
                <a:cs typeface="Arial"/>
              </a:rPr>
              <a:t> feature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vectors</a:t>
            </a:r>
          </a:p>
          <a:p>
            <a:pPr marL="397923" marR="458035" indent="-336118">
              <a:buChar char="•"/>
              <a:tabLst>
                <a:tab pos="397077" algn="l"/>
                <a:tab pos="397923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1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feature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n-dimensional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numerical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features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represent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some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object</a:t>
            </a:r>
            <a:endParaRPr sz="2000" dirty="0">
              <a:latin typeface="Arial"/>
              <a:cs typeface="Arial"/>
            </a:endParaRPr>
          </a:p>
          <a:p>
            <a:pPr marL="397923" indent="-336118">
              <a:buChar char="•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So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our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context,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we'll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be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taking</a:t>
            </a:r>
            <a:endParaRPr sz="2000" dirty="0">
              <a:latin typeface="Arial"/>
              <a:cs typeface="Arial"/>
            </a:endParaRPr>
          </a:p>
          <a:p>
            <a:pPr marL="16933" marR="6773"/>
            <a:r>
              <a:rPr sz="2000" dirty="0">
                <a:latin typeface="Arial"/>
                <a:cs typeface="Arial"/>
              </a:rPr>
              <a:t>- </a:t>
            </a:r>
            <a:r>
              <a:rPr sz="2000" spc="-7" dirty="0">
                <a:latin typeface="Arial"/>
                <a:cs typeface="Arial"/>
              </a:rPr>
              <a:t>an individual text </a:t>
            </a:r>
            <a:r>
              <a:rPr sz="2000" dirty="0">
                <a:latin typeface="Arial"/>
                <a:cs typeface="Arial"/>
              </a:rPr>
              <a:t>message </a:t>
            </a:r>
            <a:r>
              <a:rPr sz="2000" spc="-7" dirty="0">
                <a:latin typeface="Arial"/>
                <a:cs typeface="Arial"/>
              </a:rPr>
              <a:t>and </a:t>
            </a:r>
            <a:r>
              <a:rPr sz="2000" dirty="0">
                <a:latin typeface="Arial"/>
                <a:cs typeface="Arial"/>
              </a:rPr>
              <a:t>converting </a:t>
            </a:r>
            <a:r>
              <a:rPr sz="2000" spc="-7" dirty="0">
                <a:latin typeface="Arial"/>
                <a:cs typeface="Arial"/>
              </a:rPr>
              <a:t>it to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numeric </a:t>
            </a:r>
            <a:r>
              <a:rPr sz="2000" dirty="0">
                <a:latin typeface="Arial"/>
                <a:cs typeface="Arial"/>
              </a:rPr>
              <a:t>vector </a:t>
            </a:r>
            <a:r>
              <a:rPr sz="2000" spc="-7" dirty="0">
                <a:latin typeface="Arial"/>
                <a:cs typeface="Arial"/>
              </a:rPr>
              <a:t>that </a:t>
            </a:r>
            <a:r>
              <a:rPr sz="2000" dirty="0">
                <a:latin typeface="Arial"/>
                <a:cs typeface="Arial"/>
              </a:rPr>
              <a:t>represents </a:t>
            </a:r>
            <a:r>
              <a:rPr sz="2000" spc="-7" dirty="0">
                <a:latin typeface="Arial"/>
                <a:cs typeface="Arial"/>
              </a:rPr>
              <a:t>that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text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297" y="5210726"/>
            <a:ext cx="10971103" cy="83896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045C2-83D9-F2F4-3699-D3ADCF0C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5959" y="1160012"/>
            <a:ext cx="256201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27" dirty="0"/>
              <a:t>Vectorizing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519" y="2275786"/>
            <a:ext cx="11156527" cy="322310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There are </a:t>
            </a:r>
            <a:r>
              <a:rPr sz="2000" dirty="0">
                <a:latin typeface="Arial"/>
                <a:cs typeface="Arial"/>
              </a:rPr>
              <a:t>many vectorization </a:t>
            </a:r>
            <a:r>
              <a:rPr sz="2000" spc="-7" dirty="0">
                <a:latin typeface="Arial"/>
                <a:cs typeface="Arial"/>
              </a:rPr>
              <a:t>techniques, we will focus on the three widely </a:t>
            </a:r>
            <a:r>
              <a:rPr sz="2000" spc="-7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used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vectorization</a:t>
            </a:r>
            <a:r>
              <a:rPr sz="2000" spc="-7" dirty="0">
                <a:latin typeface="Arial"/>
                <a:cs typeface="Arial"/>
              </a:rPr>
              <a:t> techniques:</a:t>
            </a:r>
            <a:endParaRPr sz="2000" dirty="0">
              <a:latin typeface="Arial"/>
              <a:cs typeface="Arial"/>
            </a:endParaRPr>
          </a:p>
          <a:p>
            <a:pPr marL="397923" indent="-330192">
              <a:buChar char="•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Count</a:t>
            </a:r>
            <a:r>
              <a:rPr sz="2000" spc="-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vectorization</a:t>
            </a:r>
          </a:p>
          <a:p>
            <a:pPr marL="397923" indent="-330192">
              <a:buChar char="•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N-Grams.</a:t>
            </a:r>
            <a:endParaRPr sz="2000" dirty="0">
              <a:latin typeface="Arial"/>
              <a:cs typeface="Arial"/>
            </a:endParaRPr>
          </a:p>
          <a:p>
            <a:pPr marL="397923" indent="-330192">
              <a:buChar char="•"/>
              <a:tabLst>
                <a:tab pos="397077" algn="l"/>
                <a:tab pos="397923" algn="l"/>
              </a:tabLst>
            </a:pPr>
            <a:r>
              <a:rPr sz="2000" spc="-80" dirty="0">
                <a:latin typeface="Arial"/>
                <a:cs typeface="Arial"/>
              </a:rPr>
              <a:t>Term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frequency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inverse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document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frequency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(TF-IDF)</a:t>
            </a:r>
          </a:p>
          <a:p>
            <a:pPr marL="130383" marR="126150">
              <a:spcBef>
                <a:spcPts val="1120"/>
              </a:spcBef>
            </a:pPr>
            <a:r>
              <a:rPr sz="2000" spc="-7" dirty="0">
                <a:latin typeface="Arial"/>
                <a:cs typeface="Arial"/>
              </a:rPr>
              <a:t>These </a:t>
            </a:r>
            <a:r>
              <a:rPr sz="2000" dirty="0">
                <a:latin typeface="Arial"/>
                <a:cs typeface="Arial"/>
              </a:rPr>
              <a:t>methods </a:t>
            </a:r>
            <a:r>
              <a:rPr sz="2000" spc="-7" dirty="0">
                <a:latin typeface="Arial"/>
                <a:cs typeface="Arial"/>
              </a:rPr>
              <a:t>will generate </a:t>
            </a:r>
            <a:r>
              <a:rPr sz="2000" dirty="0">
                <a:latin typeface="Arial"/>
                <a:cs typeface="Arial"/>
              </a:rPr>
              <a:t>very similar </a:t>
            </a:r>
            <a:r>
              <a:rPr sz="2000" spc="-7" dirty="0">
                <a:latin typeface="Arial"/>
                <a:cs typeface="Arial"/>
              </a:rPr>
              <a:t>document-term </a:t>
            </a:r>
            <a:r>
              <a:rPr sz="2000" dirty="0">
                <a:latin typeface="Arial"/>
                <a:cs typeface="Arial"/>
              </a:rPr>
              <a:t>matrices </a:t>
            </a:r>
            <a:r>
              <a:rPr sz="2000" spc="-7" dirty="0">
                <a:latin typeface="Arial"/>
                <a:cs typeface="Arial"/>
              </a:rPr>
              <a:t>where </a:t>
            </a:r>
            <a:r>
              <a:rPr sz="2000" spc="-7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there's one line per document(SMS in our </a:t>
            </a:r>
            <a:r>
              <a:rPr sz="2000" dirty="0">
                <a:latin typeface="Arial"/>
                <a:cs typeface="Arial"/>
              </a:rPr>
              <a:t>case,then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columns </a:t>
            </a:r>
            <a:r>
              <a:rPr sz="2000" spc="-7" dirty="0">
                <a:latin typeface="Arial"/>
                <a:cs typeface="Arial"/>
              </a:rPr>
              <a:t>will </a:t>
            </a:r>
            <a:r>
              <a:rPr sz="2000" dirty="0">
                <a:latin typeface="Arial"/>
                <a:cs typeface="Arial"/>
              </a:rPr>
              <a:t> represent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each word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or potentially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combination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 words</a:t>
            </a:r>
            <a:endParaRPr sz="2000" dirty="0">
              <a:latin typeface="Arial"/>
              <a:cs typeface="Arial"/>
            </a:endParaRPr>
          </a:p>
          <a:p>
            <a:pPr marL="162556" marR="194728">
              <a:spcBef>
                <a:spcPts val="2293"/>
              </a:spcBef>
            </a:pP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main </a:t>
            </a:r>
            <a:r>
              <a:rPr sz="2000" spc="-13" dirty="0">
                <a:latin typeface="Arial"/>
                <a:cs typeface="Arial"/>
              </a:rPr>
              <a:t>difference </a:t>
            </a:r>
            <a:r>
              <a:rPr sz="2000" spc="-7" dirty="0">
                <a:latin typeface="Arial"/>
                <a:cs typeface="Arial"/>
              </a:rPr>
              <a:t>between the three is what's in the actual </a:t>
            </a:r>
            <a:r>
              <a:rPr sz="2000" dirty="0">
                <a:latin typeface="Arial"/>
                <a:cs typeface="Arial"/>
              </a:rPr>
              <a:t>cells </a:t>
            </a:r>
            <a:r>
              <a:rPr sz="2000" spc="-7" dirty="0">
                <a:latin typeface="Arial"/>
                <a:cs typeface="Arial"/>
              </a:rPr>
              <a:t>of the </a:t>
            </a:r>
            <a:r>
              <a:rPr sz="2000" spc="-7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A5C06-3F73-53FD-9D85-24C47635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079" y="1109212"/>
            <a:ext cx="500888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1-</a:t>
            </a:r>
            <a:r>
              <a:rPr spc="-67" dirty="0"/>
              <a:t> </a:t>
            </a:r>
            <a:r>
              <a:rPr spc="-7" dirty="0"/>
              <a:t>Count</a:t>
            </a:r>
            <a:r>
              <a:rPr spc="-60" dirty="0"/>
              <a:t> </a:t>
            </a:r>
            <a:r>
              <a:rPr spc="-7" dirty="0"/>
              <a:t>vectorization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1168" y="2053619"/>
            <a:ext cx="11465560" cy="423620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8403" marR="319185" indent="-412316">
              <a:spcBef>
                <a:spcPts val="133"/>
              </a:spcBef>
              <a:buChar char="•"/>
              <a:tabLst>
                <a:tab pos="427556" algn="l"/>
                <a:tab pos="429249" algn="l"/>
              </a:tabLst>
            </a:pPr>
            <a:r>
              <a:rPr sz="2000" spc="-7" dirty="0">
                <a:latin typeface="Arial"/>
                <a:cs typeface="Arial"/>
              </a:rPr>
              <a:t>Count </a:t>
            </a:r>
            <a:r>
              <a:rPr sz="2000" spc="-20" dirty="0">
                <a:latin typeface="Arial"/>
                <a:cs typeface="Arial"/>
              </a:rPr>
              <a:t>Vectorizer: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most straightforward </a:t>
            </a:r>
            <a:r>
              <a:rPr sz="2000" spc="-7" dirty="0">
                <a:latin typeface="Arial"/>
                <a:cs typeface="Arial"/>
              </a:rPr>
              <a:t>one, it </a:t>
            </a:r>
            <a:r>
              <a:rPr sz="2000" dirty="0">
                <a:latin typeface="Arial"/>
                <a:cs typeface="Arial"/>
              </a:rPr>
              <a:t>counts </a:t>
            </a:r>
            <a:r>
              <a:rPr sz="2000" spc="-7" dirty="0">
                <a:latin typeface="Arial"/>
                <a:cs typeface="Arial"/>
              </a:rPr>
              <a:t>the number of times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token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shows</a:t>
            </a:r>
            <a:r>
              <a:rPr sz="2000" spc="-7" dirty="0">
                <a:latin typeface="Arial"/>
                <a:cs typeface="Arial"/>
              </a:rPr>
              <a:t> up in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 document and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uses this </a:t>
            </a:r>
            <a:r>
              <a:rPr sz="2000" dirty="0">
                <a:latin typeface="Arial"/>
                <a:cs typeface="Arial"/>
              </a:rPr>
              <a:t>value</a:t>
            </a:r>
            <a:r>
              <a:rPr sz="2000" spc="-7" dirty="0">
                <a:latin typeface="Arial"/>
                <a:cs typeface="Arial"/>
              </a:rPr>
              <a:t> as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its weight.</a:t>
            </a:r>
            <a:endParaRPr sz="2000" dirty="0">
              <a:latin typeface="Arial"/>
              <a:cs typeface="Arial"/>
            </a:endParaRPr>
          </a:p>
          <a:p>
            <a:pPr marL="352205" marR="6773" indent="-336118">
              <a:spcBef>
                <a:spcPts val="2252"/>
              </a:spcBef>
              <a:buChar char="•"/>
              <a:tabLst>
                <a:tab pos="351358" algn="l"/>
                <a:tab pos="353051" algn="l"/>
              </a:tabLst>
            </a:pPr>
            <a:r>
              <a:rPr sz="2000" spc="-27" dirty="0">
                <a:latin typeface="Arial"/>
                <a:cs typeface="Arial"/>
              </a:rPr>
              <a:t>We </a:t>
            </a:r>
            <a:r>
              <a:rPr sz="2000" spc="-7" dirty="0">
                <a:latin typeface="Arial"/>
                <a:cs typeface="Arial"/>
              </a:rPr>
              <a:t>will </a:t>
            </a:r>
            <a:r>
              <a:rPr sz="2000" dirty="0">
                <a:latin typeface="Arial"/>
                <a:cs typeface="Arial"/>
              </a:rPr>
              <a:t>create a matrix </a:t>
            </a:r>
            <a:r>
              <a:rPr sz="2000" spc="-7" dirty="0">
                <a:latin typeface="Arial"/>
                <a:cs typeface="Arial"/>
              </a:rPr>
              <a:t>that only has numeric entries </a:t>
            </a:r>
            <a:r>
              <a:rPr sz="2000" dirty="0">
                <a:latin typeface="Arial"/>
                <a:cs typeface="Arial"/>
              </a:rPr>
              <a:t>counting </a:t>
            </a:r>
            <a:r>
              <a:rPr sz="2000" spc="-7" dirty="0">
                <a:latin typeface="Arial"/>
                <a:cs typeface="Arial"/>
              </a:rPr>
              <a:t>how </a:t>
            </a:r>
            <a:r>
              <a:rPr sz="2000" dirty="0">
                <a:latin typeface="Arial"/>
                <a:cs typeface="Arial"/>
              </a:rPr>
              <a:t>many </a:t>
            </a:r>
            <a:r>
              <a:rPr sz="2000" spc="-7" dirty="0">
                <a:latin typeface="Arial"/>
                <a:cs typeface="Arial"/>
              </a:rPr>
              <a:t>times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each word appears in each text </a:t>
            </a:r>
            <a:r>
              <a:rPr sz="2000" dirty="0">
                <a:latin typeface="Arial"/>
                <a:cs typeface="Arial"/>
              </a:rPr>
              <a:t>message.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machine </a:t>
            </a:r>
            <a:r>
              <a:rPr sz="2000" spc="-7" dirty="0">
                <a:latin typeface="Arial"/>
                <a:cs typeface="Arial"/>
              </a:rPr>
              <a:t>learning algorithm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understands these </a:t>
            </a:r>
            <a:r>
              <a:rPr sz="2000" dirty="0">
                <a:latin typeface="Arial"/>
                <a:cs typeface="Arial"/>
              </a:rPr>
              <a:t>counts. </a:t>
            </a:r>
            <a:r>
              <a:rPr sz="2000" spc="-7" dirty="0">
                <a:latin typeface="Arial"/>
                <a:cs typeface="Arial"/>
              </a:rPr>
              <a:t>So if it </a:t>
            </a:r>
            <a:r>
              <a:rPr sz="2000" dirty="0">
                <a:latin typeface="Arial"/>
                <a:cs typeface="Arial"/>
              </a:rPr>
              <a:t>sees a </a:t>
            </a:r>
            <a:r>
              <a:rPr sz="2000" spc="-7" dirty="0">
                <a:latin typeface="Arial"/>
                <a:cs typeface="Arial"/>
              </a:rPr>
              <a:t>one or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two or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three in </a:t>
            </a:r>
            <a:r>
              <a:rPr sz="2000" dirty="0">
                <a:latin typeface="Arial"/>
                <a:cs typeface="Arial"/>
              </a:rPr>
              <a:t>a cell, </a:t>
            </a:r>
            <a:r>
              <a:rPr sz="2000" spc="-7" dirty="0">
                <a:latin typeface="Arial"/>
                <a:cs typeface="Arial"/>
              </a:rPr>
              <a:t>then that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model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start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correlate</a:t>
            </a:r>
            <a:r>
              <a:rPr sz="2000" spc="-7" dirty="0">
                <a:latin typeface="Arial"/>
                <a:cs typeface="Arial"/>
              </a:rPr>
              <a:t> that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with whatever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we're trying to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predict</a:t>
            </a:r>
            <a:endParaRPr sz="2000" dirty="0">
              <a:latin typeface="Arial"/>
              <a:cs typeface="Arial"/>
            </a:endParaRPr>
          </a:p>
          <a:p>
            <a:pPr marL="352205" marR="268387" indent="-336118">
              <a:spcBef>
                <a:spcPts val="2313"/>
              </a:spcBef>
              <a:buChar char="•"/>
              <a:tabLst>
                <a:tab pos="351358" algn="l"/>
                <a:tab pos="353051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1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document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term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matrix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generated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where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each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cell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count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corresponding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 the </a:t>
            </a:r>
            <a:r>
              <a:rPr sz="2000" dirty="0">
                <a:latin typeface="Arial"/>
                <a:cs typeface="Arial"/>
              </a:rPr>
              <a:t>message </a:t>
            </a:r>
            <a:r>
              <a:rPr sz="2000" spc="-7" dirty="0">
                <a:latin typeface="Arial"/>
                <a:cs typeface="Arial"/>
              </a:rPr>
              <a:t>type indicating the number of times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word appears in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document,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also </a:t>
            </a:r>
            <a:r>
              <a:rPr sz="2000" dirty="0">
                <a:latin typeface="Arial"/>
                <a:cs typeface="Arial"/>
              </a:rPr>
              <a:t>known</a:t>
            </a:r>
            <a:r>
              <a:rPr sz="2000" spc="-7" dirty="0">
                <a:latin typeface="Arial"/>
                <a:cs typeface="Arial"/>
              </a:rPr>
              <a:t> as the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term frequency</a:t>
            </a:r>
            <a:endParaRPr sz="2000" dirty="0">
              <a:latin typeface="Arial"/>
              <a:cs typeface="Arial"/>
            </a:endParaRPr>
          </a:p>
          <a:p>
            <a:pPr marL="660383" marR="96518" lvl="1" indent="-336118">
              <a:spcBef>
                <a:spcPts val="1873"/>
              </a:spcBef>
              <a:buChar char="•"/>
              <a:tabLst>
                <a:tab pos="660383" algn="l"/>
                <a:tab pos="661229" algn="l"/>
              </a:tabLst>
            </a:pPr>
            <a:r>
              <a:rPr sz="2000" spc="-7" dirty="0">
                <a:latin typeface="Arial"/>
                <a:cs typeface="Arial"/>
              </a:rPr>
              <a:t>The document term </a:t>
            </a:r>
            <a:r>
              <a:rPr sz="2000" dirty="0">
                <a:latin typeface="Arial"/>
                <a:cs typeface="Arial"/>
              </a:rPr>
              <a:t>matrix </a:t>
            </a:r>
            <a:r>
              <a:rPr sz="2000" spc="-7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a set </a:t>
            </a:r>
            <a:r>
              <a:rPr sz="2000" spc="-7" dirty="0">
                <a:latin typeface="Arial"/>
                <a:cs typeface="Arial"/>
              </a:rPr>
              <a:t>of dummy </a:t>
            </a:r>
            <a:r>
              <a:rPr sz="2000" dirty="0">
                <a:latin typeface="Arial"/>
                <a:cs typeface="Arial"/>
              </a:rPr>
              <a:t>variables </a:t>
            </a:r>
            <a:r>
              <a:rPr sz="2000" spc="-7" dirty="0">
                <a:latin typeface="Arial"/>
                <a:cs typeface="Arial"/>
              </a:rPr>
              <a:t>that indicates if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particular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appears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 the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document.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column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 dedicated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each word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corpus.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253B6-9B1A-D0C5-3303-7F9BAE99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159" y="1279525"/>
            <a:ext cx="8856979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/>
              <a:t>1-</a:t>
            </a:r>
            <a:r>
              <a:rPr sz="3200" spc="-27" dirty="0"/>
              <a:t> </a:t>
            </a:r>
            <a:r>
              <a:rPr sz="3200" spc="-7" dirty="0"/>
              <a:t>Count</a:t>
            </a:r>
            <a:r>
              <a:rPr sz="3200" spc="-27" dirty="0"/>
              <a:t> </a:t>
            </a:r>
            <a:r>
              <a:rPr sz="3200" spc="-7" dirty="0"/>
              <a:t>vectorization-</a:t>
            </a:r>
            <a:r>
              <a:rPr sz="3200" spc="-27" dirty="0"/>
              <a:t> </a:t>
            </a:r>
            <a:r>
              <a:rPr sz="3200" spc="-7" dirty="0"/>
              <a:t>Document</a:t>
            </a:r>
            <a:r>
              <a:rPr sz="3200" spc="-27" dirty="0"/>
              <a:t> </a:t>
            </a:r>
            <a:r>
              <a:rPr sz="3200" dirty="0"/>
              <a:t>term</a:t>
            </a:r>
            <a:r>
              <a:rPr sz="3200" spc="-27" dirty="0"/>
              <a:t> </a:t>
            </a:r>
            <a:r>
              <a:rPr sz="3200" spc="-7" dirty="0"/>
              <a:t>matrix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394039" y="1921539"/>
            <a:ext cx="11005820" cy="21715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8403" indent="-412316">
              <a:spcBef>
                <a:spcPts val="133"/>
              </a:spcBef>
              <a:buChar char="•"/>
              <a:tabLst>
                <a:tab pos="427556" algn="l"/>
                <a:tab pos="429249" algn="l"/>
              </a:tabLst>
            </a:pPr>
            <a:r>
              <a:rPr sz="2000" spc="-7" dirty="0">
                <a:latin typeface="Arial"/>
                <a:cs typeface="Arial"/>
              </a:rPr>
              <a:t>This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means,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if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particular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 appears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many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times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spam</a:t>
            </a:r>
            <a:r>
              <a:rPr sz="2000" spc="-7" dirty="0">
                <a:latin typeface="Arial"/>
                <a:cs typeface="Arial"/>
              </a:rPr>
              <a:t> or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ham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</a:p>
          <a:p>
            <a:pPr marL="428403" marR="752668"/>
            <a:r>
              <a:rPr sz="2000" spc="-7" dirty="0">
                <a:latin typeface="Arial"/>
                <a:cs typeface="Arial"/>
              </a:rPr>
              <a:t>,then the particular word has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high predictive power of determining if the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spam</a:t>
            </a:r>
            <a:r>
              <a:rPr sz="2000" spc="-7" dirty="0">
                <a:latin typeface="Arial"/>
                <a:cs typeface="Arial"/>
              </a:rPr>
              <a:t> or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ham </a:t>
            </a:r>
            <a:r>
              <a:rPr sz="2000" dirty="0">
                <a:latin typeface="Arial"/>
                <a:cs typeface="Arial"/>
              </a:rPr>
              <a:t>.</a:t>
            </a:r>
          </a:p>
          <a:p>
            <a:pPr>
              <a:spcBef>
                <a:spcPts val="13"/>
              </a:spcBef>
            </a:pPr>
            <a:endParaRPr sz="2000" dirty="0">
              <a:latin typeface="Arial"/>
              <a:cs typeface="Arial"/>
            </a:endParaRPr>
          </a:p>
          <a:p>
            <a:pPr marL="384377" indent="-336118">
              <a:buChar char="•"/>
              <a:tabLst>
                <a:tab pos="384377" algn="l"/>
                <a:tab pos="385224" algn="l"/>
              </a:tabLst>
            </a:pPr>
            <a:r>
              <a:rPr sz="2000" spc="-7" dirty="0">
                <a:latin typeface="Arial"/>
                <a:cs typeface="Arial"/>
              </a:rPr>
              <a:t>NLP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interesting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NLP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good</a:t>
            </a:r>
            <a:endParaRPr sz="2000" dirty="0">
              <a:latin typeface="Arial"/>
              <a:cs typeface="Arial"/>
            </a:endParaRPr>
          </a:p>
          <a:p>
            <a:pPr marL="384377" indent="-336118">
              <a:buChar char="•"/>
              <a:tabLst>
                <a:tab pos="384377" algn="l"/>
                <a:tab pos="385224" algn="l"/>
              </a:tabLst>
            </a:pPr>
            <a:r>
              <a:rPr sz="2000" spc="-7" dirty="0">
                <a:latin typeface="Arial"/>
                <a:cs typeface="Arial"/>
              </a:rPr>
              <a:t>Don’t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like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NLP</a:t>
            </a:r>
            <a:endParaRPr sz="2000" dirty="0">
              <a:latin typeface="Arial"/>
              <a:cs typeface="Arial"/>
            </a:endParaRPr>
          </a:p>
          <a:p>
            <a:pPr marL="384377" indent="-336118">
              <a:buChar char="•"/>
              <a:tabLst>
                <a:tab pos="384377" algn="l"/>
                <a:tab pos="385224" algn="l"/>
              </a:tabLst>
            </a:pPr>
            <a:r>
              <a:rPr sz="2000" spc="-7" dirty="0">
                <a:latin typeface="Arial"/>
                <a:cs typeface="Arial"/>
              </a:rPr>
              <a:t>good</a:t>
            </a:r>
            <a:r>
              <a:rPr sz="2000" spc="-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subject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840" y="4358019"/>
            <a:ext cx="9503410" cy="164995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54681-D2C3-14AD-BA46-D2C56992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039" y="1335803"/>
            <a:ext cx="8856979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/>
              <a:t>1-</a:t>
            </a:r>
            <a:r>
              <a:rPr sz="3200" spc="-27" dirty="0"/>
              <a:t> </a:t>
            </a:r>
            <a:r>
              <a:rPr sz="3200" spc="-7" dirty="0"/>
              <a:t>Count</a:t>
            </a:r>
            <a:r>
              <a:rPr sz="3200" spc="-27" dirty="0"/>
              <a:t> </a:t>
            </a:r>
            <a:r>
              <a:rPr sz="3200" spc="-7" dirty="0"/>
              <a:t>vectorization-</a:t>
            </a:r>
            <a:r>
              <a:rPr sz="3200" spc="-27" dirty="0"/>
              <a:t> </a:t>
            </a:r>
            <a:r>
              <a:rPr sz="3200" spc="-7" dirty="0"/>
              <a:t>Document</a:t>
            </a:r>
            <a:r>
              <a:rPr sz="3200" spc="-27" dirty="0"/>
              <a:t> </a:t>
            </a:r>
            <a:r>
              <a:rPr sz="3200" dirty="0"/>
              <a:t>term</a:t>
            </a:r>
            <a:r>
              <a:rPr sz="3200" spc="-27" dirty="0"/>
              <a:t> </a:t>
            </a:r>
            <a:r>
              <a:rPr sz="3200" spc="-7" dirty="0"/>
              <a:t>matrix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394039" y="2480339"/>
            <a:ext cx="3762587" cy="27870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8403" marR="6773" indent="-412316">
              <a:spcBef>
                <a:spcPts val="133"/>
              </a:spcBef>
              <a:buChar char="•"/>
              <a:tabLst>
                <a:tab pos="427556" algn="l"/>
                <a:tab pos="429249" algn="l"/>
              </a:tabLst>
            </a:pPr>
            <a:r>
              <a:rPr sz="2000" spc="-7" dirty="0">
                <a:latin typeface="Arial"/>
                <a:cs typeface="Arial"/>
              </a:rPr>
              <a:t>If we </a:t>
            </a:r>
            <a:r>
              <a:rPr sz="2000" dirty="0">
                <a:latin typeface="Arial"/>
                <a:cs typeface="Arial"/>
              </a:rPr>
              <a:t>select </a:t>
            </a:r>
            <a:r>
              <a:rPr sz="2000" spc="-7" dirty="0">
                <a:latin typeface="Arial"/>
                <a:cs typeface="Arial"/>
              </a:rPr>
              <a:t>only 10 </a:t>
            </a:r>
            <a:r>
              <a:rPr sz="2000" dirty="0">
                <a:latin typeface="Arial"/>
                <a:cs typeface="Arial"/>
              </a:rPr>
              <a:t> messages </a:t>
            </a:r>
            <a:r>
              <a:rPr sz="2000" spc="-7" dirty="0">
                <a:latin typeface="Arial"/>
                <a:cs typeface="Arial"/>
              </a:rPr>
              <a:t>and assume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have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200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unique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words</a:t>
            </a:r>
            <a:endParaRPr sz="2000" dirty="0">
              <a:latin typeface="Arial"/>
              <a:cs typeface="Arial"/>
            </a:endParaRPr>
          </a:p>
          <a:p>
            <a:pPr marL="428403" marR="398770" indent="-412316">
              <a:buChar char="•"/>
              <a:tabLst>
                <a:tab pos="427556" algn="l"/>
                <a:tab pos="429249" algn="l"/>
              </a:tabLst>
            </a:pP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final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result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will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be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like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this</a:t>
            </a:r>
            <a:endParaRPr sz="2000" dirty="0">
              <a:latin typeface="Arial"/>
              <a:cs typeface="Arial"/>
            </a:endParaRPr>
          </a:p>
          <a:p>
            <a:pPr marL="428403" marR="1037987" indent="-412316">
              <a:buChar char="•"/>
              <a:tabLst>
                <a:tab pos="427556" algn="l"/>
                <a:tab pos="429249" algn="l"/>
              </a:tabLst>
            </a:pPr>
            <a:r>
              <a:rPr sz="2000" spc="-7" dirty="0">
                <a:latin typeface="Arial"/>
                <a:cs typeface="Arial"/>
              </a:rPr>
              <a:t>10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rows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with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200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columns</a:t>
            </a:r>
          </a:p>
          <a:p>
            <a:pPr marL="428403" marR="122764" indent="-412316">
              <a:buChar char="•"/>
              <a:tabLst>
                <a:tab pos="427556" algn="l"/>
                <a:tab pos="429249" algn="l"/>
              </a:tabLst>
            </a:pPr>
            <a:r>
              <a:rPr sz="2000" spc="-7" dirty="0">
                <a:latin typeface="Arial"/>
                <a:cs typeface="Arial"/>
              </a:rPr>
              <a:t>In our </a:t>
            </a:r>
            <a:r>
              <a:rPr sz="2000" dirty="0">
                <a:latin typeface="Arial"/>
                <a:cs typeface="Arial"/>
              </a:rPr>
              <a:t>case , </a:t>
            </a:r>
            <a:r>
              <a:rPr sz="2000" spc="-7" dirty="0">
                <a:latin typeface="Arial"/>
                <a:cs typeface="Arial"/>
              </a:rPr>
              <a:t>we have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5568</a:t>
            </a:r>
            <a:r>
              <a:rPr sz="2000" spc="-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unique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words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9920" y="2115259"/>
            <a:ext cx="5575806" cy="390962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93581-DBE0-4B74-8105-1BE64B1D8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039" y="1143295"/>
            <a:ext cx="8856979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/>
              <a:t>1-</a:t>
            </a:r>
            <a:r>
              <a:rPr sz="3200" spc="-27" dirty="0"/>
              <a:t> </a:t>
            </a:r>
            <a:r>
              <a:rPr sz="3200" spc="-7" dirty="0"/>
              <a:t>Count</a:t>
            </a:r>
            <a:r>
              <a:rPr sz="3200" spc="-27" dirty="0"/>
              <a:t> </a:t>
            </a:r>
            <a:r>
              <a:rPr sz="3200" spc="-7" dirty="0"/>
              <a:t>vectorization-</a:t>
            </a:r>
            <a:r>
              <a:rPr sz="3200" spc="-27" dirty="0"/>
              <a:t> </a:t>
            </a:r>
            <a:r>
              <a:rPr sz="3200" spc="-7" dirty="0"/>
              <a:t>Document</a:t>
            </a:r>
            <a:r>
              <a:rPr sz="3200" spc="-27" dirty="0"/>
              <a:t> </a:t>
            </a:r>
            <a:r>
              <a:rPr sz="3200" dirty="0"/>
              <a:t>term</a:t>
            </a:r>
            <a:r>
              <a:rPr sz="3200" spc="-27" dirty="0"/>
              <a:t> </a:t>
            </a:r>
            <a:r>
              <a:rPr sz="3200" spc="-7" dirty="0"/>
              <a:t>matrix</a:t>
            </a:r>
            <a:endParaRPr sz="3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868" y="2100999"/>
            <a:ext cx="3627227" cy="3842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9573" y="1999399"/>
            <a:ext cx="3275767" cy="435060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9733A-0534-82E2-BCF7-F27D3CED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51</a:t>
            </a:fld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839" y="1333906"/>
            <a:ext cx="8856979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/>
              <a:t>1-</a:t>
            </a:r>
            <a:r>
              <a:rPr sz="3200" spc="-27" dirty="0"/>
              <a:t> </a:t>
            </a:r>
            <a:r>
              <a:rPr sz="3200" spc="-7" dirty="0"/>
              <a:t>Count</a:t>
            </a:r>
            <a:r>
              <a:rPr sz="3200" spc="-27" dirty="0"/>
              <a:t> </a:t>
            </a:r>
            <a:r>
              <a:rPr sz="3200" spc="-7" dirty="0"/>
              <a:t>vectorization-</a:t>
            </a:r>
            <a:r>
              <a:rPr sz="3200" spc="-27" dirty="0"/>
              <a:t> </a:t>
            </a:r>
            <a:r>
              <a:rPr sz="3200" spc="-7" dirty="0"/>
              <a:t>Document</a:t>
            </a:r>
            <a:r>
              <a:rPr sz="3200" spc="-27" dirty="0"/>
              <a:t> </a:t>
            </a:r>
            <a:r>
              <a:rPr sz="3200" dirty="0"/>
              <a:t>term</a:t>
            </a:r>
            <a:r>
              <a:rPr sz="3200" spc="-27" dirty="0"/>
              <a:t> </a:t>
            </a:r>
            <a:r>
              <a:rPr sz="3200" spc="-7" dirty="0"/>
              <a:t>matrix</a:t>
            </a:r>
            <a:endParaRPr sz="3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0160" y="2138087"/>
            <a:ext cx="5199886" cy="36048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8484" y="2942282"/>
            <a:ext cx="4124113" cy="21715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46278" marR="80431" indent="-330192">
              <a:spcBef>
                <a:spcPts val="133"/>
              </a:spcBef>
              <a:buChar char="•"/>
              <a:tabLst>
                <a:tab pos="346278" algn="l"/>
                <a:tab pos="347125" algn="l"/>
              </a:tabLst>
            </a:pPr>
            <a:r>
              <a:rPr sz="2000" spc="-7" dirty="0">
                <a:latin typeface="Arial"/>
                <a:cs typeface="Arial"/>
              </a:rPr>
              <a:t>If we </a:t>
            </a:r>
            <a:r>
              <a:rPr sz="2000" dirty="0">
                <a:latin typeface="Arial"/>
                <a:cs typeface="Arial"/>
              </a:rPr>
              <a:t>select </a:t>
            </a:r>
            <a:r>
              <a:rPr sz="2000" spc="-7" dirty="0">
                <a:latin typeface="Arial"/>
                <a:cs typeface="Arial"/>
              </a:rPr>
              <a:t>only 10 </a:t>
            </a:r>
            <a:r>
              <a:rPr sz="2000" dirty="0">
                <a:latin typeface="Arial"/>
                <a:cs typeface="Arial"/>
              </a:rPr>
              <a:t> messages </a:t>
            </a:r>
            <a:r>
              <a:rPr sz="2000" spc="-7" dirty="0">
                <a:latin typeface="Arial"/>
                <a:cs typeface="Arial"/>
              </a:rPr>
              <a:t>and assume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have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200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unique </a:t>
            </a:r>
            <a:r>
              <a:rPr sz="2000" spc="-7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words</a:t>
            </a:r>
            <a:endParaRPr sz="2000" dirty="0">
              <a:latin typeface="Arial"/>
              <a:cs typeface="Arial"/>
            </a:endParaRPr>
          </a:p>
          <a:p>
            <a:pPr marL="346278" marR="6773" indent="-330192">
              <a:buFont typeface="Arial"/>
              <a:buChar char="•"/>
              <a:tabLst>
                <a:tab pos="434329" algn="l"/>
                <a:tab pos="435176" algn="l"/>
              </a:tabLst>
            </a:pPr>
            <a:r>
              <a:rPr sz="2000" dirty="0"/>
              <a:t>	</a:t>
            </a:r>
            <a:r>
              <a:rPr sz="2000" spc="-7" dirty="0">
                <a:latin typeface="Arial"/>
                <a:cs typeface="Arial"/>
              </a:rPr>
              <a:t>The final </a:t>
            </a:r>
            <a:r>
              <a:rPr sz="2000" dirty="0">
                <a:latin typeface="Arial"/>
                <a:cs typeface="Arial"/>
              </a:rPr>
              <a:t>result </a:t>
            </a:r>
            <a:r>
              <a:rPr sz="2000" spc="-7" dirty="0">
                <a:latin typeface="Arial"/>
                <a:cs typeface="Arial"/>
              </a:rPr>
              <a:t>will be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like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this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10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rows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with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200 </a:t>
            </a:r>
            <a:r>
              <a:rPr sz="2000" spc="-7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columns</a:t>
            </a:r>
          </a:p>
          <a:p>
            <a:pPr marL="346278" marR="209121" indent="-330192">
              <a:buChar char="•"/>
              <a:tabLst>
                <a:tab pos="346278" algn="l"/>
                <a:tab pos="347125" algn="l"/>
              </a:tabLst>
            </a:pPr>
            <a:r>
              <a:rPr sz="2000" spc="-7" dirty="0">
                <a:latin typeface="Arial"/>
                <a:cs typeface="Arial"/>
              </a:rPr>
              <a:t>In our </a:t>
            </a:r>
            <a:r>
              <a:rPr sz="2000" dirty="0">
                <a:latin typeface="Arial"/>
                <a:cs typeface="Arial"/>
              </a:rPr>
              <a:t>case , </a:t>
            </a:r>
            <a:r>
              <a:rPr sz="2000" spc="-7" dirty="0">
                <a:latin typeface="Arial"/>
                <a:cs typeface="Arial"/>
              </a:rPr>
              <a:t>we have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5568</a:t>
            </a:r>
            <a:r>
              <a:rPr sz="2000" spc="-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unique </a:t>
            </a:r>
            <a:r>
              <a:rPr sz="2000" spc="-7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42804-F9BD-DE78-8450-264D8418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07" y="1048251"/>
            <a:ext cx="313774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Sparse</a:t>
            </a:r>
            <a:r>
              <a:rPr spc="-120" dirty="0"/>
              <a:t> </a:t>
            </a:r>
            <a:r>
              <a:rPr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943" y="1859879"/>
            <a:ext cx="11604413" cy="38027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06102" marR="6773" indent="-336118">
              <a:spcBef>
                <a:spcPts val="133"/>
              </a:spcBef>
              <a:buChar char="•"/>
              <a:tabLst>
                <a:tab pos="706102" algn="l"/>
                <a:tab pos="706949" algn="l"/>
              </a:tabLst>
            </a:pPr>
            <a:r>
              <a:rPr spc="-7" dirty="0">
                <a:latin typeface="Arial"/>
                <a:cs typeface="Arial"/>
              </a:rPr>
              <a:t>when </a:t>
            </a:r>
            <a:r>
              <a:rPr dirty="0">
                <a:latin typeface="Arial"/>
                <a:cs typeface="Arial"/>
              </a:rPr>
              <a:t>you </a:t>
            </a:r>
            <a:r>
              <a:rPr spc="-7" dirty="0">
                <a:latin typeface="Arial"/>
                <a:cs typeface="Arial"/>
              </a:rPr>
              <a:t>have </a:t>
            </a:r>
            <a:r>
              <a:rPr dirty="0">
                <a:latin typeface="Arial"/>
                <a:cs typeface="Arial"/>
              </a:rPr>
              <a:t>a matrix </a:t>
            </a:r>
            <a:r>
              <a:rPr spc="-7" dirty="0">
                <a:latin typeface="Arial"/>
                <a:cs typeface="Arial"/>
              </a:rPr>
              <a:t>in which </a:t>
            </a:r>
            <a:r>
              <a:rPr dirty="0">
                <a:latin typeface="Arial"/>
                <a:cs typeface="Arial"/>
              </a:rPr>
              <a:t>a very </a:t>
            </a:r>
            <a:r>
              <a:rPr spc="-7" dirty="0">
                <a:latin typeface="Arial"/>
                <a:cs typeface="Arial"/>
              </a:rPr>
              <a:t>high percent of the entries are </a:t>
            </a:r>
            <a:r>
              <a:rPr dirty="0">
                <a:latin typeface="Arial"/>
                <a:cs typeface="Arial"/>
              </a:rPr>
              <a:t>zero, </a:t>
            </a:r>
            <a:r>
              <a:rPr spc="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instead of </a:t>
            </a:r>
            <a:r>
              <a:rPr dirty="0">
                <a:latin typeface="Arial"/>
                <a:cs typeface="Arial"/>
              </a:rPr>
              <a:t>storing </a:t>
            </a:r>
            <a:r>
              <a:rPr spc="-7" dirty="0">
                <a:latin typeface="Arial"/>
                <a:cs typeface="Arial"/>
              </a:rPr>
              <a:t>all these </a:t>
            </a:r>
            <a:r>
              <a:rPr dirty="0">
                <a:latin typeface="Arial"/>
                <a:cs typeface="Arial"/>
              </a:rPr>
              <a:t>zeros </a:t>
            </a:r>
            <a:r>
              <a:rPr spc="-7" dirty="0">
                <a:latin typeface="Arial"/>
                <a:cs typeface="Arial"/>
              </a:rPr>
              <a:t>in the full </a:t>
            </a:r>
            <a:r>
              <a:rPr dirty="0">
                <a:latin typeface="Arial"/>
                <a:cs typeface="Arial"/>
              </a:rPr>
              <a:t>matrix, </a:t>
            </a:r>
            <a:r>
              <a:rPr spc="-7" dirty="0">
                <a:latin typeface="Arial"/>
                <a:cs typeface="Arial"/>
              </a:rPr>
              <a:t>which would </a:t>
            </a:r>
            <a:r>
              <a:rPr dirty="0">
                <a:latin typeface="Arial"/>
                <a:cs typeface="Arial"/>
              </a:rPr>
              <a:t>make </a:t>
            </a:r>
            <a:r>
              <a:rPr spc="-7" dirty="0">
                <a:latin typeface="Arial"/>
                <a:cs typeface="Arial"/>
              </a:rPr>
              <a:t>it extremely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13" dirty="0">
                <a:latin typeface="Arial"/>
                <a:cs typeface="Arial"/>
              </a:rPr>
              <a:t>inefficient, </a:t>
            </a:r>
            <a:r>
              <a:rPr spc="-7" dirty="0">
                <a:latin typeface="Arial"/>
                <a:cs typeface="Arial"/>
              </a:rPr>
              <a:t>it'll just be </a:t>
            </a:r>
            <a:r>
              <a:rPr dirty="0">
                <a:latin typeface="Arial"/>
                <a:cs typeface="Arial"/>
              </a:rPr>
              <a:t>converted </a:t>
            </a:r>
            <a:r>
              <a:rPr spc="-7" dirty="0">
                <a:latin typeface="Arial"/>
                <a:cs typeface="Arial"/>
              </a:rPr>
              <a:t>to only </a:t>
            </a:r>
            <a:r>
              <a:rPr dirty="0">
                <a:latin typeface="Arial"/>
                <a:cs typeface="Arial"/>
              </a:rPr>
              <a:t>storing </a:t>
            </a:r>
            <a:r>
              <a:rPr spc="-7" dirty="0">
                <a:latin typeface="Arial"/>
                <a:cs typeface="Arial"/>
              </a:rPr>
              <a:t>the locations and the </a:t>
            </a:r>
            <a:r>
              <a:rPr dirty="0">
                <a:latin typeface="Arial"/>
                <a:cs typeface="Arial"/>
              </a:rPr>
              <a:t>values </a:t>
            </a:r>
            <a:r>
              <a:rPr spc="-7" dirty="0">
                <a:latin typeface="Arial"/>
                <a:cs typeface="Arial"/>
              </a:rPr>
              <a:t>of the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non-zero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elements, which is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much</a:t>
            </a:r>
            <a:r>
              <a:rPr spc="-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more</a:t>
            </a:r>
            <a:r>
              <a:rPr spc="-7" dirty="0">
                <a:latin typeface="Arial"/>
                <a:cs typeface="Arial"/>
              </a:rPr>
              <a:t> </a:t>
            </a:r>
            <a:r>
              <a:rPr spc="-13" dirty="0">
                <a:latin typeface="Arial"/>
                <a:cs typeface="Arial"/>
              </a:rPr>
              <a:t>efficient</a:t>
            </a:r>
            <a:r>
              <a:rPr spc="-7" dirty="0">
                <a:latin typeface="Arial"/>
                <a:cs typeface="Arial"/>
              </a:rPr>
              <a:t> for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storage.</a:t>
            </a:r>
          </a:p>
          <a:p>
            <a:pPr marL="706102" marR="574872" indent="-336118">
              <a:spcBef>
                <a:spcPts val="1080"/>
              </a:spcBef>
              <a:buChar char="•"/>
              <a:tabLst>
                <a:tab pos="706102" algn="l"/>
                <a:tab pos="706949" algn="l"/>
              </a:tabLst>
            </a:pPr>
            <a:r>
              <a:rPr spc="-7" dirty="0">
                <a:latin typeface="Arial"/>
                <a:cs typeface="Arial"/>
              </a:rPr>
              <a:t>Sparse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Matrix:</a:t>
            </a:r>
            <a:r>
              <a:rPr spc="-1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4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matrix</a:t>
            </a:r>
            <a:r>
              <a:rPr spc="-7" dirty="0">
                <a:latin typeface="Arial"/>
                <a:cs typeface="Arial"/>
              </a:rPr>
              <a:t> in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which </a:t>
            </a:r>
            <a:r>
              <a:rPr dirty="0">
                <a:latin typeface="Arial"/>
                <a:cs typeface="Arial"/>
              </a:rPr>
              <a:t>most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entries are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0. In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 interest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of </a:t>
            </a:r>
            <a:r>
              <a:rPr spc="-13" dirty="0">
                <a:latin typeface="Arial"/>
                <a:cs typeface="Arial"/>
              </a:rPr>
              <a:t>efficient </a:t>
            </a:r>
            <a:r>
              <a:rPr spc="-6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storage, a sparse matrix </a:t>
            </a:r>
            <a:r>
              <a:rPr spc="-7" dirty="0">
                <a:latin typeface="Arial"/>
                <a:cs typeface="Arial"/>
              </a:rPr>
              <a:t>will be </a:t>
            </a:r>
            <a:r>
              <a:rPr dirty="0">
                <a:latin typeface="Arial"/>
                <a:cs typeface="Arial"/>
              </a:rPr>
              <a:t>stored </a:t>
            </a:r>
            <a:r>
              <a:rPr spc="-7" dirty="0">
                <a:latin typeface="Arial"/>
                <a:cs typeface="Arial"/>
              </a:rPr>
              <a:t>by only </a:t>
            </a:r>
            <a:r>
              <a:rPr dirty="0">
                <a:latin typeface="Arial"/>
                <a:cs typeface="Arial"/>
              </a:rPr>
              <a:t>storing </a:t>
            </a:r>
            <a:r>
              <a:rPr spc="-7" dirty="0">
                <a:latin typeface="Arial"/>
                <a:cs typeface="Arial"/>
              </a:rPr>
              <a:t>the locations of the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non-zero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elements.</a:t>
            </a:r>
            <a:endParaRPr dirty="0">
              <a:latin typeface="Arial"/>
              <a:cs typeface="Arial"/>
            </a:endParaRPr>
          </a:p>
          <a:p>
            <a:pPr marL="16933" algn="just">
              <a:spcBef>
                <a:spcPts val="1567"/>
              </a:spcBef>
            </a:pPr>
            <a:r>
              <a:rPr spc="-7" dirty="0">
                <a:latin typeface="Arial"/>
                <a:cs typeface="Arial"/>
              </a:rPr>
              <a:t>Why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use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Sparse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Matrix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instead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of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simple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matrix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?</a:t>
            </a:r>
          </a:p>
          <a:p>
            <a:pPr marL="988035" marR="4451661" lvl="1" algn="just">
              <a:spcBef>
                <a:spcPts val="927"/>
              </a:spcBef>
              <a:buChar char="•"/>
              <a:tabLst>
                <a:tab pos="1158211" algn="l"/>
              </a:tabLst>
            </a:pPr>
            <a:r>
              <a:rPr spc="-7" dirty="0">
                <a:latin typeface="Arial"/>
                <a:cs typeface="Arial"/>
              </a:rPr>
              <a:t>Storage: There are lesser non-zero elements than </a:t>
            </a:r>
            <a:r>
              <a:rPr spc="-57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zeros </a:t>
            </a:r>
            <a:r>
              <a:rPr spc="-7" dirty="0">
                <a:latin typeface="Arial"/>
                <a:cs typeface="Arial"/>
              </a:rPr>
              <a:t>and thus lesser </a:t>
            </a:r>
            <a:r>
              <a:rPr dirty="0">
                <a:latin typeface="Arial"/>
                <a:cs typeface="Arial"/>
              </a:rPr>
              <a:t>memory can </a:t>
            </a:r>
            <a:r>
              <a:rPr spc="-7" dirty="0">
                <a:latin typeface="Arial"/>
                <a:cs typeface="Arial"/>
              </a:rPr>
              <a:t>be used to </a:t>
            </a:r>
            <a:r>
              <a:rPr dirty="0">
                <a:latin typeface="Arial"/>
                <a:cs typeface="Arial"/>
              </a:rPr>
              <a:t>store </a:t>
            </a:r>
            <a:r>
              <a:rPr spc="-57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only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those elements.</a:t>
            </a:r>
            <a:endParaRPr dirty="0">
              <a:latin typeface="Arial"/>
              <a:cs typeface="Arial"/>
            </a:endParaRPr>
          </a:p>
          <a:p>
            <a:pPr marL="988035" marR="4449122" lvl="1">
              <a:buChar char="•"/>
              <a:tabLst>
                <a:tab pos="1158211" algn="l"/>
              </a:tabLst>
            </a:pPr>
            <a:r>
              <a:rPr spc="-7" dirty="0">
                <a:latin typeface="Arial"/>
                <a:cs typeface="Arial"/>
              </a:rPr>
              <a:t>Computing time: Computing time </a:t>
            </a:r>
            <a:r>
              <a:rPr dirty="0">
                <a:latin typeface="Arial"/>
                <a:cs typeface="Arial"/>
              </a:rPr>
              <a:t>can </a:t>
            </a:r>
            <a:r>
              <a:rPr spc="-7" dirty="0">
                <a:latin typeface="Arial"/>
                <a:cs typeface="Arial"/>
              </a:rPr>
              <a:t>be </a:t>
            </a:r>
            <a:r>
              <a:rPr dirty="0">
                <a:latin typeface="Arial"/>
                <a:cs typeface="Arial"/>
              </a:rPr>
              <a:t>saved </a:t>
            </a:r>
            <a:r>
              <a:rPr spc="-7" dirty="0">
                <a:latin typeface="Arial"/>
                <a:cs typeface="Arial"/>
              </a:rPr>
              <a:t>by </a:t>
            </a:r>
            <a:r>
              <a:rPr spc="-57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logically designing </a:t>
            </a:r>
            <a:r>
              <a:rPr dirty="0">
                <a:latin typeface="Arial"/>
                <a:cs typeface="Arial"/>
              </a:rPr>
              <a:t>a </a:t>
            </a:r>
            <a:r>
              <a:rPr spc="-7" dirty="0">
                <a:latin typeface="Arial"/>
                <a:cs typeface="Arial"/>
              </a:rPr>
              <a:t>data </a:t>
            </a:r>
            <a:r>
              <a:rPr dirty="0">
                <a:latin typeface="Arial"/>
                <a:cs typeface="Arial"/>
              </a:rPr>
              <a:t>structure </a:t>
            </a:r>
            <a:r>
              <a:rPr spc="-7" dirty="0">
                <a:latin typeface="Arial"/>
                <a:cs typeface="Arial"/>
              </a:rPr>
              <a:t>traversing only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non-zero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elements..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3941" y="3595811"/>
            <a:ext cx="4484116" cy="117939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8A8EC-388F-DD8B-BE50-BD1EF7676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319" y="1053694"/>
            <a:ext cx="4579620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7" dirty="0">
                <a:latin typeface="Arial"/>
                <a:cs typeface="Arial"/>
              </a:rPr>
              <a:t>N-gram</a:t>
            </a:r>
            <a:r>
              <a:rPr sz="4267" spc="-120" dirty="0">
                <a:latin typeface="Arial"/>
                <a:cs typeface="Arial"/>
              </a:rPr>
              <a:t> </a:t>
            </a:r>
            <a:r>
              <a:rPr sz="4267" dirty="0">
                <a:latin typeface="Arial"/>
                <a:cs typeface="Arial"/>
              </a:rPr>
              <a:t>vectorizing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839" y="2240563"/>
            <a:ext cx="11127740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7923" marR="6773" indent="-336118">
              <a:spcBef>
                <a:spcPts val="133"/>
              </a:spcBef>
              <a:buChar char="•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The n-grams process </a:t>
            </a:r>
            <a:r>
              <a:rPr sz="2000" dirty="0">
                <a:latin typeface="Arial"/>
                <a:cs typeface="Arial"/>
              </a:rPr>
              <a:t>creates a </a:t>
            </a:r>
            <a:r>
              <a:rPr sz="2000" spc="-7" dirty="0">
                <a:latin typeface="Arial"/>
                <a:cs typeface="Arial"/>
              </a:rPr>
              <a:t>document-term </a:t>
            </a:r>
            <a:r>
              <a:rPr sz="2000" dirty="0">
                <a:latin typeface="Arial"/>
                <a:cs typeface="Arial"/>
              </a:rPr>
              <a:t>matrix </a:t>
            </a:r>
            <a:r>
              <a:rPr sz="2000" spc="-7" dirty="0">
                <a:latin typeface="Arial"/>
                <a:cs typeface="Arial"/>
              </a:rPr>
              <a:t>like we </a:t>
            </a:r>
            <a:r>
              <a:rPr sz="2000" dirty="0">
                <a:latin typeface="Arial"/>
                <a:cs typeface="Arial"/>
              </a:rPr>
              <a:t>saw </a:t>
            </a:r>
            <a:r>
              <a:rPr sz="2000" spc="-7" dirty="0">
                <a:latin typeface="Arial"/>
                <a:cs typeface="Arial"/>
              </a:rPr>
              <a:t>before. Now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 </a:t>
            </a:r>
            <a:r>
              <a:rPr sz="2000" dirty="0">
                <a:latin typeface="Arial"/>
                <a:cs typeface="Arial"/>
              </a:rPr>
              <a:t>still </a:t>
            </a:r>
            <a:r>
              <a:rPr sz="2000" spc="-7" dirty="0">
                <a:latin typeface="Arial"/>
                <a:cs typeface="Arial"/>
              </a:rPr>
              <a:t>have one </a:t>
            </a:r>
            <a:r>
              <a:rPr sz="2000" dirty="0">
                <a:latin typeface="Arial"/>
                <a:cs typeface="Arial"/>
              </a:rPr>
              <a:t>row </a:t>
            </a:r>
            <a:r>
              <a:rPr sz="2000" spc="-7" dirty="0">
                <a:latin typeface="Arial"/>
                <a:cs typeface="Arial"/>
              </a:rPr>
              <a:t>per text </a:t>
            </a:r>
            <a:r>
              <a:rPr sz="2000" dirty="0">
                <a:latin typeface="Arial"/>
                <a:cs typeface="Arial"/>
              </a:rPr>
              <a:t>message </a:t>
            </a:r>
            <a:r>
              <a:rPr sz="2000" spc="-7" dirty="0">
                <a:latin typeface="Arial"/>
                <a:cs typeface="Arial"/>
              </a:rPr>
              <a:t>and we </a:t>
            </a:r>
            <a:r>
              <a:rPr sz="2000" dirty="0">
                <a:latin typeface="Arial"/>
                <a:cs typeface="Arial"/>
              </a:rPr>
              <a:t>still </a:t>
            </a:r>
            <a:r>
              <a:rPr sz="2000" spc="-7" dirty="0">
                <a:latin typeface="Arial"/>
                <a:cs typeface="Arial"/>
              </a:rPr>
              <a:t>have </a:t>
            </a:r>
            <a:r>
              <a:rPr sz="2000" dirty="0">
                <a:latin typeface="Arial"/>
                <a:cs typeface="Arial"/>
              </a:rPr>
              <a:t>counts </a:t>
            </a:r>
            <a:r>
              <a:rPr sz="2000" spc="-7" dirty="0">
                <a:latin typeface="Arial"/>
                <a:cs typeface="Arial"/>
              </a:rPr>
              <a:t>that occupy the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individual </a:t>
            </a:r>
            <a:r>
              <a:rPr sz="2000" dirty="0">
                <a:latin typeface="Arial"/>
                <a:cs typeface="Arial"/>
              </a:rPr>
              <a:t>cells </a:t>
            </a:r>
            <a:r>
              <a:rPr sz="2000" spc="-7" dirty="0">
                <a:latin typeface="Arial"/>
                <a:cs typeface="Arial"/>
              </a:rPr>
              <a:t>but instead of the </a:t>
            </a:r>
            <a:r>
              <a:rPr sz="2000" dirty="0">
                <a:latin typeface="Arial"/>
                <a:cs typeface="Arial"/>
              </a:rPr>
              <a:t>columns representing single </a:t>
            </a:r>
            <a:r>
              <a:rPr sz="2000" spc="-7" dirty="0">
                <a:latin typeface="Arial"/>
                <a:cs typeface="Arial"/>
              </a:rPr>
              <a:t>terms ,here ;all </a:t>
            </a:r>
            <a:r>
              <a:rPr sz="2000" dirty="0">
                <a:latin typeface="Arial"/>
                <a:cs typeface="Arial"/>
              </a:rPr>
              <a:t> combinations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 adjacent words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 length and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 </a:t>
            </a:r>
            <a:r>
              <a:rPr sz="2000" dirty="0">
                <a:latin typeface="Arial"/>
                <a:cs typeface="Arial"/>
              </a:rPr>
              <a:t>your</a:t>
            </a:r>
            <a:r>
              <a:rPr sz="2000" spc="-7" dirty="0">
                <a:latin typeface="Arial"/>
                <a:cs typeface="Arial"/>
              </a:rPr>
              <a:t> text.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As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example,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let's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use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string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Natural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Language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Processing.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7365" y="4617437"/>
            <a:ext cx="5637270" cy="184761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14E86-7E45-2D5D-07F4-9A2645C4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431" y="1190029"/>
            <a:ext cx="4547447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/>
              <a:t>N-gram</a:t>
            </a:r>
            <a:r>
              <a:rPr sz="3200" spc="-107" dirty="0"/>
              <a:t> </a:t>
            </a:r>
            <a:r>
              <a:rPr sz="3200" spc="-7" dirty="0"/>
              <a:t>vectorizing(2,2)</a:t>
            </a:r>
            <a:endParaRPr sz="3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518" y="1907541"/>
            <a:ext cx="8864363" cy="25766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1360" y="4340662"/>
            <a:ext cx="5328680" cy="21299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6F21D-CC3D-A9C3-988D-902499D5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55</a:t>
            </a:fld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751" y="1048210"/>
            <a:ext cx="4547447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/>
              <a:t>N-gram</a:t>
            </a:r>
            <a:r>
              <a:rPr sz="3200" spc="-107" dirty="0"/>
              <a:t> </a:t>
            </a:r>
            <a:r>
              <a:rPr sz="3200" spc="-7" dirty="0"/>
              <a:t>vectorizing(1,2)</a:t>
            </a:r>
            <a:endParaRPr sz="3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9317" y="1792543"/>
            <a:ext cx="7764272" cy="286073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4480" y="4888073"/>
            <a:ext cx="6353589" cy="166512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26061-C95F-D3BD-6E74-DB923C7F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56</a:t>
            </a:fld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551" y="1041206"/>
            <a:ext cx="4547447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/>
              <a:t>N-gram</a:t>
            </a:r>
            <a:r>
              <a:rPr sz="3200" spc="-107" dirty="0"/>
              <a:t> </a:t>
            </a:r>
            <a:r>
              <a:rPr sz="3200" spc="-7" dirty="0"/>
              <a:t>vectorizing(1,3)</a:t>
            </a:r>
            <a:endParaRPr sz="3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2192" y="1676459"/>
            <a:ext cx="8957056" cy="30846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8354" y="4844305"/>
            <a:ext cx="8957056" cy="173111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2F0FA-C17C-0A45-13D4-92043DBC0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57</a:t>
            </a:fld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1023438"/>
            <a:ext cx="140208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N-gram</a:t>
            </a:r>
            <a:r>
              <a:rPr spc="-113" dirty="0"/>
              <a:t> </a:t>
            </a:r>
            <a:r>
              <a:rPr spc="-7" dirty="0"/>
              <a:t>vectorizing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417" y="2234486"/>
            <a:ext cx="7187353" cy="33410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2205" marR="168481" indent="-336118">
              <a:spcBef>
                <a:spcPts val="133"/>
              </a:spcBef>
              <a:buChar char="•"/>
              <a:tabLst>
                <a:tab pos="351358" algn="l"/>
                <a:tab pos="353051" algn="l"/>
              </a:tabLst>
            </a:pPr>
            <a:r>
              <a:rPr spc="-7" dirty="0">
                <a:latin typeface="Arial"/>
                <a:cs typeface="Arial"/>
              </a:rPr>
              <a:t>When </a:t>
            </a:r>
            <a:r>
              <a:rPr dirty="0">
                <a:latin typeface="Arial"/>
                <a:cs typeface="Arial"/>
              </a:rPr>
              <a:t>you </a:t>
            </a:r>
            <a:r>
              <a:rPr spc="-7" dirty="0">
                <a:latin typeface="Arial"/>
                <a:cs typeface="Arial"/>
              </a:rPr>
              <a:t>use n-grams there's usually an optimal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 value </a:t>
            </a:r>
            <a:r>
              <a:rPr spc="-7" dirty="0">
                <a:latin typeface="Arial"/>
                <a:cs typeface="Arial"/>
              </a:rPr>
              <a:t>or </a:t>
            </a:r>
            <a:r>
              <a:rPr dirty="0">
                <a:latin typeface="Arial"/>
                <a:cs typeface="Arial"/>
              </a:rPr>
              <a:t>range </a:t>
            </a:r>
            <a:r>
              <a:rPr spc="-7" dirty="0">
                <a:latin typeface="Arial"/>
                <a:cs typeface="Arial"/>
              </a:rPr>
              <a:t>that will </a:t>
            </a:r>
            <a:r>
              <a:rPr dirty="0">
                <a:latin typeface="Arial"/>
                <a:cs typeface="Arial"/>
              </a:rPr>
              <a:t>yield </a:t>
            </a:r>
            <a:r>
              <a:rPr spc="-7" dirty="0">
                <a:latin typeface="Arial"/>
                <a:cs typeface="Arial"/>
              </a:rPr>
              <a:t>the best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performance</a:t>
            </a:r>
            <a:endParaRPr dirty="0">
              <a:latin typeface="Arial"/>
              <a:cs typeface="Arial"/>
            </a:endParaRPr>
          </a:p>
          <a:p>
            <a:pPr marL="352205" marR="291246" indent="-336118">
              <a:buChar char="•"/>
              <a:tabLst>
                <a:tab pos="351358" algn="l"/>
                <a:tab pos="353051" algn="l"/>
              </a:tabLst>
            </a:pPr>
            <a:r>
              <a:rPr spc="-7" dirty="0">
                <a:latin typeface="Arial"/>
                <a:cs typeface="Arial"/>
              </a:rPr>
              <a:t>The intuition here is that bi-grams and tri-grams </a:t>
            </a:r>
            <a:r>
              <a:rPr dirty="0">
                <a:latin typeface="Arial"/>
                <a:cs typeface="Arial"/>
              </a:rPr>
              <a:t> can capture contextual </a:t>
            </a:r>
            <a:r>
              <a:rPr spc="-7" dirty="0">
                <a:latin typeface="Arial"/>
                <a:cs typeface="Arial"/>
              </a:rPr>
              <a:t>information </a:t>
            </a:r>
            <a:r>
              <a:rPr dirty="0">
                <a:latin typeface="Arial"/>
                <a:cs typeface="Arial"/>
              </a:rPr>
              <a:t>compared </a:t>
            </a:r>
            <a:r>
              <a:rPr spc="-7" dirty="0">
                <a:latin typeface="Arial"/>
                <a:cs typeface="Arial"/>
              </a:rPr>
              <a:t>to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just unigrams. Rather than only </a:t>
            </a:r>
            <a:r>
              <a:rPr dirty="0">
                <a:latin typeface="Arial"/>
                <a:cs typeface="Arial"/>
              </a:rPr>
              <a:t>seeing </a:t>
            </a:r>
            <a:r>
              <a:rPr spc="-7" dirty="0">
                <a:latin typeface="Arial"/>
                <a:cs typeface="Arial"/>
              </a:rPr>
              <a:t>one word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at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7" dirty="0">
                <a:latin typeface="Arial"/>
                <a:cs typeface="Arial"/>
              </a:rPr>
              <a:t> time</a:t>
            </a:r>
            <a:endParaRPr dirty="0">
              <a:latin typeface="Arial"/>
              <a:cs typeface="Arial"/>
            </a:endParaRPr>
          </a:p>
          <a:p>
            <a:pPr marL="352205" marR="6773" indent="-336118">
              <a:buChar char="•"/>
              <a:tabLst>
                <a:tab pos="351358" algn="l"/>
                <a:tab pos="353051" algn="l"/>
              </a:tabLst>
            </a:pPr>
            <a:r>
              <a:rPr spc="-7" dirty="0">
                <a:latin typeface="Arial"/>
                <a:cs typeface="Arial"/>
              </a:rPr>
              <a:t>The </a:t>
            </a:r>
            <a:r>
              <a:rPr spc="-13" dirty="0">
                <a:latin typeface="Arial"/>
                <a:cs typeface="Arial"/>
              </a:rPr>
              <a:t>trade-off </a:t>
            </a:r>
            <a:r>
              <a:rPr spc="-7" dirty="0">
                <a:latin typeface="Arial"/>
                <a:cs typeface="Arial"/>
              </a:rPr>
              <a:t>is between the number of </a:t>
            </a:r>
            <a:r>
              <a:rPr dirty="0">
                <a:latin typeface="Arial"/>
                <a:cs typeface="Arial"/>
              </a:rPr>
              <a:t>N values. </a:t>
            </a:r>
            <a:r>
              <a:rPr spc="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Choosing </a:t>
            </a:r>
            <a:r>
              <a:rPr dirty="0">
                <a:latin typeface="Arial"/>
                <a:cs typeface="Arial"/>
              </a:rPr>
              <a:t>a smaller N value, may </a:t>
            </a:r>
            <a:r>
              <a:rPr spc="-7" dirty="0">
                <a:latin typeface="Arial"/>
                <a:cs typeface="Arial"/>
              </a:rPr>
              <a:t>not be </a:t>
            </a:r>
            <a:r>
              <a:rPr spc="-13" dirty="0">
                <a:latin typeface="Arial"/>
                <a:cs typeface="Arial"/>
              </a:rPr>
              <a:t>sufficient </a:t>
            </a:r>
            <a:r>
              <a:rPr spc="-7" dirty="0">
                <a:latin typeface="Arial"/>
                <a:cs typeface="Arial"/>
              </a:rPr>
              <a:t> enough to provide the </a:t>
            </a:r>
            <a:r>
              <a:rPr dirty="0">
                <a:latin typeface="Arial"/>
                <a:cs typeface="Arial"/>
              </a:rPr>
              <a:t>most </a:t>
            </a:r>
            <a:r>
              <a:rPr spc="-7" dirty="0">
                <a:latin typeface="Arial"/>
                <a:cs typeface="Arial"/>
              </a:rPr>
              <a:t>useful information.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Whereas</a:t>
            </a:r>
            <a:r>
              <a:rPr spc="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choosing</a:t>
            </a:r>
            <a:r>
              <a:rPr spc="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4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high</a:t>
            </a:r>
            <a:r>
              <a:rPr spc="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</a:t>
            </a:r>
            <a:r>
              <a:rPr spc="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value,</a:t>
            </a:r>
            <a:r>
              <a:rPr spc="4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will</a:t>
            </a:r>
            <a:r>
              <a:rPr spc="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yield</a:t>
            </a:r>
            <a:r>
              <a:rPr spc="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 </a:t>
            </a:r>
            <a:r>
              <a:rPr spc="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huge </a:t>
            </a:r>
            <a:r>
              <a:rPr dirty="0">
                <a:latin typeface="Arial"/>
                <a:cs typeface="Arial"/>
              </a:rPr>
              <a:t>matrix </a:t>
            </a:r>
            <a:r>
              <a:rPr spc="-7" dirty="0">
                <a:latin typeface="Arial"/>
                <a:cs typeface="Arial"/>
              </a:rPr>
              <a:t>with loads of features. N-gram </a:t>
            </a:r>
            <a:r>
              <a:rPr dirty="0">
                <a:latin typeface="Arial"/>
                <a:cs typeface="Arial"/>
              </a:rPr>
              <a:t>may </a:t>
            </a:r>
            <a:r>
              <a:rPr spc="-7" dirty="0">
                <a:latin typeface="Arial"/>
                <a:cs typeface="Arial"/>
              </a:rPr>
              <a:t>be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powerful,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but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it needs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7" dirty="0">
                <a:latin typeface="Arial"/>
                <a:cs typeface="Arial"/>
              </a:rPr>
              <a:t> little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more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care</a:t>
            </a:r>
          </a:p>
          <a:p>
            <a:pPr marL="352205" marR="742508" indent="-336118">
              <a:buChar char="•"/>
              <a:tabLst>
                <a:tab pos="351358" algn="l"/>
                <a:tab pos="353051" algn="l"/>
              </a:tabLst>
            </a:pPr>
            <a:r>
              <a:rPr spc="-7" dirty="0">
                <a:latin typeface="Arial"/>
                <a:cs typeface="Arial"/>
              </a:rPr>
              <a:t>Google's auto </a:t>
            </a:r>
            <a:r>
              <a:rPr dirty="0">
                <a:latin typeface="Arial"/>
                <a:cs typeface="Arial"/>
              </a:rPr>
              <a:t>complete </a:t>
            </a:r>
            <a:r>
              <a:rPr spc="-7" dirty="0">
                <a:latin typeface="Arial"/>
                <a:cs typeface="Arial"/>
              </a:rPr>
              <a:t>uses an n-grams like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approach,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try to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type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and test.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1770" y="1612899"/>
            <a:ext cx="4087621" cy="396267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8155F-B1ED-B213-B8F6-80404B6C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" y="1150786"/>
            <a:ext cx="9723967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60" dirty="0"/>
              <a:t>Term</a:t>
            </a:r>
            <a:r>
              <a:rPr sz="3200" spc="-27" dirty="0"/>
              <a:t> </a:t>
            </a:r>
            <a:r>
              <a:rPr sz="3200" dirty="0"/>
              <a:t>frequency</a:t>
            </a:r>
            <a:r>
              <a:rPr sz="3200" spc="-27" dirty="0"/>
              <a:t> </a:t>
            </a:r>
            <a:r>
              <a:rPr sz="3200" dirty="0"/>
              <a:t>-</a:t>
            </a:r>
            <a:r>
              <a:rPr sz="3200" spc="-27" dirty="0"/>
              <a:t> </a:t>
            </a:r>
            <a:r>
              <a:rPr sz="3200" spc="-7" dirty="0"/>
              <a:t>inverse</a:t>
            </a:r>
            <a:r>
              <a:rPr sz="3200" spc="-27" dirty="0"/>
              <a:t> </a:t>
            </a:r>
            <a:r>
              <a:rPr sz="3200" spc="-7" dirty="0"/>
              <a:t>document</a:t>
            </a:r>
            <a:r>
              <a:rPr sz="3200" spc="-33" dirty="0"/>
              <a:t> </a:t>
            </a:r>
            <a:r>
              <a:rPr sz="3200" dirty="0"/>
              <a:t>frequency</a:t>
            </a:r>
            <a:r>
              <a:rPr sz="3200" spc="-27" dirty="0"/>
              <a:t> </a:t>
            </a:r>
            <a:r>
              <a:rPr sz="3200" dirty="0"/>
              <a:t>(TF-IDF)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295" y="2069233"/>
            <a:ext cx="10828867" cy="20440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2205" marR="361518" indent="-336118">
              <a:spcBef>
                <a:spcPts val="133"/>
              </a:spcBef>
              <a:buChar char="•"/>
              <a:tabLst>
                <a:tab pos="351358" algn="l"/>
                <a:tab pos="353051" algn="l"/>
              </a:tabLst>
            </a:pPr>
            <a:r>
              <a:rPr sz="2000" spc="-7" dirty="0">
                <a:latin typeface="Arial"/>
                <a:cs typeface="Arial"/>
              </a:rPr>
              <a:t>TF-IDF </a:t>
            </a:r>
            <a:r>
              <a:rPr sz="2000" dirty="0">
                <a:latin typeface="Arial"/>
                <a:cs typeface="Arial"/>
              </a:rPr>
              <a:t>creates a </a:t>
            </a:r>
            <a:r>
              <a:rPr sz="2000" spc="-7" dirty="0">
                <a:latin typeface="Arial"/>
                <a:cs typeface="Arial"/>
              </a:rPr>
              <a:t>document term </a:t>
            </a:r>
            <a:r>
              <a:rPr sz="2000" dirty="0">
                <a:latin typeface="Arial"/>
                <a:cs typeface="Arial"/>
              </a:rPr>
              <a:t>matrix, </a:t>
            </a:r>
            <a:r>
              <a:rPr sz="2000" spc="-7" dirty="0">
                <a:latin typeface="Arial"/>
                <a:cs typeface="Arial"/>
              </a:rPr>
              <a:t>where there's </a:t>
            </a:r>
            <a:r>
              <a:rPr sz="2000" dirty="0">
                <a:latin typeface="Arial"/>
                <a:cs typeface="Arial"/>
              </a:rPr>
              <a:t>still </a:t>
            </a:r>
            <a:r>
              <a:rPr sz="2000" spc="-7" dirty="0">
                <a:latin typeface="Arial"/>
                <a:cs typeface="Arial"/>
              </a:rPr>
              <a:t>one </a:t>
            </a:r>
            <a:r>
              <a:rPr sz="2000" dirty="0">
                <a:latin typeface="Arial"/>
                <a:cs typeface="Arial"/>
              </a:rPr>
              <a:t>row </a:t>
            </a:r>
            <a:r>
              <a:rPr sz="2000" spc="-7" dirty="0">
                <a:latin typeface="Arial"/>
                <a:cs typeface="Arial"/>
              </a:rPr>
              <a:t>per text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columns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still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represent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single</a:t>
            </a:r>
            <a:r>
              <a:rPr sz="2000" spc="-7" dirty="0">
                <a:latin typeface="Arial"/>
                <a:cs typeface="Arial"/>
              </a:rPr>
              <a:t> unique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terms.</a:t>
            </a:r>
            <a:endParaRPr sz="2000" dirty="0">
              <a:latin typeface="Arial"/>
              <a:cs typeface="Arial"/>
            </a:endParaRPr>
          </a:p>
          <a:p>
            <a:pPr marL="352205" marR="6773" indent="-336118">
              <a:buChar char="•"/>
              <a:tabLst>
                <a:tab pos="351358" algn="l"/>
                <a:tab pos="353051" algn="l"/>
              </a:tabLst>
            </a:pPr>
            <a:r>
              <a:rPr sz="2000" spc="-7" dirty="0">
                <a:latin typeface="Arial"/>
                <a:cs typeface="Arial"/>
              </a:rPr>
              <a:t>But instead of the </a:t>
            </a:r>
            <a:r>
              <a:rPr sz="2000" dirty="0">
                <a:latin typeface="Arial"/>
                <a:cs typeface="Arial"/>
              </a:rPr>
              <a:t>cells representing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count,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cells represent a </a:t>
            </a:r>
            <a:r>
              <a:rPr sz="2000" spc="-7" dirty="0">
                <a:latin typeface="Arial"/>
                <a:cs typeface="Arial"/>
              </a:rPr>
              <a:t>weighting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that's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 identify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how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important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 to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individual text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message.</a:t>
            </a:r>
          </a:p>
          <a:p>
            <a:pPr marL="352205" indent="-336118">
              <a:lnSpc>
                <a:spcPts val="2867"/>
              </a:lnSpc>
              <a:buChar char="•"/>
              <a:tabLst>
                <a:tab pos="351358" algn="l"/>
                <a:tab pos="353051" algn="l"/>
              </a:tabLst>
            </a:pPr>
            <a:r>
              <a:rPr sz="2000" spc="-7" dirty="0">
                <a:latin typeface="Arial"/>
                <a:cs typeface="Arial"/>
              </a:rPr>
              <a:t>This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formula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lays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out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how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this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weighting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determined.</a:t>
            </a:r>
            <a:endParaRPr sz="2000" dirty="0">
              <a:latin typeface="Arial"/>
              <a:cs typeface="Arial"/>
            </a:endParaRPr>
          </a:p>
          <a:p>
            <a:pPr marL="352205" indent="-321725">
              <a:lnSpc>
                <a:spcPts val="3827"/>
              </a:lnSpc>
              <a:buChar char="•"/>
              <a:tabLst>
                <a:tab pos="351358" algn="l"/>
                <a:tab pos="353051" algn="l"/>
              </a:tabLst>
            </a:pPr>
            <a:r>
              <a:rPr sz="2000" b="1" spc="-7" dirty="0">
                <a:latin typeface="Arial"/>
                <a:cs typeface="Arial"/>
              </a:rPr>
              <a:t>weighting</a:t>
            </a:r>
            <a:r>
              <a:rPr sz="2000" b="1" spc="-53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53" dirty="0">
                <a:latin typeface="Arial"/>
                <a:cs typeface="Arial"/>
              </a:rPr>
              <a:t> </a:t>
            </a:r>
            <a:r>
              <a:rPr sz="2000" b="1" spc="-7" dirty="0">
                <a:latin typeface="Arial"/>
                <a:cs typeface="Arial"/>
              </a:rPr>
              <a:t>TF*IDF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295" y="4542690"/>
            <a:ext cx="5016499" cy="18287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9299" y="4280271"/>
            <a:ext cx="3930226" cy="235363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D3983-22C6-CC4F-8326-DB18BF5D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752" y="1136758"/>
            <a:ext cx="574124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TF-IDF-</a:t>
            </a:r>
            <a:r>
              <a:rPr spc="-53" dirty="0"/>
              <a:t> </a:t>
            </a:r>
            <a:r>
              <a:rPr spc="-7" dirty="0"/>
              <a:t>How</a:t>
            </a:r>
            <a:r>
              <a:rPr spc="-47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7" dirty="0"/>
              <a:t>Compute: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270" y="3719069"/>
            <a:ext cx="9956799" cy="6095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3163" y="2292098"/>
            <a:ext cx="11525673" cy="30820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2205" indent="-336118">
              <a:spcBef>
                <a:spcPts val="133"/>
              </a:spcBef>
              <a:buChar char="•"/>
              <a:tabLst>
                <a:tab pos="351358" algn="l"/>
                <a:tab pos="353051" algn="l"/>
              </a:tabLst>
            </a:pPr>
            <a:r>
              <a:rPr spc="-33" dirty="0">
                <a:latin typeface="Arial"/>
                <a:cs typeface="Arial"/>
              </a:rPr>
              <a:t>Typically,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TF-IDF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weight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is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composed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by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two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terms:</a:t>
            </a:r>
            <a:endParaRPr dirty="0">
              <a:latin typeface="Arial"/>
              <a:cs typeface="Arial"/>
            </a:endParaRPr>
          </a:p>
          <a:p>
            <a:pPr marL="352205" marR="6773" indent="-336118">
              <a:buChar char="•"/>
              <a:tabLst>
                <a:tab pos="351358" algn="l"/>
                <a:tab pos="353051" algn="l"/>
              </a:tabLst>
            </a:pPr>
            <a:r>
              <a:rPr spc="-73" dirty="0">
                <a:latin typeface="Arial"/>
                <a:cs typeface="Arial"/>
              </a:rPr>
              <a:t>Term </a:t>
            </a:r>
            <a:r>
              <a:rPr spc="-7" dirty="0">
                <a:latin typeface="Arial"/>
                <a:cs typeface="Arial"/>
              </a:rPr>
              <a:t>Frequency </a:t>
            </a:r>
            <a:r>
              <a:rPr dirty="0">
                <a:latin typeface="Arial"/>
                <a:cs typeface="Arial"/>
              </a:rPr>
              <a:t>(TF), </a:t>
            </a:r>
            <a:r>
              <a:rPr spc="-7" dirty="0">
                <a:latin typeface="Arial"/>
                <a:cs typeface="Arial"/>
              </a:rPr>
              <a:t>the number of times </a:t>
            </a:r>
            <a:r>
              <a:rPr dirty="0">
                <a:latin typeface="Arial"/>
                <a:cs typeface="Arial"/>
              </a:rPr>
              <a:t>a </a:t>
            </a:r>
            <a:r>
              <a:rPr spc="-7" dirty="0">
                <a:latin typeface="Arial"/>
                <a:cs typeface="Arial"/>
              </a:rPr>
              <a:t>word appears in </a:t>
            </a:r>
            <a:r>
              <a:rPr dirty="0">
                <a:latin typeface="Arial"/>
                <a:cs typeface="Arial"/>
              </a:rPr>
              <a:t>a </a:t>
            </a:r>
            <a:r>
              <a:rPr spc="-7" dirty="0">
                <a:latin typeface="Arial"/>
                <a:cs typeface="Arial"/>
              </a:rPr>
              <a:t>document, divided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by the total number of words in that document. Since every document is </a:t>
            </a:r>
            <a:r>
              <a:rPr spc="-13" dirty="0">
                <a:latin typeface="Arial"/>
                <a:cs typeface="Arial"/>
              </a:rPr>
              <a:t>different </a:t>
            </a:r>
            <a:r>
              <a:rPr spc="-7" dirty="0">
                <a:latin typeface="Arial"/>
                <a:cs typeface="Arial"/>
              </a:rPr>
              <a:t>in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length, it is possible that </a:t>
            </a:r>
            <a:r>
              <a:rPr dirty="0">
                <a:latin typeface="Arial"/>
                <a:cs typeface="Arial"/>
              </a:rPr>
              <a:t>a </a:t>
            </a:r>
            <a:r>
              <a:rPr spc="-7" dirty="0">
                <a:latin typeface="Arial"/>
                <a:cs typeface="Arial"/>
              </a:rPr>
              <a:t>term would appear </a:t>
            </a:r>
            <a:r>
              <a:rPr dirty="0">
                <a:latin typeface="Arial"/>
                <a:cs typeface="Arial"/>
              </a:rPr>
              <a:t>much more </a:t>
            </a:r>
            <a:r>
              <a:rPr spc="-7" dirty="0">
                <a:latin typeface="Arial"/>
                <a:cs typeface="Arial"/>
              </a:rPr>
              <a:t>times in long documents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than</a:t>
            </a:r>
            <a:r>
              <a:rPr dirty="0">
                <a:latin typeface="Arial"/>
                <a:cs typeface="Arial"/>
              </a:rPr>
              <a:t> shorter </a:t>
            </a:r>
            <a:r>
              <a:rPr spc="-7" dirty="0">
                <a:latin typeface="Arial"/>
                <a:cs typeface="Arial"/>
              </a:rPr>
              <a:t>ones.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Thus,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term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frequency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is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often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divided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by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document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length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</a:t>
            </a:r>
            <a:r>
              <a:rPr spc="-7" dirty="0">
                <a:latin typeface="Arial"/>
                <a:cs typeface="Arial"/>
              </a:rPr>
              <a:t> the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total number of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terms in the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document) as </a:t>
            </a:r>
            <a:r>
              <a:rPr dirty="0">
                <a:latin typeface="Arial"/>
                <a:cs typeface="Arial"/>
              </a:rPr>
              <a:t>a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way of normalization: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dirty="0">
              <a:latin typeface="Arial"/>
              <a:cs typeface="Arial"/>
            </a:endParaRPr>
          </a:p>
          <a:p>
            <a:pPr marL="530847" marR="158323" lvl="1" indent="-336118">
              <a:spcBef>
                <a:spcPts val="2285"/>
              </a:spcBef>
              <a:buChar char="•"/>
              <a:tabLst>
                <a:tab pos="530847" algn="l"/>
                <a:tab pos="531693" algn="l"/>
              </a:tabLst>
            </a:pPr>
            <a:r>
              <a:rPr spc="-7" dirty="0">
                <a:latin typeface="Arial"/>
                <a:cs typeface="Arial"/>
              </a:rPr>
              <a:t>Inverse Document Frequency </a:t>
            </a:r>
            <a:r>
              <a:rPr dirty="0">
                <a:latin typeface="Arial"/>
                <a:cs typeface="Arial"/>
              </a:rPr>
              <a:t>(IDF), computed </a:t>
            </a:r>
            <a:r>
              <a:rPr spc="-7" dirty="0">
                <a:latin typeface="Arial"/>
                <a:cs typeface="Arial"/>
              </a:rPr>
              <a:t>as the logarithm of the number of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 documents in the </a:t>
            </a:r>
            <a:r>
              <a:rPr dirty="0">
                <a:latin typeface="Arial"/>
                <a:cs typeface="Arial"/>
              </a:rPr>
              <a:t>corpus </a:t>
            </a:r>
            <a:r>
              <a:rPr spc="-7" dirty="0">
                <a:latin typeface="Arial"/>
                <a:cs typeface="Arial"/>
              </a:rPr>
              <a:t>divided by the number of documents where the </a:t>
            </a:r>
            <a:r>
              <a:rPr dirty="0">
                <a:latin typeface="Arial"/>
                <a:cs typeface="Arial"/>
              </a:rPr>
              <a:t> specific </a:t>
            </a:r>
            <a:r>
              <a:rPr spc="-7" dirty="0">
                <a:latin typeface="Arial"/>
                <a:cs typeface="Arial"/>
              </a:rPr>
              <a:t>term appears. However it is </a:t>
            </a:r>
            <a:r>
              <a:rPr dirty="0">
                <a:latin typeface="Arial"/>
                <a:cs typeface="Arial"/>
              </a:rPr>
              <a:t>known </a:t>
            </a:r>
            <a:r>
              <a:rPr spc="-7" dirty="0">
                <a:latin typeface="Arial"/>
                <a:cs typeface="Arial"/>
              </a:rPr>
              <a:t>that </a:t>
            </a:r>
            <a:r>
              <a:rPr dirty="0">
                <a:latin typeface="Arial"/>
                <a:cs typeface="Arial"/>
              </a:rPr>
              <a:t>certain </a:t>
            </a:r>
            <a:r>
              <a:rPr spc="-7" dirty="0">
                <a:latin typeface="Arial"/>
                <a:cs typeface="Arial"/>
              </a:rPr>
              <a:t>terms, </a:t>
            </a:r>
            <a:r>
              <a:rPr dirty="0">
                <a:latin typeface="Arial"/>
                <a:cs typeface="Arial"/>
              </a:rPr>
              <a:t>such </a:t>
            </a:r>
            <a:r>
              <a:rPr spc="-7" dirty="0">
                <a:latin typeface="Arial"/>
                <a:cs typeface="Arial"/>
              </a:rPr>
              <a:t>as "is", "of",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and "that", </a:t>
            </a:r>
            <a:r>
              <a:rPr dirty="0">
                <a:latin typeface="Arial"/>
                <a:cs typeface="Arial"/>
              </a:rPr>
              <a:t>may </a:t>
            </a:r>
            <a:r>
              <a:rPr spc="-7" dirty="0">
                <a:latin typeface="Arial"/>
                <a:cs typeface="Arial"/>
              </a:rPr>
              <a:t>appear </a:t>
            </a:r>
            <a:r>
              <a:rPr dirty="0">
                <a:latin typeface="Arial"/>
                <a:cs typeface="Arial"/>
              </a:rPr>
              <a:t>a </a:t>
            </a:r>
            <a:r>
              <a:rPr spc="-7" dirty="0">
                <a:latin typeface="Arial"/>
                <a:cs typeface="Arial"/>
              </a:rPr>
              <a:t>lot of times but have little importance. Thus we need to </a:t>
            </a:r>
            <a:r>
              <a:rPr spc="-65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weigh down the frequent terms while </a:t>
            </a:r>
            <a:r>
              <a:rPr dirty="0">
                <a:latin typeface="Arial"/>
                <a:cs typeface="Arial"/>
              </a:rPr>
              <a:t>scale </a:t>
            </a:r>
            <a:r>
              <a:rPr spc="-7" dirty="0">
                <a:latin typeface="Arial"/>
                <a:cs typeface="Arial"/>
              </a:rPr>
              <a:t>up the </a:t>
            </a:r>
            <a:r>
              <a:rPr dirty="0">
                <a:latin typeface="Arial"/>
                <a:cs typeface="Arial"/>
              </a:rPr>
              <a:t>rare </a:t>
            </a:r>
            <a:r>
              <a:rPr spc="-7" dirty="0">
                <a:latin typeface="Arial"/>
                <a:cs typeface="Arial"/>
              </a:rPr>
              <a:t>ones, by </a:t>
            </a:r>
            <a:r>
              <a:rPr dirty="0">
                <a:latin typeface="Arial"/>
                <a:cs typeface="Arial"/>
              </a:rPr>
              <a:t>computing </a:t>
            </a:r>
            <a:r>
              <a:rPr spc="-7" dirty="0">
                <a:latin typeface="Arial"/>
                <a:cs typeface="Arial"/>
              </a:rPr>
              <a:t>the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following: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1114" y="6110223"/>
            <a:ext cx="9143999" cy="4063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3FA0E-C5BE-FE69-5340-253C97BA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7863" y="1206231"/>
            <a:ext cx="574124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TF-IDF-</a:t>
            </a:r>
            <a:r>
              <a:rPr spc="-53" dirty="0"/>
              <a:t> </a:t>
            </a:r>
            <a:r>
              <a:rPr spc="-7" dirty="0"/>
              <a:t>How</a:t>
            </a:r>
            <a:r>
              <a:rPr spc="-47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7" dirty="0"/>
              <a:t>Compute: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799" y="1944441"/>
            <a:ext cx="204554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6964" indent="-320879">
              <a:spcBef>
                <a:spcPts val="133"/>
              </a:spcBef>
              <a:buChar char="•"/>
              <a:tabLst>
                <a:tab pos="336118" algn="l"/>
                <a:tab pos="337812" algn="l"/>
              </a:tabLst>
            </a:pPr>
            <a:r>
              <a:rPr sz="3200" spc="-7" dirty="0">
                <a:latin typeface="Arial"/>
                <a:cs typeface="Arial"/>
              </a:rPr>
              <a:t>Example: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720" y="3734733"/>
            <a:ext cx="9642726" cy="26152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054" y="2470072"/>
            <a:ext cx="11153952" cy="87355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F8AD3-52DC-C2FE-AA54-77A2C1C3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4080" y="1776985"/>
            <a:ext cx="8636678" cy="4329176"/>
            <a:chOff x="416433" y="517398"/>
            <a:chExt cx="8461375" cy="4359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433" y="517398"/>
              <a:ext cx="7067549" cy="27431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480" y="3260599"/>
              <a:ext cx="8085274" cy="161654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9767" y="1125051"/>
            <a:ext cx="3797300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7" dirty="0"/>
              <a:t>TF-IDF-</a:t>
            </a:r>
            <a:r>
              <a:rPr sz="3200" spc="-73" dirty="0"/>
              <a:t> </a:t>
            </a:r>
            <a:r>
              <a:rPr sz="3200" spc="-7" dirty="0"/>
              <a:t>Vs</a:t>
            </a:r>
            <a:r>
              <a:rPr sz="3200" spc="-67" dirty="0"/>
              <a:t> </a:t>
            </a:r>
            <a:r>
              <a:rPr sz="3200" spc="-7" dirty="0"/>
              <a:t>N-Gram:</a:t>
            </a:r>
            <a:endParaRPr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4CE23-1099-EE08-4C98-E5C55D5C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62</a:t>
            </a:fld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54FB1-7B92-9B13-BCED-DCA3D17E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1225B9-94D6-12EC-E2F6-5583741D1D0D}"/>
              </a:ext>
            </a:extLst>
          </p:cNvPr>
          <p:cNvSpPr txBox="1">
            <a:spLocks/>
          </p:cNvSpPr>
          <p:nvPr/>
        </p:nvSpPr>
        <p:spPr>
          <a:xfrm>
            <a:off x="706120" y="140906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ar-EG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3200"/>
              <a:t>Q&amp;A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ar-EG" sz="320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3200"/>
              <a:t>Questions and answers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148258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44570" y="2991594"/>
            <a:ext cx="8643190" cy="701047"/>
          </a:xfrm>
          <a:prstGeom prst="rect">
            <a:avLst/>
          </a:prstGeom>
        </p:spPr>
        <p:txBody>
          <a:bodyPr vert="horz" wrap="square" lIns="0" tIns="2370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87"/>
              </a:spcBef>
            </a:pPr>
            <a:r>
              <a:rPr spc="-7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Email/SMS Spam Filtering Notebook</a:t>
            </a:r>
            <a:endParaRPr spc="-7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91E7D0-EF5D-5C2F-5B91-7D456ED9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64</a:t>
            </a:fld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7463" y="1248422"/>
            <a:ext cx="991705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13" dirty="0">
                <a:solidFill>
                  <a:srgbClr val="1A1A1A"/>
                </a:solidFill>
                <a:latin typeface="Trebuchet MS"/>
                <a:cs typeface="Trebuchet MS"/>
              </a:rPr>
              <a:t>ecur</a:t>
            </a:r>
            <a:r>
              <a:rPr spc="-13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47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320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13" dirty="0">
                <a:solidFill>
                  <a:srgbClr val="1A1A1A"/>
                </a:solidFill>
                <a:latin typeface="Trebuchet MS"/>
                <a:cs typeface="Trebuchet MS"/>
              </a:rPr>
              <a:t>eu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113" dirty="0">
                <a:solidFill>
                  <a:srgbClr val="1A1A1A"/>
                </a:solidFill>
                <a:latin typeface="Trebuchet MS"/>
                <a:cs typeface="Trebuchet MS"/>
              </a:rPr>
              <a:t>al</a:t>
            </a:r>
            <a:r>
              <a:rPr spc="-32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320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pc="7" dirty="0">
                <a:solidFill>
                  <a:srgbClr val="1A1A1A"/>
                </a:solidFill>
                <a:latin typeface="Trebuchet MS"/>
                <a:cs typeface="Trebuchet MS"/>
              </a:rPr>
              <a:t>or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k</a:t>
            </a:r>
            <a:r>
              <a:rPr spc="233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93" dirty="0">
                <a:solidFill>
                  <a:srgbClr val="1A1A1A"/>
                </a:solidFill>
                <a:latin typeface="Trebuchet MS"/>
                <a:cs typeface="Trebuchet MS"/>
              </a:rPr>
              <a:t>(RNN)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9333" y="2309136"/>
            <a:ext cx="11666220" cy="13010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3802" marR="6773" indent="-437716">
              <a:lnSpc>
                <a:spcPct val="114999"/>
              </a:lnSpc>
              <a:spcBef>
                <a:spcPts val="133"/>
              </a:spcBef>
              <a:buClr>
                <a:srgbClr val="595959"/>
              </a:buClr>
              <a:buSzPct val="72222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pc="-13" dirty="0">
                <a:solidFill>
                  <a:srgbClr val="1A1A1A"/>
                </a:solidFill>
                <a:latin typeface="Tahoma"/>
                <a:cs typeface="Tahoma"/>
              </a:rPr>
              <a:t>It's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7" dirty="0">
                <a:solidFill>
                  <a:srgbClr val="1A1A1A"/>
                </a:solidFill>
                <a:latin typeface="Tahoma"/>
                <a:cs typeface="Tahoma"/>
              </a:rPr>
              <a:t>used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47" dirty="0">
                <a:solidFill>
                  <a:srgbClr val="1A1A1A"/>
                </a:solidFill>
                <a:latin typeface="Tahoma"/>
                <a:cs typeface="Tahoma"/>
              </a:rPr>
              <a:t>with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13" dirty="0">
                <a:solidFill>
                  <a:srgbClr val="1A1A1A"/>
                </a:solidFill>
                <a:latin typeface="Tahoma"/>
                <a:cs typeface="Tahoma"/>
              </a:rPr>
              <a:t>sequential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40" dirty="0">
                <a:solidFill>
                  <a:srgbClr val="1A1A1A"/>
                </a:solidFill>
                <a:latin typeface="Tahoma"/>
                <a:cs typeface="Tahoma"/>
              </a:rPr>
              <a:t>data,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13" dirty="0">
                <a:solidFill>
                  <a:srgbClr val="1A1A1A"/>
                </a:solidFill>
                <a:latin typeface="Tahoma"/>
                <a:cs typeface="Tahoma"/>
              </a:rPr>
              <a:t>and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40" dirty="0">
                <a:solidFill>
                  <a:srgbClr val="1A1A1A"/>
                </a:solidFill>
                <a:latin typeface="Tahoma"/>
                <a:cs typeface="Tahoma"/>
              </a:rPr>
              <a:t>it's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13" dirty="0">
                <a:solidFill>
                  <a:srgbClr val="1A1A1A"/>
                </a:solidFill>
                <a:latin typeface="Tahoma"/>
                <a:cs typeface="Tahoma"/>
              </a:rPr>
              <a:t>based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13" dirty="0">
                <a:solidFill>
                  <a:srgbClr val="1A1A1A"/>
                </a:solidFill>
                <a:latin typeface="Tahoma"/>
                <a:cs typeface="Tahoma"/>
              </a:rPr>
              <a:t>on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27" dirty="0">
                <a:solidFill>
                  <a:srgbClr val="1A1A1A"/>
                </a:solidFill>
                <a:latin typeface="Tahoma"/>
                <a:cs typeface="Tahoma"/>
              </a:rPr>
              <a:t>the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7" dirty="0">
                <a:solidFill>
                  <a:srgbClr val="1A1A1A"/>
                </a:solidFill>
                <a:latin typeface="Tahoma"/>
                <a:cs typeface="Tahoma"/>
              </a:rPr>
              <a:t>element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33" dirty="0">
                <a:solidFill>
                  <a:srgbClr val="1A1A1A"/>
                </a:solidFill>
                <a:latin typeface="Tahoma"/>
                <a:cs typeface="Tahoma"/>
              </a:rPr>
              <a:t>of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27" dirty="0">
                <a:solidFill>
                  <a:srgbClr val="1A1A1A"/>
                </a:solidFill>
                <a:latin typeface="Tahoma"/>
                <a:cs typeface="Tahoma"/>
              </a:rPr>
              <a:t>time,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27" dirty="0">
                <a:solidFill>
                  <a:srgbClr val="1A1A1A"/>
                </a:solidFill>
                <a:latin typeface="Tahoma"/>
                <a:cs typeface="Tahoma"/>
              </a:rPr>
              <a:t>like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33" dirty="0">
                <a:solidFill>
                  <a:srgbClr val="1A1A1A"/>
                </a:solidFill>
                <a:latin typeface="Tahoma"/>
                <a:cs typeface="Tahoma"/>
              </a:rPr>
              <a:t>stock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1A1A1A"/>
                </a:solidFill>
                <a:latin typeface="Tahoma"/>
                <a:cs typeface="Tahoma"/>
              </a:rPr>
              <a:t>prices </a:t>
            </a:r>
            <a:r>
              <a:rPr spc="2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67" dirty="0">
                <a:solidFill>
                  <a:srgbClr val="1A1A1A"/>
                </a:solidFill>
                <a:latin typeface="Tahoma"/>
                <a:cs typeface="Tahoma"/>
              </a:rPr>
              <a:t>or </a:t>
            </a:r>
            <a:r>
              <a:rPr spc="27" dirty="0">
                <a:solidFill>
                  <a:srgbClr val="1A1A1A"/>
                </a:solidFill>
                <a:latin typeface="Tahoma"/>
                <a:cs typeface="Tahoma"/>
              </a:rPr>
              <a:t>weather </a:t>
            </a:r>
            <a:r>
              <a:rPr spc="-40" dirty="0">
                <a:solidFill>
                  <a:srgbClr val="1A1A1A"/>
                </a:solidFill>
                <a:latin typeface="Tahoma"/>
                <a:cs typeface="Tahoma"/>
              </a:rPr>
              <a:t>data, </a:t>
            </a:r>
            <a:r>
              <a:rPr dirty="0">
                <a:solidFill>
                  <a:srgbClr val="1A1A1A"/>
                </a:solidFill>
                <a:latin typeface="Tahoma"/>
                <a:cs typeface="Tahoma"/>
              </a:rPr>
              <a:t>also </a:t>
            </a:r>
            <a:r>
              <a:rPr spc="27" dirty="0">
                <a:solidFill>
                  <a:srgbClr val="1A1A1A"/>
                </a:solidFill>
                <a:latin typeface="Tahoma"/>
                <a:cs typeface="Tahoma"/>
              </a:rPr>
              <a:t>the </a:t>
            </a:r>
            <a:r>
              <a:rPr spc="-20" dirty="0">
                <a:solidFill>
                  <a:srgbClr val="1A1A1A"/>
                </a:solidFill>
                <a:latin typeface="Tahoma"/>
                <a:cs typeface="Tahoma"/>
              </a:rPr>
              <a:t>texts, </a:t>
            </a:r>
            <a:r>
              <a:rPr spc="-13" dirty="0">
                <a:solidFill>
                  <a:srgbClr val="1A1A1A"/>
                </a:solidFill>
                <a:latin typeface="Tahoma"/>
                <a:cs typeface="Tahoma"/>
              </a:rPr>
              <a:t>because </a:t>
            </a:r>
            <a:r>
              <a:rPr b="1" spc="-187" dirty="0">
                <a:solidFill>
                  <a:srgbClr val="1A1A1A"/>
                </a:solidFill>
                <a:latin typeface="Tahoma"/>
                <a:cs typeface="Tahoma"/>
              </a:rPr>
              <a:t>“she </a:t>
            </a:r>
            <a:r>
              <a:rPr b="1" spc="-160" dirty="0">
                <a:solidFill>
                  <a:srgbClr val="1A1A1A"/>
                </a:solidFill>
                <a:latin typeface="Tahoma"/>
                <a:cs typeface="Tahoma"/>
              </a:rPr>
              <a:t>spoke </a:t>
            </a:r>
            <a:r>
              <a:rPr b="1" spc="-93" dirty="0">
                <a:solidFill>
                  <a:srgbClr val="1A1A1A"/>
                </a:solidFill>
                <a:latin typeface="Tahoma"/>
                <a:cs typeface="Tahoma"/>
              </a:rPr>
              <a:t>to </a:t>
            </a:r>
            <a:r>
              <a:rPr b="1" spc="-133" dirty="0">
                <a:solidFill>
                  <a:srgbClr val="1A1A1A"/>
                </a:solidFill>
                <a:latin typeface="Tahoma"/>
                <a:cs typeface="Tahoma"/>
              </a:rPr>
              <a:t>her </a:t>
            </a:r>
            <a:r>
              <a:rPr b="1" spc="-187" dirty="0">
                <a:solidFill>
                  <a:srgbClr val="1A1A1A"/>
                </a:solidFill>
                <a:latin typeface="Tahoma"/>
                <a:cs typeface="Tahoma"/>
              </a:rPr>
              <a:t>husband”</a:t>
            </a:r>
            <a:r>
              <a:rPr spc="-187" dirty="0">
                <a:solidFill>
                  <a:srgbClr val="1A1A1A"/>
                </a:solidFill>
                <a:latin typeface="Tahoma"/>
                <a:cs typeface="Tahoma"/>
              </a:rPr>
              <a:t>, </a:t>
            </a:r>
            <a:r>
              <a:rPr spc="-107" dirty="0">
                <a:solidFill>
                  <a:srgbClr val="1A1A1A"/>
                </a:solidFill>
                <a:latin typeface="Tahoma"/>
                <a:cs typeface="Tahoma"/>
              </a:rPr>
              <a:t>‘</a:t>
            </a:r>
            <a:r>
              <a:rPr b="1" spc="-107" dirty="0">
                <a:solidFill>
                  <a:srgbClr val="1A1A1A"/>
                </a:solidFill>
                <a:latin typeface="Tahoma"/>
                <a:cs typeface="Tahoma"/>
              </a:rPr>
              <a:t>her’ </a:t>
            </a:r>
            <a:r>
              <a:rPr spc="47" dirty="0">
                <a:solidFill>
                  <a:srgbClr val="1A1A1A"/>
                </a:solidFill>
                <a:latin typeface="Tahoma"/>
                <a:cs typeface="Tahoma"/>
              </a:rPr>
              <a:t>word </a:t>
            </a:r>
            <a:r>
              <a:rPr spc="5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7" dirty="0">
                <a:solidFill>
                  <a:srgbClr val="1A1A1A"/>
                </a:solidFill>
                <a:latin typeface="Tahoma"/>
                <a:cs typeface="Tahoma"/>
              </a:rPr>
              <a:t>depends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13" dirty="0">
                <a:solidFill>
                  <a:srgbClr val="1A1A1A"/>
                </a:solidFill>
                <a:latin typeface="Tahoma"/>
                <a:cs typeface="Tahoma"/>
              </a:rPr>
              <a:t>on</a:t>
            </a:r>
            <a:r>
              <a:rPr spc="-28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b="1" spc="-180" dirty="0">
                <a:solidFill>
                  <a:srgbClr val="1A1A1A"/>
                </a:solidFill>
                <a:latin typeface="Tahoma"/>
                <a:cs typeface="Tahoma"/>
              </a:rPr>
              <a:t>‘she’</a:t>
            </a:r>
            <a:r>
              <a:rPr spc="-180" dirty="0">
                <a:solidFill>
                  <a:srgbClr val="1A1A1A"/>
                </a:solidFill>
                <a:latin typeface="Tahoma"/>
                <a:cs typeface="Tahoma"/>
              </a:rPr>
              <a:t>,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13" dirty="0">
                <a:solidFill>
                  <a:srgbClr val="1A1A1A"/>
                </a:solidFill>
                <a:latin typeface="Tahoma"/>
                <a:cs typeface="Tahoma"/>
              </a:rPr>
              <a:t>and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27" dirty="0">
                <a:solidFill>
                  <a:srgbClr val="1A1A1A"/>
                </a:solidFill>
                <a:latin typeface="Tahoma"/>
                <a:cs typeface="Tahoma"/>
              </a:rPr>
              <a:t>all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73" dirty="0">
                <a:solidFill>
                  <a:srgbClr val="1A1A1A"/>
                </a:solidFill>
                <a:latin typeface="Tahoma"/>
                <a:cs typeface="Tahoma"/>
              </a:rPr>
              <a:t>it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1A1A1A"/>
                </a:solidFill>
                <a:latin typeface="Tahoma"/>
                <a:cs typeface="Tahoma"/>
              </a:rPr>
              <a:t>knows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13" dirty="0">
                <a:solidFill>
                  <a:srgbClr val="1A1A1A"/>
                </a:solidFill>
                <a:latin typeface="Tahoma"/>
                <a:cs typeface="Tahoma"/>
              </a:rPr>
              <a:t>is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33" dirty="0">
                <a:solidFill>
                  <a:srgbClr val="1A1A1A"/>
                </a:solidFill>
                <a:latin typeface="Tahoma"/>
                <a:cs typeface="Tahoma"/>
              </a:rPr>
              <a:t>that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73" dirty="0">
                <a:solidFill>
                  <a:srgbClr val="1A1A1A"/>
                </a:solidFill>
                <a:latin typeface="Tahoma"/>
                <a:cs typeface="Tahoma"/>
              </a:rPr>
              <a:t>it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33" dirty="0">
                <a:solidFill>
                  <a:srgbClr val="1A1A1A"/>
                </a:solidFill>
                <a:latin typeface="Tahoma"/>
                <a:cs typeface="Tahoma"/>
              </a:rPr>
              <a:t>treats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27" dirty="0">
                <a:solidFill>
                  <a:srgbClr val="1A1A1A"/>
                </a:solidFill>
                <a:latin typeface="Tahoma"/>
                <a:cs typeface="Tahoma"/>
              </a:rPr>
              <a:t>like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73" dirty="0">
                <a:solidFill>
                  <a:srgbClr val="1A1A1A"/>
                </a:solidFill>
                <a:latin typeface="Tahoma"/>
                <a:cs typeface="Tahoma"/>
              </a:rPr>
              <a:t>it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27" dirty="0">
                <a:solidFill>
                  <a:srgbClr val="1A1A1A"/>
                </a:solidFill>
                <a:latin typeface="Tahoma"/>
                <a:cs typeface="Tahoma"/>
              </a:rPr>
              <a:t>has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47" dirty="0">
                <a:solidFill>
                  <a:srgbClr val="1A1A1A"/>
                </a:solidFill>
                <a:latin typeface="Tahoma"/>
                <a:cs typeface="Tahoma"/>
              </a:rPr>
              <a:t>a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7" dirty="0">
                <a:solidFill>
                  <a:srgbClr val="1A1A1A"/>
                </a:solidFill>
                <a:latin typeface="Tahoma"/>
                <a:cs typeface="Tahoma"/>
              </a:rPr>
              <a:t>memory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33" dirty="0">
                <a:solidFill>
                  <a:srgbClr val="1A1A1A"/>
                </a:solidFill>
                <a:latin typeface="Tahoma"/>
                <a:cs typeface="Tahoma"/>
              </a:rPr>
              <a:t>that</a:t>
            </a:r>
            <a:r>
              <a:rPr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7" dirty="0">
                <a:solidFill>
                  <a:srgbClr val="1A1A1A"/>
                </a:solidFill>
                <a:latin typeface="Tahoma"/>
                <a:cs typeface="Tahoma"/>
              </a:rPr>
              <a:t>depends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13" dirty="0">
                <a:solidFill>
                  <a:srgbClr val="1A1A1A"/>
                </a:solidFill>
                <a:latin typeface="Tahoma"/>
                <a:cs typeface="Tahoma"/>
              </a:rPr>
              <a:t>on </a:t>
            </a:r>
            <a:r>
              <a:rPr spc="-72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20" dirty="0">
                <a:solidFill>
                  <a:srgbClr val="1A1A1A"/>
                </a:solidFill>
                <a:latin typeface="Tahoma"/>
                <a:cs typeface="Tahoma"/>
              </a:rPr>
              <a:t>it.</a:t>
            </a:r>
            <a:endParaRPr dirty="0">
              <a:latin typeface="Tahoma"/>
              <a:cs typeface="Tahoma"/>
            </a:endParaRPr>
          </a:p>
          <a:p>
            <a:pPr marL="454649" indent="-437716">
              <a:spcBef>
                <a:spcPts val="427"/>
              </a:spcBef>
              <a:buClr>
                <a:srgbClr val="595959"/>
              </a:buClr>
              <a:buSzPct val="72222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dirty="0">
                <a:solidFill>
                  <a:srgbClr val="1A1A1A"/>
                </a:solidFill>
                <a:latin typeface="Tahoma"/>
                <a:cs typeface="Tahoma"/>
              </a:rPr>
              <a:t>The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40" dirty="0">
                <a:solidFill>
                  <a:srgbClr val="1A1A1A"/>
                </a:solidFill>
                <a:latin typeface="Tahoma"/>
                <a:cs typeface="Tahoma"/>
              </a:rPr>
              <a:t>structure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13" dirty="0">
                <a:solidFill>
                  <a:srgbClr val="1A1A1A"/>
                </a:solidFill>
                <a:latin typeface="Tahoma"/>
                <a:cs typeface="Tahoma"/>
              </a:rPr>
              <a:t>is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40" dirty="0">
                <a:solidFill>
                  <a:srgbClr val="1A1A1A"/>
                </a:solidFill>
                <a:latin typeface="Tahoma"/>
                <a:cs typeface="Tahoma"/>
              </a:rPr>
              <a:t>as</a:t>
            </a:r>
            <a:r>
              <a:rPr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1A1A1A"/>
                </a:solidFill>
                <a:latin typeface="Tahoma"/>
                <a:cs typeface="Tahoma"/>
              </a:rPr>
              <a:t>follows:</a:t>
            </a:r>
            <a:endParaRPr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5040" y="4022232"/>
            <a:ext cx="7912353" cy="185235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57463" y="4670890"/>
            <a:ext cx="2217419" cy="84809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pc="-7" dirty="0">
                <a:latin typeface="Arial"/>
                <a:cs typeface="Arial"/>
              </a:rPr>
              <a:t>Where the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network uses </a:t>
            </a:r>
            <a:r>
              <a:rPr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the</a:t>
            </a:r>
            <a:r>
              <a:rPr spc="-4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output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as</a:t>
            </a:r>
            <a:r>
              <a:rPr spc="-4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an </a:t>
            </a:r>
            <a:r>
              <a:rPr spc="-645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input</a:t>
            </a:r>
            <a:r>
              <a:rPr spc="-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again.</a:t>
            </a:r>
            <a:endParaRPr dirty="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19B03F-03D1-6655-4323-0100C9B6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2756" y="5563367"/>
            <a:ext cx="956648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21725" marR="6773" indent="-304792">
              <a:spcBef>
                <a:spcPts val="133"/>
              </a:spcBef>
            </a:pPr>
            <a:r>
              <a:rPr sz="2400" spc="160" dirty="0">
                <a:solidFill>
                  <a:srgbClr val="1A1A1A"/>
                </a:solidFill>
                <a:latin typeface="Tahoma"/>
                <a:cs typeface="Tahoma"/>
              </a:rPr>
              <a:t>RNN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-27" dirty="0">
                <a:solidFill>
                  <a:srgbClr val="1A1A1A"/>
                </a:solidFill>
                <a:latin typeface="Tahoma"/>
                <a:cs typeface="Tahoma"/>
              </a:rPr>
              <a:t>has</a:t>
            </a:r>
            <a:r>
              <a:rPr sz="2400"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-47" dirty="0">
                <a:solidFill>
                  <a:srgbClr val="1A1A1A"/>
                </a:solidFill>
                <a:latin typeface="Tahoma"/>
                <a:cs typeface="Tahoma"/>
              </a:rPr>
              <a:t>a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27" dirty="0">
                <a:solidFill>
                  <a:srgbClr val="1A1A1A"/>
                </a:solidFill>
                <a:latin typeface="Tahoma"/>
                <a:cs typeface="Tahoma"/>
              </a:rPr>
              <a:t>relationship</a:t>
            </a:r>
            <a:r>
              <a:rPr sz="2400"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47" dirty="0">
                <a:solidFill>
                  <a:srgbClr val="1A1A1A"/>
                </a:solidFill>
                <a:latin typeface="Tahoma"/>
                <a:cs typeface="Tahoma"/>
              </a:rPr>
              <a:t>with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200" dirty="0">
                <a:solidFill>
                  <a:srgbClr val="1A1A1A"/>
                </a:solidFill>
                <a:latin typeface="Tahoma"/>
                <a:cs typeface="Tahoma"/>
              </a:rPr>
              <a:t>DNN</a:t>
            </a:r>
            <a:r>
              <a:rPr sz="2400"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-13" dirty="0">
                <a:solidFill>
                  <a:srgbClr val="1A1A1A"/>
                </a:solidFill>
                <a:latin typeface="Tahoma"/>
                <a:cs typeface="Tahoma"/>
              </a:rPr>
              <a:t>design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-13" dirty="0">
                <a:solidFill>
                  <a:srgbClr val="1A1A1A"/>
                </a:solidFill>
                <a:latin typeface="Tahoma"/>
                <a:cs typeface="Tahoma"/>
              </a:rPr>
              <a:t>because</a:t>
            </a:r>
            <a:r>
              <a:rPr sz="2400"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27" dirty="0">
                <a:solidFill>
                  <a:srgbClr val="1A1A1A"/>
                </a:solidFill>
                <a:latin typeface="Tahoma"/>
                <a:cs typeface="Tahoma"/>
              </a:rPr>
              <a:t>in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93" dirty="0">
                <a:solidFill>
                  <a:srgbClr val="1A1A1A"/>
                </a:solidFill>
                <a:latin typeface="Tahoma"/>
                <a:cs typeface="Tahoma"/>
              </a:rPr>
              <a:t>DNN,</a:t>
            </a:r>
            <a:r>
              <a:rPr sz="2400"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53" dirty="0">
                <a:solidFill>
                  <a:srgbClr val="1A1A1A"/>
                </a:solidFill>
                <a:latin typeface="Tahoma"/>
                <a:cs typeface="Tahoma"/>
              </a:rPr>
              <a:t>if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20" dirty="0">
                <a:solidFill>
                  <a:srgbClr val="1A1A1A"/>
                </a:solidFill>
                <a:latin typeface="Tahoma"/>
                <a:cs typeface="Tahoma"/>
              </a:rPr>
              <a:t>we</a:t>
            </a:r>
            <a:r>
              <a:rPr sz="2400"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1A1A1A"/>
                </a:solidFill>
                <a:latin typeface="Tahoma"/>
                <a:cs typeface="Tahoma"/>
              </a:rPr>
              <a:t>rotate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1A1A1A"/>
                </a:solidFill>
                <a:latin typeface="Tahoma"/>
                <a:cs typeface="Tahoma"/>
              </a:rPr>
              <a:t>it, </a:t>
            </a:r>
            <a:r>
              <a:rPr sz="2400" spc="-72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1A1A1A"/>
                </a:solidFill>
                <a:latin typeface="Tahoma"/>
                <a:cs typeface="Tahoma"/>
              </a:rPr>
              <a:t>compress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27" dirty="0">
                <a:solidFill>
                  <a:srgbClr val="1A1A1A"/>
                </a:solidFill>
                <a:latin typeface="Tahoma"/>
                <a:cs typeface="Tahoma"/>
              </a:rPr>
              <a:t>the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1A1A1A"/>
                </a:solidFill>
                <a:latin typeface="Tahoma"/>
                <a:cs typeface="Tahoma"/>
              </a:rPr>
              <a:t>cells,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-13" dirty="0">
                <a:solidFill>
                  <a:srgbClr val="1A1A1A"/>
                </a:solidFill>
                <a:latin typeface="Tahoma"/>
                <a:cs typeface="Tahoma"/>
              </a:rPr>
              <a:t>and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13" dirty="0">
                <a:solidFill>
                  <a:srgbClr val="1A1A1A"/>
                </a:solidFill>
                <a:latin typeface="Tahoma"/>
                <a:cs typeface="Tahoma"/>
              </a:rPr>
              <a:t>then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20" dirty="0">
                <a:solidFill>
                  <a:srgbClr val="1A1A1A"/>
                </a:solidFill>
                <a:latin typeface="Tahoma"/>
                <a:cs typeface="Tahoma"/>
              </a:rPr>
              <a:t>repeat</a:t>
            </a:r>
            <a:r>
              <a:rPr sz="2400" spc="-28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1A1A1A"/>
                </a:solidFill>
                <a:latin typeface="Tahoma"/>
                <a:cs typeface="Tahoma"/>
              </a:rPr>
              <a:t>it,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73" dirty="0">
                <a:solidFill>
                  <a:srgbClr val="1A1A1A"/>
                </a:solidFill>
                <a:latin typeface="Tahoma"/>
                <a:cs typeface="Tahoma"/>
              </a:rPr>
              <a:t>it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27" dirty="0">
                <a:solidFill>
                  <a:srgbClr val="1A1A1A"/>
                </a:solidFill>
                <a:latin typeface="Tahoma"/>
                <a:cs typeface="Tahoma"/>
              </a:rPr>
              <a:t>turns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1A1A1A"/>
                </a:solidFill>
                <a:latin typeface="Tahoma"/>
                <a:cs typeface="Tahoma"/>
              </a:rPr>
              <a:t>into</a:t>
            </a:r>
            <a:r>
              <a:rPr sz="2400" spc="-29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1A1A1A"/>
                </a:solidFill>
                <a:latin typeface="Tahoma"/>
                <a:cs typeface="Tahoma"/>
              </a:rPr>
              <a:t>RNN.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6960" y="1177097"/>
            <a:ext cx="8023934" cy="40857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60FBA-7120-2640-66C2-86B8159D2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" y="2353163"/>
            <a:ext cx="11925299" cy="393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253" y="1451108"/>
            <a:ext cx="8905240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7" dirty="0"/>
              <a:t>RNN</a:t>
            </a:r>
            <a:r>
              <a:rPr sz="4267" spc="-33" dirty="0"/>
              <a:t> </a:t>
            </a:r>
            <a:r>
              <a:rPr sz="4267" spc="-13" dirty="0"/>
              <a:t>has</a:t>
            </a:r>
            <a:r>
              <a:rPr sz="4267" spc="-40" dirty="0"/>
              <a:t> </a:t>
            </a:r>
            <a:r>
              <a:rPr sz="4267" spc="-7" dirty="0"/>
              <a:t>two</a:t>
            </a:r>
            <a:r>
              <a:rPr sz="4267" spc="-27" dirty="0"/>
              <a:t> </a:t>
            </a:r>
            <a:r>
              <a:rPr sz="4267" spc="-7" dirty="0"/>
              <a:t>major</a:t>
            </a:r>
            <a:r>
              <a:rPr sz="4267" spc="-33" dirty="0"/>
              <a:t> </a:t>
            </a:r>
            <a:r>
              <a:rPr sz="4267" spc="-7" dirty="0"/>
              <a:t>disadvantages</a:t>
            </a:r>
            <a:endParaRPr sz="4267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F846E-26DD-F3A9-ABEA-FBE25F16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67</a:t>
            </a:fld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686" y="1100223"/>
            <a:ext cx="732112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93" dirty="0">
                <a:solidFill>
                  <a:srgbClr val="1A1A1A"/>
                </a:solidFill>
                <a:latin typeface="Tahoma"/>
                <a:cs typeface="Tahoma"/>
              </a:rPr>
              <a:t>Recurrent</a:t>
            </a:r>
            <a:r>
              <a:rPr spc="-37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180" dirty="0">
                <a:solidFill>
                  <a:srgbClr val="1A1A1A"/>
                </a:solidFill>
                <a:latin typeface="Tahoma"/>
                <a:cs typeface="Tahoma"/>
              </a:rPr>
              <a:t>Neu</a:t>
            </a:r>
            <a:r>
              <a:rPr spc="-167" dirty="0">
                <a:solidFill>
                  <a:srgbClr val="1A1A1A"/>
                </a:solidFill>
                <a:latin typeface="Tahoma"/>
                <a:cs typeface="Tahoma"/>
              </a:rPr>
              <a:t>r</a:t>
            </a:r>
            <a:r>
              <a:rPr spc="-272" dirty="0">
                <a:solidFill>
                  <a:srgbClr val="1A1A1A"/>
                </a:solidFill>
                <a:latin typeface="Tahoma"/>
                <a:cs typeface="Tahoma"/>
              </a:rPr>
              <a:t>a</a:t>
            </a:r>
            <a:r>
              <a:rPr spc="-133" dirty="0">
                <a:solidFill>
                  <a:srgbClr val="1A1A1A"/>
                </a:solidFill>
                <a:latin typeface="Tahoma"/>
                <a:cs typeface="Tahoma"/>
              </a:rPr>
              <a:t>l</a:t>
            </a:r>
            <a:r>
              <a:rPr spc="-38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193" dirty="0">
                <a:solidFill>
                  <a:srgbClr val="1A1A1A"/>
                </a:solidFill>
                <a:latin typeface="Tahoma"/>
                <a:cs typeface="Tahoma"/>
              </a:rPr>
              <a:t>Networks</a:t>
            </a:r>
            <a:r>
              <a:rPr spc="-37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pc="-305" dirty="0">
                <a:solidFill>
                  <a:srgbClr val="1A1A1A"/>
                </a:solidFill>
                <a:latin typeface="Tahoma"/>
                <a:cs typeface="Tahoma"/>
              </a:rPr>
              <a:t>(RNN)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000" y="2471538"/>
            <a:ext cx="2043309" cy="37896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7747" y="2245681"/>
            <a:ext cx="4337380" cy="44772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48C0-26D0-C6F4-0BB9-4EEA2C280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68</a:t>
            </a:fld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6079" y="2811025"/>
            <a:ext cx="7624553" cy="34170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2833" y="1208367"/>
            <a:ext cx="5863167" cy="1341520"/>
          </a:xfrm>
          <a:prstGeom prst="rect">
            <a:avLst/>
          </a:prstGeom>
        </p:spPr>
        <p:txBody>
          <a:bodyPr vert="horz" wrap="square" lIns="0" tIns="86359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679"/>
              </a:spcBef>
            </a:pPr>
            <a:r>
              <a:rPr sz="4267" spc="-147" dirty="0">
                <a:solidFill>
                  <a:srgbClr val="1A1A1A"/>
                </a:solidFill>
                <a:latin typeface="Tahoma"/>
                <a:cs typeface="Tahoma"/>
              </a:rPr>
              <a:t>RNN</a:t>
            </a:r>
            <a:r>
              <a:rPr sz="4267" spc="-42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4267" spc="-113" dirty="0">
                <a:solidFill>
                  <a:srgbClr val="1A1A1A"/>
                </a:solidFill>
                <a:latin typeface="Tahoma"/>
                <a:cs typeface="Tahoma"/>
              </a:rPr>
              <a:t>t</a:t>
            </a:r>
            <a:r>
              <a:rPr sz="4267" spc="-180" dirty="0">
                <a:solidFill>
                  <a:srgbClr val="1A1A1A"/>
                </a:solidFill>
                <a:latin typeface="Tahoma"/>
                <a:cs typeface="Tahoma"/>
              </a:rPr>
              <a:t>r</a:t>
            </a:r>
            <a:r>
              <a:rPr sz="4267" spc="-287" dirty="0">
                <a:solidFill>
                  <a:srgbClr val="1A1A1A"/>
                </a:solidFill>
                <a:latin typeface="Tahoma"/>
                <a:cs typeface="Tahoma"/>
              </a:rPr>
              <a:t>aining</a:t>
            </a:r>
            <a:endParaRPr sz="4267" dirty="0">
              <a:latin typeface="Tahoma"/>
              <a:cs typeface="Tahoma"/>
            </a:endParaRPr>
          </a:p>
          <a:p>
            <a:pPr marL="496134">
              <a:lnSpc>
                <a:spcPct val="100000"/>
              </a:lnSpc>
              <a:spcBef>
                <a:spcPts val="453"/>
              </a:spcBef>
            </a:pPr>
            <a:r>
              <a:rPr sz="3467" spc="20" dirty="0">
                <a:solidFill>
                  <a:srgbClr val="1A1A1A"/>
                </a:solidFill>
                <a:latin typeface="Tahoma"/>
                <a:cs typeface="Tahoma"/>
              </a:rPr>
              <a:t>Back-propagation</a:t>
            </a:r>
            <a:r>
              <a:rPr sz="3467" spc="-4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3467" spc="-7" dirty="0">
                <a:solidFill>
                  <a:srgbClr val="1A1A1A"/>
                </a:solidFill>
                <a:latin typeface="Tahoma"/>
                <a:cs typeface="Tahoma"/>
              </a:rPr>
              <a:t>o</a:t>
            </a:r>
            <a:r>
              <a:rPr sz="3467" dirty="0">
                <a:solidFill>
                  <a:srgbClr val="1A1A1A"/>
                </a:solidFill>
                <a:latin typeface="Tahoma"/>
                <a:cs typeface="Tahoma"/>
              </a:rPr>
              <a:t>v</a:t>
            </a:r>
            <a:r>
              <a:rPr sz="3467" spc="67" dirty="0">
                <a:solidFill>
                  <a:srgbClr val="1A1A1A"/>
                </a:solidFill>
                <a:latin typeface="Tahoma"/>
                <a:cs typeface="Tahoma"/>
              </a:rPr>
              <a:t>er</a:t>
            </a:r>
            <a:r>
              <a:rPr sz="3467" spc="-4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3467" spc="33" dirty="0">
                <a:solidFill>
                  <a:srgbClr val="1A1A1A"/>
                </a:solidFill>
                <a:latin typeface="Tahoma"/>
                <a:cs typeface="Tahoma"/>
              </a:rPr>
              <a:t>time</a:t>
            </a:r>
            <a:endParaRPr sz="3467" dirty="0">
              <a:latin typeface="Tahoma"/>
              <a:cs typeface="Tahom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28BA4-A414-5418-BA4C-8C4741E0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69</a:t>
            </a:fld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127" y="1623076"/>
            <a:ext cx="4892039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120" dirty="0">
                <a:solidFill>
                  <a:srgbClr val="1A1A1A"/>
                </a:solidFill>
                <a:latin typeface="Tahoma"/>
                <a:cs typeface="Tahoma"/>
              </a:rPr>
              <a:t>V</a:t>
            </a:r>
            <a:r>
              <a:rPr sz="4267" spc="-293" dirty="0">
                <a:solidFill>
                  <a:srgbClr val="1A1A1A"/>
                </a:solidFill>
                <a:latin typeface="Tahoma"/>
                <a:cs typeface="Tahoma"/>
              </a:rPr>
              <a:t>anishin</a:t>
            </a:r>
            <a:r>
              <a:rPr sz="4267" spc="-347" dirty="0">
                <a:solidFill>
                  <a:srgbClr val="1A1A1A"/>
                </a:solidFill>
                <a:latin typeface="Tahoma"/>
                <a:cs typeface="Tahoma"/>
              </a:rPr>
              <a:t>g</a:t>
            </a:r>
            <a:r>
              <a:rPr sz="4267" spc="-43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4267" spc="-133" dirty="0">
                <a:solidFill>
                  <a:srgbClr val="1A1A1A"/>
                </a:solidFill>
                <a:latin typeface="Tahoma"/>
                <a:cs typeface="Tahoma"/>
              </a:rPr>
              <a:t>G</a:t>
            </a:r>
            <a:r>
              <a:rPr sz="4267" spc="-140" dirty="0">
                <a:solidFill>
                  <a:srgbClr val="1A1A1A"/>
                </a:solidFill>
                <a:latin typeface="Tahoma"/>
                <a:cs typeface="Tahoma"/>
              </a:rPr>
              <a:t>r</a:t>
            </a:r>
            <a:r>
              <a:rPr sz="4267" spc="-253" dirty="0">
                <a:solidFill>
                  <a:srgbClr val="1A1A1A"/>
                </a:solidFill>
                <a:latin typeface="Tahoma"/>
                <a:cs typeface="Tahoma"/>
              </a:rPr>
              <a:t>adients</a:t>
            </a:r>
            <a:endParaRPr sz="4267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7247" y="3085932"/>
            <a:ext cx="10426993" cy="15559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6964" marR="6773" indent="-320879">
              <a:spcBef>
                <a:spcPts val="133"/>
              </a:spcBef>
              <a:buClr>
                <a:srgbClr val="000000"/>
              </a:buClr>
              <a:buChar char="•"/>
              <a:tabLst>
                <a:tab pos="336118" algn="l"/>
                <a:tab pos="337812" algn="l"/>
              </a:tabLst>
            </a:pP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For the traditional activation functions, each gradient </a:t>
            </a:r>
            <a:r>
              <a:rPr sz="2000" spc="-87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term</a:t>
            </a:r>
            <a:r>
              <a:rPr sz="2000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has the</a:t>
            </a:r>
            <a:r>
              <a:rPr sz="2000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value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 in</a:t>
            </a:r>
            <a:r>
              <a:rPr sz="2000" spc="-1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range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(-1,</a:t>
            </a:r>
            <a:r>
              <a:rPr sz="2000" spc="-1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1).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7"/>
              </a:spcBef>
              <a:buFont typeface="Arial"/>
              <a:buChar char="•"/>
            </a:pPr>
            <a:endParaRPr sz="2000" dirty="0">
              <a:latin typeface="Arial"/>
              <a:cs typeface="Arial"/>
            </a:endParaRPr>
          </a:p>
          <a:p>
            <a:pPr marL="336964" marR="715415" indent="-320879">
              <a:buClr>
                <a:srgbClr val="000000"/>
              </a:buClr>
              <a:buChar char="•"/>
              <a:tabLst>
                <a:tab pos="336118" algn="l"/>
                <a:tab pos="337812" algn="l"/>
              </a:tabLst>
            </a:pP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Multiplying</a:t>
            </a:r>
            <a:r>
              <a:rPr sz="2000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1A1A1A"/>
                </a:solidFill>
                <a:latin typeface="Arial"/>
                <a:cs typeface="Arial"/>
              </a:rPr>
              <a:t>n</a:t>
            </a:r>
            <a:r>
              <a:rPr sz="2000" i="1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sz="2000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these</a:t>
            </a:r>
            <a:r>
              <a:rPr sz="2000" spc="-3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small</a:t>
            </a:r>
            <a:r>
              <a:rPr sz="2000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numbers</a:t>
            </a:r>
            <a:r>
              <a:rPr sz="2000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sz="2000"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compute </a:t>
            </a:r>
            <a:r>
              <a:rPr sz="2000" spc="-87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gradients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7"/>
              </a:spcBef>
              <a:buFont typeface="Arial"/>
              <a:buChar char="•"/>
            </a:pPr>
            <a:endParaRPr sz="2000" dirty="0">
              <a:latin typeface="Arial"/>
              <a:cs typeface="Arial"/>
            </a:endParaRPr>
          </a:p>
          <a:p>
            <a:pPr marL="336964" marR="673083" indent="-320879">
              <a:buClr>
                <a:srgbClr val="000000"/>
              </a:buClr>
              <a:buChar char="•"/>
              <a:tabLst>
                <a:tab pos="336118" algn="l"/>
                <a:tab pos="337812" algn="l"/>
              </a:tabLst>
            </a:pP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sz="2000"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longer</a:t>
            </a:r>
            <a:r>
              <a:rPr sz="2000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sz="2000"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sequence</a:t>
            </a:r>
            <a:r>
              <a:rPr sz="2000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is,</a:t>
            </a:r>
            <a:r>
              <a:rPr sz="2000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sz="2000"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more</a:t>
            </a:r>
            <a:r>
              <a:rPr sz="2000" spc="-1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severe</a:t>
            </a:r>
            <a:r>
              <a:rPr sz="2000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the </a:t>
            </a:r>
            <a:r>
              <a:rPr sz="2000" spc="-87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problems</a:t>
            </a:r>
            <a:r>
              <a:rPr sz="2000" spc="-1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are.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97A8A-5983-F256-25E1-C46EFFF5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5935" y="1331667"/>
            <a:ext cx="5448300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339" dirty="0">
                <a:solidFill>
                  <a:srgbClr val="1A1A1A"/>
                </a:solidFill>
                <a:latin typeface="Trebuchet MS"/>
                <a:cs typeface="Trebuchet MS"/>
              </a:rPr>
              <a:t>RN</a:t>
            </a:r>
            <a:r>
              <a:rPr sz="4267" spc="32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267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r>
              <a:rPr sz="4267" spc="-26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67" dirty="0">
                <a:solidFill>
                  <a:srgbClr val="1A1A1A"/>
                </a:solidFill>
                <a:latin typeface="Trebuchet MS"/>
                <a:cs typeface="Trebuchet MS"/>
              </a:rPr>
              <a:t>cha</a:t>
            </a:r>
            <a:r>
              <a:rPr sz="4267" spc="40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z="4267" spc="120" dirty="0">
                <a:solidFill>
                  <a:srgbClr val="1A1A1A"/>
                </a:solidFill>
                <a:latin typeface="Trebuchet MS"/>
                <a:cs typeface="Trebuchet MS"/>
              </a:rPr>
              <a:t>ac</a:t>
            </a:r>
            <a:r>
              <a:rPr sz="4267" spc="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4267" dirty="0">
                <a:solidFill>
                  <a:srgbClr val="1A1A1A"/>
                </a:solidFill>
                <a:latin typeface="Trebuchet MS"/>
                <a:cs typeface="Trebuchet MS"/>
              </a:rPr>
              <a:t>eri</a:t>
            </a:r>
            <a:r>
              <a:rPr sz="4267" spc="-13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r>
              <a:rPr sz="4267" spc="60" dirty="0">
                <a:solidFill>
                  <a:srgbClr val="1A1A1A"/>
                </a:solidFill>
                <a:latin typeface="Trebuchet MS"/>
                <a:cs typeface="Trebuchet MS"/>
              </a:rPr>
              <a:t>tics</a:t>
            </a:r>
            <a:endParaRPr sz="4267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853" y="2584540"/>
            <a:ext cx="9485207" cy="21333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4649" indent="-437716">
              <a:spcBef>
                <a:spcPts val="133"/>
              </a:spcBef>
              <a:buClr>
                <a:srgbClr val="595959"/>
              </a:buClr>
              <a:buSzPct val="6500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667" spc="100" dirty="0">
                <a:solidFill>
                  <a:srgbClr val="1A1A1A"/>
                </a:solidFill>
                <a:latin typeface="Tahoma"/>
                <a:cs typeface="Tahoma"/>
              </a:rPr>
              <a:t>Model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13" dirty="0">
                <a:solidFill>
                  <a:srgbClr val="1A1A1A"/>
                </a:solidFill>
                <a:latin typeface="Tahoma"/>
                <a:cs typeface="Tahoma"/>
              </a:rPr>
              <a:t>hidden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13" dirty="0">
                <a:solidFill>
                  <a:srgbClr val="1A1A1A"/>
                </a:solidFill>
                <a:latin typeface="Tahoma"/>
                <a:cs typeface="Tahoma"/>
              </a:rPr>
              <a:t>states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-40" dirty="0">
                <a:solidFill>
                  <a:srgbClr val="1A1A1A"/>
                </a:solidFill>
                <a:latin typeface="Tahoma"/>
                <a:cs typeface="Tahoma"/>
              </a:rPr>
              <a:t>(input)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dirty="0">
                <a:solidFill>
                  <a:srgbClr val="1A1A1A"/>
                </a:solidFill>
                <a:latin typeface="Tahoma"/>
                <a:cs typeface="Tahoma"/>
              </a:rPr>
              <a:t>dependencies</a:t>
            </a:r>
            <a:endParaRPr sz="2667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6500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667" spc="60" dirty="0">
                <a:solidFill>
                  <a:srgbClr val="1A1A1A"/>
                </a:solidFill>
                <a:latin typeface="Tahoma"/>
                <a:cs typeface="Tahoma"/>
              </a:rPr>
              <a:t>Errors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-13" dirty="0">
                <a:solidFill>
                  <a:srgbClr val="1A1A1A"/>
                </a:solidFill>
                <a:latin typeface="Tahoma"/>
                <a:cs typeface="Tahoma"/>
              </a:rPr>
              <a:t>“back</a:t>
            </a:r>
            <a:r>
              <a:rPr sz="2667" spc="-31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7" dirty="0">
                <a:solidFill>
                  <a:srgbClr val="1A1A1A"/>
                </a:solidFill>
                <a:latin typeface="Tahoma"/>
                <a:cs typeface="Tahoma"/>
              </a:rPr>
              <a:t>propagation</a:t>
            </a:r>
            <a:r>
              <a:rPr sz="2667" spc="-31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27" dirty="0">
                <a:solidFill>
                  <a:srgbClr val="1A1A1A"/>
                </a:solidFill>
                <a:latin typeface="Tahoma"/>
                <a:cs typeface="Tahoma"/>
              </a:rPr>
              <a:t>over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-27" dirty="0">
                <a:solidFill>
                  <a:srgbClr val="1A1A1A"/>
                </a:solidFill>
                <a:latin typeface="Tahoma"/>
                <a:cs typeface="Tahoma"/>
              </a:rPr>
              <a:t>time”</a:t>
            </a:r>
            <a:endParaRPr sz="2667" dirty="0">
              <a:latin typeface="Tahoma"/>
              <a:cs typeface="Tahoma"/>
            </a:endParaRPr>
          </a:p>
          <a:p>
            <a:pPr marL="454649" indent="-437716">
              <a:spcBef>
                <a:spcPts val="7"/>
              </a:spcBef>
              <a:buClr>
                <a:srgbClr val="595959"/>
              </a:buClr>
              <a:buSzPct val="6500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667" spc="20" dirty="0">
                <a:solidFill>
                  <a:srgbClr val="1A1A1A"/>
                </a:solidFill>
                <a:latin typeface="Tahoma"/>
                <a:cs typeface="Tahoma"/>
              </a:rPr>
              <a:t>Feature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7" dirty="0">
                <a:solidFill>
                  <a:srgbClr val="1A1A1A"/>
                </a:solidFill>
                <a:latin typeface="Tahoma"/>
                <a:cs typeface="Tahoma"/>
              </a:rPr>
              <a:t>learning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7" dirty="0">
                <a:solidFill>
                  <a:srgbClr val="1A1A1A"/>
                </a:solidFill>
                <a:latin typeface="Tahoma"/>
                <a:cs typeface="Tahoma"/>
              </a:rPr>
              <a:t>methods</a:t>
            </a:r>
            <a:endParaRPr sz="2667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6500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667" spc="67" dirty="0">
                <a:solidFill>
                  <a:srgbClr val="1A1A1A"/>
                </a:solidFill>
                <a:latin typeface="Tahoma"/>
                <a:cs typeface="Tahoma"/>
              </a:rPr>
              <a:t>V</a:t>
            </a:r>
            <a:r>
              <a:rPr sz="2667" spc="-13" dirty="0">
                <a:solidFill>
                  <a:srgbClr val="1A1A1A"/>
                </a:solidFill>
                <a:latin typeface="Tahoma"/>
                <a:cs typeface="Tahoma"/>
              </a:rPr>
              <a:t>anishing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dirty="0">
                <a:solidFill>
                  <a:srgbClr val="1A1A1A"/>
                </a:solidFill>
                <a:latin typeface="Tahoma"/>
                <a:cs typeface="Tahoma"/>
              </a:rPr>
              <a:t>g</a:t>
            </a:r>
            <a:r>
              <a:rPr sz="2667" spc="-53" dirty="0">
                <a:solidFill>
                  <a:srgbClr val="1A1A1A"/>
                </a:solidFill>
                <a:latin typeface="Tahoma"/>
                <a:cs typeface="Tahoma"/>
              </a:rPr>
              <a:t>r</a:t>
            </a:r>
            <a:r>
              <a:rPr sz="2667" spc="20" dirty="0">
                <a:solidFill>
                  <a:srgbClr val="1A1A1A"/>
                </a:solidFill>
                <a:latin typeface="Tahoma"/>
                <a:cs typeface="Tahoma"/>
              </a:rPr>
              <a:t>adient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-13" dirty="0">
                <a:solidFill>
                  <a:srgbClr val="1A1A1A"/>
                </a:solidFill>
                <a:latin typeface="Tahoma"/>
                <a:cs typeface="Tahoma"/>
              </a:rPr>
              <a:t>problem:</a:t>
            </a:r>
            <a:endParaRPr sz="2667" dirty="0">
              <a:latin typeface="Tahoma"/>
              <a:cs typeface="Tahoma"/>
            </a:endParaRPr>
          </a:p>
          <a:p>
            <a:pPr marL="453802">
              <a:spcBef>
                <a:spcPts val="480"/>
              </a:spcBef>
            </a:pPr>
            <a:r>
              <a:rPr sz="2667" spc="13" dirty="0">
                <a:solidFill>
                  <a:srgbClr val="1A1A1A"/>
                </a:solidFill>
                <a:latin typeface="Tahoma"/>
                <a:cs typeface="Tahoma"/>
              </a:rPr>
              <a:t>cannot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13" dirty="0">
                <a:solidFill>
                  <a:srgbClr val="1A1A1A"/>
                </a:solidFill>
                <a:latin typeface="Tahoma"/>
                <a:cs typeface="Tahoma"/>
              </a:rPr>
              <a:t>model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13" dirty="0">
                <a:solidFill>
                  <a:srgbClr val="1A1A1A"/>
                </a:solidFill>
                <a:latin typeface="Tahoma"/>
                <a:cs typeface="Tahoma"/>
              </a:rPr>
              <a:t>long-distant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dirty="0">
                <a:solidFill>
                  <a:srgbClr val="1A1A1A"/>
                </a:solidFill>
                <a:latin typeface="Tahoma"/>
                <a:cs typeface="Tahoma"/>
              </a:rPr>
              <a:t>dependencies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40" dirty="0">
                <a:solidFill>
                  <a:srgbClr val="1A1A1A"/>
                </a:solidFill>
                <a:latin typeface="Tahoma"/>
                <a:cs typeface="Tahoma"/>
              </a:rPr>
              <a:t>of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27" dirty="0">
                <a:solidFill>
                  <a:srgbClr val="1A1A1A"/>
                </a:solidFill>
                <a:latin typeface="Tahoma"/>
                <a:cs typeface="Tahoma"/>
              </a:rPr>
              <a:t>the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13" dirty="0">
                <a:solidFill>
                  <a:srgbClr val="1A1A1A"/>
                </a:solidFill>
                <a:latin typeface="Tahoma"/>
                <a:cs typeface="Tahoma"/>
              </a:rPr>
              <a:t>hidden</a:t>
            </a:r>
            <a:r>
              <a:rPr sz="2667" spc="-32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667" spc="-27" dirty="0">
                <a:solidFill>
                  <a:srgbClr val="1A1A1A"/>
                </a:solidFill>
                <a:latin typeface="Tahoma"/>
                <a:cs typeface="Tahoma"/>
              </a:rPr>
              <a:t>states.</a:t>
            </a:r>
            <a:endParaRPr sz="2667" dirty="0">
              <a:latin typeface="Tahoma"/>
              <a:cs typeface="Tahom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074200-8033-4EA5-56BD-B8A411851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044" y="1079009"/>
            <a:ext cx="749892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93" dirty="0">
                <a:solidFill>
                  <a:srgbClr val="1A1A1A"/>
                </a:solidFill>
                <a:latin typeface="Trebuchet MS"/>
                <a:cs typeface="Trebuchet MS"/>
              </a:rPr>
              <a:t>L</a:t>
            </a:r>
            <a:r>
              <a:rPr spc="227" dirty="0">
                <a:solidFill>
                  <a:srgbClr val="1A1A1A"/>
                </a:solidFill>
                <a:latin typeface="Trebuchet MS"/>
                <a:cs typeface="Trebuchet MS"/>
              </a:rPr>
              <a:t>ong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373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hort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-</a:t>
            </a:r>
            <a:r>
              <a:rPr spc="-339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erm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413" dirty="0">
                <a:solidFill>
                  <a:srgbClr val="1A1A1A"/>
                </a:solidFill>
                <a:latin typeface="Trebuchet MS"/>
                <a:cs typeface="Trebuchet MS"/>
              </a:rPr>
              <a:t>M</a:t>
            </a:r>
            <a:r>
              <a:rPr spc="80" dirty="0">
                <a:solidFill>
                  <a:srgbClr val="1A1A1A"/>
                </a:solidFill>
                <a:latin typeface="Trebuchet MS"/>
                <a:cs typeface="Trebuchet MS"/>
              </a:rPr>
              <a:t>emory</a:t>
            </a:r>
            <a:r>
              <a:rPr spc="-32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87" dirty="0">
                <a:solidFill>
                  <a:srgbClr val="1A1A1A"/>
                </a:solidFill>
                <a:latin typeface="Trebuchet MS"/>
                <a:cs typeface="Trebuchet MS"/>
              </a:rPr>
              <a:t>(LSTM)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376049" y="2038987"/>
            <a:ext cx="7618645" cy="3648612"/>
            <a:chOff x="2523744" y="1110139"/>
            <a:chExt cx="6535420" cy="397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3744" y="1110139"/>
              <a:ext cx="6534912" cy="290102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79289" y="4045553"/>
              <a:ext cx="4833190" cy="103965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37044" y="2985010"/>
            <a:ext cx="3569586" cy="19560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103291">
              <a:spcBef>
                <a:spcPts val="133"/>
              </a:spcBef>
            </a:pP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Use</a:t>
            </a:r>
            <a:r>
              <a:rPr spc="-4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gates</a:t>
            </a:r>
            <a:r>
              <a:rPr spc="-4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spc="-4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1A1A1A"/>
                </a:solidFill>
                <a:latin typeface="Arial"/>
                <a:cs typeface="Arial"/>
              </a:rPr>
              <a:t>control </a:t>
            </a:r>
            <a:r>
              <a:rPr spc="-64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spc="1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information</a:t>
            </a:r>
            <a:r>
              <a:rPr spc="1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to </a:t>
            </a:r>
            <a:r>
              <a:rPr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be</a:t>
            </a:r>
            <a:r>
              <a:rPr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added</a:t>
            </a:r>
            <a:r>
              <a:rPr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from</a:t>
            </a:r>
            <a:r>
              <a:rPr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endParaRPr dirty="0">
              <a:latin typeface="Arial"/>
              <a:cs typeface="Arial"/>
            </a:endParaRPr>
          </a:p>
          <a:p>
            <a:pPr marL="16933" marR="6773"/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input,</a:t>
            </a:r>
            <a:r>
              <a:rPr spc="-4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forgot</a:t>
            </a:r>
            <a:r>
              <a:rPr spc="-4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from</a:t>
            </a:r>
            <a:r>
              <a:rPr spc="-4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the </a:t>
            </a:r>
            <a:r>
              <a:rPr spc="-64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previous </a:t>
            </a:r>
            <a:r>
              <a:rPr dirty="0">
                <a:solidFill>
                  <a:srgbClr val="1A1A1A"/>
                </a:solidFill>
                <a:latin typeface="Arial"/>
                <a:cs typeface="Arial"/>
              </a:rPr>
              <a:t>memories, </a:t>
            </a:r>
            <a:r>
              <a:rPr spc="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outputted.</a:t>
            </a:r>
            <a:endParaRPr dirty="0">
              <a:latin typeface="Arial"/>
              <a:cs typeface="Arial"/>
            </a:endParaRPr>
          </a:p>
          <a:p>
            <a:pPr marL="16933" marR="125304"/>
            <a:r>
              <a:rPr dirty="0">
                <a:solidFill>
                  <a:srgbClr val="1A1A1A"/>
                </a:solidFill>
                <a:latin typeface="Arial"/>
                <a:cs typeface="Arial"/>
              </a:rPr>
              <a:t>σ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dirty="0">
                <a:solidFill>
                  <a:srgbClr val="1A1A1A"/>
                </a:solidFill>
                <a:latin typeface="Arial"/>
                <a:cs typeface="Arial"/>
              </a:rPr>
              <a:t>f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are </a:t>
            </a:r>
            <a:r>
              <a:rPr i="1" dirty="0">
                <a:solidFill>
                  <a:srgbClr val="1A1A1A"/>
                </a:solidFill>
                <a:latin typeface="Arial"/>
                <a:cs typeface="Arial"/>
              </a:rPr>
              <a:t>sigmoid </a:t>
            </a:r>
            <a:r>
              <a:rPr i="1" spc="-65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i="1" spc="-7" dirty="0">
                <a:solidFill>
                  <a:srgbClr val="1A1A1A"/>
                </a:solidFill>
                <a:latin typeface="Arial"/>
                <a:cs typeface="Arial"/>
              </a:rPr>
              <a:t>tanh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function </a:t>
            </a:r>
            <a:r>
              <a:rPr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1A1A1A"/>
                </a:solidFill>
                <a:latin typeface="Arial"/>
                <a:cs typeface="Arial"/>
              </a:rPr>
              <a:t>respectively,</a:t>
            </a:r>
            <a:r>
              <a:rPr spc="-3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1A1A1A"/>
                </a:solidFill>
                <a:latin typeface="Arial"/>
                <a:cs typeface="Arial"/>
              </a:rPr>
              <a:t>map </a:t>
            </a:r>
            <a:r>
              <a:rPr spc="-64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1A1A1A"/>
                </a:solidFill>
                <a:latin typeface="Arial"/>
                <a:cs typeface="Arial"/>
              </a:rPr>
              <a:t>value</a:t>
            </a:r>
            <a:r>
              <a:rPr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[-1,</a:t>
            </a:r>
            <a:r>
              <a:rPr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pc="-7" dirty="0">
                <a:solidFill>
                  <a:srgbClr val="1A1A1A"/>
                </a:solidFill>
                <a:latin typeface="Arial"/>
                <a:cs typeface="Arial"/>
              </a:rPr>
              <a:t>1]</a:t>
            </a:r>
            <a:endParaRPr dirty="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35241-0B44-049D-97CA-7409B384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119" y="1414543"/>
            <a:ext cx="10718800" cy="42753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667" spc="-7" dirty="0">
                <a:latin typeface="Arial"/>
                <a:cs typeface="Arial"/>
              </a:rPr>
              <a:t>The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basic</a:t>
            </a:r>
            <a:r>
              <a:rPr sz="2667" spc="-13" dirty="0">
                <a:latin typeface="Arial"/>
                <a:cs typeface="Arial"/>
              </a:rPr>
              <a:t> difference</a:t>
            </a:r>
            <a:r>
              <a:rPr sz="2667" spc="-7" dirty="0">
                <a:latin typeface="Arial"/>
                <a:cs typeface="Arial"/>
              </a:rPr>
              <a:t> between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function of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tanh, </a:t>
            </a:r>
            <a:r>
              <a:rPr sz="2667" dirty="0">
                <a:latin typeface="Arial"/>
                <a:cs typeface="Arial"/>
              </a:rPr>
              <a:t>sigmoid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is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 </a:t>
            </a:r>
            <a:r>
              <a:rPr sz="2667" dirty="0">
                <a:latin typeface="Arial"/>
                <a:cs typeface="Arial"/>
              </a:rPr>
              <a:t>range.</a:t>
            </a:r>
            <a:endParaRPr sz="2667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120" y="2928114"/>
            <a:ext cx="4890632" cy="3124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8271" y="3006484"/>
            <a:ext cx="4135528" cy="28332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66E2E-F237-16BB-FF86-74D29004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73</a:t>
            </a:fld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6169" y="1133610"/>
            <a:ext cx="6866125" cy="45907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1315" y="2297698"/>
            <a:ext cx="3638973" cy="30948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In the first part, we </a:t>
            </a:r>
            <a:r>
              <a:rPr sz="2000" dirty="0">
                <a:latin typeface="Arial"/>
                <a:cs typeface="Arial"/>
              </a:rPr>
              <a:t>see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sigma mark </a:t>
            </a:r>
            <a:r>
              <a:rPr sz="2000" spc="47" dirty="0">
                <a:solidFill>
                  <a:srgbClr val="040C28"/>
                </a:solidFill>
                <a:latin typeface="Calibri"/>
                <a:cs typeface="Calibri"/>
              </a:rPr>
              <a:t>σ</a:t>
            </a:r>
            <a:r>
              <a:rPr sz="2000" spc="47" dirty="0">
                <a:latin typeface="Arial"/>
                <a:cs typeface="Arial"/>
              </a:rPr>
              <a:t>, </a:t>
            </a:r>
            <a:r>
              <a:rPr sz="2000" spc="-7" dirty="0">
                <a:latin typeface="Arial"/>
                <a:cs typeface="Arial"/>
              </a:rPr>
              <a:t>which </a:t>
            </a:r>
            <a:r>
              <a:rPr sz="2000" dirty="0">
                <a:latin typeface="Arial"/>
                <a:cs typeface="Arial"/>
              </a:rPr>
              <a:t> represents </a:t>
            </a:r>
            <a:r>
              <a:rPr sz="2000" spc="-7" dirty="0">
                <a:latin typeface="Arial"/>
                <a:cs typeface="Arial"/>
              </a:rPr>
              <a:t>the gates that </a:t>
            </a:r>
            <a:r>
              <a:rPr sz="2000" dirty="0">
                <a:latin typeface="Arial"/>
                <a:cs typeface="Arial"/>
              </a:rPr>
              <a:t> control </a:t>
            </a:r>
            <a:r>
              <a:rPr sz="2000" spc="-7" dirty="0">
                <a:latin typeface="Arial"/>
                <a:cs typeface="Arial"/>
              </a:rPr>
              <a:t>the flow of data,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and they </a:t>
            </a:r>
            <a:r>
              <a:rPr sz="2000" dirty="0">
                <a:latin typeface="Arial"/>
                <a:cs typeface="Arial"/>
              </a:rPr>
              <a:t>control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amount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data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comes </a:t>
            </a:r>
            <a:r>
              <a:rPr sz="2000" spc="-645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 from the old </a:t>
            </a:r>
            <a:r>
              <a:rPr sz="2000" dirty="0">
                <a:latin typeface="Arial"/>
                <a:cs typeface="Arial"/>
              </a:rPr>
              <a:t>memory </a:t>
            </a:r>
            <a:r>
              <a:rPr sz="2000" spc="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comes</a:t>
            </a:r>
            <a:r>
              <a:rPr sz="2000" spc="1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from</a:t>
            </a:r>
            <a:r>
              <a:rPr sz="2000" spc="1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former output, and if it's 0,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1, or 0.5, it </a:t>
            </a:r>
            <a:r>
              <a:rPr sz="2000" dirty="0">
                <a:latin typeface="Arial"/>
                <a:cs typeface="Arial"/>
              </a:rPr>
              <a:t>controls </a:t>
            </a:r>
            <a:r>
              <a:rPr sz="2000" spc="-7" dirty="0">
                <a:latin typeface="Arial"/>
                <a:cs typeface="Arial"/>
              </a:rPr>
              <a:t>this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amount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data.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6CACC-D312-6DD0-A93D-B4F0A2C3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437" y="1972395"/>
            <a:ext cx="3163147" cy="2602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The next </a:t>
            </a:r>
            <a:r>
              <a:rPr sz="2400" dirty="0">
                <a:latin typeface="Arial"/>
                <a:cs typeface="Arial"/>
              </a:rPr>
              <a:t>cell controls </a:t>
            </a:r>
            <a:r>
              <a:rPr sz="2400" spc="7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the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amount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of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that </a:t>
            </a:r>
            <a:r>
              <a:rPr sz="2400" spc="-645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will be added to the 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next one, and it has </a:t>
            </a:r>
            <a:r>
              <a:rPr sz="2400" dirty="0">
                <a:latin typeface="Arial"/>
                <a:cs typeface="Arial"/>
              </a:rPr>
              <a:t> values </a:t>
            </a:r>
            <a:r>
              <a:rPr sz="2400" spc="-7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0 </a:t>
            </a:r>
            <a:r>
              <a:rPr sz="2400" spc="-7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1 </a:t>
            </a:r>
            <a:r>
              <a:rPr sz="2400" spc="-7" dirty="0">
                <a:latin typeface="Arial"/>
                <a:cs typeface="Arial"/>
              </a:rPr>
              <a:t>or 0.5 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that indicate the 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amount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addition.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5089" y="801155"/>
            <a:ext cx="8537343" cy="59450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3E98C-9975-A702-95C0-BF507C44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438" y="2297515"/>
            <a:ext cx="2840567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cell </a:t>
            </a:r>
            <a:r>
              <a:rPr sz="2400" spc="-7" dirty="0">
                <a:latin typeface="Arial"/>
                <a:cs typeface="Arial"/>
              </a:rPr>
              <a:t>number three, </a:t>
            </a:r>
            <a:r>
              <a:rPr sz="2400" spc="-65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it's the one who's 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taking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the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into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it </a:t>
            </a:r>
            <a:r>
              <a:rPr sz="2400" spc="-645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making </a:t>
            </a:r>
            <a:r>
              <a:rPr sz="2400" spc="-7" dirty="0">
                <a:latin typeface="Arial"/>
                <a:cs typeface="Arial"/>
              </a:rPr>
              <a:t>the new </a:t>
            </a:r>
            <a:r>
              <a:rPr sz="2400" spc="-653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memory.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1961" y="699009"/>
            <a:ext cx="8343452" cy="58846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8168F-1E2B-C071-2DBA-3EEB7DA7D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813" y="1603519"/>
            <a:ext cx="9939867" cy="42753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667" spc="-7" dirty="0">
                <a:latin typeface="Arial"/>
                <a:cs typeface="Arial"/>
              </a:rPr>
              <a:t>And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then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we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design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new </a:t>
            </a:r>
            <a:r>
              <a:rPr sz="2667" dirty="0">
                <a:latin typeface="Arial"/>
                <a:cs typeface="Arial"/>
              </a:rPr>
              <a:t>memory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of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cell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with this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equation.</a:t>
            </a:r>
            <a:endParaRPr sz="2667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5503" y="2644393"/>
            <a:ext cx="10582655" cy="39750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0B8BC-85EB-F837-BC8C-ABC40DB6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77</a:t>
            </a:fld>
            <a:endParaRPr 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510" y="1243751"/>
            <a:ext cx="9283700" cy="42753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667" spc="-7" dirty="0">
                <a:latin typeface="Arial"/>
                <a:cs typeface="Arial"/>
              </a:rPr>
              <a:t>The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next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step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is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controlling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amount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of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output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from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cell.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157" y="2025905"/>
            <a:ext cx="10441686" cy="41615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17879-7711-DE33-8CBB-64FD1477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78</a:t>
            </a:fld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029" y="1186855"/>
            <a:ext cx="9847579" cy="42753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667" spc="-7" dirty="0">
                <a:latin typeface="Arial"/>
                <a:cs typeface="Arial"/>
              </a:rPr>
              <a:t>Then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process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and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produce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output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itself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with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tanh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equation</a:t>
            </a:r>
            <a:endParaRPr sz="2667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781396"/>
            <a:ext cx="9176003" cy="46728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08563-6910-A83E-323B-A3C6EA0B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79</a:t>
            </a:fld>
            <a:endParaRPr 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679" y="2267053"/>
            <a:ext cx="9583287" cy="38797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208" y="1203189"/>
            <a:ext cx="6293273" cy="497508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0"/>
              </a:spcBef>
            </a:pPr>
            <a:r>
              <a:rPr sz="3133" spc="-13" dirty="0">
                <a:solidFill>
                  <a:srgbClr val="1A1A1A"/>
                </a:solidFill>
              </a:rPr>
              <a:t>Long</a:t>
            </a:r>
            <a:r>
              <a:rPr sz="3133" spc="-27" dirty="0">
                <a:solidFill>
                  <a:srgbClr val="1A1A1A"/>
                </a:solidFill>
              </a:rPr>
              <a:t> </a:t>
            </a:r>
            <a:r>
              <a:rPr sz="3133" spc="-40" dirty="0">
                <a:solidFill>
                  <a:srgbClr val="1A1A1A"/>
                </a:solidFill>
              </a:rPr>
              <a:t>Short-Term</a:t>
            </a:r>
            <a:r>
              <a:rPr sz="3133" spc="-27" dirty="0">
                <a:solidFill>
                  <a:srgbClr val="1A1A1A"/>
                </a:solidFill>
              </a:rPr>
              <a:t> </a:t>
            </a:r>
            <a:r>
              <a:rPr sz="3133" spc="-13" dirty="0">
                <a:solidFill>
                  <a:srgbClr val="1A1A1A"/>
                </a:solidFill>
              </a:rPr>
              <a:t>Memory (LSTM)</a:t>
            </a:r>
            <a:endParaRPr sz="3133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52704-0FB2-D341-3718-BFABFC14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80</a:t>
            </a:fld>
            <a:endParaRPr 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167" y="800208"/>
            <a:ext cx="5503333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13" dirty="0">
                <a:solidFill>
                  <a:srgbClr val="1A1A1A"/>
                </a:solidFill>
              </a:rPr>
              <a:t>Simple</a:t>
            </a:r>
            <a:r>
              <a:rPr sz="4267" spc="-53" dirty="0">
                <a:solidFill>
                  <a:srgbClr val="1A1A1A"/>
                </a:solidFill>
              </a:rPr>
              <a:t> </a:t>
            </a:r>
            <a:r>
              <a:rPr sz="4267" spc="-7" dirty="0">
                <a:solidFill>
                  <a:srgbClr val="1A1A1A"/>
                </a:solidFill>
              </a:rPr>
              <a:t>RNN</a:t>
            </a:r>
            <a:r>
              <a:rPr sz="4267" spc="-40" dirty="0">
                <a:solidFill>
                  <a:srgbClr val="1A1A1A"/>
                </a:solidFill>
              </a:rPr>
              <a:t> </a:t>
            </a:r>
            <a:r>
              <a:rPr sz="4267" spc="-7" dirty="0">
                <a:solidFill>
                  <a:srgbClr val="1A1A1A"/>
                </a:solidFill>
              </a:rPr>
              <a:t>vs</a:t>
            </a:r>
            <a:r>
              <a:rPr sz="4267" spc="-40" dirty="0">
                <a:solidFill>
                  <a:srgbClr val="1A1A1A"/>
                </a:solidFill>
              </a:rPr>
              <a:t> </a:t>
            </a:r>
            <a:r>
              <a:rPr sz="4267" spc="-7" dirty="0">
                <a:solidFill>
                  <a:srgbClr val="1A1A1A"/>
                </a:solidFill>
              </a:rPr>
              <a:t>LSTM</a:t>
            </a:r>
            <a:endParaRPr sz="4267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8370" y="1833460"/>
            <a:ext cx="7077417" cy="40863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8179" y="2084831"/>
            <a:ext cx="3973407" cy="371099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2476" marR="604505" indent="-406390">
              <a:spcBef>
                <a:spcPts val="133"/>
              </a:spcBef>
              <a:buChar char="•"/>
              <a:tabLst>
                <a:tab pos="422476" algn="l"/>
                <a:tab pos="423323" algn="l"/>
              </a:tabLst>
            </a:pPr>
            <a:r>
              <a:rPr sz="2667" spc="-7" dirty="0">
                <a:latin typeface="Arial"/>
                <a:cs typeface="Arial"/>
              </a:rPr>
              <a:t>LSTM</a:t>
            </a:r>
            <a:r>
              <a:rPr sz="2667" spc="-4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is</a:t>
            </a:r>
            <a:r>
              <a:rPr sz="2667" spc="-4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even</a:t>
            </a:r>
            <a:r>
              <a:rPr sz="2667" spc="-47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more </a:t>
            </a:r>
            <a:r>
              <a:rPr sz="2667" spc="-720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slower </a:t>
            </a:r>
            <a:r>
              <a:rPr sz="2667" spc="-7" dirty="0">
                <a:latin typeface="Arial"/>
                <a:cs typeface="Arial"/>
              </a:rPr>
              <a:t>to train as </a:t>
            </a:r>
            <a:r>
              <a:rPr sz="2667" dirty="0">
                <a:latin typeface="Arial"/>
                <a:cs typeface="Arial"/>
              </a:rPr>
              <a:t> compared</a:t>
            </a:r>
            <a:r>
              <a:rPr sz="2667" spc="-4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to</a:t>
            </a:r>
            <a:r>
              <a:rPr sz="2667" spc="-3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RNN</a:t>
            </a:r>
            <a:endParaRPr sz="2667">
              <a:latin typeface="Arial"/>
              <a:cs typeface="Arial"/>
            </a:endParaRPr>
          </a:p>
          <a:p>
            <a:pPr marL="422476" marR="473275" indent="-406390">
              <a:buChar char="•"/>
              <a:tabLst>
                <a:tab pos="422476" algn="l"/>
                <a:tab pos="423323" algn="l"/>
              </a:tabLst>
            </a:pPr>
            <a:r>
              <a:rPr sz="2667" spc="-33" dirty="0">
                <a:latin typeface="Arial"/>
                <a:cs typeface="Arial"/>
              </a:rPr>
              <a:t>Vanishing</a:t>
            </a:r>
            <a:r>
              <a:rPr sz="2667" spc="-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gradient 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problem</a:t>
            </a:r>
            <a:r>
              <a:rPr sz="2667" spc="-67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still</a:t>
            </a:r>
            <a:r>
              <a:rPr sz="2667" spc="-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persists</a:t>
            </a:r>
            <a:endParaRPr sz="2667">
              <a:latin typeface="Arial"/>
              <a:cs typeface="Arial"/>
            </a:endParaRPr>
          </a:p>
          <a:p>
            <a:pPr marL="422476" marR="6773" indent="-406390">
              <a:buChar char="•"/>
              <a:tabLst>
                <a:tab pos="422476" algn="l"/>
                <a:tab pos="423323" algn="l"/>
              </a:tabLst>
            </a:pPr>
            <a:r>
              <a:rPr sz="2667" spc="-7" dirty="0">
                <a:latin typeface="Arial"/>
                <a:cs typeface="Arial"/>
              </a:rPr>
              <a:t>Sequential</a:t>
            </a:r>
            <a:r>
              <a:rPr sz="2667" spc="-133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computation </a:t>
            </a:r>
            <a:r>
              <a:rPr sz="2667" spc="-7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inhibits</a:t>
            </a:r>
            <a:r>
              <a:rPr sz="2667" spc="-4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parallelization</a:t>
            </a:r>
            <a:endParaRPr sz="2667">
              <a:latin typeface="Arial"/>
              <a:cs typeface="Arial"/>
            </a:endParaRPr>
          </a:p>
          <a:p>
            <a:pPr marL="422476" marR="848339" indent="-406390">
              <a:buChar char="•"/>
              <a:tabLst>
                <a:tab pos="422476" algn="l"/>
                <a:tab pos="423323" algn="l"/>
              </a:tabLst>
            </a:pPr>
            <a:r>
              <a:rPr sz="2667" spc="-7" dirty="0">
                <a:latin typeface="Arial"/>
                <a:cs typeface="Arial"/>
              </a:rPr>
              <a:t>Distance</a:t>
            </a:r>
            <a:r>
              <a:rPr sz="2667" spc="-1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between </a:t>
            </a:r>
            <a:r>
              <a:rPr sz="2667" spc="-7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positions</a:t>
            </a:r>
            <a:r>
              <a:rPr sz="2667" spc="-4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is</a:t>
            </a:r>
            <a:r>
              <a:rPr sz="2667" spc="-4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linear</a:t>
            </a:r>
            <a:endParaRPr sz="2667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3011A3-E182-D14C-30AD-734C1963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96932" y="2777250"/>
            <a:ext cx="8690187" cy="165844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10666" spc="120" dirty="0">
                <a:solidFill>
                  <a:srgbClr val="1A1A1A"/>
                </a:solidFill>
                <a:latin typeface="Trebuchet MS"/>
                <a:cs typeface="Trebuchet MS"/>
              </a:rPr>
              <a:t>Transformers</a:t>
            </a:r>
            <a:endParaRPr sz="10666">
              <a:latin typeface="Trebuchet MS"/>
              <a:cs typeface="Trebuchet M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D74CFC-FCBB-C7A2-BBF5-385BF980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82</a:t>
            </a:fld>
            <a:endParaRPr 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199" y="2017943"/>
            <a:ext cx="9275013" cy="41085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1132936"/>
            <a:ext cx="5715000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7" dirty="0"/>
              <a:t>Deep</a:t>
            </a:r>
            <a:r>
              <a:rPr sz="4267" spc="-47" dirty="0"/>
              <a:t> </a:t>
            </a:r>
            <a:r>
              <a:rPr sz="4267" spc="-13" dirty="0"/>
              <a:t>learning</a:t>
            </a:r>
            <a:r>
              <a:rPr sz="4267" spc="-40" dirty="0"/>
              <a:t> </a:t>
            </a:r>
            <a:r>
              <a:rPr sz="4267" spc="-7" dirty="0"/>
              <a:t>for</a:t>
            </a:r>
            <a:r>
              <a:rPr sz="4267" spc="-40" dirty="0"/>
              <a:t> </a:t>
            </a:r>
            <a:r>
              <a:rPr sz="4267" spc="-7" dirty="0"/>
              <a:t>NLP</a:t>
            </a:r>
            <a:endParaRPr sz="4267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A97C6-8835-EF23-E2C6-A77CE62F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83</a:t>
            </a:fld>
            <a:endParaRPr 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7425" y="1208153"/>
            <a:ext cx="9217150" cy="463384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22C8D3-A8F0-8AFE-F068-B3455F4C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1712" y="1322888"/>
            <a:ext cx="2417233" cy="83777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333" spc="587" dirty="0">
                <a:solidFill>
                  <a:srgbClr val="1A1A1A"/>
                </a:solidFill>
                <a:latin typeface="Trebuchet MS"/>
                <a:cs typeface="Trebuchet MS"/>
              </a:rPr>
              <a:t>M</a:t>
            </a:r>
            <a:r>
              <a:rPr sz="5333" spc="227" dirty="0">
                <a:solidFill>
                  <a:srgbClr val="1A1A1A"/>
                </a:solidFill>
                <a:latin typeface="Trebuchet MS"/>
                <a:cs typeface="Trebuchet MS"/>
              </a:rPr>
              <a:t>odels</a:t>
            </a:r>
            <a:endParaRPr sz="5333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3674" y="2636520"/>
            <a:ext cx="5041900" cy="2277226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454649" indent="-437716">
              <a:spcBef>
                <a:spcPts val="160"/>
              </a:spcBef>
              <a:buClr>
                <a:srgbClr val="595959"/>
              </a:buClr>
              <a:buSzPct val="5909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933" spc="113" dirty="0">
                <a:solidFill>
                  <a:srgbClr val="1A1A1A"/>
                </a:solidFill>
                <a:latin typeface="Tahoma"/>
                <a:cs typeface="Tahoma"/>
              </a:rPr>
              <a:t>Neu</a:t>
            </a:r>
            <a:r>
              <a:rPr sz="2933" spc="20" dirty="0">
                <a:solidFill>
                  <a:srgbClr val="1A1A1A"/>
                </a:solidFill>
                <a:latin typeface="Tahoma"/>
                <a:cs typeface="Tahoma"/>
              </a:rPr>
              <a:t>ral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93" dirty="0">
                <a:solidFill>
                  <a:srgbClr val="1A1A1A"/>
                </a:solidFill>
                <a:latin typeface="Tahoma"/>
                <a:cs typeface="Tahoma"/>
              </a:rPr>
              <a:t>Networks</a:t>
            </a:r>
            <a:endParaRPr sz="2933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5909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933" spc="60" dirty="0">
                <a:solidFill>
                  <a:srgbClr val="1A1A1A"/>
                </a:solidFill>
                <a:latin typeface="Tahoma"/>
                <a:cs typeface="Tahoma"/>
              </a:rPr>
              <a:t>Recurrent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113" dirty="0">
                <a:solidFill>
                  <a:srgbClr val="1A1A1A"/>
                </a:solidFill>
                <a:latin typeface="Tahoma"/>
                <a:cs typeface="Tahoma"/>
              </a:rPr>
              <a:t>Neu</a:t>
            </a:r>
            <a:r>
              <a:rPr sz="2933" spc="20" dirty="0">
                <a:solidFill>
                  <a:srgbClr val="1A1A1A"/>
                </a:solidFill>
                <a:latin typeface="Tahoma"/>
                <a:cs typeface="Tahoma"/>
              </a:rPr>
              <a:t>ral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93" dirty="0">
                <a:solidFill>
                  <a:srgbClr val="1A1A1A"/>
                </a:solidFill>
                <a:latin typeface="Tahoma"/>
                <a:cs typeface="Tahoma"/>
              </a:rPr>
              <a:t>Networks</a:t>
            </a:r>
            <a:endParaRPr sz="2933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5909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933" spc="53" dirty="0">
                <a:solidFill>
                  <a:srgbClr val="1A1A1A"/>
                </a:solidFill>
                <a:latin typeface="Tahoma"/>
                <a:cs typeface="Tahoma"/>
              </a:rPr>
              <a:t>Encoder-Decoder</a:t>
            </a:r>
            <a:endParaRPr sz="2933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5909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933" spc="87" dirty="0">
                <a:solidFill>
                  <a:srgbClr val="1A1A1A"/>
                </a:solidFill>
                <a:latin typeface="Tahoma"/>
                <a:cs typeface="Tahoma"/>
              </a:rPr>
              <a:t>Attention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100" dirty="0">
                <a:solidFill>
                  <a:srgbClr val="1A1A1A"/>
                </a:solidFill>
                <a:latin typeface="Tahoma"/>
                <a:cs typeface="Tahoma"/>
              </a:rPr>
              <a:t>Models</a:t>
            </a:r>
            <a:endParaRPr sz="2933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5909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933" spc="13" dirty="0">
                <a:solidFill>
                  <a:srgbClr val="1A1A1A"/>
                </a:solidFill>
                <a:latin typeface="Tahoma"/>
                <a:cs typeface="Tahoma"/>
              </a:rPr>
              <a:t>Transformer</a:t>
            </a:r>
            <a:endParaRPr sz="2933" dirty="0">
              <a:latin typeface="Tahoma"/>
              <a:cs typeface="Tahom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C55B5-336B-D9B5-51F7-1BA5D227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0271" y="1373688"/>
            <a:ext cx="7789333" cy="83777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333" spc="587" dirty="0">
                <a:solidFill>
                  <a:srgbClr val="1A1A1A"/>
                </a:solidFill>
                <a:latin typeface="Trebuchet MS"/>
                <a:cs typeface="Trebuchet MS"/>
              </a:rPr>
              <a:t>M</a:t>
            </a:r>
            <a:r>
              <a:rPr sz="5333" spc="227" dirty="0">
                <a:solidFill>
                  <a:srgbClr val="1A1A1A"/>
                </a:solidFill>
                <a:latin typeface="Trebuchet MS"/>
                <a:cs typeface="Trebuchet MS"/>
              </a:rPr>
              <a:t>odels</a:t>
            </a:r>
            <a:r>
              <a:rPr sz="5333" spc="-47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5333" spc="13" dirty="0">
                <a:solidFill>
                  <a:srgbClr val="1A1A1A"/>
                </a:solidFill>
                <a:latin typeface="Trebuchet MS"/>
                <a:cs typeface="Trebuchet MS"/>
              </a:rPr>
              <a:t>with</a:t>
            </a:r>
            <a:r>
              <a:rPr sz="5333" spc="-3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5333" spc="160" dirty="0">
                <a:solidFill>
                  <a:srgbClr val="1A1A1A"/>
                </a:solidFill>
                <a:latin typeface="Trebuchet MS"/>
                <a:cs typeface="Trebuchet MS"/>
              </a:rPr>
              <a:t>applic</a:t>
            </a:r>
            <a:r>
              <a:rPr sz="5333" spc="152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z="5333" spc="-7" dirty="0">
                <a:solidFill>
                  <a:srgbClr val="1A1A1A"/>
                </a:solidFill>
                <a:latin typeface="Trebuchet MS"/>
                <a:cs typeface="Trebuchet MS"/>
              </a:rPr>
              <a:t>tion</a:t>
            </a:r>
            <a:endParaRPr sz="5333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204" y="2816730"/>
            <a:ext cx="8984827" cy="2277226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454649" indent="-437716">
              <a:spcBef>
                <a:spcPts val="160"/>
              </a:spcBef>
              <a:buClr>
                <a:srgbClr val="595959"/>
              </a:buClr>
              <a:buSzPct val="5909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933" spc="67" dirty="0">
                <a:solidFill>
                  <a:srgbClr val="1A1A1A"/>
                </a:solidFill>
                <a:latin typeface="Tahoma"/>
                <a:cs typeface="Tahoma"/>
              </a:rPr>
              <a:t>Neural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93" dirty="0">
                <a:solidFill>
                  <a:srgbClr val="1A1A1A"/>
                </a:solidFill>
                <a:latin typeface="Tahoma"/>
                <a:cs typeface="Tahoma"/>
              </a:rPr>
              <a:t>Networks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-40" dirty="0">
                <a:solidFill>
                  <a:srgbClr val="1A1A1A"/>
                </a:solidFill>
                <a:latin typeface="Tahoma"/>
                <a:cs typeface="Tahoma"/>
              </a:rPr>
              <a:t>-</a:t>
            </a:r>
            <a:r>
              <a:rPr sz="2933" spc="-35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133" dirty="0">
                <a:solidFill>
                  <a:srgbClr val="595959"/>
                </a:solidFill>
                <a:latin typeface="Tahoma"/>
                <a:cs typeface="Tahoma"/>
              </a:rPr>
              <a:t>Word</a:t>
            </a:r>
            <a:r>
              <a:rPr sz="2933" spc="-339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933" spc="40" dirty="0">
                <a:solidFill>
                  <a:srgbClr val="595959"/>
                </a:solidFill>
                <a:latin typeface="Tahoma"/>
                <a:cs typeface="Tahoma"/>
              </a:rPr>
              <a:t>representation</a:t>
            </a:r>
            <a:r>
              <a:rPr sz="2933" spc="-347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933" dirty="0">
                <a:solidFill>
                  <a:srgbClr val="595959"/>
                </a:solidFill>
                <a:latin typeface="Tahoma"/>
                <a:cs typeface="Tahoma"/>
              </a:rPr>
              <a:t>(word2vec)</a:t>
            </a:r>
            <a:endParaRPr sz="2933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5909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933" spc="60" dirty="0">
                <a:solidFill>
                  <a:srgbClr val="1A1A1A"/>
                </a:solidFill>
                <a:latin typeface="Tahoma"/>
                <a:cs typeface="Tahoma"/>
              </a:rPr>
              <a:t>Recurrent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113" dirty="0">
                <a:solidFill>
                  <a:srgbClr val="1A1A1A"/>
                </a:solidFill>
                <a:latin typeface="Tahoma"/>
                <a:cs typeface="Tahoma"/>
              </a:rPr>
              <a:t>Neu</a:t>
            </a:r>
            <a:r>
              <a:rPr sz="2933" spc="20" dirty="0">
                <a:solidFill>
                  <a:srgbClr val="1A1A1A"/>
                </a:solidFill>
                <a:latin typeface="Tahoma"/>
                <a:cs typeface="Tahoma"/>
              </a:rPr>
              <a:t>ral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93" dirty="0">
                <a:solidFill>
                  <a:srgbClr val="1A1A1A"/>
                </a:solidFill>
                <a:latin typeface="Tahoma"/>
                <a:cs typeface="Tahoma"/>
              </a:rPr>
              <a:t>Networks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-40" dirty="0">
                <a:solidFill>
                  <a:srgbClr val="1A1A1A"/>
                </a:solidFill>
                <a:latin typeface="Tahoma"/>
                <a:cs typeface="Tahoma"/>
              </a:rPr>
              <a:t>-</a:t>
            </a:r>
            <a:r>
              <a:rPr sz="2933" spc="-36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-27" dirty="0">
                <a:solidFill>
                  <a:srgbClr val="595959"/>
                </a:solidFill>
                <a:latin typeface="Tahoma"/>
                <a:cs typeface="Tahoma"/>
              </a:rPr>
              <a:t>Language</a:t>
            </a:r>
            <a:r>
              <a:rPr sz="2933" spc="-347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933" spc="80" dirty="0">
                <a:solidFill>
                  <a:srgbClr val="595959"/>
                </a:solidFill>
                <a:latin typeface="Tahoma"/>
                <a:cs typeface="Tahoma"/>
              </a:rPr>
              <a:t>Gene</a:t>
            </a:r>
            <a:r>
              <a:rPr sz="2933" spc="-7" dirty="0">
                <a:solidFill>
                  <a:srgbClr val="595959"/>
                </a:solidFill>
                <a:latin typeface="Tahoma"/>
                <a:cs typeface="Tahoma"/>
              </a:rPr>
              <a:t>r</a:t>
            </a:r>
            <a:r>
              <a:rPr sz="2933" spc="47" dirty="0">
                <a:solidFill>
                  <a:srgbClr val="595959"/>
                </a:solidFill>
                <a:latin typeface="Tahoma"/>
                <a:cs typeface="Tahoma"/>
              </a:rPr>
              <a:t>ation</a:t>
            </a:r>
            <a:endParaRPr sz="2933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5909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933" spc="53" dirty="0">
                <a:solidFill>
                  <a:srgbClr val="1A1A1A"/>
                </a:solidFill>
                <a:latin typeface="Tahoma"/>
                <a:cs typeface="Tahoma"/>
              </a:rPr>
              <a:t>Encoder-Decoder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-40" dirty="0">
                <a:solidFill>
                  <a:srgbClr val="1A1A1A"/>
                </a:solidFill>
                <a:latin typeface="Tahoma"/>
                <a:cs typeface="Tahoma"/>
              </a:rPr>
              <a:t>-</a:t>
            </a:r>
            <a:r>
              <a:rPr sz="2933" spc="-35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-207" dirty="0">
                <a:solidFill>
                  <a:srgbClr val="595959"/>
                </a:solidFill>
                <a:latin typeface="Tahoma"/>
                <a:cs typeface="Tahoma"/>
              </a:rPr>
              <a:t>T</a:t>
            </a:r>
            <a:r>
              <a:rPr sz="2933" spc="80" dirty="0">
                <a:solidFill>
                  <a:srgbClr val="595959"/>
                </a:solidFill>
                <a:latin typeface="Tahoma"/>
                <a:cs typeface="Tahoma"/>
              </a:rPr>
              <a:t>r</a:t>
            </a:r>
            <a:r>
              <a:rPr sz="2933" spc="27" dirty="0">
                <a:solidFill>
                  <a:srgbClr val="595959"/>
                </a:solidFill>
                <a:latin typeface="Tahoma"/>
                <a:cs typeface="Tahoma"/>
              </a:rPr>
              <a:t>anslation</a:t>
            </a:r>
            <a:endParaRPr sz="2933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5909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933" spc="87" dirty="0">
                <a:solidFill>
                  <a:srgbClr val="1A1A1A"/>
                </a:solidFill>
                <a:latin typeface="Tahoma"/>
                <a:cs typeface="Tahoma"/>
              </a:rPr>
              <a:t>Attention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100" dirty="0">
                <a:solidFill>
                  <a:srgbClr val="1A1A1A"/>
                </a:solidFill>
                <a:latin typeface="Tahoma"/>
                <a:cs typeface="Tahoma"/>
              </a:rPr>
              <a:t>Models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-40" dirty="0">
                <a:solidFill>
                  <a:srgbClr val="1A1A1A"/>
                </a:solidFill>
                <a:latin typeface="Tahoma"/>
                <a:cs typeface="Tahoma"/>
              </a:rPr>
              <a:t>-</a:t>
            </a:r>
            <a:r>
              <a:rPr sz="2933" spc="-35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-207" dirty="0">
                <a:solidFill>
                  <a:srgbClr val="595959"/>
                </a:solidFill>
                <a:latin typeface="Tahoma"/>
                <a:cs typeface="Tahoma"/>
              </a:rPr>
              <a:t>T</a:t>
            </a:r>
            <a:r>
              <a:rPr sz="2933" spc="80" dirty="0">
                <a:solidFill>
                  <a:srgbClr val="595959"/>
                </a:solidFill>
                <a:latin typeface="Tahoma"/>
                <a:cs typeface="Tahoma"/>
              </a:rPr>
              <a:t>r</a:t>
            </a:r>
            <a:r>
              <a:rPr sz="2933" dirty="0">
                <a:solidFill>
                  <a:srgbClr val="595959"/>
                </a:solidFill>
                <a:latin typeface="Tahoma"/>
                <a:cs typeface="Tahoma"/>
              </a:rPr>
              <a:t>anslation,</a:t>
            </a:r>
            <a:r>
              <a:rPr sz="2933" spc="-347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933" spc="-73" dirty="0">
                <a:solidFill>
                  <a:srgbClr val="595959"/>
                </a:solidFill>
                <a:latin typeface="Tahoma"/>
                <a:cs typeface="Tahoma"/>
              </a:rPr>
              <a:t>Image</a:t>
            </a:r>
            <a:r>
              <a:rPr sz="2933" spc="-347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933" spc="40" dirty="0">
                <a:solidFill>
                  <a:srgbClr val="595959"/>
                </a:solidFill>
                <a:latin typeface="Tahoma"/>
                <a:cs typeface="Tahoma"/>
              </a:rPr>
              <a:t>recognition</a:t>
            </a:r>
            <a:endParaRPr sz="2933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5909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933" spc="-207" dirty="0">
                <a:solidFill>
                  <a:srgbClr val="1A1A1A"/>
                </a:solidFill>
                <a:latin typeface="Tahoma"/>
                <a:cs typeface="Tahoma"/>
              </a:rPr>
              <a:t>T</a:t>
            </a:r>
            <a:r>
              <a:rPr sz="2933" spc="80" dirty="0">
                <a:solidFill>
                  <a:srgbClr val="1A1A1A"/>
                </a:solidFill>
                <a:latin typeface="Tahoma"/>
                <a:cs typeface="Tahoma"/>
              </a:rPr>
              <a:t>r</a:t>
            </a:r>
            <a:r>
              <a:rPr sz="2933" spc="33" dirty="0">
                <a:solidFill>
                  <a:srgbClr val="1A1A1A"/>
                </a:solidFill>
                <a:latin typeface="Tahoma"/>
                <a:cs typeface="Tahoma"/>
              </a:rPr>
              <a:t>ansformer</a:t>
            </a:r>
            <a:r>
              <a:rPr sz="2933" spc="-347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-40" dirty="0">
                <a:solidFill>
                  <a:srgbClr val="1A1A1A"/>
                </a:solidFill>
                <a:latin typeface="Tahoma"/>
                <a:cs typeface="Tahoma"/>
              </a:rPr>
              <a:t>-</a:t>
            </a:r>
            <a:r>
              <a:rPr sz="2933" spc="-36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933" spc="-207" dirty="0">
                <a:solidFill>
                  <a:srgbClr val="595959"/>
                </a:solidFill>
                <a:latin typeface="Tahoma"/>
                <a:cs typeface="Tahoma"/>
              </a:rPr>
              <a:t>T</a:t>
            </a:r>
            <a:r>
              <a:rPr sz="2933" spc="80" dirty="0">
                <a:solidFill>
                  <a:srgbClr val="595959"/>
                </a:solidFill>
                <a:latin typeface="Tahoma"/>
                <a:cs typeface="Tahoma"/>
              </a:rPr>
              <a:t>r</a:t>
            </a:r>
            <a:r>
              <a:rPr sz="2933" spc="27" dirty="0">
                <a:solidFill>
                  <a:srgbClr val="595959"/>
                </a:solidFill>
                <a:latin typeface="Tahoma"/>
                <a:cs typeface="Tahoma"/>
              </a:rPr>
              <a:t>anslation</a:t>
            </a:r>
            <a:endParaRPr sz="2933" dirty="0">
              <a:latin typeface="Tahoma"/>
              <a:cs typeface="Tahom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B56877-5299-9504-FDB8-36CB3DF0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C0484-B1A6-F82C-5450-2E260A31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87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F782ED-D083-805D-F38E-D7B578F98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" y="140906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ar-EG" dirty="0"/>
          </a:p>
          <a:p>
            <a:pPr marL="0" indent="0" algn="ctr">
              <a:buNone/>
            </a:pPr>
            <a:r>
              <a:rPr lang="en-GB" sz="3200" dirty="0"/>
              <a:t>Q&amp;A </a:t>
            </a:r>
          </a:p>
          <a:p>
            <a:pPr marL="0" indent="0" algn="ctr">
              <a:buNone/>
            </a:pPr>
            <a:endParaRPr lang="ar-EG" sz="3200" dirty="0"/>
          </a:p>
          <a:p>
            <a:pPr marL="0" indent="0" algn="ctr">
              <a:buNone/>
            </a:pPr>
            <a:r>
              <a:rPr lang="en-GB" sz="3200" dirty="0"/>
              <a:t>Questions and answers </a:t>
            </a:r>
          </a:p>
        </p:txBody>
      </p:sp>
    </p:spTree>
    <p:extLst>
      <p:ext uri="{BB962C8B-B14F-4D97-AF65-F5344CB8AC3E}">
        <p14:creationId xmlns:p14="http://schemas.microsoft.com/office/powerpoint/2010/main" val="37613982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90855" y="1811405"/>
            <a:ext cx="8216900" cy="247931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indent="2195352">
              <a:lnSpc>
                <a:spcPct val="100000"/>
              </a:lnSpc>
              <a:spcBef>
                <a:spcPts val="133"/>
              </a:spcBef>
            </a:pPr>
            <a:r>
              <a:rPr sz="8000" spc="880" dirty="0">
                <a:solidFill>
                  <a:srgbClr val="1A1A1A"/>
                </a:solidFill>
                <a:latin typeface="Trebuchet MS"/>
                <a:cs typeface="Trebuchet MS"/>
              </a:rPr>
              <a:t>M</a:t>
            </a:r>
            <a:r>
              <a:rPr sz="8000" spc="300" dirty="0">
                <a:solidFill>
                  <a:srgbClr val="1A1A1A"/>
                </a:solidFill>
                <a:latin typeface="Trebuchet MS"/>
                <a:cs typeface="Trebuchet MS"/>
              </a:rPr>
              <a:t>odel</a:t>
            </a:r>
            <a:r>
              <a:rPr sz="8000" spc="-70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8000" spc="-500" dirty="0">
                <a:solidFill>
                  <a:srgbClr val="1A1A1A"/>
                </a:solidFill>
                <a:latin typeface="Trebuchet MS"/>
                <a:cs typeface="Trebuchet MS"/>
              </a:rPr>
              <a:t>1  </a:t>
            </a:r>
            <a:r>
              <a:rPr sz="8000" spc="68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8000" spc="27" dirty="0">
                <a:solidFill>
                  <a:srgbClr val="1A1A1A"/>
                </a:solidFill>
                <a:latin typeface="Trebuchet MS"/>
                <a:cs typeface="Trebuchet MS"/>
              </a:rPr>
              <a:t>eu</a:t>
            </a:r>
            <a:r>
              <a:rPr sz="8000" spc="-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z="8000" spc="253" dirty="0">
                <a:solidFill>
                  <a:srgbClr val="1A1A1A"/>
                </a:solidFill>
                <a:latin typeface="Trebuchet MS"/>
                <a:cs typeface="Trebuchet MS"/>
              </a:rPr>
              <a:t>al</a:t>
            </a:r>
            <a:r>
              <a:rPr sz="8000" spc="-70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8000" spc="68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8000" spc="16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8000" spc="-12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8000" spc="293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z="8000" spc="20" dirty="0">
                <a:solidFill>
                  <a:srgbClr val="1A1A1A"/>
                </a:solidFill>
                <a:latin typeface="Trebuchet MS"/>
                <a:cs typeface="Trebuchet MS"/>
              </a:rPr>
              <a:t>or</a:t>
            </a:r>
            <a:r>
              <a:rPr sz="8000" spc="7" dirty="0">
                <a:solidFill>
                  <a:srgbClr val="1A1A1A"/>
                </a:solidFill>
                <a:latin typeface="Trebuchet MS"/>
                <a:cs typeface="Trebuchet MS"/>
              </a:rPr>
              <a:t>k</a:t>
            </a:r>
            <a:r>
              <a:rPr sz="8000" spc="507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6A89A4-6EEB-D53F-0640-F492BC85E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88</a:t>
            </a:fld>
            <a:endParaRPr 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65727" y="1028012"/>
            <a:ext cx="4132580" cy="6737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267" b="1" spc="3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b="1" spc="13" dirty="0">
                <a:solidFill>
                  <a:srgbClr val="1A1A1A"/>
                </a:solidFill>
                <a:latin typeface="Trebuchet MS"/>
                <a:cs typeface="Trebuchet MS"/>
              </a:rPr>
              <a:t>eu</a:t>
            </a:r>
            <a:r>
              <a:rPr sz="4267" b="1" spc="-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z="4267" b="1" spc="133" dirty="0">
                <a:solidFill>
                  <a:srgbClr val="1A1A1A"/>
                </a:solidFill>
                <a:latin typeface="Trebuchet MS"/>
                <a:cs typeface="Trebuchet MS"/>
              </a:rPr>
              <a:t>al</a:t>
            </a:r>
            <a:r>
              <a:rPr sz="4267" b="1" spc="-37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b="1" spc="3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b="1" spc="8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4267" b="1" spc="-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4267" b="1" spc="152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z="4267" b="1" spc="13" dirty="0">
                <a:solidFill>
                  <a:srgbClr val="1A1A1A"/>
                </a:solidFill>
                <a:latin typeface="Trebuchet MS"/>
                <a:cs typeface="Trebuchet MS"/>
              </a:rPr>
              <a:t>ork</a:t>
            </a:r>
            <a:endParaRPr sz="4267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9350" y="1952527"/>
            <a:ext cx="804079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Neural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Networks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act as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</a:t>
            </a:r>
            <a:r>
              <a:rPr sz="1867" spc="-7" dirty="0">
                <a:latin typeface="Arial"/>
                <a:cs typeface="Arial"/>
              </a:rPr>
              <a:t> ‘black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box’</a:t>
            </a:r>
            <a:r>
              <a:rPr sz="1867" spc="-7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that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takes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inputs and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predicts an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output</a:t>
            </a:r>
            <a:endParaRPr sz="1867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2720" y="2758472"/>
            <a:ext cx="7597142" cy="376931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9851F-9418-5D46-2170-CA22C5BBA4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89</a:t>
            </a:fld>
            <a:endParaRPr lang="en-GB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9495" y="1380038"/>
            <a:ext cx="4132580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3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13" dirty="0">
                <a:solidFill>
                  <a:srgbClr val="1A1A1A"/>
                </a:solidFill>
                <a:latin typeface="Trebuchet MS"/>
                <a:cs typeface="Trebuchet MS"/>
              </a:rPr>
              <a:t>eu</a:t>
            </a:r>
            <a:r>
              <a:rPr sz="4267" spc="-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z="4267" spc="133" dirty="0">
                <a:solidFill>
                  <a:srgbClr val="1A1A1A"/>
                </a:solidFill>
                <a:latin typeface="Trebuchet MS"/>
                <a:cs typeface="Trebuchet MS"/>
              </a:rPr>
              <a:t>al</a:t>
            </a:r>
            <a:r>
              <a:rPr sz="4267" spc="-37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3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8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4267" spc="-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4267" spc="152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z="4267" spc="13" dirty="0">
                <a:solidFill>
                  <a:srgbClr val="1A1A1A"/>
                </a:solidFill>
                <a:latin typeface="Trebuchet MS"/>
                <a:cs typeface="Trebuchet MS"/>
              </a:rPr>
              <a:t>ork</a:t>
            </a:r>
            <a:endParaRPr sz="4267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0480" y="2255395"/>
            <a:ext cx="8060944" cy="399300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EE9F43-B825-A5A6-5F23-929917E7A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90</a:t>
            </a:fld>
            <a:endParaRPr lang="en-US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3791" y="1156316"/>
            <a:ext cx="4132580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3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13" dirty="0">
                <a:solidFill>
                  <a:srgbClr val="1A1A1A"/>
                </a:solidFill>
                <a:latin typeface="Trebuchet MS"/>
                <a:cs typeface="Trebuchet MS"/>
              </a:rPr>
              <a:t>eu</a:t>
            </a:r>
            <a:r>
              <a:rPr sz="4267" spc="-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z="4267" spc="133" dirty="0">
                <a:solidFill>
                  <a:srgbClr val="1A1A1A"/>
                </a:solidFill>
                <a:latin typeface="Trebuchet MS"/>
                <a:cs typeface="Trebuchet MS"/>
              </a:rPr>
              <a:t>al</a:t>
            </a:r>
            <a:r>
              <a:rPr sz="4267" spc="-37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3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8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4267" spc="-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4267" spc="152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z="4267" spc="13" dirty="0">
                <a:solidFill>
                  <a:srgbClr val="1A1A1A"/>
                </a:solidFill>
                <a:latin typeface="Trebuchet MS"/>
                <a:cs typeface="Trebuchet MS"/>
              </a:rPr>
              <a:t>ork</a:t>
            </a:r>
            <a:endParaRPr sz="4267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3840" y="2074028"/>
            <a:ext cx="4597804" cy="437418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4EA004-BD20-4561-43C4-2E95B24B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91</a:t>
            </a:fld>
            <a:endParaRPr 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3311" y="1176636"/>
            <a:ext cx="4132580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3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13" dirty="0">
                <a:solidFill>
                  <a:srgbClr val="1A1A1A"/>
                </a:solidFill>
                <a:latin typeface="Trebuchet MS"/>
                <a:cs typeface="Trebuchet MS"/>
              </a:rPr>
              <a:t>eu</a:t>
            </a:r>
            <a:r>
              <a:rPr sz="4267" spc="-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z="4267" spc="133" dirty="0">
                <a:solidFill>
                  <a:srgbClr val="1A1A1A"/>
                </a:solidFill>
                <a:latin typeface="Trebuchet MS"/>
                <a:cs typeface="Trebuchet MS"/>
              </a:rPr>
              <a:t>al</a:t>
            </a:r>
            <a:r>
              <a:rPr sz="4267" spc="-37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3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8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4267" spc="-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4267" spc="152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z="4267" spc="13" dirty="0">
                <a:solidFill>
                  <a:srgbClr val="1A1A1A"/>
                </a:solidFill>
                <a:latin typeface="Trebuchet MS"/>
                <a:cs typeface="Trebuchet MS"/>
              </a:rPr>
              <a:t>ork</a:t>
            </a:r>
            <a:endParaRPr sz="4267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6320" y="2156925"/>
            <a:ext cx="6123938" cy="382731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735572-4887-FBC0-AE73-491C899C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92</a:t>
            </a:fld>
            <a:endParaRPr 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3203" y="1207116"/>
            <a:ext cx="4132580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3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13" dirty="0">
                <a:solidFill>
                  <a:srgbClr val="1A1A1A"/>
                </a:solidFill>
                <a:latin typeface="Trebuchet MS"/>
                <a:cs typeface="Trebuchet MS"/>
              </a:rPr>
              <a:t>eu</a:t>
            </a:r>
            <a:r>
              <a:rPr sz="4267" spc="-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z="4267" spc="133" dirty="0">
                <a:solidFill>
                  <a:srgbClr val="1A1A1A"/>
                </a:solidFill>
                <a:latin typeface="Trebuchet MS"/>
                <a:cs typeface="Trebuchet MS"/>
              </a:rPr>
              <a:t>al</a:t>
            </a:r>
            <a:r>
              <a:rPr sz="4267" spc="-37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3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8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4267" spc="-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4267" spc="152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z="4267" spc="13" dirty="0">
                <a:solidFill>
                  <a:srgbClr val="1A1A1A"/>
                </a:solidFill>
                <a:latin typeface="Trebuchet MS"/>
                <a:cs typeface="Trebuchet MS"/>
              </a:rPr>
              <a:t>ork</a:t>
            </a:r>
            <a:endParaRPr sz="4267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203" y="2136279"/>
            <a:ext cx="11372427" cy="10430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2476" indent="-406390">
              <a:spcBef>
                <a:spcPts val="133"/>
              </a:spcBef>
              <a:buChar char="•"/>
              <a:tabLst>
                <a:tab pos="422476" algn="l"/>
                <a:tab pos="423323" algn="l"/>
              </a:tabLst>
            </a:pPr>
            <a:r>
              <a:rPr sz="2667" spc="-7" dirty="0">
                <a:latin typeface="Arial"/>
                <a:cs typeface="Arial"/>
              </a:rPr>
              <a:t>‘</a:t>
            </a:r>
            <a:r>
              <a:rPr sz="2000" spc="-7" dirty="0">
                <a:latin typeface="Arial"/>
                <a:cs typeface="Arial"/>
              </a:rPr>
              <a:t>Black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box’</a:t>
            </a:r>
            <a:r>
              <a:rPr sz="2000" spc="-1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takes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inputs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predicts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output.</a:t>
            </a:r>
            <a:endParaRPr sz="2000" dirty="0">
              <a:latin typeface="Arial"/>
              <a:cs typeface="Arial"/>
            </a:endParaRPr>
          </a:p>
          <a:p>
            <a:pPr marL="422476" marR="6773" indent="-406390">
              <a:buChar char="•"/>
              <a:tabLst>
                <a:tab pos="422476" algn="l"/>
                <a:tab pos="423323" algn="l"/>
              </a:tabLst>
            </a:pPr>
            <a:r>
              <a:rPr sz="2000" spc="-20" dirty="0">
                <a:latin typeface="Arial"/>
                <a:cs typeface="Arial"/>
              </a:rPr>
              <a:t>Trained </a:t>
            </a:r>
            <a:r>
              <a:rPr sz="2000" spc="-7" dirty="0">
                <a:latin typeface="Arial"/>
                <a:cs typeface="Arial"/>
              </a:rPr>
              <a:t>using </a:t>
            </a:r>
            <a:r>
              <a:rPr sz="2000" dirty="0">
                <a:latin typeface="Arial"/>
                <a:cs typeface="Arial"/>
              </a:rPr>
              <a:t>known (input, </a:t>
            </a:r>
            <a:r>
              <a:rPr sz="2000" spc="-7" dirty="0">
                <a:latin typeface="Arial"/>
                <a:cs typeface="Arial"/>
              </a:rPr>
              <a:t>output), approximates the function and </a:t>
            </a:r>
            <a:r>
              <a:rPr sz="2000" dirty="0">
                <a:latin typeface="Arial"/>
                <a:cs typeface="Arial"/>
              </a:rPr>
              <a:t>maps </a:t>
            </a:r>
            <a:r>
              <a:rPr sz="2000" spc="-7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new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inputs.</a:t>
            </a:r>
            <a:endParaRPr sz="2000" dirty="0">
              <a:latin typeface="Arial"/>
              <a:cs typeface="Arial"/>
            </a:endParaRPr>
          </a:p>
          <a:p>
            <a:pPr marL="422476" marR="599425" indent="-406390">
              <a:buChar char="•"/>
              <a:tabLst>
                <a:tab pos="422476" algn="l"/>
                <a:tab pos="423323" algn="l"/>
              </a:tabLst>
            </a:pPr>
            <a:r>
              <a:rPr sz="2000" spc="-7" dirty="0">
                <a:latin typeface="Arial"/>
                <a:cs typeface="Arial"/>
              </a:rPr>
              <a:t>Learns the function </a:t>
            </a:r>
            <a:r>
              <a:rPr sz="2000" dirty="0">
                <a:latin typeface="Arial"/>
                <a:cs typeface="Arial"/>
              </a:rPr>
              <a:t>mapping </a:t>
            </a:r>
            <a:r>
              <a:rPr sz="2000" spc="-7" dirty="0">
                <a:latin typeface="Arial"/>
                <a:cs typeface="Arial"/>
              </a:rPr>
              <a:t>inputs to output by adjusting the internal </a:t>
            </a:r>
            <a:r>
              <a:rPr sz="2000" spc="-7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parameters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(weights)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840" y="3891974"/>
            <a:ext cx="5358384" cy="24190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6171C2-E365-49FF-E2D7-B19E7711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5981" y="1423909"/>
            <a:ext cx="748792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367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o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80" dirty="0">
                <a:solidFill>
                  <a:srgbClr val="1A1A1A"/>
                </a:solidFill>
                <a:latin typeface="Trebuchet MS"/>
                <a:cs typeface="Trebuchet MS"/>
              </a:rPr>
              <a:t>d2</a:t>
            </a:r>
            <a:r>
              <a:rPr spc="7" dirty="0">
                <a:solidFill>
                  <a:srgbClr val="1A1A1A"/>
                </a:solidFill>
                <a:latin typeface="Trebuchet MS"/>
                <a:cs typeface="Trebuchet MS"/>
              </a:rPr>
              <a:t>v</a:t>
            </a:r>
            <a:r>
              <a:rPr spc="140" dirty="0">
                <a:solidFill>
                  <a:srgbClr val="1A1A1A"/>
                </a:solidFill>
                <a:latin typeface="Trebuchet MS"/>
                <a:cs typeface="Trebuchet MS"/>
              </a:rPr>
              <a:t>ec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1A1A1A"/>
                </a:solidFill>
                <a:latin typeface="Trebuchet MS"/>
                <a:cs typeface="Trebuchet MS"/>
              </a:rPr>
              <a:t>using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20" dirty="0">
                <a:solidFill>
                  <a:srgbClr val="1A1A1A"/>
                </a:solidFill>
                <a:latin typeface="Trebuchet MS"/>
                <a:cs typeface="Trebuchet MS"/>
              </a:rPr>
              <a:t>neu</a:t>
            </a: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113" dirty="0">
                <a:solidFill>
                  <a:srgbClr val="1A1A1A"/>
                </a:solidFill>
                <a:latin typeface="Trebuchet MS"/>
                <a:cs typeface="Trebuchet MS"/>
              </a:rPr>
              <a:t>al</a:t>
            </a:r>
            <a:r>
              <a:rPr spc="-32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4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pc="7" dirty="0">
                <a:solidFill>
                  <a:srgbClr val="1A1A1A"/>
                </a:solidFill>
                <a:latin typeface="Trebuchet MS"/>
                <a:cs typeface="Trebuchet MS"/>
              </a:rPr>
              <a:t>or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k</a:t>
            </a:r>
            <a:r>
              <a:rPr spc="233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4240" y="2572683"/>
            <a:ext cx="6486902" cy="356395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02026A-DEDF-E1F1-C390-B9621DAC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94</a:t>
            </a:fld>
            <a:endParaRPr 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6141" y="1373109"/>
            <a:ext cx="748792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367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o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80" dirty="0">
                <a:solidFill>
                  <a:srgbClr val="1A1A1A"/>
                </a:solidFill>
                <a:latin typeface="Trebuchet MS"/>
                <a:cs typeface="Trebuchet MS"/>
              </a:rPr>
              <a:t>d2</a:t>
            </a:r>
            <a:r>
              <a:rPr spc="7" dirty="0">
                <a:solidFill>
                  <a:srgbClr val="1A1A1A"/>
                </a:solidFill>
                <a:latin typeface="Trebuchet MS"/>
                <a:cs typeface="Trebuchet MS"/>
              </a:rPr>
              <a:t>v</a:t>
            </a:r>
            <a:r>
              <a:rPr spc="140" dirty="0">
                <a:solidFill>
                  <a:srgbClr val="1A1A1A"/>
                </a:solidFill>
                <a:latin typeface="Trebuchet MS"/>
                <a:cs typeface="Trebuchet MS"/>
              </a:rPr>
              <a:t>ec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1A1A1A"/>
                </a:solidFill>
                <a:latin typeface="Trebuchet MS"/>
                <a:cs typeface="Trebuchet MS"/>
              </a:rPr>
              <a:t>using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20" dirty="0">
                <a:solidFill>
                  <a:srgbClr val="1A1A1A"/>
                </a:solidFill>
                <a:latin typeface="Trebuchet MS"/>
                <a:cs typeface="Trebuchet MS"/>
              </a:rPr>
              <a:t>neu</a:t>
            </a: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113" dirty="0">
                <a:solidFill>
                  <a:srgbClr val="1A1A1A"/>
                </a:solidFill>
                <a:latin typeface="Trebuchet MS"/>
                <a:cs typeface="Trebuchet MS"/>
              </a:rPr>
              <a:t>al</a:t>
            </a:r>
            <a:r>
              <a:rPr spc="-32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4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pc="7" dirty="0">
                <a:solidFill>
                  <a:srgbClr val="1A1A1A"/>
                </a:solidFill>
                <a:latin typeface="Trebuchet MS"/>
                <a:cs typeface="Trebuchet MS"/>
              </a:rPr>
              <a:t>or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k</a:t>
            </a:r>
            <a:r>
              <a:rPr spc="233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2560" y="2615185"/>
            <a:ext cx="5036057" cy="322681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87D23F-C004-E3CC-9065-3EDA4489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95</a:t>
            </a:fld>
            <a:endParaRPr 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5501" y="1230869"/>
            <a:ext cx="748792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367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o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80" dirty="0">
                <a:solidFill>
                  <a:srgbClr val="1A1A1A"/>
                </a:solidFill>
                <a:latin typeface="Trebuchet MS"/>
                <a:cs typeface="Trebuchet MS"/>
              </a:rPr>
              <a:t>d2</a:t>
            </a:r>
            <a:r>
              <a:rPr spc="7" dirty="0">
                <a:solidFill>
                  <a:srgbClr val="1A1A1A"/>
                </a:solidFill>
                <a:latin typeface="Trebuchet MS"/>
                <a:cs typeface="Trebuchet MS"/>
              </a:rPr>
              <a:t>v</a:t>
            </a:r>
            <a:r>
              <a:rPr spc="140" dirty="0">
                <a:solidFill>
                  <a:srgbClr val="1A1A1A"/>
                </a:solidFill>
                <a:latin typeface="Trebuchet MS"/>
                <a:cs typeface="Trebuchet MS"/>
              </a:rPr>
              <a:t>ec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40" dirty="0">
                <a:solidFill>
                  <a:srgbClr val="1A1A1A"/>
                </a:solidFill>
                <a:latin typeface="Trebuchet MS"/>
                <a:cs typeface="Trebuchet MS"/>
              </a:rPr>
              <a:t>using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20" dirty="0">
                <a:solidFill>
                  <a:srgbClr val="1A1A1A"/>
                </a:solidFill>
                <a:latin typeface="Trebuchet MS"/>
                <a:cs typeface="Trebuchet MS"/>
              </a:rPr>
              <a:t>neu</a:t>
            </a: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113" dirty="0">
                <a:solidFill>
                  <a:srgbClr val="1A1A1A"/>
                </a:solidFill>
                <a:latin typeface="Trebuchet MS"/>
                <a:cs typeface="Trebuchet MS"/>
              </a:rPr>
              <a:t>al</a:t>
            </a:r>
            <a:r>
              <a:rPr spc="-32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4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pc="7" dirty="0">
                <a:solidFill>
                  <a:srgbClr val="1A1A1A"/>
                </a:solidFill>
                <a:latin typeface="Trebuchet MS"/>
                <a:cs typeface="Trebuchet MS"/>
              </a:rPr>
              <a:t>or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k</a:t>
            </a:r>
            <a:r>
              <a:rPr spc="233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8240" y="2574463"/>
            <a:ext cx="6369304" cy="336270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8C4980-46F3-3782-FF30-8F4B869A7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96</a:t>
            </a:fld>
            <a:endParaRPr 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6135" y="1442182"/>
            <a:ext cx="8899145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40"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-180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207" dirty="0">
                <a:solidFill>
                  <a:srgbClr val="1A1A1A"/>
                </a:solidFill>
                <a:latin typeface="Trebuchet MS"/>
                <a:cs typeface="Trebuchet MS"/>
              </a:rPr>
              <a:t>om</a:t>
            </a:r>
            <a:r>
              <a:rPr spc="-3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o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233" dirty="0">
                <a:solidFill>
                  <a:srgbClr val="1A1A1A"/>
                </a:solidFill>
                <a:latin typeface="Trebuchet MS"/>
                <a:cs typeface="Trebuchet MS"/>
              </a:rPr>
              <a:t>ds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147" dirty="0">
                <a:solidFill>
                  <a:srgbClr val="1A1A1A"/>
                </a:solidFill>
                <a:latin typeface="Trebuchet MS"/>
                <a:cs typeface="Trebuchet MS"/>
              </a:rPr>
              <a:t>o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13" dirty="0">
                <a:solidFill>
                  <a:srgbClr val="1A1A1A"/>
                </a:solidFill>
                <a:latin typeface="Trebuchet MS"/>
                <a:cs typeface="Trebuchet MS"/>
              </a:rPr>
              <a:t>se</a:t>
            </a:r>
            <a:r>
              <a:rPr spc="120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113" dirty="0">
                <a:solidFill>
                  <a:srgbClr val="1A1A1A"/>
                </a:solidFill>
                <a:latin typeface="Trebuchet MS"/>
                <a:cs typeface="Trebuchet MS"/>
              </a:rPr>
              <a:t>en</a:t>
            </a:r>
            <a:r>
              <a:rPr spc="80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pc="160" dirty="0">
                <a:solidFill>
                  <a:srgbClr val="1A1A1A"/>
                </a:solidFill>
                <a:latin typeface="Trebuchet MS"/>
                <a:cs typeface="Trebuchet MS"/>
              </a:rPr>
              <a:t>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6232" y="2628731"/>
            <a:ext cx="11225953" cy="27870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20" dirty="0">
                <a:latin typeface="Arial"/>
                <a:cs typeface="Arial"/>
              </a:rPr>
              <a:t>Word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embedding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captures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meaning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words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How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about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sentences?</a:t>
            </a:r>
          </a:p>
          <a:p>
            <a:pPr>
              <a:spcBef>
                <a:spcPts val="7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Can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encode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meaning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sentences</a:t>
            </a:r>
          </a:p>
          <a:p>
            <a:pPr marL="16933" marR="6773"/>
            <a:r>
              <a:rPr sz="2000" spc="40" dirty="0">
                <a:latin typeface="Arial"/>
                <a:cs typeface="Arial"/>
              </a:rPr>
              <a:t>□You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can’t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cram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meaning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entire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$%!!*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sentence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into </a:t>
            </a:r>
            <a:r>
              <a:rPr sz="2000" spc="-87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!!$!$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</a:t>
            </a:r>
          </a:p>
          <a:p>
            <a:pPr>
              <a:spcBef>
                <a:spcPts val="7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Sentences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are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variable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length</a:t>
            </a: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93" dirty="0">
                <a:latin typeface="Arial"/>
                <a:cs typeface="Arial"/>
              </a:rPr>
              <a:t>□Need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fixed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length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representation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4A0D48-C17E-5573-B324-22B1DE1E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50868" y="2331598"/>
            <a:ext cx="3894667" cy="247931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833946" marR="6773" indent="-817860">
              <a:lnSpc>
                <a:spcPct val="100000"/>
              </a:lnSpc>
              <a:spcBef>
                <a:spcPts val="133"/>
              </a:spcBef>
            </a:pPr>
            <a:r>
              <a:rPr sz="8000" spc="880" dirty="0">
                <a:solidFill>
                  <a:srgbClr val="1A1A1A"/>
                </a:solidFill>
                <a:latin typeface="Trebuchet MS"/>
                <a:cs typeface="Trebuchet MS"/>
              </a:rPr>
              <a:t>M</a:t>
            </a:r>
            <a:r>
              <a:rPr sz="8000" spc="300" dirty="0">
                <a:solidFill>
                  <a:srgbClr val="1A1A1A"/>
                </a:solidFill>
                <a:latin typeface="Trebuchet MS"/>
                <a:cs typeface="Trebuchet MS"/>
              </a:rPr>
              <a:t>odel</a:t>
            </a:r>
            <a:r>
              <a:rPr sz="8000" spc="-70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8000" spc="-120" dirty="0">
                <a:solidFill>
                  <a:srgbClr val="1A1A1A"/>
                </a:solidFill>
                <a:latin typeface="Trebuchet MS"/>
                <a:cs typeface="Trebuchet MS"/>
              </a:rPr>
              <a:t>2  </a:t>
            </a:r>
            <a:r>
              <a:rPr sz="8000" spc="653" dirty="0">
                <a:solidFill>
                  <a:srgbClr val="1A1A1A"/>
                </a:solidFill>
                <a:latin typeface="Trebuchet MS"/>
                <a:cs typeface="Trebuchet MS"/>
              </a:rPr>
              <a:t>RNN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61C867-E31E-F2D8-9B93-7778F0D3C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98</a:t>
            </a:fld>
            <a:endParaRPr 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3295" y="1319865"/>
            <a:ext cx="136990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800" spc="387" dirty="0">
                <a:solidFill>
                  <a:srgbClr val="1A1A1A"/>
                </a:solidFill>
                <a:latin typeface="Trebuchet MS"/>
                <a:cs typeface="Trebuchet MS"/>
              </a:rPr>
              <a:t>RNN</a:t>
            </a:r>
            <a:endParaRPr sz="48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215" y="2789294"/>
            <a:ext cx="11026140" cy="2602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spc="-7" dirty="0">
                <a:latin typeface="Arial"/>
                <a:cs typeface="Arial"/>
              </a:rPr>
              <a:t>RNNs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are</a:t>
            </a:r>
            <a:r>
              <a:rPr sz="2800" spc="-13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used</a:t>
            </a:r>
            <a:r>
              <a:rPr sz="2800" spc="-13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when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the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inputs</a:t>
            </a:r>
            <a:r>
              <a:rPr sz="2800" spc="-13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have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some</a:t>
            </a:r>
            <a:r>
              <a:rPr sz="2800" spc="-13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state</a:t>
            </a:r>
            <a:r>
              <a:rPr sz="2800" spc="-13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information</a:t>
            </a:r>
            <a:endParaRPr sz="28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2800" dirty="0">
              <a:latin typeface="Arial"/>
              <a:cs typeface="Arial"/>
            </a:endParaRPr>
          </a:p>
          <a:p>
            <a:pPr marL="16933"/>
            <a:r>
              <a:rPr sz="2800" spc="-7" dirty="0">
                <a:latin typeface="Arial"/>
                <a:cs typeface="Arial"/>
              </a:rPr>
              <a:t>Examples</a:t>
            </a:r>
            <a:r>
              <a:rPr sz="2800" spc="-33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include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time</a:t>
            </a:r>
            <a:r>
              <a:rPr sz="2800" spc="-27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series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and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7" dirty="0">
                <a:latin typeface="Arial"/>
                <a:cs typeface="Arial"/>
              </a:rPr>
              <a:t>word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sequences</a:t>
            </a:r>
          </a:p>
          <a:p>
            <a:pPr>
              <a:spcBef>
                <a:spcPts val="7"/>
              </a:spcBef>
            </a:pPr>
            <a:endParaRPr sz="2800" dirty="0">
              <a:latin typeface="Arial"/>
              <a:cs typeface="Arial"/>
            </a:endParaRPr>
          </a:p>
          <a:p>
            <a:pPr marL="16933" marR="6773"/>
            <a:r>
              <a:rPr sz="2800" spc="-7" dirty="0">
                <a:latin typeface="Arial"/>
                <a:cs typeface="Arial"/>
              </a:rPr>
              <a:t>Can </a:t>
            </a:r>
            <a:r>
              <a:rPr sz="2800" dirty="0">
                <a:latin typeface="Arial"/>
                <a:cs typeface="Arial"/>
              </a:rPr>
              <a:t>captures </a:t>
            </a:r>
            <a:r>
              <a:rPr sz="2800" spc="-7" dirty="0">
                <a:latin typeface="Arial"/>
                <a:cs typeface="Arial"/>
              </a:rPr>
              <a:t>the essence of the </a:t>
            </a:r>
            <a:r>
              <a:rPr sz="2800" dirty="0">
                <a:latin typeface="Arial"/>
                <a:cs typeface="Arial"/>
              </a:rPr>
              <a:t>sequence </a:t>
            </a:r>
            <a:r>
              <a:rPr sz="2800" spc="-7" dirty="0">
                <a:latin typeface="Arial"/>
                <a:cs typeface="Arial"/>
              </a:rPr>
              <a:t>in its hidden </a:t>
            </a:r>
            <a:r>
              <a:rPr sz="2800" dirty="0">
                <a:latin typeface="Arial"/>
                <a:cs typeface="Arial"/>
              </a:rPr>
              <a:t>state </a:t>
            </a:r>
            <a:r>
              <a:rPr sz="2800" spc="-873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(context)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32ADB-9576-7755-9F28-9C468D62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895" y="1563705"/>
            <a:ext cx="665988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800" spc="353" dirty="0">
                <a:solidFill>
                  <a:srgbClr val="1A1A1A"/>
                </a:solidFill>
                <a:latin typeface="Trebuchet MS"/>
                <a:cs typeface="Trebuchet MS"/>
              </a:rPr>
              <a:t>RN</a:t>
            </a:r>
            <a:r>
              <a:rPr sz="4800" spc="-612" dirty="0">
                <a:solidFill>
                  <a:srgbClr val="1A1A1A"/>
                </a:solidFill>
                <a:uFill>
                  <a:solidFill>
                    <a:srgbClr val="1A9988"/>
                  </a:solidFill>
                </a:uFill>
                <a:latin typeface="Trebuchet MS"/>
                <a:cs typeface="Trebuchet MS"/>
              </a:rPr>
              <a:t>N</a:t>
            </a:r>
            <a:r>
              <a:rPr sz="4800" dirty="0">
                <a:solidFill>
                  <a:srgbClr val="1A1A1A"/>
                </a:solidFill>
                <a:uFill>
                  <a:solidFill>
                    <a:srgbClr val="1A998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800" spc="-187" dirty="0">
                <a:solidFill>
                  <a:srgbClr val="1A1A1A"/>
                </a:solidFill>
                <a:uFill>
                  <a:solidFill>
                    <a:srgbClr val="1A998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800" spc="1125" dirty="0">
                <a:solidFill>
                  <a:srgbClr val="1A1A1A"/>
                </a:solidFill>
                <a:uFill>
                  <a:solidFill>
                    <a:srgbClr val="1A9988"/>
                  </a:solidFill>
                </a:uFill>
                <a:latin typeface="Trebuchet MS"/>
                <a:cs typeface="Trebuchet MS"/>
              </a:rPr>
              <a:t>–</a:t>
            </a:r>
            <a:r>
              <a:rPr sz="4800" spc="-30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800" dirty="0">
                <a:solidFill>
                  <a:srgbClr val="1A1A1A"/>
                </a:solidFill>
                <a:latin typeface="Trebuchet MS"/>
                <a:cs typeface="Trebuchet MS"/>
              </a:rPr>
              <a:t>un</a:t>
            </a:r>
            <a:r>
              <a:rPr sz="4800" spc="-33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z="4800" spc="160" dirty="0">
                <a:solidFill>
                  <a:srgbClr val="1A1A1A"/>
                </a:solidFill>
                <a:latin typeface="Trebuchet MS"/>
                <a:cs typeface="Trebuchet MS"/>
              </a:rPr>
              <a:t>olled</a:t>
            </a:r>
            <a:r>
              <a:rPr sz="4800" spc="-30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800" spc="-73" dirty="0">
                <a:solidFill>
                  <a:srgbClr val="1A1A1A"/>
                </a:solidFill>
                <a:latin typeface="Trebuchet MS"/>
                <a:cs typeface="Trebuchet MS"/>
              </a:rPr>
              <a:t>in</a:t>
            </a:r>
            <a:r>
              <a:rPr sz="4800" spc="-30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800" spc="47" dirty="0">
                <a:solidFill>
                  <a:srgbClr val="1A1A1A"/>
                </a:solidFill>
                <a:latin typeface="Trebuchet MS"/>
                <a:cs typeface="Trebuchet MS"/>
              </a:rPr>
              <a:t>time</a:t>
            </a:r>
            <a:endParaRPr sz="48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00" y="3083830"/>
            <a:ext cx="9190988" cy="29278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3994E-6735-9EA2-D75C-FFA3D90F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100</a:t>
            </a:fld>
            <a:endParaRPr lang="en-US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53440" y="1406494"/>
            <a:ext cx="136990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b="1" spc="387" dirty="0">
                <a:solidFill>
                  <a:srgbClr val="1A1A1A"/>
                </a:solidFill>
                <a:latin typeface="Trebuchet MS"/>
                <a:cs typeface="Trebuchet MS"/>
              </a:rPr>
              <a:t>RNN</a:t>
            </a:r>
            <a:endParaRPr sz="48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40" y="2467176"/>
            <a:ext cx="9290556" cy="358377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4D67F7-4940-DC01-E6FA-12C026A3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59935" y="1262377"/>
            <a:ext cx="136990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b="1" spc="387" dirty="0">
                <a:solidFill>
                  <a:srgbClr val="1A1A1A"/>
                </a:solidFill>
                <a:latin typeface="Trebuchet MS"/>
                <a:cs typeface="Trebuchet MS"/>
              </a:rPr>
              <a:t>RNN</a:t>
            </a:r>
            <a:endParaRPr sz="48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2338579"/>
            <a:ext cx="10298428" cy="32570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EB48EE-ADD4-9CBD-D53E-0588C834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5935" y="1366805"/>
            <a:ext cx="899498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300" dirty="0">
                <a:solidFill>
                  <a:srgbClr val="1A1A1A"/>
                </a:solidFill>
                <a:latin typeface="Trebuchet MS"/>
                <a:cs typeface="Trebuchet MS"/>
              </a:rPr>
              <a:t>RNN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can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learn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87" dirty="0">
                <a:solidFill>
                  <a:srgbClr val="1A1A1A"/>
                </a:solidFill>
                <a:latin typeface="Trebuchet MS"/>
                <a:cs typeface="Trebuchet MS"/>
              </a:rPr>
              <a:t>sentence</a:t>
            </a:r>
            <a:r>
              <a:rPr spc="-22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27" dirty="0">
                <a:solidFill>
                  <a:srgbClr val="1A1A1A"/>
                </a:solidFill>
                <a:latin typeface="Trebuchet MS"/>
                <a:cs typeface="Trebuchet MS"/>
              </a:rPr>
              <a:t>representation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6726" y="2575562"/>
            <a:ext cx="5205476" cy="373126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12F9AC-E4FC-D242-5702-5798E736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103</a:t>
            </a:fld>
            <a:endParaRPr lang="en-US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8815" y="1335745"/>
            <a:ext cx="7974465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300" dirty="0">
                <a:solidFill>
                  <a:srgbClr val="1A1A1A"/>
                </a:solidFill>
                <a:latin typeface="Trebuchet MS"/>
                <a:cs typeface="Trebuchet MS"/>
              </a:rPr>
              <a:t>RNN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can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20" dirty="0">
                <a:solidFill>
                  <a:srgbClr val="1A1A1A"/>
                </a:solidFill>
                <a:latin typeface="Trebuchet MS"/>
                <a:cs typeface="Trebuchet MS"/>
              </a:rPr>
              <a:t>p</a:t>
            </a:r>
            <a:r>
              <a:rPr spc="-13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60" dirty="0">
                <a:solidFill>
                  <a:srgbClr val="1A1A1A"/>
                </a:solidFill>
                <a:latin typeface="Trebuchet MS"/>
                <a:cs typeface="Trebuchet MS"/>
              </a:rPr>
              <a:t>edict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3314" y="2959656"/>
            <a:ext cx="7788408" cy="308748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B15A9B-5A8A-2F6E-E9B2-375EC3560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104</a:t>
            </a:fld>
            <a:endParaRPr lang="en-US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1831341"/>
            <a:ext cx="7372349" cy="417321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0895" y="1137134"/>
            <a:ext cx="5475105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300" dirty="0">
                <a:solidFill>
                  <a:srgbClr val="1A1A1A"/>
                </a:solidFill>
                <a:latin typeface="Trebuchet MS"/>
                <a:cs typeface="Trebuchet MS"/>
              </a:rPr>
              <a:t>RNN</a:t>
            </a:r>
            <a:r>
              <a:rPr spc="-339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-1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16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aining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9147E8-3C46-50C4-DC39-5DC3BEF8D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105</a:t>
            </a:fld>
            <a:endParaRPr lang="en-US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4974" y="1469855"/>
            <a:ext cx="6826385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300" dirty="0">
                <a:solidFill>
                  <a:srgbClr val="1A1A1A"/>
                </a:solidFill>
                <a:latin typeface="Trebuchet MS"/>
                <a:cs typeface="Trebuchet MS"/>
              </a:rPr>
              <a:t>RNN</a:t>
            </a:r>
            <a:r>
              <a:rPr spc="-272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87" dirty="0">
                <a:solidFill>
                  <a:srgbClr val="1A1A1A"/>
                </a:solidFill>
                <a:latin typeface="Trebuchet MS"/>
                <a:cs typeface="Trebuchet MS"/>
              </a:rPr>
              <a:t>-</a:t>
            </a:r>
            <a:r>
              <a:rPr spc="-26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47" dirty="0">
                <a:solidFill>
                  <a:srgbClr val="1A1A1A"/>
                </a:solidFill>
                <a:latin typeface="Trebuchet MS"/>
                <a:cs typeface="Trebuchet MS"/>
              </a:rPr>
              <a:t>Summary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6216" y="3041227"/>
            <a:ext cx="8928945" cy="14605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RNN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encode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sentence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meaning</a:t>
            </a:r>
          </a:p>
          <a:p>
            <a:pPr marL="16933" marR="6773">
              <a:lnSpc>
                <a:spcPct val="200000"/>
              </a:lnSpc>
            </a:pPr>
            <a:r>
              <a:rPr sz="2000" spc="-7" dirty="0">
                <a:latin typeface="Arial"/>
                <a:cs typeface="Arial"/>
              </a:rPr>
              <a:t>Can predict next word given </a:t>
            </a:r>
            <a:r>
              <a:rPr sz="2000" dirty="0">
                <a:latin typeface="Arial"/>
                <a:cs typeface="Arial"/>
              </a:rPr>
              <a:t>a sequence </a:t>
            </a:r>
            <a:r>
              <a:rPr sz="2000" spc="-7" dirty="0">
                <a:latin typeface="Arial"/>
                <a:cs typeface="Arial"/>
              </a:rPr>
              <a:t>of words </a:t>
            </a:r>
            <a:r>
              <a:rPr sz="2000" spc="-87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Can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be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trained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learn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language </a:t>
            </a:r>
            <a:r>
              <a:rPr sz="2000" dirty="0">
                <a:latin typeface="Arial"/>
                <a:cs typeface="Arial"/>
              </a:rPr>
              <a:t>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41485C-79FF-8F42-293D-447A775A1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4816" y="1378415"/>
            <a:ext cx="8218304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300" dirty="0">
                <a:solidFill>
                  <a:srgbClr val="1A1A1A"/>
                </a:solidFill>
                <a:latin typeface="Trebuchet MS"/>
                <a:cs typeface="Trebuchet MS"/>
              </a:rPr>
              <a:t>RNN</a:t>
            </a:r>
            <a:r>
              <a:rPr spc="-28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87" dirty="0">
                <a:solidFill>
                  <a:srgbClr val="1A1A1A"/>
                </a:solidFill>
                <a:latin typeface="Trebuchet MS"/>
                <a:cs typeface="Trebuchet MS"/>
              </a:rPr>
              <a:t>-</a:t>
            </a:r>
            <a:r>
              <a:rPr spc="-28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20" dirty="0">
                <a:solidFill>
                  <a:srgbClr val="1A1A1A"/>
                </a:solidFill>
                <a:latin typeface="Trebuchet MS"/>
                <a:cs typeface="Trebuchet MS"/>
              </a:rPr>
              <a:t>Problems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0400" y="2660197"/>
            <a:ext cx="11531600" cy="31461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02157">
              <a:spcBef>
                <a:spcPts val="133"/>
              </a:spcBef>
              <a:buChar char="•"/>
              <a:tabLst>
                <a:tab pos="473275" algn="l"/>
                <a:tab pos="474121" algn="l"/>
              </a:tabLst>
            </a:pPr>
            <a:r>
              <a:rPr sz="2000" spc="-7" dirty="0">
                <a:latin typeface="Arial"/>
                <a:cs typeface="Arial"/>
              </a:rPr>
              <a:t>Hard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parallelize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3" dirty="0">
                <a:latin typeface="Arial"/>
                <a:cs typeface="Arial"/>
              </a:rPr>
              <a:t>efficiently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67"/>
              </a:spcBef>
              <a:buFont typeface="Arial"/>
              <a:buChar char="•"/>
            </a:pPr>
            <a:endParaRPr sz="2000" dirty="0">
              <a:latin typeface="Arial"/>
              <a:cs typeface="Arial"/>
            </a:endParaRPr>
          </a:p>
          <a:p>
            <a:pPr marL="474121" indent="-402157">
              <a:buClr>
                <a:srgbClr val="000000"/>
              </a:buClr>
              <a:buChar char="•"/>
              <a:tabLst>
                <a:tab pos="473275" algn="l"/>
                <a:tab pos="474121" algn="l"/>
              </a:tabLst>
            </a:pP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Back</a:t>
            </a:r>
            <a:r>
              <a:rPr sz="20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propagation</a:t>
            </a:r>
            <a:r>
              <a:rPr sz="2000" spc="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through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variable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length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sequence</a:t>
            </a:r>
          </a:p>
          <a:p>
            <a:pPr>
              <a:spcBef>
                <a:spcPts val="73"/>
              </a:spcBef>
              <a:buFont typeface="Arial"/>
              <a:buChar char="•"/>
            </a:pPr>
            <a:endParaRPr sz="2000" dirty="0">
              <a:latin typeface="Arial"/>
              <a:cs typeface="Arial"/>
            </a:endParaRPr>
          </a:p>
          <a:p>
            <a:pPr marL="474121" indent="-402157">
              <a:buChar char="•"/>
              <a:tabLst>
                <a:tab pos="473275" algn="l"/>
                <a:tab pos="474121" algn="l"/>
              </a:tabLst>
            </a:pPr>
            <a:r>
              <a:rPr sz="2000" spc="-13" dirty="0">
                <a:latin typeface="Arial"/>
                <a:cs typeface="Arial"/>
              </a:rPr>
              <a:t>Transmitting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information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through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one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bottleneck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(final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hidden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state)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67"/>
              </a:spcBef>
              <a:buFont typeface="Arial"/>
              <a:buChar char="•"/>
            </a:pPr>
            <a:endParaRPr sz="2000" dirty="0">
              <a:latin typeface="Arial"/>
              <a:cs typeface="Arial"/>
            </a:endParaRPr>
          </a:p>
          <a:p>
            <a:pPr marL="474121" indent="-402157">
              <a:buChar char="•"/>
              <a:tabLst>
                <a:tab pos="473275" algn="l"/>
                <a:tab pos="474121" algn="l"/>
              </a:tabLst>
            </a:pPr>
            <a:r>
              <a:rPr sz="2000" spc="-7" dirty="0">
                <a:latin typeface="Arial"/>
                <a:cs typeface="Arial"/>
              </a:rPr>
              <a:t>Longer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sentences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lose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context</a:t>
            </a:r>
          </a:p>
          <a:p>
            <a:pPr marL="16933"/>
            <a:r>
              <a:rPr sz="2000" spc="47" dirty="0">
                <a:latin typeface="Arial"/>
                <a:cs typeface="Arial"/>
              </a:rPr>
              <a:t>□Example: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was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born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France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..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speak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fluent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French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73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dirty="0">
                <a:latin typeface="Arial"/>
                <a:cs typeface="Arial"/>
              </a:rPr>
              <a:t>(There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improvements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RNN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structure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retain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context)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0BBA63-4AE8-74AC-F736-E482BD28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2894" y="1338338"/>
            <a:ext cx="7994785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16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127" dirty="0">
                <a:solidFill>
                  <a:srgbClr val="1A1A1A"/>
                </a:solidFill>
                <a:latin typeface="Trebuchet MS"/>
                <a:cs typeface="Trebuchet MS"/>
              </a:rPr>
              <a:t>ansla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tion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880" dirty="0">
                <a:solidFill>
                  <a:srgbClr val="1A1A1A"/>
                </a:solidFill>
                <a:latin typeface="Trebuchet MS"/>
                <a:cs typeface="Trebuchet MS"/>
              </a:rPr>
              <a:t>–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-33" dirty="0">
                <a:solidFill>
                  <a:srgbClr val="1A1A1A"/>
                </a:solidFill>
                <a:latin typeface="Trebuchet MS"/>
                <a:cs typeface="Trebuchet MS"/>
              </a:rPr>
              <a:t>Fir</a:t>
            </a:r>
            <a:r>
              <a:rPr spc="-47" dirty="0">
                <a:solidFill>
                  <a:srgbClr val="1A1A1A"/>
                </a:solidFill>
                <a:latin typeface="Trebuchet MS"/>
                <a:cs typeface="Trebuchet MS"/>
              </a:rPr>
              <a:t>st</a:t>
            </a:r>
            <a:r>
              <a:rPr spc="-34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193" dirty="0">
                <a:solidFill>
                  <a:srgbClr val="1A1A1A"/>
                </a:solidFill>
                <a:latin typeface="Trebuchet MS"/>
                <a:cs typeface="Trebuchet MS"/>
              </a:rPr>
              <a:t>em</a:t>
            </a:r>
            <a:r>
              <a:rPr spc="127" dirty="0">
                <a:solidFill>
                  <a:srgbClr val="1A1A1A"/>
                </a:solidFill>
                <a:latin typeface="Trebuchet MS"/>
                <a:cs typeface="Trebuchet MS"/>
              </a:rPr>
              <a:t>p</a:t>
            </a:r>
            <a:r>
              <a:rPr spc="-47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7719" y="2484297"/>
            <a:ext cx="9128760" cy="188940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Now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have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two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RNNs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jointly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trained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first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RNN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creates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context</a:t>
            </a:r>
          </a:p>
          <a:p>
            <a:pPr marL="16933"/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second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RNN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uses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final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context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first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RNN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73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20" dirty="0">
                <a:latin typeface="Arial"/>
                <a:cs typeface="Arial"/>
              </a:rPr>
              <a:t>Training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using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Parallel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corpora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8640" y="4082009"/>
            <a:ext cx="3197352" cy="238991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C7D135-8A8C-6915-B106-A762029A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51155" y="2331597"/>
            <a:ext cx="8496300" cy="247931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indent="2302028">
              <a:lnSpc>
                <a:spcPct val="100000"/>
              </a:lnSpc>
              <a:spcBef>
                <a:spcPts val="133"/>
              </a:spcBef>
            </a:pPr>
            <a:r>
              <a:rPr sz="8000" spc="880" dirty="0">
                <a:solidFill>
                  <a:srgbClr val="1A1A1A"/>
                </a:solidFill>
                <a:latin typeface="Trebuchet MS"/>
                <a:cs typeface="Trebuchet MS"/>
              </a:rPr>
              <a:t>M</a:t>
            </a:r>
            <a:r>
              <a:rPr sz="8000" spc="300" dirty="0">
                <a:solidFill>
                  <a:srgbClr val="1A1A1A"/>
                </a:solidFill>
                <a:latin typeface="Trebuchet MS"/>
                <a:cs typeface="Trebuchet MS"/>
              </a:rPr>
              <a:t>odel</a:t>
            </a:r>
            <a:r>
              <a:rPr sz="8000" spc="-70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8000" spc="-152" dirty="0">
                <a:solidFill>
                  <a:srgbClr val="1A1A1A"/>
                </a:solidFill>
                <a:latin typeface="Trebuchet MS"/>
                <a:cs typeface="Trebuchet MS"/>
              </a:rPr>
              <a:t>3  </a:t>
            </a:r>
            <a:r>
              <a:rPr sz="8000" spc="22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8000" spc="280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8000" spc="207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8000" spc="173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r>
              <a:rPr sz="8000" spc="-66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8000" spc="420" dirty="0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sz="8000" spc="320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8000" spc="173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624A3-D6F5-1E2D-BAB4-E1F3F963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109</a:t>
            </a:fld>
            <a:endParaRPr lang="en-US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9790" y="1161369"/>
            <a:ext cx="511132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800" spc="14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4800" spc="1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800" spc="120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800" spc="100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r>
              <a:rPr sz="4800" spc="-40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800" spc="253" dirty="0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sz="4800" spc="180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800" spc="100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endParaRPr sz="48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0104" y="2058443"/>
            <a:ext cx="5751791" cy="42305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BE0096-7771-EDE6-3CB2-BC12F967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110</a:t>
            </a:fld>
            <a:endParaRPr lang="en-US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2030" y="1130985"/>
            <a:ext cx="511132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800" spc="14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4800" spc="1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800" spc="120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800" spc="100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r>
              <a:rPr sz="4800" spc="-40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800" spc="253" dirty="0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sz="4800" spc="180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800" spc="100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endParaRPr sz="48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5839" y="1886747"/>
            <a:ext cx="6072669" cy="425692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140D4-E656-76EC-2F71-30D00883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111</a:t>
            </a:fld>
            <a:endParaRPr lang="en-US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1230" y="1222329"/>
            <a:ext cx="511132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800" spc="14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4800" spc="16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800" spc="120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800" spc="100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r>
              <a:rPr sz="4800" spc="-40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800" spc="253" dirty="0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sz="4800" spc="180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800" spc="100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endParaRPr sz="48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5360" y="2263879"/>
            <a:ext cx="5830027" cy="366956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0CAF80-79AD-D600-3A6D-711DE59C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112</a:t>
            </a:fld>
            <a:endParaRPr lang="en-US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7189" y="1588341"/>
            <a:ext cx="994833" cy="61807"/>
            <a:chOff x="830391" y="1191255"/>
            <a:chExt cx="746125" cy="46355"/>
          </a:xfrm>
        </p:grpSpPr>
        <p:sp>
          <p:nvSpPr>
            <p:cNvPr id="3" name="object 3"/>
            <p:cNvSpPr/>
            <p:nvPr/>
          </p:nvSpPr>
          <p:spPr>
            <a:xfrm>
              <a:off x="1203295" y="1191255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5"/>
                  </a:moveTo>
                  <a:lnTo>
                    <a:pt x="0" y="45825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5"/>
                  </a:lnTo>
                  <a:close/>
                </a:path>
              </a:pathLst>
            </a:custGeom>
            <a:solidFill>
              <a:srgbClr val="EB55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830391" y="1191255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1" y="45825"/>
                  </a:moveTo>
                  <a:lnTo>
                    <a:pt x="0" y="45825"/>
                  </a:lnTo>
                  <a:lnTo>
                    <a:pt x="0" y="0"/>
                  </a:lnTo>
                  <a:lnTo>
                    <a:pt x="376011" y="0"/>
                  </a:lnTo>
                  <a:lnTo>
                    <a:pt x="376011" y="45825"/>
                  </a:lnTo>
                  <a:close/>
                </a:path>
              </a:pathLst>
            </a:custGeom>
            <a:solidFill>
              <a:srgbClr val="1A998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0910" y="717403"/>
            <a:ext cx="8152553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12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4267" spc="14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107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267" spc="93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r>
              <a:rPr sz="4267" spc="-35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220" dirty="0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sz="4267" spc="167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267" spc="93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r>
              <a:rPr sz="4267" spc="-35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-67" dirty="0">
                <a:solidFill>
                  <a:srgbClr val="1A1A1A"/>
                </a:solidFill>
                <a:latin typeface="Trebuchet MS"/>
                <a:cs typeface="Trebuchet MS"/>
              </a:rPr>
              <a:t>in</a:t>
            </a:r>
            <a:r>
              <a:rPr sz="4267" spc="-38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-187" dirty="0">
                <a:solidFill>
                  <a:srgbClr val="1A1A1A"/>
                </a:solidFill>
                <a:latin typeface="Trebuchet MS"/>
                <a:cs typeface="Trebuchet MS"/>
              </a:rPr>
              <a:t>Tr</a:t>
            </a:r>
            <a:r>
              <a:rPr sz="4267" spc="147" dirty="0">
                <a:solidFill>
                  <a:srgbClr val="1A1A1A"/>
                </a:solidFill>
                <a:latin typeface="Trebuchet MS"/>
                <a:cs typeface="Trebuchet MS"/>
              </a:rPr>
              <a:t>ansl</a:t>
            </a:r>
            <a:r>
              <a:rPr sz="4267" spc="152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z="4267" spc="-7" dirty="0">
                <a:solidFill>
                  <a:srgbClr val="1A1A1A"/>
                </a:solidFill>
                <a:latin typeface="Trebuchet MS"/>
                <a:cs typeface="Trebuchet MS"/>
              </a:rPr>
              <a:t>tion</a:t>
            </a:r>
            <a:endParaRPr sz="4267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129" y="2408174"/>
            <a:ext cx="11277599" cy="406399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430F7-FD1B-D791-2031-5C6BADB8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113</a:t>
            </a:fld>
            <a:endParaRPr lang="en-US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0110" y="1166600"/>
            <a:ext cx="7515860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12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4267" spc="14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107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267" spc="93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r>
              <a:rPr sz="4267" spc="-35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213" dirty="0">
                <a:solidFill>
                  <a:srgbClr val="1A1A1A"/>
                </a:solidFill>
                <a:latin typeface="Trebuchet MS"/>
                <a:cs typeface="Trebuchet MS"/>
              </a:rPr>
              <a:t>-</a:t>
            </a:r>
            <a:r>
              <a:rPr sz="4267" spc="-26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220" dirty="0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sz="4267" spc="160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267" spc="93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r>
              <a:rPr sz="4267" spc="-35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420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r>
              <a:rPr sz="4267" spc="133" dirty="0">
                <a:solidFill>
                  <a:srgbClr val="1A1A1A"/>
                </a:solidFill>
                <a:latin typeface="Trebuchet MS"/>
                <a:cs typeface="Trebuchet MS"/>
              </a:rPr>
              <a:t>ummary</a:t>
            </a:r>
            <a:endParaRPr sz="4267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9975" y="2344929"/>
            <a:ext cx="10974493" cy="219718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2014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Google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replaced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their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Statistical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model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with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NMT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53"/>
              </a:spcBef>
            </a:pPr>
            <a:endParaRPr sz="2000" dirty="0">
              <a:latin typeface="Arial"/>
              <a:cs typeface="Arial"/>
            </a:endParaRPr>
          </a:p>
          <a:p>
            <a:pPr marL="16933" marR="6773"/>
            <a:r>
              <a:rPr sz="2000" spc="-7" dirty="0">
                <a:latin typeface="Arial"/>
                <a:cs typeface="Arial"/>
              </a:rPr>
              <a:t>Due to its flexibility it is the go to framework for NLG with </a:t>
            </a:r>
            <a:r>
              <a:rPr sz="2000" spc="-13" dirty="0">
                <a:latin typeface="Arial"/>
                <a:cs typeface="Arial"/>
              </a:rPr>
              <a:t>different </a:t>
            </a:r>
            <a:r>
              <a:rPr sz="2000" dirty="0">
                <a:latin typeface="Arial"/>
                <a:cs typeface="Arial"/>
              </a:rPr>
              <a:t>models </a:t>
            </a:r>
            <a:r>
              <a:rPr sz="2000" spc="-7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taking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roles</a:t>
            </a:r>
            <a:r>
              <a:rPr sz="2000" spc="-7" dirty="0">
                <a:latin typeface="Arial"/>
                <a:cs typeface="Arial"/>
              </a:rPr>
              <a:t> of encoder and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decoder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60"/>
              </a:spcBef>
            </a:pPr>
            <a:endParaRPr sz="2000" dirty="0">
              <a:latin typeface="Arial"/>
              <a:cs typeface="Arial"/>
            </a:endParaRPr>
          </a:p>
          <a:p>
            <a:pPr marL="16933" marR="148163"/>
            <a:r>
              <a:rPr sz="2000" spc="-7" dirty="0">
                <a:latin typeface="Arial"/>
                <a:cs typeface="Arial"/>
              </a:rPr>
              <a:t>The decoder </a:t>
            </a:r>
            <a:r>
              <a:rPr sz="2000" dirty="0">
                <a:latin typeface="Arial"/>
                <a:cs typeface="Arial"/>
              </a:rPr>
              <a:t>can </a:t>
            </a:r>
            <a:r>
              <a:rPr sz="2000" spc="-7" dirty="0">
                <a:latin typeface="Arial"/>
                <a:cs typeface="Arial"/>
              </a:rPr>
              <a:t>not only be </a:t>
            </a:r>
            <a:r>
              <a:rPr sz="2000" dirty="0">
                <a:latin typeface="Arial"/>
                <a:cs typeface="Arial"/>
              </a:rPr>
              <a:t>conditioned </a:t>
            </a:r>
            <a:r>
              <a:rPr sz="2000" spc="-7" dirty="0">
                <a:latin typeface="Arial"/>
                <a:cs typeface="Arial"/>
              </a:rPr>
              <a:t>on </a:t>
            </a:r>
            <a:r>
              <a:rPr sz="2000" dirty="0">
                <a:latin typeface="Arial"/>
                <a:cs typeface="Arial"/>
              </a:rPr>
              <a:t>a sequence </a:t>
            </a:r>
            <a:r>
              <a:rPr sz="2000" spc="-7" dirty="0">
                <a:latin typeface="Arial"/>
                <a:cs typeface="Arial"/>
              </a:rPr>
              <a:t>but on arbitrary </a:t>
            </a:r>
            <a:r>
              <a:rPr sz="2000" spc="-7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representation </a:t>
            </a:r>
            <a:r>
              <a:rPr sz="2000" spc="-7" dirty="0">
                <a:latin typeface="Arial"/>
                <a:cs typeface="Arial"/>
              </a:rPr>
              <a:t>enabling lot of use </a:t>
            </a:r>
            <a:r>
              <a:rPr sz="2000" dirty="0">
                <a:latin typeface="Arial"/>
                <a:cs typeface="Arial"/>
              </a:rPr>
              <a:t>cases (Like </a:t>
            </a:r>
            <a:r>
              <a:rPr sz="2000" spc="-7" dirty="0">
                <a:latin typeface="Arial"/>
                <a:cs typeface="Arial"/>
              </a:rPr>
              <a:t>generating </a:t>
            </a:r>
            <a:r>
              <a:rPr sz="2000" dirty="0">
                <a:latin typeface="Arial"/>
                <a:cs typeface="Arial"/>
              </a:rPr>
              <a:t>caption </a:t>
            </a:r>
            <a:r>
              <a:rPr sz="2000" spc="-7" dirty="0">
                <a:latin typeface="Arial"/>
                <a:cs typeface="Arial"/>
              </a:rPr>
              <a:t>from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image)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012B41-ED3E-BDC3-4AC7-433E8E4F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1710" y="1306683"/>
            <a:ext cx="9480973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spc="-187" dirty="0">
                <a:solidFill>
                  <a:srgbClr val="1A1A1A"/>
                </a:solidFill>
                <a:latin typeface="Trebuchet MS"/>
                <a:cs typeface="Trebuchet MS"/>
              </a:rPr>
              <a:t>Tr</a:t>
            </a:r>
            <a:r>
              <a:rPr sz="4267" spc="147" dirty="0">
                <a:solidFill>
                  <a:srgbClr val="1A1A1A"/>
                </a:solidFill>
                <a:latin typeface="Trebuchet MS"/>
                <a:cs typeface="Trebuchet MS"/>
              </a:rPr>
              <a:t>ansl</a:t>
            </a:r>
            <a:r>
              <a:rPr sz="4267" spc="152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z="4267" spc="-7" dirty="0">
                <a:solidFill>
                  <a:srgbClr val="1A1A1A"/>
                </a:solidFill>
                <a:latin typeface="Trebuchet MS"/>
                <a:cs typeface="Trebuchet MS"/>
              </a:rPr>
              <a:t>tion</a:t>
            </a:r>
            <a:r>
              <a:rPr sz="4267" spc="-26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160" dirty="0">
                <a:solidFill>
                  <a:srgbClr val="1A1A1A"/>
                </a:solidFill>
                <a:latin typeface="Trebuchet MS"/>
                <a:cs typeface="Trebuchet MS"/>
              </a:rPr>
              <a:t>using</a:t>
            </a:r>
            <a:r>
              <a:rPr sz="4267" spc="-26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120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4267" spc="14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4267" spc="100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267" spc="93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r>
              <a:rPr sz="4267" spc="-35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213" dirty="0">
                <a:solidFill>
                  <a:srgbClr val="1A1A1A"/>
                </a:solidFill>
                <a:latin typeface="Trebuchet MS"/>
                <a:cs typeface="Trebuchet MS"/>
              </a:rPr>
              <a:t>-</a:t>
            </a:r>
            <a:r>
              <a:rPr sz="4267" spc="-26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4267" spc="220" dirty="0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sz="4267" spc="160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4267" spc="93" dirty="0">
                <a:solidFill>
                  <a:srgbClr val="1A1A1A"/>
                </a:solidFill>
                <a:latin typeface="Trebuchet MS"/>
                <a:cs typeface="Trebuchet MS"/>
              </a:rPr>
              <a:t>oder</a:t>
            </a:r>
            <a:endParaRPr sz="4267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295" y="2657179"/>
            <a:ext cx="4960620" cy="33410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Issues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2400" dirty="0">
              <a:latin typeface="Arial"/>
              <a:cs typeface="Arial"/>
            </a:endParaRPr>
          </a:p>
          <a:p>
            <a:pPr marL="474121" indent="-397077">
              <a:buChar char="•"/>
              <a:tabLst>
                <a:tab pos="473275" algn="l"/>
                <a:tab pos="474121" algn="l"/>
              </a:tabLst>
            </a:pPr>
            <a:r>
              <a:rPr sz="2400" dirty="0">
                <a:latin typeface="Arial"/>
                <a:cs typeface="Arial"/>
              </a:rPr>
              <a:t>Meaning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is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crammed</a:t>
            </a:r>
          </a:p>
          <a:p>
            <a:pPr>
              <a:spcBef>
                <a:spcPts val="7"/>
              </a:spcBef>
              <a:buFont typeface="Arial"/>
              <a:buChar char="•"/>
            </a:pPr>
            <a:endParaRPr sz="2400" dirty="0">
              <a:latin typeface="Arial"/>
              <a:cs typeface="Arial"/>
            </a:endParaRPr>
          </a:p>
          <a:p>
            <a:pPr marL="474121" indent="-397077">
              <a:buChar char="•"/>
              <a:tabLst>
                <a:tab pos="473275" algn="l"/>
                <a:tab pos="474121" algn="l"/>
              </a:tabLst>
            </a:pPr>
            <a:r>
              <a:rPr sz="2400" spc="-7" dirty="0">
                <a:latin typeface="Arial"/>
                <a:cs typeface="Arial"/>
              </a:rPr>
              <a:t>Long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term</a:t>
            </a:r>
            <a:r>
              <a:rPr sz="2400" spc="-67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dependencies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7"/>
              </a:spcBef>
              <a:buFont typeface="Arial"/>
              <a:buChar char="•"/>
            </a:pPr>
            <a:endParaRPr sz="2400" dirty="0">
              <a:latin typeface="Arial"/>
              <a:cs typeface="Arial"/>
            </a:endParaRPr>
          </a:p>
          <a:p>
            <a:pPr marL="474121" indent="-397077">
              <a:buChar char="•"/>
              <a:tabLst>
                <a:tab pos="473275" algn="l"/>
                <a:tab pos="474121" algn="l"/>
              </a:tabLst>
            </a:pPr>
            <a:r>
              <a:rPr sz="2400" spc="-20" dirty="0">
                <a:latin typeface="Arial"/>
                <a:cs typeface="Arial"/>
              </a:rPr>
              <a:t>Word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alignment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7"/>
              </a:spcBef>
              <a:buFont typeface="Arial"/>
              <a:buChar char="•"/>
            </a:pPr>
            <a:endParaRPr sz="2400" dirty="0">
              <a:latin typeface="Arial"/>
              <a:cs typeface="Arial"/>
            </a:endParaRPr>
          </a:p>
          <a:p>
            <a:pPr marL="474121" indent="-397077">
              <a:buChar char="•"/>
              <a:tabLst>
                <a:tab pos="473275" algn="l"/>
                <a:tab pos="474121" algn="l"/>
              </a:tabLst>
            </a:pPr>
            <a:r>
              <a:rPr sz="2400" spc="-20" dirty="0">
                <a:latin typeface="Arial"/>
                <a:cs typeface="Arial"/>
              </a:rPr>
              <a:t>Word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interdependencies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F48748-3DB3-25E7-DC21-976CA6EC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16830" y="1556353"/>
            <a:ext cx="11320780" cy="31153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spc="20" dirty="0">
                <a:solidFill>
                  <a:srgbClr val="1A1A1A"/>
                </a:solidFill>
                <a:latin typeface="Trebuchet MS"/>
                <a:cs typeface="Trebuchet MS"/>
              </a:rPr>
              <a:t>Translation</a:t>
            </a:r>
            <a:r>
              <a:rPr sz="3200" b="1" spc="-19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b="1" spc="100" dirty="0">
                <a:solidFill>
                  <a:srgbClr val="1A1A1A"/>
                </a:solidFill>
                <a:latin typeface="Trebuchet MS"/>
                <a:cs typeface="Trebuchet MS"/>
              </a:rPr>
              <a:t>issues</a:t>
            </a:r>
            <a:r>
              <a:rPr sz="3200" b="1" spc="-18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b="1" spc="93" dirty="0">
                <a:solidFill>
                  <a:srgbClr val="1A1A1A"/>
                </a:solidFill>
                <a:latin typeface="Trebuchet MS"/>
                <a:cs typeface="Trebuchet MS"/>
              </a:rPr>
              <a:t>(long</a:t>
            </a:r>
            <a:r>
              <a:rPr sz="3200" b="1" spc="-19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b="1" spc="27" dirty="0">
                <a:solidFill>
                  <a:srgbClr val="1A1A1A"/>
                </a:solidFill>
                <a:latin typeface="Trebuchet MS"/>
                <a:cs typeface="Trebuchet MS"/>
              </a:rPr>
              <a:t>term</a:t>
            </a:r>
            <a:r>
              <a:rPr sz="3200" b="1" spc="-18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b="1" spc="73" dirty="0">
                <a:solidFill>
                  <a:srgbClr val="1A1A1A"/>
                </a:solidFill>
                <a:latin typeface="Trebuchet MS"/>
                <a:cs typeface="Trebuchet MS"/>
              </a:rPr>
              <a:t>dependencies)</a:t>
            </a:r>
            <a:endParaRPr sz="3200" dirty="0">
              <a:latin typeface="Trebuchet MS"/>
              <a:cs typeface="Trebuchet MS"/>
            </a:endParaRPr>
          </a:p>
          <a:p>
            <a:pPr>
              <a:spcBef>
                <a:spcPts val="20"/>
              </a:spcBef>
            </a:pPr>
            <a:endParaRPr sz="4933" dirty="0">
              <a:latin typeface="Trebuchet MS"/>
              <a:cs typeface="Trebuchet MS"/>
            </a:endParaRPr>
          </a:p>
          <a:p>
            <a:pPr marL="474121" indent="-397077">
              <a:buChar char="•"/>
              <a:tabLst>
                <a:tab pos="473275" algn="l"/>
                <a:tab pos="474121" algn="l"/>
              </a:tabLst>
            </a:pP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model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not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remember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enough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7"/>
              </a:spcBef>
              <a:buFont typeface="Arial"/>
              <a:buChar char="•"/>
            </a:pPr>
            <a:endParaRPr sz="2000" dirty="0">
              <a:latin typeface="Arial"/>
              <a:cs typeface="Arial"/>
            </a:endParaRPr>
          </a:p>
          <a:p>
            <a:pPr marL="474121" indent="-397077">
              <a:buChar char="•"/>
              <a:tabLst>
                <a:tab pos="473275" algn="l"/>
                <a:tab pos="474121" algn="l"/>
              </a:tabLst>
            </a:pPr>
            <a:r>
              <a:rPr sz="2000" spc="-7" dirty="0">
                <a:latin typeface="Arial"/>
                <a:cs typeface="Arial"/>
              </a:rPr>
              <a:t>Only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final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Encoder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used</a:t>
            </a:r>
            <a:endParaRPr sz="2000" dirty="0">
              <a:latin typeface="Arial"/>
              <a:cs typeface="Arial"/>
            </a:endParaRPr>
          </a:p>
          <a:p>
            <a:pPr marL="16933" marR="2822716" indent="60112">
              <a:lnSpc>
                <a:spcPct val="200000"/>
              </a:lnSpc>
              <a:buChar char="•"/>
              <a:tabLst>
                <a:tab pos="473275" algn="l"/>
                <a:tab pos="474121" algn="l"/>
              </a:tabLst>
            </a:pPr>
            <a:r>
              <a:rPr sz="2000" spc="-7" dirty="0">
                <a:latin typeface="Arial"/>
                <a:cs typeface="Arial"/>
              </a:rPr>
              <a:t>Each encoder </a:t>
            </a:r>
            <a:r>
              <a:rPr sz="2000" dirty="0">
                <a:latin typeface="Arial"/>
                <a:cs typeface="Arial"/>
              </a:rPr>
              <a:t>state </a:t>
            </a:r>
            <a:r>
              <a:rPr sz="2000" spc="-7" dirty="0">
                <a:latin typeface="Arial"/>
                <a:cs typeface="Arial"/>
              </a:rPr>
              <a:t>has </a:t>
            </a:r>
            <a:r>
              <a:rPr sz="2000" dirty="0">
                <a:latin typeface="Arial"/>
                <a:cs typeface="Arial"/>
              </a:rPr>
              <a:t>valuable </a:t>
            </a:r>
            <a:r>
              <a:rPr sz="2000" spc="-7" dirty="0">
                <a:latin typeface="Arial"/>
                <a:cs typeface="Arial"/>
              </a:rPr>
              <a:t>information </a:t>
            </a:r>
            <a:r>
              <a:rPr sz="2000" spc="-880" dirty="0">
                <a:latin typeface="Arial"/>
                <a:cs typeface="Arial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Difficult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retain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&gt;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30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words</a:t>
            </a:r>
            <a:endParaRPr sz="2000" dirty="0">
              <a:latin typeface="Arial"/>
              <a:cs typeface="Arial"/>
            </a:endParaRPr>
          </a:p>
          <a:p>
            <a:pPr marL="16933"/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“Born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France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..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Went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EPFL</a:t>
            </a:r>
            <a:r>
              <a:rPr sz="2000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Switzerland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..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speak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fluent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..”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1B994-DD7E-E925-F112-DF2FBBBE7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22400" y="1933448"/>
            <a:ext cx="8045450" cy="3959352"/>
            <a:chOff x="823912" y="1046226"/>
            <a:chExt cx="7496175" cy="3733800"/>
          </a:xfrm>
        </p:grpSpPr>
        <p:sp>
          <p:nvSpPr>
            <p:cNvPr id="3" name="object 3"/>
            <p:cNvSpPr/>
            <p:nvPr/>
          </p:nvSpPr>
          <p:spPr>
            <a:xfrm>
              <a:off x="1203295" y="1191255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5"/>
                  </a:moveTo>
                  <a:lnTo>
                    <a:pt x="0" y="45825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5"/>
                  </a:lnTo>
                  <a:close/>
                </a:path>
              </a:pathLst>
            </a:custGeom>
            <a:solidFill>
              <a:srgbClr val="EB55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830391" y="1191255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1" y="45825"/>
                  </a:moveTo>
                  <a:lnTo>
                    <a:pt x="0" y="45825"/>
                  </a:lnTo>
                  <a:lnTo>
                    <a:pt x="0" y="0"/>
                  </a:lnTo>
                  <a:lnTo>
                    <a:pt x="376011" y="0"/>
                  </a:lnTo>
                  <a:lnTo>
                    <a:pt x="376011" y="45825"/>
                  </a:lnTo>
                  <a:close/>
                </a:path>
              </a:pathLst>
            </a:custGeom>
            <a:solidFill>
              <a:srgbClr val="1A998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3912" y="1046226"/>
              <a:ext cx="7496174" cy="37337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9790" y="1246032"/>
            <a:ext cx="701717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20" dirty="0">
                <a:solidFill>
                  <a:srgbClr val="1A1A1A"/>
                </a:solidFill>
                <a:latin typeface="Trebuchet MS"/>
                <a:cs typeface="Trebuchet MS"/>
              </a:rPr>
              <a:t>Translation</a:t>
            </a:r>
            <a:r>
              <a:rPr sz="3200" spc="-19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100" dirty="0">
                <a:solidFill>
                  <a:srgbClr val="1A1A1A"/>
                </a:solidFill>
                <a:latin typeface="Trebuchet MS"/>
                <a:cs typeface="Trebuchet MS"/>
              </a:rPr>
              <a:t>issues</a:t>
            </a:r>
            <a:r>
              <a:rPr sz="3200" spc="-19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67" dirty="0">
                <a:solidFill>
                  <a:srgbClr val="1A1A1A"/>
                </a:solidFill>
                <a:latin typeface="Trebuchet MS"/>
                <a:cs typeface="Trebuchet MS"/>
              </a:rPr>
              <a:t>(Word</a:t>
            </a:r>
            <a:r>
              <a:rPr sz="3200" spc="-18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60" dirty="0">
                <a:solidFill>
                  <a:srgbClr val="1A1A1A"/>
                </a:solidFill>
                <a:latin typeface="Trebuchet MS"/>
                <a:cs typeface="Trebuchet MS"/>
              </a:rPr>
              <a:t>alignment)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14FB8-9B70-CABF-D0D9-EAD3C9744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117</a:t>
            </a:fld>
            <a:endParaRPr lang="en-US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0750" y="1201170"/>
            <a:ext cx="701717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20" dirty="0">
                <a:solidFill>
                  <a:srgbClr val="1A1A1A"/>
                </a:solidFill>
                <a:latin typeface="Trebuchet MS"/>
                <a:cs typeface="Trebuchet MS"/>
              </a:rPr>
              <a:t>Translation</a:t>
            </a:r>
            <a:r>
              <a:rPr sz="3200" spc="-19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100" dirty="0">
                <a:solidFill>
                  <a:srgbClr val="1A1A1A"/>
                </a:solidFill>
                <a:latin typeface="Trebuchet MS"/>
                <a:cs typeface="Trebuchet MS"/>
              </a:rPr>
              <a:t>issues</a:t>
            </a:r>
            <a:r>
              <a:rPr sz="3200" spc="-19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67" dirty="0">
                <a:solidFill>
                  <a:srgbClr val="1A1A1A"/>
                </a:solidFill>
                <a:latin typeface="Trebuchet MS"/>
                <a:cs typeface="Trebuchet MS"/>
              </a:rPr>
              <a:t>(Word</a:t>
            </a:r>
            <a:r>
              <a:rPr sz="3200" spc="-18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60" dirty="0">
                <a:solidFill>
                  <a:srgbClr val="1A1A1A"/>
                </a:solidFill>
                <a:latin typeface="Trebuchet MS"/>
                <a:cs typeface="Trebuchet MS"/>
              </a:rPr>
              <a:t>alignment)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396" y="1988775"/>
            <a:ext cx="10787048" cy="428145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A53A6-8622-5E87-3F4E-B6603522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118</a:t>
            </a:fld>
            <a:endParaRPr lang="en-US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5280" y="701040"/>
            <a:ext cx="5171440" cy="598424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6B4204-15C1-E8B1-BD45-3481C0D5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9950" y="1363730"/>
            <a:ext cx="755311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20" dirty="0">
                <a:solidFill>
                  <a:srgbClr val="1A1A1A"/>
                </a:solidFill>
                <a:latin typeface="Trebuchet MS"/>
                <a:cs typeface="Trebuchet MS"/>
              </a:rPr>
              <a:t>Translation</a:t>
            </a:r>
            <a:r>
              <a:rPr sz="3200" spc="-21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100" dirty="0">
                <a:solidFill>
                  <a:srgbClr val="1A1A1A"/>
                </a:solidFill>
                <a:latin typeface="Trebuchet MS"/>
                <a:cs typeface="Trebuchet MS"/>
              </a:rPr>
              <a:t>issues</a:t>
            </a:r>
            <a:r>
              <a:rPr sz="3200" spc="-21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40" dirty="0">
                <a:solidFill>
                  <a:srgbClr val="1A1A1A"/>
                </a:solidFill>
                <a:latin typeface="Trebuchet MS"/>
                <a:cs typeface="Trebuchet MS"/>
              </a:rPr>
              <a:t>(Interdependencies)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1" y="2275586"/>
            <a:ext cx="9677399" cy="38861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98DC46-2BC8-1F89-9393-69370BAE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120</a:t>
            </a:fld>
            <a:endParaRPr lang="en-US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0750" y="1333250"/>
            <a:ext cx="3511127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20" dirty="0">
                <a:solidFill>
                  <a:srgbClr val="1A1A1A"/>
                </a:solidFill>
                <a:latin typeface="Trebuchet MS"/>
                <a:cs typeface="Trebuchet MS"/>
              </a:rPr>
              <a:t>Translation</a:t>
            </a:r>
            <a:r>
              <a:rPr sz="3200"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100" dirty="0">
                <a:solidFill>
                  <a:srgbClr val="1A1A1A"/>
                </a:solidFill>
                <a:latin typeface="Trebuchet MS"/>
                <a:cs typeface="Trebuchet MS"/>
              </a:rPr>
              <a:t>issues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743" y="2166113"/>
            <a:ext cx="8753687" cy="27942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Interdependencies</a:t>
            </a:r>
            <a:endParaRPr sz="2000" dirty="0">
              <a:latin typeface="Arial"/>
              <a:cs typeface="Arial"/>
            </a:endParaRPr>
          </a:p>
          <a:p>
            <a:pPr marL="16933" marR="3401822">
              <a:lnSpc>
                <a:spcPct val="200000"/>
              </a:lnSpc>
            </a:pPr>
            <a:r>
              <a:rPr sz="2000" spc="-7" dirty="0">
                <a:latin typeface="Arial"/>
                <a:cs typeface="Arial"/>
              </a:rPr>
              <a:t>Crammed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meaning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(due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context) </a:t>
            </a:r>
            <a:r>
              <a:rPr sz="2000" spc="-72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Word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alignment</a:t>
            </a:r>
            <a:endParaRPr sz="2000" dirty="0">
              <a:latin typeface="Arial"/>
              <a:cs typeface="Arial"/>
            </a:endParaRPr>
          </a:p>
          <a:p>
            <a:pPr marL="16933" marR="6773">
              <a:lnSpc>
                <a:spcPct val="200000"/>
              </a:lnSpc>
            </a:pPr>
            <a:r>
              <a:rPr sz="2000" spc="-20" dirty="0">
                <a:latin typeface="Arial"/>
                <a:cs typeface="Arial"/>
              </a:rPr>
              <a:t>Words </a:t>
            </a:r>
            <a:r>
              <a:rPr sz="2000" dirty="0">
                <a:latin typeface="Arial"/>
                <a:cs typeface="Arial"/>
              </a:rPr>
              <a:t>may </a:t>
            </a:r>
            <a:r>
              <a:rPr sz="2000" spc="-7" dirty="0">
                <a:latin typeface="Arial"/>
                <a:cs typeface="Arial"/>
              </a:rPr>
              <a:t>or </a:t>
            </a:r>
            <a:r>
              <a:rPr sz="2000" dirty="0">
                <a:latin typeface="Arial"/>
                <a:cs typeface="Arial"/>
              </a:rPr>
              <a:t>may </a:t>
            </a:r>
            <a:r>
              <a:rPr sz="2000" spc="-7" dirty="0">
                <a:latin typeface="Arial"/>
                <a:cs typeface="Arial"/>
              </a:rPr>
              <a:t>not </a:t>
            </a:r>
            <a:r>
              <a:rPr sz="2000" dirty="0">
                <a:latin typeface="Arial"/>
                <a:cs typeface="Arial"/>
              </a:rPr>
              <a:t>compose (green </a:t>
            </a:r>
            <a:r>
              <a:rPr sz="2000" spc="-7" dirty="0">
                <a:latin typeface="Arial"/>
                <a:cs typeface="Arial"/>
              </a:rPr>
              <a:t>apple, hot dog)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Word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ordering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important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(I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hit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him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eye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yesterday)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166BB7-AE3B-90EA-D28F-C93DF0C4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9790" y="1411264"/>
            <a:ext cx="742865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167" dirty="0">
                <a:solidFill>
                  <a:srgbClr val="1A1A1A"/>
                </a:solidFill>
                <a:latin typeface="Trebuchet MS"/>
                <a:cs typeface="Trebuchet MS"/>
              </a:rPr>
              <a:t>H</a:t>
            </a:r>
            <a:r>
              <a:rPr sz="3200" spc="67" dirty="0">
                <a:solidFill>
                  <a:srgbClr val="1A1A1A"/>
                </a:solidFill>
                <a:latin typeface="Trebuchet MS"/>
                <a:cs typeface="Trebuchet MS"/>
              </a:rPr>
              <a:t>o</a:t>
            </a:r>
            <a:r>
              <a:rPr sz="3200" spc="173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z="3200" spc="-28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-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3200" spc="127" dirty="0">
                <a:solidFill>
                  <a:srgbClr val="1A1A1A"/>
                </a:solidFill>
                <a:latin typeface="Trebuchet MS"/>
                <a:cs typeface="Trebuchet MS"/>
              </a:rPr>
              <a:t>o</a:t>
            </a:r>
            <a:r>
              <a:rPr sz="3200" spc="-20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-152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z="3200" spc="53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3200" spc="-7" dirty="0">
                <a:solidFill>
                  <a:srgbClr val="1A1A1A"/>
                </a:solidFill>
                <a:latin typeface="Trebuchet MS"/>
                <a:cs typeface="Trebuchet MS"/>
              </a:rPr>
              <a:t>tain</a:t>
            </a:r>
            <a:r>
              <a:rPr sz="3200" spc="-20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87" dirty="0">
                <a:solidFill>
                  <a:srgbClr val="1A1A1A"/>
                </a:solidFill>
                <a:latin typeface="Trebuchet MS"/>
                <a:cs typeface="Trebuchet MS"/>
              </a:rPr>
              <a:t>mo</a:t>
            </a:r>
            <a:r>
              <a:rPr sz="3200" spc="2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z="3200" spc="73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3200" spc="-20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113" dirty="0">
                <a:solidFill>
                  <a:srgbClr val="1A1A1A"/>
                </a:solidFill>
                <a:latin typeface="Trebuchet MS"/>
                <a:cs typeface="Trebuchet MS"/>
              </a:rPr>
              <a:t>meaning</a:t>
            </a:r>
            <a:r>
              <a:rPr sz="3200" spc="-20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3200" spc="-253" dirty="0">
                <a:solidFill>
                  <a:srgbClr val="1A1A1A"/>
                </a:solidFill>
                <a:latin typeface="Trebuchet MS"/>
                <a:cs typeface="Trebuchet MS"/>
              </a:rPr>
              <a:t>(</a:t>
            </a:r>
            <a:r>
              <a:rPr sz="3200" spc="227" dirty="0">
                <a:solidFill>
                  <a:srgbClr val="1A1A1A"/>
                </a:solidFill>
                <a:latin typeface="Trebuchet MS"/>
                <a:cs typeface="Trebuchet MS"/>
              </a:rPr>
              <a:t>C</a:t>
            </a:r>
            <a:r>
              <a:rPr sz="3200" spc="80" dirty="0">
                <a:solidFill>
                  <a:srgbClr val="1A1A1A"/>
                </a:solidFill>
                <a:latin typeface="Trebuchet MS"/>
                <a:cs typeface="Trebuchet MS"/>
              </a:rPr>
              <a:t>on</a:t>
            </a:r>
            <a:r>
              <a:rPr sz="3200" spc="-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3200" spc="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3200" spc="-100" dirty="0">
                <a:solidFill>
                  <a:srgbClr val="1A1A1A"/>
                </a:solidFill>
                <a:latin typeface="Trebuchet MS"/>
                <a:cs typeface="Trebuchet MS"/>
              </a:rPr>
              <a:t>xt)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663" y="3528907"/>
            <a:ext cx="9652845" cy="2520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13163" indent="-397077">
              <a:spcBef>
                <a:spcPts val="133"/>
              </a:spcBef>
              <a:buChar char="•"/>
              <a:tabLst>
                <a:tab pos="412316" algn="l"/>
                <a:tab pos="414010" algn="l"/>
              </a:tabLst>
            </a:pPr>
            <a:r>
              <a:rPr sz="3200" spc="-7" dirty="0">
                <a:latin typeface="Arial"/>
                <a:cs typeface="Arial"/>
              </a:rPr>
              <a:t>Decoding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is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done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using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only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final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context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  <a:buFont typeface="Arial"/>
              <a:buChar char="•"/>
            </a:pPr>
            <a:endParaRPr sz="3333">
              <a:latin typeface="Arial"/>
              <a:cs typeface="Arial"/>
            </a:endParaRPr>
          </a:p>
          <a:p>
            <a:pPr marL="518147" indent="-502061">
              <a:buChar char="•"/>
              <a:tabLst>
                <a:tab pos="518147" algn="l"/>
                <a:tab pos="518994" algn="l"/>
              </a:tabLst>
            </a:pPr>
            <a:r>
              <a:rPr sz="3200" spc="-7" dirty="0">
                <a:latin typeface="Arial"/>
                <a:cs typeface="Arial"/>
              </a:rPr>
              <a:t>The</a:t>
            </a:r>
            <a:r>
              <a:rPr sz="3200" spc="-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final</a:t>
            </a:r>
            <a:r>
              <a:rPr sz="3200" spc="-3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context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doesn’t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capture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entire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information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  <a:buFont typeface="Arial"/>
              <a:buChar char="•"/>
            </a:pPr>
            <a:endParaRPr sz="3333">
              <a:latin typeface="Arial"/>
              <a:cs typeface="Arial"/>
            </a:endParaRPr>
          </a:p>
          <a:p>
            <a:pPr marL="413163" indent="-397077">
              <a:buChar char="•"/>
              <a:tabLst>
                <a:tab pos="412316" algn="l"/>
                <a:tab pos="414010" algn="l"/>
              </a:tabLst>
            </a:pPr>
            <a:r>
              <a:rPr sz="3200" spc="-7" dirty="0">
                <a:latin typeface="Arial"/>
                <a:cs typeface="Arial"/>
              </a:rPr>
              <a:t>Can</a:t>
            </a:r>
            <a:r>
              <a:rPr sz="3200" spc="-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we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use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intermediate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contexts?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049" y="2165286"/>
            <a:ext cx="11137899" cy="6095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43FBB-9013-8038-1B64-E826A9E2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9145" y="2331598"/>
            <a:ext cx="4559300" cy="247931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indent="327652">
              <a:lnSpc>
                <a:spcPct val="100000"/>
              </a:lnSpc>
              <a:spcBef>
                <a:spcPts val="133"/>
              </a:spcBef>
            </a:pPr>
            <a:r>
              <a:rPr sz="8000" spc="880" dirty="0">
                <a:solidFill>
                  <a:srgbClr val="1A1A1A"/>
                </a:solidFill>
                <a:latin typeface="Trebuchet MS"/>
                <a:cs typeface="Trebuchet MS"/>
              </a:rPr>
              <a:t>M</a:t>
            </a:r>
            <a:r>
              <a:rPr sz="8000" spc="300" dirty="0">
                <a:solidFill>
                  <a:srgbClr val="1A1A1A"/>
                </a:solidFill>
                <a:latin typeface="Trebuchet MS"/>
                <a:cs typeface="Trebuchet MS"/>
              </a:rPr>
              <a:t>odel</a:t>
            </a:r>
            <a:r>
              <a:rPr sz="8000" spc="-70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8000" spc="-87" dirty="0">
                <a:solidFill>
                  <a:srgbClr val="1A1A1A"/>
                </a:solidFill>
                <a:latin typeface="Trebuchet MS"/>
                <a:cs typeface="Trebuchet MS"/>
              </a:rPr>
              <a:t>4  </a:t>
            </a:r>
            <a:r>
              <a:rPr sz="8000" spc="87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z="8000" spc="-12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8000" spc="-152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8000" spc="14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z="8000" spc="127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z="8000" spc="-7" dirty="0">
                <a:solidFill>
                  <a:srgbClr val="1A1A1A"/>
                </a:solidFill>
                <a:latin typeface="Trebuchet MS"/>
                <a:cs typeface="Trebuchet MS"/>
              </a:rPr>
              <a:t>tion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CEB4AC-519A-F93C-1670-8ACB5510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123</a:t>
            </a:fld>
            <a:endParaRPr lang="en-US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0590" y="1519857"/>
            <a:ext cx="779565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320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140" dirty="0">
                <a:solidFill>
                  <a:srgbClr val="1A1A1A"/>
                </a:solidFill>
                <a:latin typeface="Trebuchet MS"/>
                <a:cs typeface="Trebuchet MS"/>
              </a:rPr>
              <a:t>eed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or</a:t>
            </a:r>
            <a:r>
              <a:rPr spc="-42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5189" y="2829764"/>
            <a:ext cx="10469879" cy="250837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944">
              <a:spcBef>
                <a:spcPts val="160"/>
              </a:spcBef>
            </a:pPr>
            <a:r>
              <a:rPr sz="2000" b="1" spc="-100" dirty="0">
                <a:solidFill>
                  <a:srgbClr val="595959"/>
                </a:solidFill>
                <a:latin typeface="Tahoma"/>
                <a:cs typeface="Tahoma"/>
              </a:rPr>
              <a:t>Attention</a:t>
            </a:r>
            <a:r>
              <a:rPr sz="2000" b="1" spc="-293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b="1" spc="-187" dirty="0">
                <a:solidFill>
                  <a:srgbClr val="595959"/>
                </a:solidFill>
                <a:latin typeface="Tahoma"/>
                <a:cs typeface="Tahoma"/>
              </a:rPr>
              <a:t>removes</a:t>
            </a:r>
            <a:r>
              <a:rPr sz="2000" b="1" spc="-293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b="1" spc="-133" dirty="0">
                <a:solidFill>
                  <a:srgbClr val="595959"/>
                </a:solidFill>
                <a:latin typeface="Tahoma"/>
                <a:cs typeface="Tahoma"/>
              </a:rPr>
              <a:t>bottleneck</a:t>
            </a:r>
            <a:r>
              <a:rPr sz="2000" b="1" spc="-293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b="1" spc="-113" dirty="0">
                <a:solidFill>
                  <a:srgbClr val="595959"/>
                </a:solidFill>
                <a:latin typeface="Tahoma"/>
                <a:cs typeface="Tahoma"/>
              </a:rPr>
              <a:t>of</a:t>
            </a:r>
            <a:r>
              <a:rPr sz="2000" b="1" spc="-287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b="1" spc="-140" dirty="0">
                <a:solidFill>
                  <a:srgbClr val="595959"/>
                </a:solidFill>
                <a:latin typeface="Tahoma"/>
                <a:cs typeface="Tahoma"/>
              </a:rPr>
              <a:t>Encoder-Decoder</a:t>
            </a:r>
            <a:r>
              <a:rPr sz="2000" b="1" spc="-293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b="1" spc="-173" dirty="0">
                <a:solidFill>
                  <a:srgbClr val="595959"/>
                </a:solidFill>
                <a:latin typeface="Tahoma"/>
                <a:cs typeface="Tahoma"/>
              </a:rPr>
              <a:t>model</a:t>
            </a:r>
            <a:endParaRPr sz="2000" dirty="0">
              <a:latin typeface="Tahoma"/>
              <a:cs typeface="Tahoma"/>
            </a:endParaRPr>
          </a:p>
          <a:p>
            <a:pPr>
              <a:spcBef>
                <a:spcPts val="20"/>
              </a:spcBef>
            </a:pPr>
            <a:endParaRPr sz="2000" dirty="0">
              <a:latin typeface="Tahoma"/>
              <a:cs typeface="Tahoma"/>
            </a:endParaRPr>
          </a:p>
          <a:p>
            <a:pPr marL="454649" indent="-437716">
              <a:spcBef>
                <a:spcPts val="7"/>
              </a:spcBef>
              <a:buSzPct val="6500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000" spc="120" dirty="0">
                <a:solidFill>
                  <a:srgbClr val="595959"/>
                </a:solidFill>
                <a:latin typeface="Tahoma"/>
                <a:cs typeface="Tahoma"/>
              </a:rPr>
              <a:t>P</a:t>
            </a:r>
            <a:r>
              <a:rPr sz="2000" spc="-73" dirty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sz="2000" spc="60" dirty="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sz="2000" spc="-313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spc="47" dirty="0">
                <a:solidFill>
                  <a:srgbClr val="595959"/>
                </a:solidFill>
                <a:latin typeface="Tahoma"/>
                <a:cs typeface="Tahoma"/>
              </a:rPr>
              <a:t>selecti</a:t>
            </a:r>
            <a:r>
              <a:rPr sz="2000" spc="20" dirty="0">
                <a:solidFill>
                  <a:srgbClr val="595959"/>
                </a:solidFill>
                <a:latin typeface="Tahoma"/>
                <a:cs typeface="Tahoma"/>
              </a:rPr>
              <a:t>v</a:t>
            </a:r>
            <a:r>
              <a:rPr sz="2000" spc="13" dirty="0">
                <a:solidFill>
                  <a:srgbClr val="595959"/>
                </a:solidFill>
                <a:latin typeface="Tahoma"/>
                <a:cs typeface="Tahoma"/>
              </a:rPr>
              <a:t>e</a:t>
            </a:r>
            <a:r>
              <a:rPr sz="2000" spc="-313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595959"/>
                </a:solidFill>
                <a:latin typeface="Tahoma"/>
                <a:cs typeface="Tahoma"/>
              </a:rPr>
              <a:t>attention</a:t>
            </a:r>
            <a:r>
              <a:rPr sz="2000" spc="-327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spc="87" dirty="0">
                <a:solidFill>
                  <a:srgbClr val="1A1A1A"/>
                </a:solidFill>
                <a:latin typeface="Tahoma"/>
                <a:cs typeface="Tahoma"/>
              </a:rPr>
              <a:t>to</a:t>
            </a:r>
            <a:r>
              <a:rPr sz="2000" spc="-31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53" dirty="0">
                <a:solidFill>
                  <a:srgbClr val="1A1A1A"/>
                </a:solidFill>
                <a:latin typeface="Tahoma"/>
                <a:cs typeface="Tahoma"/>
              </a:rPr>
              <a:t>rel</a:t>
            </a:r>
            <a:r>
              <a:rPr sz="2000" spc="40" dirty="0">
                <a:solidFill>
                  <a:srgbClr val="1A1A1A"/>
                </a:solidFill>
                <a:latin typeface="Tahoma"/>
                <a:cs typeface="Tahoma"/>
              </a:rPr>
              <a:t>evant</a:t>
            </a:r>
            <a:r>
              <a:rPr sz="2000" spc="-31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47" dirty="0">
                <a:solidFill>
                  <a:srgbClr val="1A1A1A"/>
                </a:solidFill>
                <a:latin typeface="Tahoma"/>
                <a:cs typeface="Tahoma"/>
              </a:rPr>
              <a:t>parts</a:t>
            </a:r>
            <a:r>
              <a:rPr sz="2000" spc="-31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1A1A1A"/>
                </a:solidFill>
                <a:latin typeface="Tahoma"/>
                <a:cs typeface="Tahoma"/>
              </a:rPr>
              <a:t>of</a:t>
            </a:r>
            <a:r>
              <a:rPr sz="2000" spc="-31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53" dirty="0">
                <a:solidFill>
                  <a:srgbClr val="1A1A1A"/>
                </a:solidFill>
                <a:latin typeface="Tahoma"/>
                <a:cs typeface="Tahoma"/>
              </a:rPr>
              <a:t>input</a:t>
            </a:r>
            <a:endParaRPr sz="2000" dirty="0">
              <a:latin typeface="Tahoma"/>
              <a:cs typeface="Tahoma"/>
            </a:endParaRPr>
          </a:p>
          <a:p>
            <a:pPr>
              <a:spcBef>
                <a:spcPts val="13"/>
              </a:spcBef>
              <a:buClr>
                <a:srgbClr val="595959"/>
              </a:buClr>
              <a:buFont typeface="Arial"/>
              <a:buChar char="●"/>
            </a:pPr>
            <a:endParaRPr sz="2000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6500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000" spc="93" dirty="0">
                <a:solidFill>
                  <a:srgbClr val="1A1A1A"/>
                </a:solidFill>
                <a:latin typeface="Tahoma"/>
                <a:cs typeface="Tahoma"/>
              </a:rPr>
              <a:t>Utilize</a:t>
            </a:r>
            <a:r>
              <a:rPr sz="2000" spc="-31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47" dirty="0">
                <a:solidFill>
                  <a:srgbClr val="595959"/>
                </a:solidFill>
                <a:latin typeface="Tahoma"/>
                <a:cs typeface="Tahoma"/>
              </a:rPr>
              <a:t>all</a:t>
            </a:r>
            <a:r>
              <a:rPr sz="2000" spc="-313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spc="47" dirty="0">
                <a:solidFill>
                  <a:srgbClr val="595959"/>
                </a:solidFill>
                <a:latin typeface="Tahoma"/>
                <a:cs typeface="Tahoma"/>
              </a:rPr>
              <a:t>intermediate</a:t>
            </a:r>
            <a:r>
              <a:rPr sz="2000" spc="-313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spc="33" dirty="0">
                <a:solidFill>
                  <a:srgbClr val="595959"/>
                </a:solidFill>
                <a:latin typeface="Tahoma"/>
                <a:cs typeface="Tahoma"/>
              </a:rPr>
              <a:t>states</a:t>
            </a:r>
            <a:r>
              <a:rPr sz="2000" spc="-32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1A1A1A"/>
                </a:solidFill>
                <a:latin typeface="Tahoma"/>
                <a:cs typeface="Tahoma"/>
              </a:rPr>
              <a:t>while</a:t>
            </a:r>
            <a:r>
              <a:rPr sz="2000" spc="-31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27" dirty="0">
                <a:solidFill>
                  <a:srgbClr val="1A1A1A"/>
                </a:solidFill>
                <a:latin typeface="Tahoma"/>
                <a:cs typeface="Tahoma"/>
              </a:rPr>
              <a:t>decoding</a:t>
            </a:r>
            <a:endParaRPr sz="2000" dirty="0">
              <a:latin typeface="Tahoma"/>
              <a:cs typeface="Tahoma"/>
            </a:endParaRPr>
          </a:p>
          <a:p>
            <a:pPr marL="637524">
              <a:spcBef>
                <a:spcPts val="220"/>
              </a:spcBef>
            </a:pPr>
            <a:r>
              <a:rPr sz="2000" spc="20" dirty="0">
                <a:solidFill>
                  <a:srgbClr val="1A1A1A"/>
                </a:solidFill>
                <a:latin typeface="Tahoma"/>
                <a:cs typeface="Tahoma"/>
              </a:rPr>
              <a:t>(Don’t</a:t>
            </a:r>
            <a:r>
              <a:rPr sz="2000" spc="-305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27" dirty="0">
                <a:solidFill>
                  <a:srgbClr val="1A1A1A"/>
                </a:solidFill>
                <a:latin typeface="Tahoma"/>
                <a:cs typeface="Tahoma"/>
              </a:rPr>
              <a:t>encode</a:t>
            </a:r>
            <a:r>
              <a:rPr sz="2000" spc="-305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53" dirty="0">
                <a:solidFill>
                  <a:srgbClr val="1A1A1A"/>
                </a:solidFill>
                <a:latin typeface="Tahoma"/>
                <a:cs typeface="Tahoma"/>
              </a:rPr>
              <a:t>the</a:t>
            </a:r>
            <a:r>
              <a:rPr sz="2000" spc="-305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53" dirty="0">
                <a:solidFill>
                  <a:srgbClr val="1A1A1A"/>
                </a:solidFill>
                <a:latin typeface="Tahoma"/>
                <a:cs typeface="Tahoma"/>
              </a:rPr>
              <a:t>whole</a:t>
            </a:r>
            <a:r>
              <a:rPr sz="2000" spc="-305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53" dirty="0">
                <a:solidFill>
                  <a:srgbClr val="1A1A1A"/>
                </a:solidFill>
                <a:latin typeface="Tahoma"/>
                <a:cs typeface="Tahoma"/>
              </a:rPr>
              <a:t>input</a:t>
            </a:r>
            <a:r>
              <a:rPr sz="2000" spc="-305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67" dirty="0">
                <a:solidFill>
                  <a:srgbClr val="1A1A1A"/>
                </a:solidFill>
                <a:latin typeface="Tahoma"/>
                <a:cs typeface="Tahoma"/>
              </a:rPr>
              <a:t>into</a:t>
            </a:r>
            <a:r>
              <a:rPr sz="2000" spc="-305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33" dirty="0">
                <a:solidFill>
                  <a:srgbClr val="1A1A1A"/>
                </a:solidFill>
                <a:latin typeface="Tahoma"/>
                <a:cs typeface="Tahoma"/>
              </a:rPr>
              <a:t>one</a:t>
            </a:r>
            <a:r>
              <a:rPr sz="2000" spc="-300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1A1A1A"/>
                </a:solidFill>
                <a:latin typeface="Tahoma"/>
                <a:cs typeface="Tahoma"/>
              </a:rPr>
              <a:t>vector</a:t>
            </a:r>
            <a:r>
              <a:rPr sz="2000" spc="-305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1A1A1A"/>
                </a:solidFill>
                <a:latin typeface="Tahoma"/>
                <a:cs typeface="Tahoma"/>
              </a:rPr>
              <a:t>losing</a:t>
            </a:r>
            <a:r>
              <a:rPr sz="2000" spc="-305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53" dirty="0">
                <a:solidFill>
                  <a:srgbClr val="1A1A1A"/>
                </a:solidFill>
                <a:latin typeface="Tahoma"/>
                <a:cs typeface="Tahoma"/>
              </a:rPr>
              <a:t>information</a:t>
            </a:r>
            <a:r>
              <a:rPr sz="2000" spc="-305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-213" dirty="0">
                <a:solidFill>
                  <a:srgbClr val="1A1A1A"/>
                </a:solidFill>
                <a:latin typeface="Tahoma"/>
                <a:cs typeface="Tahoma"/>
              </a:rPr>
              <a:t>)</a:t>
            </a:r>
            <a:endParaRPr sz="2000" dirty="0">
              <a:latin typeface="Tahoma"/>
              <a:cs typeface="Tahoma"/>
            </a:endParaRPr>
          </a:p>
          <a:p>
            <a:pPr>
              <a:spcBef>
                <a:spcPts val="13"/>
              </a:spcBef>
            </a:pPr>
            <a:endParaRPr sz="2000" dirty="0">
              <a:latin typeface="Tahoma"/>
              <a:cs typeface="Tahoma"/>
            </a:endParaRPr>
          </a:p>
          <a:p>
            <a:pPr marL="454649" indent="-437716">
              <a:buClr>
                <a:srgbClr val="595959"/>
              </a:buClr>
              <a:buSzPct val="65000"/>
              <a:buFont typeface="Arial"/>
              <a:buChar char="●"/>
              <a:tabLst>
                <a:tab pos="453802" algn="l"/>
                <a:tab pos="454649" algn="l"/>
              </a:tabLst>
            </a:pPr>
            <a:r>
              <a:rPr sz="2000" spc="147" dirty="0">
                <a:solidFill>
                  <a:srgbClr val="1A1A1A"/>
                </a:solidFill>
                <a:latin typeface="Tahoma"/>
                <a:cs typeface="Tahoma"/>
              </a:rPr>
              <a:t>Do</a:t>
            </a:r>
            <a:r>
              <a:rPr sz="2000" spc="-31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53" dirty="0">
                <a:solidFill>
                  <a:srgbClr val="595959"/>
                </a:solidFill>
                <a:latin typeface="Tahoma"/>
                <a:cs typeface="Tahoma"/>
              </a:rPr>
              <a:t>Alignment</a:t>
            </a:r>
            <a:r>
              <a:rPr sz="2000" spc="-32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1A1A1A"/>
                </a:solidFill>
                <a:latin typeface="Tahoma"/>
                <a:cs typeface="Tahoma"/>
              </a:rPr>
              <a:t>while</a:t>
            </a:r>
            <a:r>
              <a:rPr sz="2000" spc="-313" dirty="0">
                <a:solidFill>
                  <a:srgbClr val="1A1A1A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1A1A1A"/>
                </a:solidFill>
                <a:latin typeface="Tahoma"/>
                <a:cs typeface="Tahoma"/>
              </a:rPr>
              <a:t>t</a:t>
            </a:r>
            <a:r>
              <a:rPr sz="2000" spc="73" dirty="0">
                <a:solidFill>
                  <a:srgbClr val="1A1A1A"/>
                </a:solidFill>
                <a:latin typeface="Tahoma"/>
                <a:cs typeface="Tahoma"/>
              </a:rPr>
              <a:t>r</a:t>
            </a:r>
            <a:r>
              <a:rPr sz="2000" spc="20" dirty="0">
                <a:solidFill>
                  <a:srgbClr val="1A1A1A"/>
                </a:solidFill>
                <a:latin typeface="Tahoma"/>
                <a:cs typeface="Tahoma"/>
              </a:rPr>
              <a:t>anslating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308C47-692A-45D6-0B8F-33B769A6F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7422" y="1539759"/>
            <a:ext cx="6689058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07" dirty="0">
                <a:solidFill>
                  <a:srgbClr val="1A1A1A"/>
                </a:solidFill>
                <a:latin typeface="Trebuchet MS"/>
                <a:cs typeface="Trebuchet MS"/>
              </a:rPr>
              <a:t>P</a:t>
            </a:r>
            <a:r>
              <a:rPr spc="73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60" dirty="0">
                <a:solidFill>
                  <a:srgbClr val="1A1A1A"/>
                </a:solidFill>
                <a:latin typeface="Trebuchet MS"/>
                <a:cs typeface="Trebuchet MS"/>
              </a:rPr>
              <a:t>y</a:t>
            </a:r>
            <a:r>
              <a:rPr spc="-32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selecti</a:t>
            </a:r>
            <a:r>
              <a:rPr spc="13" dirty="0">
                <a:solidFill>
                  <a:srgbClr val="1A1A1A"/>
                </a:solidFill>
                <a:latin typeface="Trebuchet MS"/>
                <a:cs typeface="Trebuchet MS"/>
              </a:rPr>
              <a:t>v</a:t>
            </a:r>
            <a:r>
              <a:rPr spc="8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469" y="2829764"/>
            <a:ext cx="10807699" cy="26415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ABE1AF-63EF-097A-3116-A382BDAE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125</a:t>
            </a:fld>
            <a:endParaRPr lang="en-US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548" y="1281877"/>
            <a:ext cx="792773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07" dirty="0">
                <a:solidFill>
                  <a:srgbClr val="1A1A1A"/>
                </a:solidFill>
                <a:latin typeface="Trebuchet MS"/>
                <a:cs typeface="Trebuchet MS"/>
              </a:rPr>
              <a:t>P</a:t>
            </a:r>
            <a:r>
              <a:rPr spc="73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60" dirty="0">
                <a:solidFill>
                  <a:srgbClr val="1A1A1A"/>
                </a:solidFill>
                <a:latin typeface="Trebuchet MS"/>
                <a:cs typeface="Trebuchet MS"/>
              </a:rPr>
              <a:t>y</a:t>
            </a:r>
            <a:r>
              <a:rPr spc="-32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selecti</a:t>
            </a:r>
            <a:r>
              <a:rPr spc="13" dirty="0">
                <a:solidFill>
                  <a:srgbClr val="1A1A1A"/>
                </a:solidFill>
                <a:latin typeface="Trebuchet MS"/>
                <a:cs typeface="Trebuchet MS"/>
              </a:rPr>
              <a:t>v</a:t>
            </a:r>
            <a:r>
              <a:rPr spc="8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2234" y="2127655"/>
            <a:ext cx="7527034" cy="411058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254679-9B98-9D63-7F27-35D6A9DA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126</a:t>
            </a:fld>
            <a:endParaRPr lang="en-US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2670" y="1222581"/>
            <a:ext cx="713525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13" dirty="0">
                <a:solidFill>
                  <a:srgbClr val="1A1A1A"/>
                </a:solidFill>
                <a:latin typeface="Trebuchet MS"/>
                <a:cs typeface="Trebuchet MS"/>
              </a:rPr>
              <a:t>Witho</a:t>
            </a:r>
            <a:r>
              <a:rPr spc="120" dirty="0">
                <a:solidFill>
                  <a:srgbClr val="1A1A1A"/>
                </a:solidFill>
                <a:latin typeface="Trebuchet MS"/>
                <a:cs typeface="Trebuchet MS"/>
              </a:rPr>
              <a:t>u</a:t>
            </a:r>
            <a:r>
              <a:rPr spc="-47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4680" y="2153223"/>
            <a:ext cx="5882640" cy="39630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98D11B-113C-CC87-03C6-44501ABF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127</a:t>
            </a:fld>
            <a:endParaRPr lang="en-US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" y="2204567"/>
            <a:ext cx="7172954" cy="360695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7680" y="1046480"/>
            <a:ext cx="513373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Attention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93F209-81F5-BB90-0605-AD41BA27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128</a:t>
            </a:fld>
            <a:endParaRPr lang="en-US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2349" y="1102879"/>
            <a:ext cx="945173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Attention</a:t>
            </a:r>
            <a:r>
              <a:rPr spc="-26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87" dirty="0">
                <a:solidFill>
                  <a:srgbClr val="1A1A1A"/>
                </a:solidFill>
                <a:latin typeface="Trebuchet MS"/>
                <a:cs typeface="Trebuchet MS"/>
              </a:rPr>
              <a:t>captures</a:t>
            </a:r>
            <a:r>
              <a:rPr spc="-26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07" dirty="0">
                <a:solidFill>
                  <a:srgbClr val="1A1A1A"/>
                </a:solidFill>
                <a:latin typeface="Trebuchet MS"/>
                <a:cs typeface="Trebuchet MS"/>
              </a:rPr>
              <a:t>alignment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6222" y="2046227"/>
            <a:ext cx="6947858" cy="403792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CAABC6-6CCA-1CC9-9F55-8BCCB896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129</a:t>
            </a:fld>
            <a:endParaRPr lang="en-US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0110" y="1588341"/>
            <a:ext cx="723685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Attention</a:t>
            </a:r>
            <a:r>
              <a:rPr spc="-28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47" dirty="0">
                <a:solidFill>
                  <a:srgbClr val="1A1A1A"/>
                </a:solidFill>
                <a:latin typeface="Trebuchet MS"/>
                <a:cs typeface="Trebuchet MS"/>
              </a:rPr>
              <a:t>Summary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07189" y="3193599"/>
            <a:ext cx="10298853" cy="20760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13" dirty="0">
                <a:latin typeface="Arial"/>
                <a:cs typeface="Arial"/>
              </a:rPr>
              <a:t>Pay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selective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attention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need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translate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20"/>
              </a:spcBef>
            </a:pPr>
            <a:endParaRPr sz="2000" dirty="0">
              <a:latin typeface="Arial"/>
              <a:cs typeface="Arial"/>
            </a:endParaRPr>
          </a:p>
          <a:p>
            <a:pPr marL="16933" marR="438562"/>
            <a:r>
              <a:rPr sz="2000" spc="-7" dirty="0">
                <a:latin typeface="Arial"/>
                <a:cs typeface="Arial"/>
              </a:rPr>
              <a:t>Compute weighted </a:t>
            </a:r>
            <a:r>
              <a:rPr sz="2000" dirty="0">
                <a:latin typeface="Arial"/>
                <a:cs typeface="Arial"/>
              </a:rPr>
              <a:t>sum </a:t>
            </a:r>
            <a:r>
              <a:rPr sz="2000" spc="-7" dirty="0">
                <a:latin typeface="Arial"/>
                <a:cs typeface="Arial"/>
              </a:rPr>
              <a:t>of all hidden </a:t>
            </a:r>
            <a:r>
              <a:rPr sz="2000" dirty="0">
                <a:latin typeface="Arial"/>
                <a:cs typeface="Arial"/>
              </a:rPr>
              <a:t>states (called </a:t>
            </a:r>
            <a:r>
              <a:rPr sz="2000" spc="-9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attention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weight)</a:t>
            </a:r>
            <a:endParaRPr sz="2000" dirty="0">
              <a:latin typeface="Arial"/>
              <a:cs typeface="Arial"/>
            </a:endParaRPr>
          </a:p>
          <a:p>
            <a:pPr marL="16933" marR="3031838">
              <a:lnSpc>
                <a:spcPct val="200000"/>
              </a:lnSpc>
            </a:pPr>
            <a:r>
              <a:rPr sz="2000" spc="-7" dirty="0">
                <a:latin typeface="Arial"/>
                <a:cs typeface="Arial"/>
              </a:rPr>
              <a:t>Use attention weights while decoding </a:t>
            </a:r>
            <a:r>
              <a:rPr sz="2000" spc="-947" dirty="0">
                <a:latin typeface="Arial"/>
                <a:cs typeface="Arial"/>
              </a:rPr>
              <a:t> </a:t>
            </a:r>
            <a:r>
              <a:rPr sz="2000" spc="-13" dirty="0">
                <a:latin typeface="Arial"/>
                <a:cs typeface="Arial"/>
              </a:rPr>
              <a:t>Attention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also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take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alignment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CB56FB-7668-C8FB-D075-71CDE47E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35657" y="2331598"/>
            <a:ext cx="6526107" cy="247931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indent="1319920">
              <a:lnSpc>
                <a:spcPct val="100000"/>
              </a:lnSpc>
              <a:spcBef>
                <a:spcPts val="133"/>
              </a:spcBef>
            </a:pPr>
            <a:r>
              <a:rPr sz="8000" spc="880" dirty="0">
                <a:solidFill>
                  <a:srgbClr val="1A1A1A"/>
                </a:solidFill>
                <a:latin typeface="Trebuchet MS"/>
                <a:cs typeface="Trebuchet MS"/>
              </a:rPr>
              <a:t>M</a:t>
            </a:r>
            <a:r>
              <a:rPr sz="8000" spc="300" dirty="0">
                <a:solidFill>
                  <a:srgbClr val="1A1A1A"/>
                </a:solidFill>
                <a:latin typeface="Trebuchet MS"/>
                <a:cs typeface="Trebuchet MS"/>
              </a:rPr>
              <a:t>odel</a:t>
            </a:r>
            <a:r>
              <a:rPr sz="8000" spc="-70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8000" spc="-173" dirty="0">
                <a:solidFill>
                  <a:srgbClr val="1A1A1A"/>
                </a:solidFill>
                <a:latin typeface="Trebuchet MS"/>
                <a:cs typeface="Trebuchet MS"/>
              </a:rPr>
              <a:t>5  </a:t>
            </a:r>
            <a:r>
              <a:rPr sz="8000" spc="-347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z="8000" spc="-353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z="8000" spc="339" dirty="0">
                <a:solidFill>
                  <a:srgbClr val="1A1A1A"/>
                </a:solidFill>
                <a:latin typeface="Trebuchet MS"/>
                <a:cs typeface="Trebuchet MS"/>
              </a:rPr>
              <a:t>an</a:t>
            </a:r>
            <a:r>
              <a:rPr sz="8000" spc="233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r>
              <a:rPr sz="8000" spc="-53"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z="8000" spc="152" dirty="0">
                <a:solidFill>
                  <a:srgbClr val="1A1A1A"/>
                </a:solidFill>
                <a:latin typeface="Trebuchet MS"/>
                <a:cs typeface="Trebuchet MS"/>
              </a:rPr>
              <a:t>ormers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2E07B-5FAD-7DBA-281D-432EA4EE1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131</a:t>
            </a:fld>
            <a:endParaRPr lang="en-US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8990" y="1458479"/>
            <a:ext cx="688125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Transformers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2349" y="2804897"/>
            <a:ext cx="11169227" cy="12482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Can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get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rid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RNN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completely?</a:t>
            </a:r>
          </a:p>
          <a:p>
            <a:pPr>
              <a:spcBef>
                <a:spcPts val="20"/>
              </a:spcBef>
            </a:pPr>
            <a:endParaRPr sz="2000" dirty="0">
              <a:latin typeface="Arial"/>
              <a:cs typeface="Arial"/>
            </a:endParaRPr>
          </a:p>
          <a:p>
            <a:pPr marL="626518" indent="-543546">
              <a:buChar char="•"/>
              <a:tabLst>
                <a:tab pos="625671" algn="l"/>
                <a:tab pos="626518" algn="l"/>
              </a:tabLst>
            </a:pPr>
            <a:r>
              <a:rPr sz="2000" spc="-7" dirty="0">
                <a:latin typeface="Arial"/>
                <a:cs typeface="Arial"/>
              </a:rPr>
              <a:t>RNN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are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sequential</a:t>
            </a:r>
          </a:p>
          <a:p>
            <a:pPr marL="626518" marR="6773" indent="-543546">
              <a:buChar char="•"/>
              <a:tabLst>
                <a:tab pos="625671" algn="l"/>
                <a:tab pos="626518" algn="l"/>
              </a:tabLst>
            </a:pPr>
            <a:r>
              <a:rPr sz="2000" spc="-13" dirty="0">
                <a:latin typeface="Arial"/>
                <a:cs typeface="Arial"/>
              </a:rPr>
              <a:t>Parallelization </a:t>
            </a:r>
            <a:r>
              <a:rPr sz="2000" spc="-7" dirty="0">
                <a:latin typeface="Arial"/>
                <a:cs typeface="Arial"/>
              </a:rPr>
              <a:t>is not possible </a:t>
            </a:r>
            <a:r>
              <a:rPr sz="2000" dirty="0">
                <a:latin typeface="Arial"/>
                <a:cs typeface="Arial"/>
              </a:rPr>
              <a:t>since </a:t>
            </a:r>
            <a:r>
              <a:rPr sz="2000" spc="-7" dirty="0">
                <a:latin typeface="Arial"/>
                <a:cs typeface="Arial"/>
              </a:rPr>
              <a:t>these intermediate </a:t>
            </a:r>
            <a:r>
              <a:rPr sz="2000" spc="-9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contexts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are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generated </a:t>
            </a:r>
            <a:r>
              <a:rPr sz="2000" dirty="0">
                <a:latin typeface="Arial"/>
                <a:cs typeface="Arial"/>
              </a:rPr>
              <a:t>sequentially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433AC8-B7B5-4D3D-F008-D4BA6D9B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2830" y="1143295"/>
            <a:ext cx="702349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Transformers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3199" y="2284543"/>
            <a:ext cx="6331711" cy="39536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F3F0F9-D5A0-A446-C2BE-0D0104EC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133</a:t>
            </a:fld>
            <a:endParaRPr lang="en-US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7188" y="1588340"/>
            <a:ext cx="9118600" cy="4854787"/>
            <a:chOff x="830391" y="1191255"/>
            <a:chExt cx="6838950" cy="3641090"/>
          </a:xfrm>
        </p:grpSpPr>
        <p:sp>
          <p:nvSpPr>
            <p:cNvPr id="3" name="object 3"/>
            <p:cNvSpPr/>
            <p:nvPr/>
          </p:nvSpPr>
          <p:spPr>
            <a:xfrm>
              <a:off x="1203295" y="1191255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5"/>
                  </a:moveTo>
                  <a:lnTo>
                    <a:pt x="0" y="45825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5"/>
                  </a:lnTo>
                  <a:close/>
                </a:path>
              </a:pathLst>
            </a:custGeom>
            <a:solidFill>
              <a:srgbClr val="EB55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830391" y="1191255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1" y="45825"/>
                  </a:moveTo>
                  <a:lnTo>
                    <a:pt x="0" y="45825"/>
                  </a:lnTo>
                  <a:lnTo>
                    <a:pt x="0" y="0"/>
                  </a:lnTo>
                  <a:lnTo>
                    <a:pt x="376011" y="0"/>
                  </a:lnTo>
                  <a:lnTo>
                    <a:pt x="376011" y="45825"/>
                  </a:lnTo>
                  <a:close/>
                </a:path>
              </a:pathLst>
            </a:custGeom>
            <a:solidFill>
              <a:srgbClr val="1A998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3148" y="1250823"/>
              <a:ext cx="6096000" cy="35813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3470" y="408725"/>
            <a:ext cx="306408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437B4-FD29-6474-5F80-CC9E42A1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134</a:t>
            </a:fld>
            <a:endParaRPr lang="en-US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19745" y="1283541"/>
            <a:ext cx="7075593" cy="4118820"/>
          </a:xfrm>
          <a:prstGeom prst="rect">
            <a:avLst/>
          </a:prstGeom>
        </p:spPr>
        <p:txBody>
          <a:bodyPr vert="horz" wrap="square" lIns="0" tIns="327660" rIns="0" bIns="0" rtlCol="0">
            <a:spAutoFit/>
          </a:bodyPr>
          <a:lstStyle/>
          <a:p>
            <a:pPr marL="16933">
              <a:spcBef>
                <a:spcPts val="2580"/>
              </a:spcBef>
            </a:pPr>
            <a:r>
              <a:rPr sz="3733" b="1" spc="40" dirty="0">
                <a:solidFill>
                  <a:srgbClr val="1A1A1A"/>
                </a:solidFill>
                <a:latin typeface="Trebuchet MS"/>
                <a:cs typeface="Trebuchet MS"/>
              </a:rPr>
              <a:t>Transformers</a:t>
            </a:r>
            <a:endParaRPr sz="3733" dirty="0">
              <a:latin typeface="Trebuchet MS"/>
              <a:cs typeface="Trebuchet MS"/>
            </a:endParaRPr>
          </a:p>
          <a:p>
            <a:pPr marL="84665">
              <a:spcBef>
                <a:spcPts val="2453"/>
              </a:spcBef>
            </a:pPr>
            <a:r>
              <a:rPr sz="3733" spc="-7" dirty="0">
                <a:solidFill>
                  <a:srgbClr val="595959"/>
                </a:solidFill>
                <a:latin typeface="Arial"/>
                <a:cs typeface="Arial"/>
              </a:rPr>
              <a:t>There</a:t>
            </a:r>
            <a:r>
              <a:rPr sz="3733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3733" spc="-7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3733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3733" spc="-7" dirty="0">
                <a:solidFill>
                  <a:srgbClr val="595959"/>
                </a:solidFill>
                <a:latin typeface="Arial"/>
                <a:cs typeface="Arial"/>
              </a:rPr>
              <a:t>three</a:t>
            </a:r>
            <a:r>
              <a:rPr sz="3733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3733" dirty="0">
                <a:solidFill>
                  <a:srgbClr val="595959"/>
                </a:solidFill>
                <a:latin typeface="Arial"/>
                <a:cs typeface="Arial"/>
              </a:rPr>
              <a:t>kinds</a:t>
            </a:r>
            <a:r>
              <a:rPr sz="3733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3733" spc="-7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3733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3733" spc="-7" dirty="0">
                <a:solidFill>
                  <a:srgbClr val="595959"/>
                </a:solidFill>
                <a:latin typeface="Arial"/>
                <a:cs typeface="Arial"/>
              </a:rPr>
              <a:t>attention</a:t>
            </a:r>
            <a:endParaRPr sz="3733" dirty="0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sz="3867" dirty="0">
              <a:latin typeface="Arial"/>
              <a:cs typeface="Arial"/>
            </a:endParaRPr>
          </a:p>
          <a:p>
            <a:pPr marL="610430" indent="-526614">
              <a:spcBef>
                <a:spcPts val="7"/>
              </a:spcBef>
              <a:buAutoNum type="arabicPeriod"/>
              <a:tabLst>
                <a:tab pos="611278" algn="l"/>
              </a:tabLst>
            </a:pPr>
            <a:r>
              <a:rPr sz="3733" spc="-7" dirty="0">
                <a:latin typeface="Arial"/>
                <a:cs typeface="Arial"/>
              </a:rPr>
              <a:t>Within</a:t>
            </a:r>
            <a:r>
              <a:rPr sz="3733" spc="-73" dirty="0">
                <a:latin typeface="Arial"/>
                <a:cs typeface="Arial"/>
              </a:rPr>
              <a:t> </a:t>
            </a:r>
            <a:r>
              <a:rPr sz="3733" spc="-7" dirty="0">
                <a:latin typeface="Arial"/>
                <a:cs typeface="Arial"/>
              </a:rPr>
              <a:t>encoder</a:t>
            </a:r>
            <a:endParaRPr sz="3733" dirty="0">
              <a:latin typeface="Arial"/>
              <a:cs typeface="Arial"/>
            </a:endParaRPr>
          </a:p>
          <a:p>
            <a:pPr marL="610430" indent="-526614">
              <a:spcBef>
                <a:spcPts val="7"/>
              </a:spcBef>
              <a:buAutoNum type="arabicPeriod"/>
              <a:tabLst>
                <a:tab pos="611278" algn="l"/>
              </a:tabLst>
            </a:pPr>
            <a:r>
              <a:rPr sz="3733" spc="-13" dirty="0">
                <a:latin typeface="Arial"/>
                <a:cs typeface="Arial"/>
              </a:rPr>
              <a:t>Encoder</a:t>
            </a:r>
            <a:r>
              <a:rPr sz="3733" spc="-73" dirty="0">
                <a:latin typeface="Arial"/>
                <a:cs typeface="Arial"/>
              </a:rPr>
              <a:t> </a:t>
            </a:r>
            <a:r>
              <a:rPr sz="3733" spc="-7" dirty="0">
                <a:latin typeface="Arial"/>
                <a:cs typeface="Arial"/>
              </a:rPr>
              <a:t>decoder</a:t>
            </a:r>
            <a:endParaRPr sz="3733" dirty="0">
              <a:latin typeface="Arial"/>
              <a:cs typeface="Arial"/>
            </a:endParaRPr>
          </a:p>
          <a:p>
            <a:pPr marL="610430" indent="-526614">
              <a:buAutoNum type="arabicPeriod"/>
              <a:tabLst>
                <a:tab pos="611278" algn="l"/>
              </a:tabLst>
            </a:pPr>
            <a:r>
              <a:rPr sz="3733" spc="-7" dirty="0">
                <a:latin typeface="Arial"/>
                <a:cs typeface="Arial"/>
              </a:rPr>
              <a:t>Within</a:t>
            </a:r>
            <a:r>
              <a:rPr sz="3733" spc="-73" dirty="0">
                <a:latin typeface="Arial"/>
                <a:cs typeface="Arial"/>
              </a:rPr>
              <a:t> </a:t>
            </a:r>
            <a:r>
              <a:rPr sz="3733" spc="-7" dirty="0">
                <a:latin typeface="Arial"/>
                <a:cs typeface="Arial"/>
              </a:rPr>
              <a:t>decoder</a:t>
            </a:r>
            <a:endParaRPr sz="3733" dirty="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21F7F-3417-88F3-4B2B-950A72698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1709" y="1223240"/>
            <a:ext cx="1008165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16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152" dirty="0">
                <a:solidFill>
                  <a:srgbClr val="1A1A1A"/>
                </a:solidFill>
                <a:latin typeface="Trebuchet MS"/>
                <a:cs typeface="Trebuchet MS"/>
              </a:rPr>
              <a:t>an</a:t>
            </a:r>
            <a:r>
              <a:rPr spc="107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73" dirty="0">
                <a:solidFill>
                  <a:srgbClr val="1A1A1A"/>
                </a:solidFill>
                <a:latin typeface="Trebuchet MS"/>
                <a:cs typeface="Trebuchet MS"/>
              </a:rPr>
              <a:t>ormers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93" dirty="0">
                <a:solidFill>
                  <a:srgbClr val="1A1A1A"/>
                </a:solidFill>
                <a:latin typeface="Trebuchet MS"/>
                <a:cs typeface="Trebuchet MS"/>
              </a:rPr>
              <a:t>(Se</a:t>
            </a:r>
            <a:r>
              <a:rPr spc="33" dirty="0">
                <a:solidFill>
                  <a:srgbClr val="1A1A1A"/>
                </a:solidFill>
                <a:latin typeface="Trebuchet MS"/>
                <a:cs typeface="Trebuchet MS"/>
              </a:rPr>
              <a:t>l</a:t>
            </a: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-30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47" dirty="0">
                <a:solidFill>
                  <a:srgbClr val="1A1A1A"/>
                </a:solidFill>
                <a:latin typeface="Trebuchet MS"/>
                <a:cs typeface="Trebuchet MS"/>
              </a:rPr>
              <a:t>tion)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080" y="2730247"/>
            <a:ext cx="7349489" cy="329463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CBA10-41E7-862E-329E-7F19F497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136</a:t>
            </a:fld>
            <a:endParaRPr lang="en-US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2989" y="1106870"/>
            <a:ext cx="1035597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16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152" dirty="0">
                <a:solidFill>
                  <a:srgbClr val="1A1A1A"/>
                </a:solidFill>
                <a:latin typeface="Trebuchet MS"/>
                <a:cs typeface="Trebuchet MS"/>
              </a:rPr>
              <a:t>an</a:t>
            </a:r>
            <a:r>
              <a:rPr spc="107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73" dirty="0">
                <a:solidFill>
                  <a:srgbClr val="1A1A1A"/>
                </a:solidFill>
                <a:latin typeface="Trebuchet MS"/>
                <a:cs typeface="Trebuchet MS"/>
              </a:rPr>
              <a:t>ormers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93" dirty="0">
                <a:solidFill>
                  <a:srgbClr val="1A1A1A"/>
                </a:solidFill>
                <a:latin typeface="Trebuchet MS"/>
                <a:cs typeface="Trebuchet MS"/>
              </a:rPr>
              <a:t>(Se</a:t>
            </a:r>
            <a:r>
              <a:rPr spc="33" dirty="0">
                <a:solidFill>
                  <a:srgbClr val="1A1A1A"/>
                </a:solidFill>
                <a:latin typeface="Trebuchet MS"/>
                <a:cs typeface="Trebuchet MS"/>
              </a:rPr>
              <a:t>l</a:t>
            </a: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-30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47" dirty="0">
                <a:solidFill>
                  <a:srgbClr val="1A1A1A"/>
                </a:solidFill>
                <a:latin typeface="Trebuchet MS"/>
                <a:cs typeface="Trebuchet MS"/>
              </a:rPr>
              <a:t>tion)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5523" y="2075397"/>
            <a:ext cx="7100953" cy="397996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142594-DBE9-2C00-81CA-4D675B08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137</a:t>
            </a:fld>
            <a:endParaRPr lang="en-US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3629" y="1548925"/>
            <a:ext cx="1018413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16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152" dirty="0">
                <a:solidFill>
                  <a:srgbClr val="1A1A1A"/>
                </a:solidFill>
                <a:latin typeface="Trebuchet MS"/>
                <a:cs typeface="Trebuchet MS"/>
              </a:rPr>
              <a:t>an</a:t>
            </a:r>
            <a:r>
              <a:rPr spc="107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73" dirty="0">
                <a:solidFill>
                  <a:srgbClr val="1A1A1A"/>
                </a:solidFill>
                <a:latin typeface="Trebuchet MS"/>
                <a:cs typeface="Trebuchet MS"/>
              </a:rPr>
              <a:t>ormers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93" dirty="0">
                <a:solidFill>
                  <a:srgbClr val="1A1A1A"/>
                </a:solidFill>
                <a:latin typeface="Trebuchet MS"/>
                <a:cs typeface="Trebuchet MS"/>
              </a:rPr>
              <a:t>(Se</a:t>
            </a:r>
            <a:r>
              <a:rPr spc="33" dirty="0">
                <a:solidFill>
                  <a:srgbClr val="1A1A1A"/>
                </a:solidFill>
                <a:latin typeface="Trebuchet MS"/>
                <a:cs typeface="Trebuchet MS"/>
              </a:rPr>
              <a:t>l</a:t>
            </a: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-30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47" dirty="0">
                <a:solidFill>
                  <a:srgbClr val="1A1A1A"/>
                </a:solidFill>
                <a:latin typeface="Trebuchet MS"/>
                <a:cs typeface="Trebuchet MS"/>
              </a:rPr>
              <a:t>tion)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3991" y="2829764"/>
            <a:ext cx="11121812" cy="247931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Remember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Encoder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creates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input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representation</a:t>
            </a:r>
          </a:p>
          <a:p>
            <a:pPr>
              <a:spcBef>
                <a:spcPts val="7"/>
              </a:spcBef>
            </a:pPr>
            <a:endParaRPr sz="2000" dirty="0">
              <a:latin typeface="Arial"/>
              <a:cs typeface="Arial"/>
            </a:endParaRPr>
          </a:p>
          <a:p>
            <a:pPr marL="16933" marR="1175144"/>
            <a:r>
              <a:rPr sz="2000" spc="-13" dirty="0">
                <a:latin typeface="Arial"/>
                <a:cs typeface="Arial"/>
              </a:rPr>
              <a:t>Transformers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create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rich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representation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captures </a:t>
            </a:r>
            <a:r>
              <a:rPr sz="2000" spc="-87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interdependencies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2000" dirty="0">
              <a:latin typeface="Arial"/>
              <a:cs typeface="Arial"/>
            </a:endParaRPr>
          </a:p>
          <a:p>
            <a:pPr marL="16933" marR="6773"/>
            <a:r>
              <a:rPr sz="2000" dirty="0">
                <a:latin typeface="Arial"/>
                <a:cs typeface="Arial"/>
              </a:rPr>
              <a:t>(This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rich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representation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captures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relationship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between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words </a:t>
            </a:r>
            <a:r>
              <a:rPr sz="2000" spc="-8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compared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simple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 embeddings)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This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rich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representation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called</a:t>
            </a:r>
            <a:r>
              <a:rPr sz="2000" spc="13" dirty="0"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Self-attention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3D7C96-47DE-305D-572D-D26AF1B7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0429" y="1301437"/>
            <a:ext cx="924853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16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152" dirty="0">
                <a:solidFill>
                  <a:srgbClr val="1A1A1A"/>
                </a:solidFill>
                <a:latin typeface="Trebuchet MS"/>
                <a:cs typeface="Trebuchet MS"/>
              </a:rPr>
              <a:t>an</a:t>
            </a:r>
            <a:r>
              <a:rPr spc="107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73" dirty="0">
                <a:solidFill>
                  <a:srgbClr val="1A1A1A"/>
                </a:solidFill>
                <a:latin typeface="Trebuchet MS"/>
                <a:cs typeface="Trebuchet MS"/>
              </a:rPr>
              <a:t>ormers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93" dirty="0">
                <a:solidFill>
                  <a:srgbClr val="1A1A1A"/>
                </a:solidFill>
                <a:latin typeface="Trebuchet MS"/>
                <a:cs typeface="Trebuchet MS"/>
              </a:rPr>
              <a:t>(Se</a:t>
            </a:r>
            <a:r>
              <a:rPr spc="33" dirty="0">
                <a:solidFill>
                  <a:srgbClr val="1A1A1A"/>
                </a:solidFill>
                <a:latin typeface="Trebuchet MS"/>
                <a:cs typeface="Trebuchet MS"/>
              </a:rPr>
              <a:t>l</a:t>
            </a: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-30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47" dirty="0">
                <a:solidFill>
                  <a:srgbClr val="1A1A1A"/>
                </a:solidFill>
                <a:latin typeface="Trebuchet MS"/>
                <a:cs typeface="Trebuchet MS"/>
              </a:rPr>
              <a:t>tion)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3469" y="2422143"/>
            <a:ext cx="11341947" cy="1768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Self attention </a:t>
            </a:r>
            <a:r>
              <a:rPr sz="2000" dirty="0">
                <a:latin typeface="Arial"/>
                <a:cs typeface="Arial"/>
              </a:rPr>
              <a:t>mechanism </a:t>
            </a:r>
            <a:r>
              <a:rPr sz="2000" spc="-7" dirty="0">
                <a:latin typeface="Arial"/>
                <a:cs typeface="Arial"/>
              </a:rPr>
              <a:t>directly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models relationships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between all words in </a:t>
            </a:r>
            <a:r>
              <a:rPr sz="2000" spc="-7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sz="2000" spc="-1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sentence,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regardless</a:t>
            </a:r>
            <a:r>
              <a:rPr sz="2000" spc="-1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of their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respective</a:t>
            </a:r>
            <a:r>
              <a:rPr sz="2000" spc="-1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position</a:t>
            </a:r>
            <a:endParaRPr sz="2000" dirty="0">
              <a:latin typeface="Arial"/>
              <a:cs typeface="Arial"/>
            </a:endParaRPr>
          </a:p>
          <a:p>
            <a:pPr marL="16933" marR="1325847">
              <a:lnSpc>
                <a:spcPct val="200000"/>
              </a:lnSpc>
            </a:pP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Self attention allows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connections </a:t>
            </a:r>
            <a:r>
              <a:rPr sz="2000" spc="-7" dirty="0">
                <a:solidFill>
                  <a:srgbClr val="1A1A1A"/>
                </a:solidFill>
                <a:latin typeface="Arial"/>
                <a:cs typeface="Arial"/>
              </a:rPr>
              <a:t>between words within </a:t>
            </a:r>
            <a:r>
              <a:rPr sz="2000" dirty="0">
                <a:solidFill>
                  <a:srgbClr val="1A1A1A"/>
                </a:solidFill>
                <a:latin typeface="Arial"/>
                <a:cs typeface="Arial"/>
              </a:rPr>
              <a:t>a sentence </a:t>
            </a:r>
            <a:r>
              <a:rPr sz="2000" spc="-7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Eg.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 arrived at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000" spc="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spc="-7" dirty="0">
                <a:solidFill>
                  <a:srgbClr val="1A1A1A"/>
                </a:solidFill>
                <a:latin typeface="Arial"/>
                <a:cs typeface="Arial"/>
              </a:rPr>
              <a:t>bank</a:t>
            </a:r>
            <a:r>
              <a:rPr sz="2000" b="1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after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crossing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 the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river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6720" y="5043423"/>
            <a:ext cx="5267196" cy="154025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0128FF-8EB9-4D5B-E18C-D7CC4BF7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1870" y="1377199"/>
            <a:ext cx="554013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Transformers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7991" y="2726943"/>
            <a:ext cx="6128173" cy="19419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7" dirty="0">
                <a:latin typeface="Arial"/>
                <a:cs typeface="Arial"/>
              </a:rPr>
              <a:t>Use</a:t>
            </a:r>
            <a:r>
              <a:rPr sz="2667" spc="-27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self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attention</a:t>
            </a:r>
            <a:r>
              <a:rPr sz="2667" spc="-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instead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of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RNNs,</a:t>
            </a:r>
            <a:r>
              <a:rPr sz="2667" spc="-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CNN</a:t>
            </a:r>
            <a:endParaRPr sz="2667" dirty="0">
              <a:latin typeface="Arial"/>
              <a:cs typeface="Arial"/>
            </a:endParaRPr>
          </a:p>
          <a:p>
            <a:pPr marL="16933" marR="275160">
              <a:lnSpc>
                <a:spcPct val="200000"/>
              </a:lnSpc>
            </a:pPr>
            <a:r>
              <a:rPr sz="2667" spc="-7" dirty="0">
                <a:solidFill>
                  <a:srgbClr val="1A1A1A"/>
                </a:solidFill>
                <a:latin typeface="Arial"/>
                <a:cs typeface="Arial"/>
              </a:rPr>
              <a:t>Computation</a:t>
            </a:r>
            <a:r>
              <a:rPr sz="2667" dirty="0">
                <a:solidFill>
                  <a:srgbClr val="1A1A1A"/>
                </a:solidFill>
                <a:latin typeface="Arial"/>
                <a:cs typeface="Arial"/>
              </a:rPr>
              <a:t> can</a:t>
            </a:r>
            <a:r>
              <a:rPr sz="2667" spc="74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1A1A1A"/>
                </a:solidFill>
                <a:latin typeface="Arial"/>
                <a:cs typeface="Arial"/>
              </a:rPr>
              <a:t>be</a:t>
            </a:r>
            <a:r>
              <a:rPr sz="2667" spc="7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1A1A1A"/>
                </a:solidFill>
                <a:latin typeface="Arial"/>
                <a:cs typeface="Arial"/>
              </a:rPr>
              <a:t>parallelized </a:t>
            </a:r>
            <a:r>
              <a:rPr sz="266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1A1A1A"/>
                </a:solidFill>
                <a:latin typeface="Arial"/>
                <a:cs typeface="Arial"/>
              </a:rPr>
              <a:t>Ability</a:t>
            </a:r>
            <a:r>
              <a:rPr sz="2667" spc="-33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sz="2667"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1A1A1A"/>
                </a:solidFill>
                <a:latin typeface="Arial"/>
                <a:cs typeface="Arial"/>
              </a:rPr>
              <a:t>learn</a:t>
            </a:r>
            <a:r>
              <a:rPr sz="2667"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1A1A1A"/>
                </a:solidFill>
                <a:latin typeface="Arial"/>
                <a:cs typeface="Arial"/>
              </a:rPr>
              <a:t>long</a:t>
            </a:r>
            <a:r>
              <a:rPr sz="2667"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1A1A1A"/>
                </a:solidFill>
                <a:latin typeface="Arial"/>
                <a:cs typeface="Arial"/>
              </a:rPr>
              <a:t>term</a:t>
            </a:r>
            <a:r>
              <a:rPr sz="2667" spc="-27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1A1A1A"/>
                </a:solidFill>
                <a:latin typeface="Arial"/>
                <a:cs typeface="Arial"/>
              </a:rPr>
              <a:t>dependencies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2E09C6-118F-D954-B4C4-D29CC0C2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3310" y="1163839"/>
            <a:ext cx="561125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Transformers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69" y="2081277"/>
            <a:ext cx="6210299" cy="46735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FEACDE-1ABF-DA96-2F70-B36ABE14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141</a:t>
            </a:fld>
            <a:endParaRPr lang="en-US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2190" y="1153679"/>
            <a:ext cx="775411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16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152" dirty="0">
                <a:solidFill>
                  <a:srgbClr val="1A1A1A"/>
                </a:solidFill>
                <a:latin typeface="Trebuchet MS"/>
                <a:cs typeface="Trebuchet MS"/>
              </a:rPr>
              <a:t>an</a:t>
            </a:r>
            <a:r>
              <a:rPr spc="107" dirty="0">
                <a:solidFill>
                  <a:srgbClr val="1A1A1A"/>
                </a:solidFill>
                <a:latin typeface="Trebuchet MS"/>
                <a:cs typeface="Trebuchet MS"/>
              </a:rPr>
              <a:t>s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73" dirty="0">
                <a:solidFill>
                  <a:srgbClr val="1A1A1A"/>
                </a:solidFill>
                <a:latin typeface="Trebuchet MS"/>
                <a:cs typeface="Trebuchet MS"/>
              </a:rPr>
              <a:t>ormers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60" dirty="0">
                <a:solidFill>
                  <a:srgbClr val="1A1A1A"/>
                </a:solidFill>
                <a:latin typeface="Trebuchet MS"/>
                <a:cs typeface="Trebuchet MS"/>
              </a:rPr>
              <a:t>model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0960" y="1955100"/>
            <a:ext cx="6480048" cy="43136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C4096A-9CDC-4752-FFF5-80C0AB7B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142</a:t>
            </a:fld>
            <a:endParaRPr lang="en-US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520" y="1907011"/>
            <a:ext cx="8099042" cy="420371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2990" y="1094180"/>
            <a:ext cx="604813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Transformers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83543" y="6347969"/>
            <a:ext cx="5573605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Fig.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Unfolded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network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architecture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9E065D-E77D-401A-B1F0-0C02111EF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143</a:t>
            </a:fld>
            <a:endParaRPr lang="en-US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1550" y="1144534"/>
            <a:ext cx="941109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w</a:t>
            </a:r>
            <a:r>
              <a:rPr spc="147" dirty="0">
                <a:solidFill>
                  <a:srgbClr val="1A1A1A"/>
                </a:solidFill>
                <a:latin typeface="Trebuchet MS"/>
                <a:cs typeface="Trebuchet MS"/>
              </a:rPr>
              <a:t>o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140" dirty="0">
                <a:solidFill>
                  <a:srgbClr val="1A1A1A"/>
                </a:solidFill>
                <a:latin typeface="Trebuchet MS"/>
                <a:cs typeface="Trebuchet MS"/>
              </a:rPr>
              <a:t>ypes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27" dirty="0">
                <a:solidFill>
                  <a:srgbClr val="1A1A1A"/>
                </a:solidFill>
                <a:latin typeface="Trebuchet MS"/>
                <a:cs typeface="Trebuchet MS"/>
              </a:rPr>
              <a:t>o</a:t>
            </a: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f</a:t>
            </a:r>
            <a:r>
              <a:rPr spc="-305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133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60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1550" y="2544064"/>
            <a:ext cx="6900333" cy="21843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381724" indent="-723035">
              <a:spcBef>
                <a:spcPts val="133"/>
              </a:spcBef>
              <a:buAutoNum type="arabicPeriod"/>
              <a:tabLst>
                <a:tab pos="1381724" algn="l"/>
                <a:tab pos="1382572" algn="l"/>
              </a:tabLst>
            </a:pPr>
            <a:r>
              <a:rPr sz="2000" spc="-7" dirty="0">
                <a:latin typeface="Arial"/>
                <a:cs typeface="Arial"/>
              </a:rPr>
              <a:t>Sourc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300" dirty="0">
                <a:latin typeface="Arial"/>
                <a:cs typeface="Arial"/>
              </a:rPr>
              <a:t>T</a:t>
            </a:r>
            <a:r>
              <a:rPr sz="2000" spc="-7" dirty="0">
                <a:latin typeface="Arial"/>
                <a:cs typeface="Arial"/>
              </a:rPr>
              <a:t>arge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152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Attention</a:t>
            </a:r>
            <a:endParaRPr sz="2000" dirty="0">
              <a:latin typeface="Arial"/>
              <a:cs typeface="Arial"/>
            </a:endParaRPr>
          </a:p>
          <a:p>
            <a:pPr marL="1381724" indent="-723035">
              <a:buAutoNum type="arabicPeriod"/>
              <a:tabLst>
                <a:tab pos="1381724" algn="l"/>
                <a:tab pos="1382572" algn="l"/>
              </a:tabLst>
            </a:pPr>
            <a:r>
              <a:rPr sz="2000" spc="-7" dirty="0">
                <a:latin typeface="Arial"/>
                <a:cs typeface="Arial"/>
              </a:rPr>
              <a:t>Sel</a:t>
            </a:r>
            <a:r>
              <a:rPr sz="2000" dirty="0">
                <a:latin typeface="Arial"/>
                <a:cs typeface="Arial"/>
              </a:rPr>
              <a:t>f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Attention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What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13" dirty="0">
                <a:latin typeface="Arial"/>
                <a:cs typeface="Arial"/>
              </a:rPr>
              <a:t>difference?</a:t>
            </a:r>
            <a:endParaRPr sz="2000" dirty="0">
              <a:latin typeface="Arial"/>
              <a:cs typeface="Arial"/>
            </a:endParaRPr>
          </a:p>
          <a:p>
            <a:pPr marL="673083" marR="974489" indent="-656996"/>
            <a:r>
              <a:rPr sz="2000" spc="47" dirty="0">
                <a:latin typeface="Arial"/>
                <a:cs typeface="Arial"/>
              </a:rPr>
              <a:t>□Depends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on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where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query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comes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from </a:t>
            </a:r>
            <a:r>
              <a:rPr sz="2000" spc="-7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Query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from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Encoder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387" dirty="0">
                <a:latin typeface="Arial"/>
                <a:cs typeface="Arial"/>
              </a:rPr>
              <a:t>□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Self-Att.</a:t>
            </a:r>
            <a:endParaRPr sz="2000" dirty="0">
              <a:latin typeface="Arial"/>
              <a:cs typeface="Arial"/>
            </a:endParaRPr>
          </a:p>
          <a:p>
            <a:pPr marL="673083"/>
            <a:r>
              <a:rPr sz="2000" spc="-7" dirty="0">
                <a:latin typeface="Arial"/>
                <a:cs typeface="Arial"/>
              </a:rPr>
              <a:t>Quer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7" dirty="0">
                <a:latin typeface="Arial"/>
                <a:cs typeface="Arial"/>
              </a:rPr>
              <a:t> fro</a:t>
            </a:r>
            <a:r>
              <a:rPr sz="2000" dirty="0">
                <a:latin typeface="Arial"/>
                <a:cs typeface="Arial"/>
              </a:rPr>
              <a:t>m</a:t>
            </a:r>
            <a:r>
              <a:rPr sz="2000" spc="-7" dirty="0">
                <a:latin typeface="Arial"/>
                <a:cs typeface="Arial"/>
              </a:rPr>
              <a:t> Decode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spc="387" dirty="0">
                <a:latin typeface="Arial"/>
                <a:cs typeface="Arial"/>
              </a:rPr>
              <a:t>□</a:t>
            </a:r>
            <a:r>
              <a:rPr sz="2000" spc="-7" dirty="0">
                <a:latin typeface="Arial"/>
                <a:cs typeface="Arial"/>
              </a:rPr>
              <a:t> Source-</a:t>
            </a:r>
            <a:r>
              <a:rPr sz="2000" spc="-300" dirty="0">
                <a:latin typeface="Arial"/>
                <a:cs typeface="Arial"/>
              </a:rPr>
              <a:t>T</a:t>
            </a:r>
            <a:r>
              <a:rPr sz="2000" spc="-7" dirty="0">
                <a:latin typeface="Arial"/>
                <a:cs typeface="Arial"/>
              </a:rPr>
              <a:t>arge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152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Att.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0086" y="2129535"/>
            <a:ext cx="4464553" cy="358393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9F188E-12EA-5201-9C02-5DEE5A78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7456" y="1113039"/>
            <a:ext cx="921805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0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3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113" dirty="0">
                <a:solidFill>
                  <a:srgbClr val="1A1A1A"/>
                </a:solidFill>
                <a:latin typeface="Trebuchet MS"/>
                <a:cs typeface="Trebuchet MS"/>
              </a:rPr>
              <a:t>ti</a:t>
            </a:r>
            <a:r>
              <a:rPr spc="-167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8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413" dirty="0">
                <a:solidFill>
                  <a:srgbClr val="1A1A1A"/>
                </a:solidFill>
                <a:latin typeface="Trebuchet MS"/>
                <a:cs typeface="Trebuchet MS"/>
              </a:rPr>
              <a:t>M</a:t>
            </a:r>
            <a:r>
              <a:rPr spc="140" dirty="0">
                <a:solidFill>
                  <a:srgbClr val="1A1A1A"/>
                </a:solidFill>
                <a:latin typeface="Trebuchet MS"/>
                <a:cs typeface="Trebuchet MS"/>
              </a:rPr>
              <a:t>odel</a:t>
            </a:r>
            <a:r>
              <a:rPr spc="-44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33"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7" dirty="0">
                <a:solidFill>
                  <a:srgbClr val="1A1A1A"/>
                </a:solidFill>
                <a:latin typeface="Trebuchet MS"/>
                <a:cs typeface="Trebuchet MS"/>
              </a:rPr>
              <a:t>chi</a:t>
            </a:r>
            <a:r>
              <a:rPr spc="-27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33" dirty="0">
                <a:solidFill>
                  <a:srgbClr val="1A1A1A"/>
                </a:solidFill>
                <a:latin typeface="Trebuchet MS"/>
                <a:cs typeface="Trebuchet MS"/>
              </a:rPr>
              <a:t>ectu</a:t>
            </a:r>
            <a:r>
              <a:rPr dirty="0">
                <a:solidFill>
                  <a:srgbClr val="1A1A1A"/>
                </a:solidFill>
                <a:latin typeface="Trebuchet MS"/>
                <a:cs typeface="Trebuchet MS"/>
              </a:rPr>
              <a:t>r</a:t>
            </a:r>
            <a:r>
              <a:rPr spc="8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3993" y="2371344"/>
            <a:ext cx="6922347" cy="259479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381724" indent="-723035">
              <a:spcBef>
                <a:spcPts val="133"/>
              </a:spcBef>
              <a:buAutoNum type="arabicPeriod"/>
              <a:tabLst>
                <a:tab pos="1381724" algn="l"/>
                <a:tab pos="1382572" algn="l"/>
              </a:tabLst>
            </a:pPr>
            <a:r>
              <a:rPr sz="2000" spc="-7" dirty="0">
                <a:latin typeface="Arial"/>
                <a:cs typeface="Arial"/>
              </a:rPr>
              <a:t>Left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side: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Encoder</a:t>
            </a:r>
            <a:endParaRPr sz="2000" dirty="0">
              <a:latin typeface="Arial"/>
              <a:cs typeface="Arial"/>
            </a:endParaRPr>
          </a:p>
          <a:p>
            <a:pPr marL="1381724" indent="-723035">
              <a:buAutoNum type="arabicPeriod"/>
              <a:tabLst>
                <a:tab pos="1381724" algn="l"/>
                <a:tab pos="1382572" algn="l"/>
              </a:tabLst>
            </a:pPr>
            <a:r>
              <a:rPr sz="2000" spc="-7" dirty="0">
                <a:latin typeface="Arial"/>
                <a:cs typeface="Arial"/>
              </a:rPr>
              <a:t>Right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side: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Decoder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Consisting</a:t>
            </a:r>
            <a:r>
              <a:rPr sz="2000" spc="-6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Layers:</a:t>
            </a:r>
            <a:endParaRPr sz="2000" dirty="0">
              <a:latin typeface="Arial"/>
              <a:cs typeface="Arial"/>
            </a:endParaRPr>
          </a:p>
          <a:p>
            <a:pPr marL="474121" indent="-406390">
              <a:buChar char="•"/>
              <a:tabLst>
                <a:tab pos="473275" algn="l"/>
                <a:tab pos="474121" algn="l"/>
              </a:tabLst>
            </a:pPr>
            <a:r>
              <a:rPr sz="2000" dirty="0">
                <a:latin typeface="Arial"/>
                <a:cs typeface="Arial"/>
              </a:rPr>
              <a:t>Multi-Head</a:t>
            </a:r>
            <a:r>
              <a:rPr sz="2000" spc="-152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Attentio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Layer</a:t>
            </a:r>
            <a:endParaRPr sz="2000" dirty="0">
              <a:latin typeface="Arial"/>
              <a:cs typeface="Arial"/>
            </a:endParaRPr>
          </a:p>
          <a:p>
            <a:pPr marL="474121" indent="-406390">
              <a:buChar char="•"/>
              <a:tabLst>
                <a:tab pos="473275" algn="l"/>
                <a:tab pos="474121" algn="l"/>
              </a:tabLst>
            </a:pPr>
            <a:r>
              <a:rPr sz="2000" spc="-7" dirty="0">
                <a:latin typeface="Arial"/>
                <a:cs typeface="Arial"/>
              </a:rPr>
              <a:t>Position-wise</a:t>
            </a:r>
            <a:r>
              <a:rPr sz="2000" spc="-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Feed-Forward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layer</a:t>
            </a:r>
            <a:endParaRPr sz="2000" dirty="0">
              <a:latin typeface="Arial"/>
              <a:cs typeface="Arial"/>
            </a:endParaRPr>
          </a:p>
          <a:p>
            <a:pPr marL="474121" indent="-406390">
              <a:buChar char="•"/>
              <a:tabLst>
                <a:tab pos="473275" algn="l"/>
                <a:tab pos="474121" algn="l"/>
              </a:tabLst>
            </a:pPr>
            <a:r>
              <a:rPr sz="2000" spc="-7" dirty="0">
                <a:latin typeface="Arial"/>
                <a:cs typeface="Arial"/>
              </a:rPr>
              <a:t>Positional</a:t>
            </a:r>
            <a:r>
              <a:rPr sz="2000" spc="-7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Encoding</a:t>
            </a:r>
            <a:endParaRPr sz="2000" dirty="0">
              <a:latin typeface="Arial"/>
              <a:cs typeface="Arial"/>
            </a:endParaRPr>
          </a:p>
          <a:p>
            <a:pPr marL="474121" indent="-406390">
              <a:buChar char="•"/>
              <a:tabLst>
                <a:tab pos="473275" algn="l"/>
                <a:tab pos="474121" algn="l"/>
              </a:tabLst>
            </a:pPr>
            <a:r>
              <a:rPr sz="2000" dirty="0">
                <a:latin typeface="Arial"/>
                <a:cs typeface="Arial"/>
              </a:rPr>
              <a:t>(Residual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Adding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and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Normalization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Layer</a:t>
            </a:r>
            <a:r>
              <a:rPr sz="2667" spc="-7" dirty="0">
                <a:latin typeface="Arial"/>
                <a:cs typeface="Arial"/>
              </a:rPr>
              <a:t>)</a:t>
            </a:r>
            <a:endParaRPr sz="2667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5520" y="1627633"/>
            <a:ext cx="3158167" cy="43362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B33CED-21E7-2692-E610-C294DBAD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2189" y="1052449"/>
            <a:ext cx="552696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225040" y="2003552"/>
            <a:ext cx="6830275" cy="4285488"/>
            <a:chOff x="1148242" y="573024"/>
            <a:chExt cx="7106284" cy="44729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4438" y="573024"/>
              <a:ext cx="3276755" cy="44729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5536" y="2388637"/>
              <a:ext cx="2438399" cy="2892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12815" y="2145791"/>
              <a:ext cx="1238250" cy="1652270"/>
            </a:xfrm>
            <a:custGeom>
              <a:avLst/>
              <a:gdLst/>
              <a:ahLst/>
              <a:cxnLst/>
              <a:rect l="l" t="t" r="r" b="b"/>
              <a:pathLst>
                <a:path w="1238250" h="1652270">
                  <a:moveTo>
                    <a:pt x="0" y="0"/>
                  </a:moveTo>
                  <a:lnTo>
                    <a:pt x="1234840" y="0"/>
                  </a:lnTo>
                  <a:lnTo>
                    <a:pt x="1234840" y="849334"/>
                  </a:lnTo>
                  <a:lnTo>
                    <a:pt x="0" y="849334"/>
                  </a:lnTo>
                  <a:lnTo>
                    <a:pt x="0" y="0"/>
                  </a:lnTo>
                  <a:close/>
                </a:path>
                <a:path w="1238250" h="1652270">
                  <a:moveTo>
                    <a:pt x="3111" y="908180"/>
                  </a:moveTo>
                  <a:lnTo>
                    <a:pt x="1237953" y="908180"/>
                  </a:lnTo>
                  <a:lnTo>
                    <a:pt x="1237953" y="1651767"/>
                  </a:lnTo>
                  <a:lnTo>
                    <a:pt x="3111" y="1651767"/>
                  </a:lnTo>
                  <a:lnTo>
                    <a:pt x="3111" y="908180"/>
                  </a:lnTo>
                  <a:close/>
                </a:path>
              </a:pathLst>
            </a:custGeom>
            <a:ln w="9524">
              <a:solidFill>
                <a:srgbClr val="EB55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89268" y="3273365"/>
              <a:ext cx="2124074" cy="3047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242" y="3342886"/>
              <a:ext cx="2047874" cy="3238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12747" y="3131730"/>
              <a:ext cx="1235075" cy="743585"/>
            </a:xfrm>
            <a:custGeom>
              <a:avLst/>
              <a:gdLst/>
              <a:ahLst/>
              <a:cxnLst/>
              <a:rect l="l" t="t" r="r" b="b"/>
              <a:pathLst>
                <a:path w="1235075" h="743585">
                  <a:moveTo>
                    <a:pt x="0" y="0"/>
                  </a:moveTo>
                  <a:lnTo>
                    <a:pt x="1234840" y="0"/>
                  </a:lnTo>
                  <a:lnTo>
                    <a:pt x="1234840" y="743587"/>
                  </a:lnTo>
                  <a:lnTo>
                    <a:pt x="0" y="7435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B55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6BF40B-9355-09DA-6A04-7E1FAEFD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146</a:t>
            </a:fld>
            <a:endParaRPr lang="en-US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0095" y="1107161"/>
            <a:ext cx="752133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300" dirty="0">
                <a:solidFill>
                  <a:srgbClr val="1A1A1A"/>
                </a:solidFill>
                <a:latin typeface="Trebuchet MS"/>
                <a:cs typeface="Trebuchet MS"/>
              </a:rPr>
              <a:t>Wh</a:t>
            </a:r>
            <a:r>
              <a:rPr spc="193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47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233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33" dirty="0">
                <a:solidFill>
                  <a:srgbClr val="1A1A1A"/>
                </a:solidFill>
                <a:latin typeface="Trebuchet MS"/>
                <a:cs typeface="Trebuchet MS"/>
              </a:rPr>
              <a:t>is</a:t>
            </a:r>
            <a:r>
              <a:rPr spc="-347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pc="40" dirty="0">
                <a:solidFill>
                  <a:srgbClr val="1A1A1A"/>
                </a:solidFill>
                <a:latin typeface="Trebuchet MS"/>
                <a:cs typeface="Trebuchet MS"/>
              </a:rPr>
              <a:t>A</a:t>
            </a:r>
            <a:r>
              <a:rPr spc="-5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-73" dirty="0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spc="67" dirty="0">
                <a:solidFill>
                  <a:srgbClr val="1A1A1A"/>
                </a:solidFill>
                <a:latin typeface="Trebuchet MS"/>
                <a:cs typeface="Trebuchet MS"/>
              </a:rPr>
              <a:t>e</a:t>
            </a:r>
            <a:r>
              <a:rPr spc="53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-7" dirty="0">
                <a:solidFill>
                  <a:srgbClr val="1A1A1A"/>
                </a:solidFill>
                <a:latin typeface="Trebuchet MS"/>
                <a:cs typeface="Trebuchet MS"/>
              </a:rPr>
              <a:t>tio</a:t>
            </a:r>
            <a:r>
              <a:rPr spc="-40" dirty="0">
                <a:solidFill>
                  <a:srgbClr val="1A1A1A"/>
                </a:solidFill>
                <a:latin typeface="Trebuchet MS"/>
                <a:cs typeface="Trebuchet MS"/>
              </a:rPr>
              <a:t>n</a:t>
            </a:r>
            <a:r>
              <a:rPr spc="173" dirty="0">
                <a:solidFill>
                  <a:srgbClr val="1A1A1A"/>
                </a:solidFill>
                <a:latin typeface="Trebuchet MS"/>
                <a:cs typeface="Trebuchet MS"/>
              </a:rPr>
              <a:t>?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15695" y="2042159"/>
            <a:ext cx="9777985" cy="3992879"/>
            <a:chOff x="195071" y="1706879"/>
            <a:chExt cx="8437245" cy="34366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071" y="1706879"/>
              <a:ext cx="8436863" cy="7342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448" y="2418585"/>
              <a:ext cx="4338100" cy="2724913"/>
            </a:xfrm>
            <a:prstGeom prst="rect">
              <a:avLst/>
            </a:prstGeom>
          </p:spPr>
        </p:pic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B0B60D-F687-F470-74B7-EA7247FD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147</a:t>
            </a:fld>
            <a:endParaRPr lang="en-US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577341"/>
            <a:ext cx="9003028" cy="444753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B3367C-198B-2A79-EFBB-341A29480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865" y="1696651"/>
            <a:ext cx="9918269" cy="411486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CAA567-F61D-AA46-C7C8-164FAF35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1680" y="985521"/>
            <a:ext cx="5336030" cy="50596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14207" y="1644397"/>
            <a:ext cx="3179063" cy="4063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3549E-8CE3-65BC-4C80-85F49064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150</a:t>
            </a:fld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2240" y="1016002"/>
            <a:ext cx="5712204" cy="4978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6560" y="1145667"/>
            <a:ext cx="3031997" cy="45666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90018-2A90-A460-9089-E8001E0CF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151</a:t>
            </a:fld>
            <a:endParaRPr 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5280" y="1173111"/>
            <a:ext cx="9181565" cy="494320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3F5128-E2F8-9FD8-04ED-B5845AEB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152</a:t>
            </a:fld>
            <a:endParaRPr 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9745" y="1282444"/>
            <a:ext cx="8652509" cy="481355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861943-07AA-AA76-9771-480856A8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153</a:t>
            </a:fld>
            <a:endParaRPr lang="en-US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50995-BF8C-34DD-375D-A9C4861E2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" y="140906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ar-EG" dirty="0"/>
          </a:p>
          <a:p>
            <a:pPr marL="0" indent="0" algn="ctr">
              <a:buNone/>
            </a:pPr>
            <a:r>
              <a:rPr lang="en-GB" sz="3200" dirty="0"/>
              <a:t>Q&amp;A </a:t>
            </a:r>
          </a:p>
          <a:p>
            <a:pPr marL="0" indent="0" algn="ctr">
              <a:buNone/>
            </a:pPr>
            <a:endParaRPr lang="ar-EG" sz="3200" dirty="0"/>
          </a:p>
          <a:p>
            <a:pPr marL="0" indent="0" algn="ctr">
              <a:buNone/>
            </a:pPr>
            <a:r>
              <a:rPr lang="en-GB" sz="3200" dirty="0"/>
              <a:t>Questions and answers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FFD91-BE00-70FF-455F-7C907561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8687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34368" y="2432493"/>
            <a:ext cx="394123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8800" spc="-13" dirty="0">
                <a:solidFill>
                  <a:srgbClr val="21C3AB"/>
                </a:solidFill>
              </a:rPr>
              <a:t>Thanks</a:t>
            </a:r>
            <a:endParaRPr sz="88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91A882-7B02-BB3B-0C3C-81B0A094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155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7446</TotalTime>
  <Words>3689</Words>
  <Application>Microsoft Office PowerPoint</Application>
  <PresentationFormat>Widescreen</PresentationFormat>
  <Paragraphs>609</Paragraphs>
  <Slides>155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64" baseType="lpstr">
      <vt:lpstr>MS PGothic</vt:lpstr>
      <vt:lpstr>Aptos</vt:lpstr>
      <vt:lpstr>Arial</vt:lpstr>
      <vt:lpstr>Calibri</vt:lpstr>
      <vt:lpstr>Calibri Light</vt:lpstr>
      <vt:lpstr>Tahoma</vt:lpstr>
      <vt:lpstr>Times New Roman</vt:lpstr>
      <vt:lpstr>Trebuchet MS</vt:lpstr>
      <vt:lpstr>Office Theme</vt:lpstr>
      <vt:lpstr>Natural Language Processing  with Attention Models</vt:lpstr>
      <vt:lpstr>Course Overview </vt:lpstr>
      <vt:lpstr>Topics </vt:lpstr>
      <vt:lpstr>What is NLP?</vt:lpstr>
      <vt:lpstr>What is NLP?</vt:lpstr>
      <vt:lpstr>Why NLP?</vt:lpstr>
      <vt:lpstr>Human-M  achine  Interactio  ns</vt:lpstr>
      <vt:lpstr>What are NLP tasks?</vt:lpstr>
      <vt:lpstr>Why NLP is hard?</vt:lpstr>
      <vt:lpstr>Semantic gap in ML</vt:lpstr>
      <vt:lpstr>PowerPoint Presentation</vt:lpstr>
      <vt:lpstr>Semantic gap in Speech</vt:lpstr>
      <vt:lpstr>Semantic gap in Text</vt:lpstr>
      <vt:lpstr>DL way of thinking □ Hierarchical refinement of concepts</vt:lpstr>
      <vt:lpstr>DL way of thinking □ Hierarchical refinement of concepts</vt:lpstr>
      <vt:lpstr>CV is spatial</vt:lpstr>
      <vt:lpstr>NLP is sequential</vt:lpstr>
      <vt:lpstr>NLP is hierarchical</vt:lpstr>
      <vt:lpstr>NLP is sequential</vt:lpstr>
      <vt:lpstr>CV is continuous – NLP is categorical</vt:lpstr>
      <vt:lpstr>Analogy CV vs NLP - conclusion</vt:lpstr>
      <vt:lpstr>NLP pipeline</vt:lpstr>
      <vt:lpstr>Supervised Learning Model Design Pattern</vt:lpstr>
      <vt:lpstr>Encoder-Decoder to close the semantic gap in ML</vt:lpstr>
      <vt:lpstr>Encoder-Decoder pattern in NLP</vt:lpstr>
      <vt:lpstr>Encoder-Decoder pattern</vt:lpstr>
      <vt:lpstr>Examples</vt:lpstr>
      <vt:lpstr>PowerPoint Presentation</vt:lpstr>
      <vt:lpstr>What is the best representation of language?</vt:lpstr>
      <vt:lpstr>NLP models meta-architectures</vt:lpstr>
      <vt:lpstr>How to represent words to NN?</vt:lpstr>
      <vt:lpstr>How to represent words to NN? Bag-of-Words model</vt:lpstr>
      <vt:lpstr>Text pre-processing pipeline</vt:lpstr>
      <vt:lpstr>PowerPoint Presentation</vt:lpstr>
      <vt:lpstr>Same pre-processing in training and inference</vt:lpstr>
      <vt:lpstr>Sequencing and Tokenization</vt:lpstr>
      <vt:lpstr>Normalization</vt:lpstr>
      <vt:lpstr>Tokenization</vt:lpstr>
      <vt:lpstr>Tokenization</vt:lpstr>
      <vt:lpstr>Stemming</vt:lpstr>
      <vt:lpstr>Lemmatization</vt:lpstr>
      <vt:lpstr>PoS Tags</vt:lpstr>
      <vt:lpstr>PowerPoint Presentation</vt:lpstr>
      <vt:lpstr>Extra clean-up</vt:lpstr>
      <vt:lpstr>Vectorization</vt:lpstr>
      <vt:lpstr>Vectorizing</vt:lpstr>
      <vt:lpstr>Vectorizing</vt:lpstr>
      <vt:lpstr>1- Count vectorization</vt:lpstr>
      <vt:lpstr>1- Count vectorization- Document term matrix</vt:lpstr>
      <vt:lpstr>1- Count vectorization- Document term matrix</vt:lpstr>
      <vt:lpstr>1- Count vectorization- Document term matrix</vt:lpstr>
      <vt:lpstr>1- Count vectorization- Document term matrix</vt:lpstr>
      <vt:lpstr>Sparse Matrix</vt:lpstr>
      <vt:lpstr>N-gram vectorizing</vt:lpstr>
      <vt:lpstr>N-gram vectorizing(2,2)</vt:lpstr>
      <vt:lpstr>N-gram vectorizing(1,2)</vt:lpstr>
      <vt:lpstr>N-gram vectorizing(1,3)</vt:lpstr>
      <vt:lpstr>N-gram vectorizing</vt:lpstr>
      <vt:lpstr>Term frequency - inverse document frequency (TF-IDF)</vt:lpstr>
      <vt:lpstr>TF-IDF- How to Compute:</vt:lpstr>
      <vt:lpstr>TF-IDF- How to Compute:</vt:lpstr>
      <vt:lpstr>TF-IDF- Vs N-Gram:</vt:lpstr>
      <vt:lpstr>PowerPoint Presentation</vt:lpstr>
      <vt:lpstr>Email/SMS Spam Filtering Notebook</vt:lpstr>
      <vt:lpstr>Recurrent Neural Networks (RNN)</vt:lpstr>
      <vt:lpstr>PowerPoint Presentation</vt:lpstr>
      <vt:lpstr>RNN has two major disadvantages</vt:lpstr>
      <vt:lpstr>Recurrent Neural Networks (RNN)</vt:lpstr>
      <vt:lpstr>RNN training Back-propagation over time</vt:lpstr>
      <vt:lpstr>Vanishing Gradients</vt:lpstr>
      <vt:lpstr>RNNs characteristics</vt:lpstr>
      <vt:lpstr>Long Short-Term Memory (LSTM)</vt:lpstr>
      <vt:lpstr>The basic difference between the function of tanh, sigmoid is the range.</vt:lpstr>
      <vt:lpstr>PowerPoint Presentation</vt:lpstr>
      <vt:lpstr>PowerPoint Presentation</vt:lpstr>
      <vt:lpstr>PowerPoint Presentation</vt:lpstr>
      <vt:lpstr>And then we design the new memory of the cell with this equation.</vt:lpstr>
      <vt:lpstr>The next step is controlling the amount of output from the cell.</vt:lpstr>
      <vt:lpstr>Then process and produce the output itself with the tanh equation</vt:lpstr>
      <vt:lpstr>Long Short-Term Memory (LSTM)</vt:lpstr>
      <vt:lpstr>Simple RNN vs LSTM</vt:lpstr>
      <vt:lpstr>Transformers</vt:lpstr>
      <vt:lpstr>Deep learning for NLP</vt:lpstr>
      <vt:lpstr>PowerPoint Presentation</vt:lpstr>
      <vt:lpstr>Models</vt:lpstr>
      <vt:lpstr>Models with application</vt:lpstr>
      <vt:lpstr>PowerPoint Presentation</vt:lpstr>
      <vt:lpstr>Model 1  Neural Networks</vt:lpstr>
      <vt:lpstr>PowerPoint Presentation</vt:lpstr>
      <vt:lpstr>Neural Network</vt:lpstr>
      <vt:lpstr>Neural Network</vt:lpstr>
      <vt:lpstr>Neural Network</vt:lpstr>
      <vt:lpstr>Neural Network</vt:lpstr>
      <vt:lpstr>Word2vec using neural networks</vt:lpstr>
      <vt:lpstr>Word2vec using neural networks</vt:lpstr>
      <vt:lpstr>Word2vec using neural networks</vt:lpstr>
      <vt:lpstr>From words to sentences</vt:lpstr>
      <vt:lpstr>Model 2  RNN</vt:lpstr>
      <vt:lpstr>RNN</vt:lpstr>
      <vt:lpstr>RNN  – unrolled in time</vt:lpstr>
      <vt:lpstr>PowerPoint Presentation</vt:lpstr>
      <vt:lpstr>PowerPoint Presentation</vt:lpstr>
      <vt:lpstr>RNN can learn sentence representation</vt:lpstr>
      <vt:lpstr>RNN can predict</vt:lpstr>
      <vt:lpstr>RNN Training</vt:lpstr>
      <vt:lpstr>RNN - Summary</vt:lpstr>
      <vt:lpstr>RNN - Problems</vt:lpstr>
      <vt:lpstr>Translation – First Attempt</vt:lpstr>
      <vt:lpstr>Model 3  Encoder Decoder</vt:lpstr>
      <vt:lpstr>Encoder Decoder</vt:lpstr>
      <vt:lpstr>Encoder Decoder</vt:lpstr>
      <vt:lpstr>Encoder Decoder</vt:lpstr>
      <vt:lpstr>Encoder Decoder in Translation</vt:lpstr>
      <vt:lpstr>Encoder - Decoder Summary</vt:lpstr>
      <vt:lpstr>Translation using Encoder - Decoder</vt:lpstr>
      <vt:lpstr>PowerPoint Presentation</vt:lpstr>
      <vt:lpstr>Translation issues (Word alignment)</vt:lpstr>
      <vt:lpstr>Translation issues (Word alignment)</vt:lpstr>
      <vt:lpstr>PowerPoint Presentation</vt:lpstr>
      <vt:lpstr>Translation issues (Interdependencies)</vt:lpstr>
      <vt:lpstr>Translation issues</vt:lpstr>
      <vt:lpstr>How to retain more meaning (Context)</vt:lpstr>
      <vt:lpstr>Model 4  Attention</vt:lpstr>
      <vt:lpstr>Need for Attention</vt:lpstr>
      <vt:lpstr>Pay selective attention</vt:lpstr>
      <vt:lpstr>Pay selective attention</vt:lpstr>
      <vt:lpstr>Without attention</vt:lpstr>
      <vt:lpstr>Attention</vt:lpstr>
      <vt:lpstr>Attention captures alignment</vt:lpstr>
      <vt:lpstr>Attention Summary</vt:lpstr>
      <vt:lpstr>Model 5  Transformers</vt:lpstr>
      <vt:lpstr>Transformers</vt:lpstr>
      <vt:lpstr>Transformers</vt:lpstr>
      <vt:lpstr>Transformers</vt:lpstr>
      <vt:lpstr>PowerPoint Presentation</vt:lpstr>
      <vt:lpstr>Transformers (Self attention)</vt:lpstr>
      <vt:lpstr>Transformers (Self attention)</vt:lpstr>
      <vt:lpstr>Transformers (Self attention)</vt:lpstr>
      <vt:lpstr>Transformers (Self attention)</vt:lpstr>
      <vt:lpstr>Transformers</vt:lpstr>
      <vt:lpstr>Transformers</vt:lpstr>
      <vt:lpstr>Transformers model</vt:lpstr>
      <vt:lpstr>Transformers</vt:lpstr>
      <vt:lpstr>Two types of attention</vt:lpstr>
      <vt:lpstr>Entire Model Architecture</vt:lpstr>
      <vt:lpstr>Attentions</vt:lpstr>
      <vt:lpstr>What is Attention?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</dc:creator>
  <cp:lastModifiedBy>Mai Ahmed</cp:lastModifiedBy>
  <cp:revision>25</cp:revision>
  <dcterms:created xsi:type="dcterms:W3CDTF">2024-03-14T10:03:54Z</dcterms:created>
  <dcterms:modified xsi:type="dcterms:W3CDTF">2024-04-17T15:01:41Z</dcterms:modified>
</cp:coreProperties>
</file>