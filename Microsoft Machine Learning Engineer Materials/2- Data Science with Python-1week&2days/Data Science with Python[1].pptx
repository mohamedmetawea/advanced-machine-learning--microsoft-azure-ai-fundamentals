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14"/>
  </p:notesMasterIdLst>
  <p:sldIdLst>
    <p:sldId id="284" r:id="rId2"/>
    <p:sldId id="430" r:id="rId3"/>
    <p:sldId id="431" r:id="rId4"/>
    <p:sldId id="432" r:id="rId5"/>
    <p:sldId id="291" r:id="rId6"/>
    <p:sldId id="292" r:id="rId7"/>
    <p:sldId id="334" r:id="rId8"/>
    <p:sldId id="326" r:id="rId9"/>
    <p:sldId id="336" r:id="rId10"/>
    <p:sldId id="335" r:id="rId11"/>
    <p:sldId id="339" r:id="rId12"/>
    <p:sldId id="331" r:id="rId13"/>
    <p:sldId id="337" r:id="rId14"/>
    <p:sldId id="342" r:id="rId15"/>
    <p:sldId id="338" r:id="rId16"/>
    <p:sldId id="348" r:id="rId17"/>
    <p:sldId id="340" r:id="rId18"/>
    <p:sldId id="349" r:id="rId19"/>
    <p:sldId id="341" r:id="rId20"/>
    <p:sldId id="350" r:id="rId21"/>
    <p:sldId id="343" r:id="rId22"/>
    <p:sldId id="351" r:id="rId23"/>
    <p:sldId id="332" r:id="rId24"/>
    <p:sldId id="352" r:id="rId25"/>
    <p:sldId id="353" r:id="rId26"/>
    <p:sldId id="333" r:id="rId27"/>
    <p:sldId id="344" r:id="rId28"/>
    <p:sldId id="354" r:id="rId29"/>
    <p:sldId id="345" r:id="rId30"/>
    <p:sldId id="346" r:id="rId31"/>
    <p:sldId id="363" r:id="rId32"/>
    <p:sldId id="356" r:id="rId33"/>
    <p:sldId id="364" r:id="rId34"/>
    <p:sldId id="355" r:id="rId35"/>
    <p:sldId id="357" r:id="rId36"/>
    <p:sldId id="435" r:id="rId37"/>
    <p:sldId id="366" r:id="rId38"/>
    <p:sldId id="365" r:id="rId39"/>
    <p:sldId id="358" r:id="rId40"/>
    <p:sldId id="295" r:id="rId41"/>
    <p:sldId id="359" r:id="rId42"/>
    <p:sldId id="360" r:id="rId43"/>
    <p:sldId id="367" r:id="rId44"/>
    <p:sldId id="361" r:id="rId45"/>
    <p:sldId id="362" r:id="rId46"/>
    <p:sldId id="368" r:id="rId47"/>
    <p:sldId id="376" r:id="rId48"/>
    <p:sldId id="347" r:id="rId49"/>
    <p:sldId id="369" r:id="rId50"/>
    <p:sldId id="293" r:id="rId51"/>
    <p:sldId id="370" r:id="rId52"/>
    <p:sldId id="377" r:id="rId53"/>
    <p:sldId id="378" r:id="rId54"/>
    <p:sldId id="371" r:id="rId55"/>
    <p:sldId id="372" r:id="rId56"/>
    <p:sldId id="381" r:id="rId57"/>
    <p:sldId id="380" r:id="rId58"/>
    <p:sldId id="379" r:id="rId59"/>
    <p:sldId id="382" r:id="rId60"/>
    <p:sldId id="383" r:id="rId61"/>
    <p:sldId id="373" r:id="rId62"/>
    <p:sldId id="374" r:id="rId63"/>
    <p:sldId id="384" r:id="rId64"/>
    <p:sldId id="385" r:id="rId65"/>
    <p:sldId id="398" r:id="rId66"/>
    <p:sldId id="436" r:id="rId67"/>
    <p:sldId id="399" r:id="rId68"/>
    <p:sldId id="400" r:id="rId69"/>
    <p:sldId id="375" r:id="rId70"/>
    <p:sldId id="386" r:id="rId71"/>
    <p:sldId id="387" r:id="rId72"/>
    <p:sldId id="388" r:id="rId73"/>
    <p:sldId id="389" r:id="rId74"/>
    <p:sldId id="401" r:id="rId75"/>
    <p:sldId id="390" r:id="rId76"/>
    <p:sldId id="408" r:id="rId77"/>
    <p:sldId id="391" r:id="rId78"/>
    <p:sldId id="412" r:id="rId79"/>
    <p:sldId id="413" r:id="rId80"/>
    <p:sldId id="414" r:id="rId81"/>
    <p:sldId id="415" r:id="rId82"/>
    <p:sldId id="419" r:id="rId83"/>
    <p:sldId id="392" r:id="rId84"/>
    <p:sldId id="402" r:id="rId85"/>
    <p:sldId id="403" r:id="rId86"/>
    <p:sldId id="404" r:id="rId87"/>
    <p:sldId id="405" r:id="rId88"/>
    <p:sldId id="416" r:id="rId89"/>
    <p:sldId id="417" r:id="rId90"/>
    <p:sldId id="418" r:id="rId91"/>
    <p:sldId id="428" r:id="rId92"/>
    <p:sldId id="420" r:id="rId93"/>
    <p:sldId id="421" r:id="rId94"/>
    <p:sldId id="422" r:id="rId95"/>
    <p:sldId id="423" r:id="rId96"/>
    <p:sldId id="424" r:id="rId97"/>
    <p:sldId id="425" r:id="rId98"/>
    <p:sldId id="426" r:id="rId99"/>
    <p:sldId id="427" r:id="rId100"/>
    <p:sldId id="406" r:id="rId101"/>
    <p:sldId id="407" r:id="rId102"/>
    <p:sldId id="409" r:id="rId103"/>
    <p:sldId id="410" r:id="rId104"/>
    <p:sldId id="411" r:id="rId105"/>
    <p:sldId id="393" r:id="rId106"/>
    <p:sldId id="397" r:id="rId107"/>
    <p:sldId id="429" r:id="rId108"/>
    <p:sldId id="394" r:id="rId109"/>
    <p:sldId id="395" r:id="rId110"/>
    <p:sldId id="396" r:id="rId111"/>
    <p:sldId id="433" r:id="rId112"/>
    <p:sldId id="434" r:id="rId113"/>
  </p:sldIdLst>
  <p:sldSz cx="9144000" cy="5143500" type="screen16x9"/>
  <p:notesSz cx="6858000" cy="9144000"/>
  <p:embeddedFontLst>
    <p:embeddedFont>
      <p:font typeface="Economica" panose="020B0604020202020204" charset="0"/>
      <p:regular r:id="rId115"/>
      <p:bold r:id="rId116"/>
      <p:italic r:id="rId117"/>
      <p:boldItalic r:id="rId1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14FF3D-B712-5399-6893-65B5E1294DF2}" v="13" dt="2024-04-17T17:47:39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font" Target="fonts/font3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microsoft.com/office/2016/11/relationships/changesInfo" Target="changesInfos/changesInfo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font" Target="fonts/font4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microsoft.com/office/2015/10/relationships/revisionInfo" Target="revisionInfo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19" Type="http://schemas.openxmlformats.org/officeDocument/2006/relationships/presProps" Target="pres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font" Target="fonts/font1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7d10090c75d52c96f7353a8441b6860aa99f32ac544156f569d6e2d358364ec4::" providerId="AD" clId="Web-{AB14FF3D-B712-5399-6893-65B5E1294DF2}"/>
    <pc:docChg chg="modSld">
      <pc:chgData name="Guest User" userId="S::urn:spo:anon#7d10090c75d52c96f7353a8441b6860aa99f32ac544156f569d6e2d358364ec4::" providerId="AD" clId="Web-{AB14FF3D-B712-5399-6893-65B5E1294DF2}" dt="2024-04-17T17:47:39.441" v="11" actId="1076"/>
      <pc:docMkLst>
        <pc:docMk/>
      </pc:docMkLst>
      <pc:sldChg chg="addSp modSp">
        <pc:chgData name="Guest User" userId="S::urn:spo:anon#7d10090c75d52c96f7353a8441b6860aa99f32ac544156f569d6e2d358364ec4::" providerId="AD" clId="Web-{AB14FF3D-B712-5399-6893-65B5E1294DF2}" dt="2024-04-17T17:47:39.441" v="11" actId="1076"/>
        <pc:sldMkLst>
          <pc:docMk/>
          <pc:sldMk cId="3566437414" sldId="284"/>
        </pc:sldMkLst>
        <pc:spChg chg="add mod">
          <ac:chgData name="Guest User" userId="S::urn:spo:anon#7d10090c75d52c96f7353a8441b6860aa99f32ac544156f569d6e2d358364ec4::" providerId="AD" clId="Web-{AB14FF3D-B712-5399-6893-65B5E1294DF2}" dt="2024-04-17T17:47:39.441" v="11" actId="1076"/>
          <ac:spMkLst>
            <pc:docMk/>
            <pc:sldMk cId="3566437414" sldId="284"/>
            <ac:spMk id="3" creationId="{29EF93F6-873F-6191-575E-47D357BAB65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320F9A-DFA0-4189-B502-951ABE0D96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3" y="0"/>
            <a:ext cx="9144000" cy="5143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B26E85-A47D-4EB8-AACC-5D71388BF9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634" y="247660"/>
            <a:ext cx="963432" cy="4783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E96502-5A71-49D7-91EF-E9D795A0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02CB4-0340-43A8-A558-65E5F6C99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4AB7B-7005-4435-A7A3-37533F456A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4222BE5-0599-4FD4-80D4-907E8B02DA8D}" type="datetime1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E7D51-1B41-4AAB-838C-EF900F85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E0C4BE-FE7F-4C02-9A3E-71BC3A48C6D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8" y="0"/>
            <a:ext cx="1117324" cy="1039978"/>
          </a:xfrm>
          <a:prstGeom prst="rect">
            <a:avLst/>
          </a:prstGeom>
        </p:spPr>
      </p:pic>
      <p:sp>
        <p:nvSpPr>
          <p:cNvPr id="15" name="Freeform 6">
            <a:extLst>
              <a:ext uri="{FF2B5EF4-FFF2-40B4-BE49-F238E27FC236}">
                <a16:creationId xmlns:a16="http://schemas.microsoft.com/office/drawing/2014/main" id="{5140D0A2-F8A9-7918-6D42-0B21462A7985}"/>
              </a:ext>
            </a:extLst>
          </p:cNvPr>
          <p:cNvSpPr/>
          <p:nvPr userDrawn="1"/>
        </p:nvSpPr>
        <p:spPr>
          <a:xfrm>
            <a:off x="8199866" y="4758012"/>
            <a:ext cx="349568" cy="323942"/>
          </a:xfrm>
          <a:custGeom>
            <a:avLst/>
            <a:gdLst/>
            <a:ahLst/>
            <a:cxnLst/>
            <a:rect l="l" t="t" r="r" b="b"/>
            <a:pathLst>
              <a:path w="1026026" h="189485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</p:spPr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E9A13-D855-42EA-8471-DDA8E13B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70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60B6D-1D51-4444-8393-E35BA63F1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61446-D5C8-48D6-8362-2691AC20F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94AA4-5DCE-4AE8-9BC9-F29480FF88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A4F2E93-C294-48A3-A7AE-B8E428F8EC38}" type="datetime1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07058-AB46-40A5-B5AE-E9862D3C8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C426E-5AEB-4C83-A17B-241638168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34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4BE44-49C7-449D-9550-1E7B65970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AA4F7-FE01-4FEF-BC23-4EBFFF370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B9BA3-57A0-4B4B-A089-2C5CE8708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2FDF6D-CD2D-433E-84D7-E83F8FCE52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634" y="247660"/>
            <a:ext cx="963432" cy="4783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2BDD0D-C88D-431E-BC92-4367CEB006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8" y="0"/>
            <a:ext cx="1117324" cy="103997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FBEB5-E386-9685-E6D3-A062E9E4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39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325BB-1073-4118-9189-772DE573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BC724-756A-4777-8D83-3CD9AFD19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FC4DE-2AB7-4E43-BFBA-6FF436D9B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BCCFF-F409-4BF2-9883-91BA170BFE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619B94-43F1-485B-95A4-872419496670}" type="datetime1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82A71-7516-408D-862B-A5F340412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613D0-7994-4BCE-AE17-12E991FEC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167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DCC53-ADBE-4538-BDCF-8A6C0C074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37BC3-80C1-40A0-B8BD-B9E9F5642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B7EDB-C158-4B0F-AC48-1D7DE7DC8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7E96D1-3002-4810-98AF-A275B63346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DDBB9A-2C9B-4E96-9E5C-6C3BE64498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B99CCF-14FE-46E4-AEF3-3520D661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3E0BC462-095E-4C7B-8865-4E4CEFD04EAC}" type="datetime1">
              <a:rPr lang="en-US" smtClean="0"/>
              <a:t>4/17/2024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8493FD-6F8C-4BED-896C-CBA26D0E9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AF6D6A-EFFC-4E81-9BDD-C595B6C9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69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16566-0B23-4F08-ACF0-2DDFF54A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396B25-2A2B-41A7-AF6D-57D5055F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34407E8-0DD4-4AE9-BD2C-39452AA35BF3}" type="datetime1">
              <a:rPr lang="en-US" smtClean="0"/>
              <a:t>4/17/2024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F5C9F0-C082-4566-AEB4-F08316DEF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F48D6-A9E0-485D-BA28-15D5DACA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578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92526D-307A-4059-80C4-1413758A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93C9C1E-2C54-4B87-8FCB-5E2F8553DC13}" type="datetime1">
              <a:rPr lang="en-US" smtClean="0"/>
              <a:t>4/17/2024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E1822F-3DE8-45A0-9F67-6061DB1F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1B196-D439-43FF-B35C-F9A301B03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30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D350E-3F73-4F95-89B8-BF9D660E0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CE4F2-B1FE-4665-B99F-04C8EBAAC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1F0C4-D797-433C-B73A-9C3B4D1BA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3DABF-2DE9-4FD5-B4A8-5E200B98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366E1A58-6C74-4274-B797-55A34770D341}" type="datetime1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32E28-C4D1-4761-BD12-20FBE946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CF5A0-DC82-4F6C-8E49-2C9987C4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58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47410-9CC3-4CD7-A18A-2A1FBD8F7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617FFE-99AB-4F61-A4A2-7D7A5832C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EFC75-BA25-436F-A339-F8970D50B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AE525-9C27-44A4-ADC4-FEBFF45039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FAEDE6B7-3AA7-4E83-AD72-FE74E8B82616}" type="datetime1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2E2F3-7DBB-4D25-9537-D2D24B0D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7A639-0697-4DE3-8BE3-94C24D6FD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03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27062-6971-4C1F-A975-AC85DCD0F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55ECB-B9CD-4FA5-AACA-CDD01AACF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F606B-F0E0-4BB1-94D6-738E49DF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2174751E-91D5-42A9-9FB1-86BB321F76E0}" type="datetime1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65738-7A1D-4D54-ADFC-91C34D4F5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7C986-B0A0-4B82-9134-1B7676F56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43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45B8BC-3AC4-4059-BB3C-B12B6148AC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C1D0E-02A9-4DFB-8CA3-A94A10E72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3F7A1-D368-4F71-BA41-54CA742F49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98925CDC-47E7-4697-B8E7-1B9E469FD6D3}" type="datetime1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D9678-2347-4C47-858A-5508F8383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0E8F-0367-4945-87E5-F2D254AD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10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68A88-1EE1-3422-84E1-7CB361B1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1FC91-FAA2-D65F-E901-C6884F9C61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31FCD60-B39A-4B23-B6A9-117008E324A3}" type="datetime1">
              <a:rPr lang="en-US" smtClean="0"/>
              <a:t>4/17/2024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48D4D-60AF-93C1-9BF4-DCE9AEF7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DD901-3047-7838-FFFA-C6F934BAA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946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F972D6-1319-4F4E-A35B-D719D3F5F86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85C812-25A0-4E40-A6AB-B4A290A63150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634" y="247660"/>
            <a:ext cx="963432" cy="4783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91E89A-F8E2-4201-95AC-F9DBA9C318FE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8" y="0"/>
            <a:ext cx="1117324" cy="1039978"/>
          </a:xfrm>
          <a:prstGeom prst="rect">
            <a:avLst/>
          </a:prstGeom>
        </p:spPr>
      </p:pic>
      <p:sp>
        <p:nvSpPr>
          <p:cNvPr id="11" name="Freeform 6">
            <a:extLst>
              <a:ext uri="{FF2B5EF4-FFF2-40B4-BE49-F238E27FC236}">
                <a16:creationId xmlns:a16="http://schemas.microsoft.com/office/drawing/2014/main" id="{BE728FAA-6989-49E4-827F-768285FCB943}"/>
              </a:ext>
            </a:extLst>
          </p:cNvPr>
          <p:cNvSpPr/>
          <p:nvPr userDrawn="1"/>
        </p:nvSpPr>
        <p:spPr>
          <a:xfrm>
            <a:off x="8230642" y="4758012"/>
            <a:ext cx="349568" cy="323942"/>
          </a:xfrm>
          <a:custGeom>
            <a:avLst/>
            <a:gdLst/>
            <a:ahLst/>
            <a:cxnLst/>
            <a:rect l="l" t="t" r="r" b="b"/>
            <a:pathLst>
              <a:path w="1026026" h="189485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</p:spPr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A08C-8FDB-46C4-8ADC-9425CB5F2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C7012-56A5-4A5F-AE60-B293BCF52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82B0E-0FEF-49F7-B246-1C5E6D54C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0253" y="4767263"/>
            <a:ext cx="320479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E8069-45EF-4F1D-8025-75594D26D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EE24C92-1265-4741-8F9F-404A15D938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991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0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0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EF1025AB-B4AF-495E-87F3-282226BE1EA6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r>
              <a:rPr lang="en-US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60385" y="2205106"/>
            <a:ext cx="788670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sz="3200" b="1" dirty="0">
                <a:solidFill>
                  <a:srgbClr val="454545"/>
                </a:solidFill>
                <a:highlight>
                  <a:srgbClr val="FFFFFF"/>
                </a:highlight>
                <a:latin typeface="Economica" panose="020B0604020202020204" charset="0"/>
              </a:rPr>
              <a:t>Data Science with Python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EF93F6-873F-6191-575E-47D357BAB651}"/>
              </a:ext>
            </a:extLst>
          </p:cNvPr>
          <p:cNvSpPr/>
          <p:nvPr/>
        </p:nvSpPr>
        <p:spPr>
          <a:xfrm>
            <a:off x="390757" y="4653509"/>
            <a:ext cx="2634257" cy="392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cs typeface="Calibri"/>
              </a:rPr>
              <a:t>17/04/2024</a:t>
            </a:r>
          </a:p>
        </p:txBody>
      </p:sp>
    </p:spTree>
    <p:extLst>
      <p:ext uri="{BB962C8B-B14F-4D97-AF65-F5344CB8AC3E}">
        <p14:creationId xmlns:p14="http://schemas.microsoft.com/office/powerpoint/2010/main" val="3566437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0B048-5B2D-9BF9-0996-81EF28F9E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589F7C-3DB9-0FAF-3D56-950308D02412}"/>
              </a:ext>
            </a:extLst>
          </p:cNvPr>
          <p:cNvSpPr txBox="1"/>
          <p:nvPr/>
        </p:nvSpPr>
        <p:spPr>
          <a:xfrm>
            <a:off x="752636" y="2383149"/>
            <a:ext cx="6734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The Data Science with Python course provides a comprehensive overview of Python's tools and techniques for data analytics. Learning Python is a vital skill for numerous data science roles, and you can cultivate it through this course.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6E5D9C-3D17-D246-9346-EEB95B44274B}"/>
              </a:ext>
            </a:extLst>
          </p:cNvPr>
          <p:cNvSpPr txBox="1"/>
          <p:nvPr/>
        </p:nvSpPr>
        <p:spPr>
          <a:xfrm>
            <a:off x="365179" y="1399194"/>
            <a:ext cx="788670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GB" sz="3200" kern="1200" dirty="0">
                <a:solidFill>
                  <a:srgbClr val="454545"/>
                </a:solidFill>
                <a:highlight>
                  <a:srgbClr val="FFFFFF"/>
                </a:highlight>
                <a:latin typeface="Economica" panose="020B0604020202020204" charset="0"/>
                <a:ea typeface="+mn-ea"/>
                <a:cs typeface="+mn-cs"/>
              </a:rPr>
              <a:t>Course Overview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91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1487A-C1F4-56C4-959D-7DB63E5985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2041FDB-7364-4A09-94BC-53E108C85CC9}" type="datetime1">
              <a:rPr lang="en-US" smtClean="0"/>
              <a:t>4/17/2024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65A6B-4EE6-5C10-BC41-9CFC9E9C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F81271-287C-E52F-F5F5-C0CEAF1B60B3}"/>
              </a:ext>
            </a:extLst>
          </p:cNvPr>
          <p:cNvSpPr txBox="1"/>
          <p:nvPr/>
        </p:nvSpPr>
        <p:spPr>
          <a:xfrm>
            <a:off x="821409" y="1150848"/>
            <a:ext cx="7105973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>
              <a:spcBef>
                <a:spcPts val="210"/>
              </a:spcBef>
              <a:spcAft>
                <a:spcPts val="0"/>
              </a:spcAft>
              <a:tabLst>
                <a:tab pos="1657350" algn="l"/>
              </a:tabLst>
            </a:pPr>
            <a:r>
              <a:rPr lang="en-US" sz="1600" dirty="0">
                <a:solidFill>
                  <a:srgbClr val="2E5395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Benefits of Enrolling in a Course:</a:t>
            </a:r>
          </a:p>
          <a:p>
            <a:pPr marL="0" marR="0" indent="0">
              <a:spcBef>
                <a:spcPts val="210"/>
              </a:spcBef>
              <a:spcAft>
                <a:spcPts val="0"/>
              </a:spcAft>
              <a:tabLst>
                <a:tab pos="1657350" algn="l"/>
              </a:tabLst>
            </a:pPr>
            <a:endParaRPr lang="en-GB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21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1657350" algn="l"/>
              </a:tabLst>
            </a:pPr>
            <a:r>
              <a:rPr lang="en-US" sz="1200" dirty="0">
                <a:solidFill>
                  <a:srgbClr val="343A49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Gain an in-depth understanding of Data Science processes, data wrangling, data exploration, data visualization, hypothesis building, and testing. You will also learn the basics of statistics.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21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1657350" algn="l"/>
              </a:tabLst>
            </a:pPr>
            <a:r>
              <a:rPr lang="en-US" sz="1200" dirty="0">
                <a:solidFill>
                  <a:srgbClr val="343A49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Install the required Python environment and other auxiliary tools and libraries.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21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1657350" algn="l"/>
              </a:tabLst>
            </a:pPr>
            <a:r>
              <a:rPr lang="en-US" sz="1200" dirty="0">
                <a:solidFill>
                  <a:srgbClr val="343A49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Understand the essential concepts of Python programming such as data types, tuples, lists, </a:t>
            </a:r>
            <a:r>
              <a:rPr lang="en-US" sz="1200" dirty="0" err="1">
                <a:solidFill>
                  <a:srgbClr val="343A49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dicts</a:t>
            </a:r>
            <a:r>
              <a:rPr lang="en-US" sz="1200" dirty="0">
                <a:solidFill>
                  <a:srgbClr val="343A49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basic operators and functions.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21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1657350" algn="l"/>
              </a:tabLst>
            </a:pPr>
            <a:r>
              <a:rPr lang="en-US" sz="1200" dirty="0">
                <a:solidFill>
                  <a:srgbClr val="343A49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Perform high-level mathematical computing using the NumPy, Panda’s package and its vast library of mathematical functions.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21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1657350" algn="l"/>
              </a:tabLst>
            </a:pPr>
            <a:r>
              <a:rPr lang="en-US" sz="1200" dirty="0">
                <a:solidFill>
                  <a:srgbClr val="343A49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Perform scientific and technical computing using the SciPy package and its sub-packages such as Integrate, Optimize, Statistics, IO, and Weave.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21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1657350" algn="l"/>
              </a:tabLst>
            </a:pPr>
            <a:r>
              <a:rPr lang="en-US" sz="1200" dirty="0">
                <a:solidFill>
                  <a:srgbClr val="343A49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Perform data analysis and manipulation using data structures and tools provided in the Pandas package.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21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1657350" algn="l"/>
              </a:tabLst>
            </a:pPr>
            <a:r>
              <a:rPr lang="en-US" sz="1200" dirty="0">
                <a:solidFill>
                  <a:srgbClr val="343A49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Gain expertise in Machine Learning using the Scikit-Learn package.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786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A0B24-222B-4A8F-4AAC-5C8961251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443" y="955769"/>
            <a:ext cx="7886700" cy="994172"/>
          </a:xfrm>
        </p:spPr>
        <p:txBody>
          <a:bodyPr/>
          <a:lstStyle/>
          <a:p>
            <a:r>
              <a:rPr lang="en-GB" dirty="0"/>
              <a:t>Topics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2A2FB-01C5-F6F1-1C73-61BF7E7D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10BE7-285C-2A4D-F30D-2A04E8D07B48}"/>
              </a:ext>
            </a:extLst>
          </p:cNvPr>
          <p:cNvSpPr txBox="1"/>
          <p:nvPr/>
        </p:nvSpPr>
        <p:spPr>
          <a:xfrm>
            <a:off x="860156" y="2050702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Python Basics </a:t>
            </a:r>
          </a:p>
          <a:p>
            <a:r>
              <a:rPr lang="en-GB" sz="1200" dirty="0"/>
              <a:t>Python Data Structures. </a:t>
            </a:r>
          </a:p>
          <a:p>
            <a:r>
              <a:rPr lang="en-GB" sz="1200" dirty="0"/>
              <a:t>Working with Data in Python </a:t>
            </a:r>
          </a:p>
          <a:p>
            <a:r>
              <a:rPr lang="en-GB" sz="1200" dirty="0"/>
              <a:t>Data Science with Python </a:t>
            </a:r>
          </a:p>
          <a:p>
            <a:r>
              <a:rPr lang="en-GB" sz="1200" dirty="0"/>
              <a:t>Mathematical Computing with Python (NumPy) </a:t>
            </a:r>
          </a:p>
          <a:p>
            <a:r>
              <a:rPr lang="en-GB" sz="1200" dirty="0"/>
              <a:t>Scientific computing with Python (SciPy)</a:t>
            </a:r>
          </a:p>
        </p:txBody>
      </p:sp>
    </p:spTree>
    <p:extLst>
      <p:ext uri="{BB962C8B-B14F-4D97-AF65-F5344CB8AC3E}">
        <p14:creationId xmlns:p14="http://schemas.microsoft.com/office/powerpoint/2010/main" val="1045418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D162041C-84D3-4015-A8AD-E52C289259E6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5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2044152"/>
            <a:ext cx="3792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Module I</a:t>
            </a:r>
            <a:b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3600" b="1" dirty="0">
                <a:latin typeface="Economica"/>
                <a:sym typeface="Economica"/>
              </a:rPr>
              <a:t>Python Basics 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6365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0FAB5C79-B01A-453D-BC2E-0A39102C4D7F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6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2044152"/>
            <a:ext cx="7886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Module I</a:t>
            </a:r>
            <a:b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3600" b="1" dirty="0">
                <a:latin typeface="Economica"/>
                <a:sym typeface="Economica"/>
              </a:rPr>
              <a:t>Python Basics 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3313652"/>
            <a:ext cx="7886700" cy="8313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Conditions and Loops</a:t>
            </a:r>
          </a:p>
        </p:txBody>
      </p:sp>
    </p:spTree>
    <p:extLst>
      <p:ext uri="{BB962C8B-B14F-4D97-AF65-F5344CB8AC3E}">
        <p14:creationId xmlns:p14="http://schemas.microsoft.com/office/powerpoint/2010/main" val="1509679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C2E28A5D-C4A4-44AE-8B77-48438ABD14F8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7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447" y="930275"/>
            <a:ext cx="3448326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464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180B9DE7-48F5-496C-B3B6-6435DE9286B8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8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447" y="930275"/>
            <a:ext cx="3448326" cy="37020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852" y="930275"/>
            <a:ext cx="3530781" cy="16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20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CB977AD-6269-499F-8633-1EAD4CDE5180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9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447" y="930275"/>
            <a:ext cx="3448326" cy="37020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355" y="927440"/>
            <a:ext cx="3180291" cy="383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936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352F9F2-2B94-4D51-94B8-B2983694D1B2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078889"/>
            <a:ext cx="3695890" cy="168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210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C37D132D-63BD-4927-94FD-CD9ED1777676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11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078889"/>
            <a:ext cx="3695890" cy="168918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255" y="2154863"/>
            <a:ext cx="3695890" cy="214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743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EAADE217-3DF1-42B6-B5AD-155E983FFCAA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12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957489"/>
            <a:ext cx="3394039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03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E0F07D5E-73A9-4CCD-B0EB-317DA2A29419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13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135970"/>
            <a:ext cx="3120472" cy="326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48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27262150-0C3D-4C8B-957E-897245240858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14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135970"/>
            <a:ext cx="3120472" cy="326231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058" y="2084614"/>
            <a:ext cx="4293157" cy="124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21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9D7CFD09-86DF-42E0-91D6-D73CF9273E00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15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444558"/>
            <a:ext cx="4013406" cy="259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128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BF71DAC4-F625-45A4-9420-7F4FA69C0698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16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444558"/>
            <a:ext cx="4013406" cy="2597283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407" y="1035841"/>
            <a:ext cx="3246664" cy="35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97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B44C7DD4-DE2E-4C52-BB1B-66DD5B20232A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17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076154"/>
            <a:ext cx="4038808" cy="2260716"/>
          </a:xfrm>
          <a:prstGeom prst="rect">
            <a:avLst/>
          </a:prstGeom>
        </p:spPr>
      </p:pic>
      <p:pic>
        <p:nvPicPr>
          <p:cNvPr id="7" name="Content Placehold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358" y="1065213"/>
            <a:ext cx="3175699" cy="350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97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2502DBFB-A4DE-42C8-9E0C-332B4CD8094C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18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2044152"/>
            <a:ext cx="7886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Module I</a:t>
            </a:r>
            <a:b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3600" b="1" dirty="0">
                <a:latin typeface="Economica"/>
                <a:sym typeface="Economica"/>
              </a:rPr>
              <a:t>Python Basics 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3313652"/>
            <a:ext cx="7886700" cy="8313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Python Functions</a:t>
            </a:r>
          </a:p>
        </p:txBody>
      </p:sp>
    </p:spTree>
    <p:extLst>
      <p:ext uri="{BB962C8B-B14F-4D97-AF65-F5344CB8AC3E}">
        <p14:creationId xmlns:p14="http://schemas.microsoft.com/office/powerpoint/2010/main" val="3017550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1724DA4-FD03-41D4-9AFA-DB81CF59F250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19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48967"/>
            <a:ext cx="3981655" cy="216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05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0D3771A5-49C8-4EDD-B3E6-A7F4B6CBABC5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20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48967"/>
            <a:ext cx="3981655" cy="216546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760" y="800100"/>
            <a:ext cx="3158180" cy="373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68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87A6CC0-DDFA-4F84-96C5-82B1EB711617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21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135106"/>
            <a:ext cx="4051508" cy="27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560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CE19E30D-F390-48AB-BDC8-6682F32F89EF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22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135106"/>
            <a:ext cx="4051508" cy="27306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088" y="734786"/>
            <a:ext cx="3235868" cy="376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372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1498858-EC70-4DEB-993D-DDFE53469A40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23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81282"/>
            <a:ext cx="4083260" cy="229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6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CBFE6D4C-B79F-4F4F-8E39-055D61B3AA82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24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81282"/>
            <a:ext cx="4083260" cy="229246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468" y="826308"/>
            <a:ext cx="3988005" cy="386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16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2DA96A9-0758-4B79-93BC-C936E46F540F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25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2044152"/>
            <a:ext cx="7886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Module I</a:t>
            </a:r>
            <a:b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3600" b="1" dirty="0">
                <a:latin typeface="Economica"/>
                <a:sym typeface="Economica"/>
              </a:rPr>
              <a:t>Python Basics 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3313652"/>
            <a:ext cx="7886700" cy="8313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Python Recursion</a:t>
            </a:r>
          </a:p>
        </p:txBody>
      </p:sp>
    </p:spTree>
    <p:extLst>
      <p:ext uri="{BB962C8B-B14F-4D97-AF65-F5344CB8AC3E}">
        <p14:creationId xmlns:p14="http://schemas.microsoft.com/office/powerpoint/2010/main" val="717096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3FA5F4BE-CE77-48FC-829A-67590CDB8C30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26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3860" y="930275"/>
            <a:ext cx="4296279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032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B1D80F8-4394-43D8-AB68-F9DD1CEBA72A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27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175163"/>
            <a:ext cx="5816899" cy="15685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850402"/>
            <a:ext cx="3442297" cy="170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404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5841FB0-AAF8-47FA-A5C4-0B5B27A0BF51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28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2308" y="1537419"/>
            <a:ext cx="5499383" cy="292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6127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205E3A7C-6B3A-48C3-8259-14AA42F40467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29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1031" y="1346126"/>
            <a:ext cx="5581937" cy="287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883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7B51E021-F094-45F5-848B-5AE2B7DFDF08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30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957943"/>
            <a:ext cx="4029741" cy="34675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192" y="3429005"/>
            <a:ext cx="3728100" cy="99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721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0BF72D52-0999-4155-8F57-EEFD97E38CD2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31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2044152"/>
            <a:ext cx="7886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Module I</a:t>
            </a:r>
            <a:b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3600" b="1" dirty="0">
                <a:latin typeface="Economica"/>
                <a:sym typeface="Economica"/>
              </a:rPr>
              <a:t>Python Basics 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3313652"/>
            <a:ext cx="7886700" cy="8313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Python Classes</a:t>
            </a:r>
          </a:p>
        </p:txBody>
      </p:sp>
    </p:spTree>
    <p:extLst>
      <p:ext uri="{BB962C8B-B14F-4D97-AF65-F5344CB8AC3E}">
        <p14:creationId xmlns:p14="http://schemas.microsoft.com/office/powerpoint/2010/main" val="9753397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DB8F932D-DE60-42FB-A211-31E6E8E4BF5B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32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4499" y="1235782"/>
            <a:ext cx="5855001" cy="322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0265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54CE5AE8-FFDD-4E3B-B3A3-6D7D973613B0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33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7946" y="1201280"/>
            <a:ext cx="5468108" cy="326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502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D2AA6757-0C84-4C86-84A0-CC0B954F9ACE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34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029989"/>
            <a:ext cx="7886700" cy="350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216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A347BDDC-B1DE-410F-9E4F-EEFD11DBA92C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35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49" y="925167"/>
            <a:ext cx="3137807" cy="347311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069" y="3297775"/>
            <a:ext cx="4224281" cy="99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964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8B7B1-AF24-12FD-A556-F875330A39BC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5E1641F7-3154-4516-9AE9-0C2E9A09FDDA}" type="datetime1">
              <a:rPr lang="en-US" smtClean="0"/>
              <a:t>4/17/2024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2FE14-2B06-04AD-0840-56283328C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36</a:t>
            </a:fld>
            <a:endParaRPr lang="en-US"/>
          </a:p>
        </p:txBody>
      </p:sp>
      <p:sp>
        <p:nvSpPr>
          <p:cNvPr id="7" name="Google Shape;626;p54">
            <a:extLst>
              <a:ext uri="{FF2B5EF4-FFF2-40B4-BE49-F238E27FC236}">
                <a16:creationId xmlns:a16="http://schemas.microsoft.com/office/drawing/2014/main" id="{74DFCCD8-9CCD-E433-51D2-D70C4487DE65}"/>
              </a:ext>
            </a:extLst>
          </p:cNvPr>
          <p:cNvSpPr txBox="1"/>
          <p:nvPr/>
        </p:nvSpPr>
        <p:spPr>
          <a:xfrm>
            <a:off x="552450" y="105679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32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Q&amp;A </a:t>
            </a:r>
            <a:endParaRPr sz="1050" dirty="0"/>
          </a:p>
          <a:p>
            <a:pPr algn="ctr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3200"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32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 and answers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30697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29059754-8A8B-4C3F-A648-ED3AC03DBC1B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37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2044152"/>
            <a:ext cx="3792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Module II</a:t>
            </a:r>
            <a:b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3600" b="1" dirty="0">
                <a:latin typeface="Economica"/>
                <a:sym typeface="Economica"/>
              </a:rPr>
              <a:t>Python Data Structures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773774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7F97CF1-0651-41AD-B900-C44F35C35B5C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38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2044152"/>
            <a:ext cx="7886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Module II</a:t>
            </a:r>
            <a:b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3600" b="1" dirty="0">
                <a:latin typeface="Economica"/>
                <a:sym typeface="Economica"/>
              </a:rPr>
              <a:t>Python Data Structures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3313652"/>
            <a:ext cx="7886700" cy="8313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Big O notation</a:t>
            </a:r>
          </a:p>
        </p:txBody>
      </p:sp>
    </p:spTree>
    <p:extLst>
      <p:ext uri="{BB962C8B-B14F-4D97-AF65-F5344CB8AC3E}">
        <p14:creationId xmlns:p14="http://schemas.microsoft.com/office/powerpoint/2010/main" val="31977750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AFB74970-BDA2-492A-BCDA-8B52373E6897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39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5975" y="1262062"/>
            <a:ext cx="497205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7913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B6404-AE30-CF90-8B09-126EEB2F8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008" y="1413418"/>
            <a:ext cx="8600860" cy="3219305"/>
          </a:xfrm>
        </p:spPr>
        <p:txBody>
          <a:bodyPr>
            <a:normAutofit/>
          </a:bodyPr>
          <a:lstStyle/>
          <a:p>
            <a:r>
              <a:rPr lang="en-US" dirty="0"/>
              <a:t>Big-O notation describes how long it takes for an algorithm to get desired output depending on the given input as the input get arbitrarily large.</a:t>
            </a:r>
          </a:p>
          <a:p>
            <a:endParaRPr lang="en-US" dirty="0"/>
          </a:p>
          <a:p>
            <a:r>
              <a:rPr lang="en-US" dirty="0"/>
              <a:t>Let’s examine some of these points more closely:</a:t>
            </a:r>
          </a:p>
          <a:p>
            <a:pPr lvl="1"/>
            <a:r>
              <a:rPr lang="en-US" dirty="0"/>
              <a:t>Remember, we want to compare how quickly runtime will grows, not compare exact runtime, since those can vary depending on hardware.</a:t>
            </a:r>
          </a:p>
          <a:p>
            <a:pPr lvl="1"/>
            <a:r>
              <a:rPr lang="en-US" dirty="0"/>
              <a:t>Since we want to compare for a variety of input sizes, we are only concerned with runtime grow relative to the input. This is why we use n for notation.</a:t>
            </a:r>
          </a:p>
          <a:p>
            <a:pPr lvl="1"/>
            <a:r>
              <a:rPr lang="en-US" dirty="0"/>
              <a:t>As n gets arbitrarily large we only worry about terms that will grow the fastest as n gets large, to this point, Big-O analysis is also known as asymptotic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09439C4E-4FB4-4CDF-847C-598EF142A757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40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5008" y="903248"/>
            <a:ext cx="824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Big O Notation ?</a:t>
            </a:r>
          </a:p>
        </p:txBody>
      </p:sp>
    </p:spTree>
    <p:extLst>
      <p:ext uri="{BB962C8B-B14F-4D97-AF65-F5344CB8AC3E}">
        <p14:creationId xmlns:p14="http://schemas.microsoft.com/office/powerpoint/2010/main" val="10658927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D1856972-1980-458C-B003-488E33D6FFA5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41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686" y="896187"/>
            <a:ext cx="5537485" cy="26925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50" y="3735685"/>
            <a:ext cx="4580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dirty="0"/>
              <a:t>As for syntax fun1() can be said to be </a:t>
            </a:r>
            <a:r>
              <a:rPr lang="en-US" b="1" dirty="0"/>
              <a:t>O(n)</a:t>
            </a:r>
            <a:r>
              <a:rPr lang="en-US" dirty="0"/>
              <a:t> </a:t>
            </a:r>
          </a:p>
          <a:p>
            <a:pPr defTabSz="685800">
              <a:buClrTx/>
            </a:pPr>
            <a:r>
              <a:rPr lang="en-US" dirty="0"/>
              <a:t>since its runtime grows linearly with the input size. 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76209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B6B1BC4-4ED2-4D79-989B-5B6C82525AD0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42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4226" y="1050471"/>
            <a:ext cx="1983894" cy="32607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285" y="885090"/>
            <a:ext cx="3837144" cy="27670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98565" y="3652157"/>
            <a:ext cx="53039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685800">
              <a:buClrTx/>
              <a:buFont typeface="Arial" panose="020B0604020202020204" pitchFamily="34" charset="0"/>
              <a:buChar char="•"/>
            </a:pPr>
            <a:r>
              <a:rPr lang="en-US" dirty="0"/>
              <a:t>Smaller values ranges from 1 to 2 the runtime does not make any difference as we get more larger values the runtime may varies as shown in above plot. 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52092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F486B3D-87E2-4F2B-9CC4-49F95FCF8090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43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2044152"/>
            <a:ext cx="7886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Module II</a:t>
            </a:r>
            <a:b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3600" b="1" dirty="0">
                <a:latin typeface="Economica"/>
                <a:sym typeface="Economica"/>
              </a:rPr>
              <a:t>Python Data Structures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3313652"/>
            <a:ext cx="7886700" cy="8313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Stacks, queues and </a:t>
            </a:r>
            <a:r>
              <a:rPr lang="en-US" b="1" dirty="0" err="1">
                <a:solidFill>
                  <a:srgbClr val="FF0000"/>
                </a:solidFill>
              </a:rPr>
              <a:t>deques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6639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ED17B16D-3F0C-49BA-BD29-8650F2A98801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44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5216" y="930275"/>
            <a:ext cx="7373567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262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C6420896-ECD3-43CA-B1B9-4002B71E0568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45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605746"/>
            <a:ext cx="7886700" cy="235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6205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76AC1AB0-BB0D-4BF8-B619-B7FAFEF116FA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46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605746"/>
            <a:ext cx="7886700" cy="235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071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B6404-AE30-CF90-8B09-126EEB2F8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008" y="1413418"/>
            <a:ext cx="8600860" cy="3219305"/>
          </a:xfrm>
        </p:spPr>
        <p:txBody>
          <a:bodyPr/>
          <a:lstStyle/>
          <a:p>
            <a:r>
              <a:rPr lang="en-US" dirty="0"/>
              <a:t>Python’s built-in List data structure comes bundled </a:t>
            </a:r>
          </a:p>
          <a:p>
            <a:pPr marL="0" indent="0">
              <a:buNone/>
            </a:pPr>
            <a:r>
              <a:rPr lang="en-US" dirty="0"/>
              <a:t> with methods to simulate both stack and queue operations.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232E0941-E6ED-4696-8471-E23D340ED872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47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5008" y="903248"/>
            <a:ext cx="824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Stacks and Queues using Lists</a:t>
            </a:r>
          </a:p>
        </p:txBody>
      </p:sp>
    </p:spTree>
    <p:extLst>
      <p:ext uri="{BB962C8B-B14F-4D97-AF65-F5344CB8AC3E}">
        <p14:creationId xmlns:p14="http://schemas.microsoft.com/office/powerpoint/2010/main" val="31875393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49E7B25A-9E0F-4A85-80E7-26B7110359EF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48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1293" y="892175"/>
            <a:ext cx="2692399" cy="37020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233" y="2872415"/>
            <a:ext cx="2326048" cy="17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1883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B08EA117-F76D-45B0-8852-13D653012770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49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9672" y="1242260"/>
            <a:ext cx="3327571" cy="27623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603" y="2079573"/>
            <a:ext cx="4197566" cy="201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767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B6404-AE30-CF90-8B09-126EEB2F8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008" y="1413418"/>
            <a:ext cx="8600860" cy="321930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Python has a </a:t>
            </a:r>
            <a:r>
              <a:rPr lang="en-US" dirty="0" err="1"/>
              <a:t>deque</a:t>
            </a:r>
            <a:r>
              <a:rPr lang="en-US" dirty="0"/>
              <a:t> (pronounced ‘deck’) library </a:t>
            </a:r>
          </a:p>
          <a:p>
            <a:pPr marL="0" indent="0">
              <a:buNone/>
            </a:pPr>
            <a:r>
              <a:rPr lang="en-US" dirty="0"/>
              <a:t>that provides a sequence with efficient methods to </a:t>
            </a:r>
          </a:p>
          <a:p>
            <a:pPr marL="0" indent="0">
              <a:buNone/>
            </a:pPr>
            <a:r>
              <a:rPr lang="en-US" dirty="0"/>
              <a:t>work as a stack or a queue.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deque</a:t>
            </a:r>
            <a:r>
              <a:rPr lang="en-US" dirty="0"/>
              <a:t> is short for Double Ended Queue - a generalized </a:t>
            </a:r>
          </a:p>
          <a:p>
            <a:pPr marL="0" indent="0">
              <a:buNone/>
            </a:pPr>
            <a:r>
              <a:rPr lang="en-US" dirty="0"/>
              <a:t>queue that can get the first or last element that’s stored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1D305BF-28E9-4B5C-A6E1-5E392946B7AC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50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5008" y="903248"/>
            <a:ext cx="824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Stacks and Queues with the </a:t>
            </a:r>
            <a:r>
              <a:rPr lang="en-US" sz="2400" kern="1200" dirty="0" err="1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Deque</a:t>
            </a: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 Library</a:t>
            </a:r>
          </a:p>
        </p:txBody>
      </p:sp>
    </p:spTree>
    <p:extLst>
      <p:ext uri="{BB962C8B-B14F-4D97-AF65-F5344CB8AC3E}">
        <p14:creationId xmlns:p14="http://schemas.microsoft.com/office/powerpoint/2010/main" val="5342060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4303B39-1884-4106-BEF7-76E3894F0F0C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51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8149" y="1168317"/>
            <a:ext cx="3924502" cy="322596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009" y="2958608"/>
            <a:ext cx="3651438" cy="151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1522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936B732B-B1E7-48A2-BF4B-6364013E5267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52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7380" y="1161967"/>
            <a:ext cx="4089610" cy="323866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097" y="2914657"/>
            <a:ext cx="3600635" cy="148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255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5561B9B5-EE11-466D-A418-C72BC366CE08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53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2044152"/>
            <a:ext cx="7886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Module II</a:t>
            </a:r>
            <a:b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3600" b="1" dirty="0">
                <a:latin typeface="Economica"/>
                <a:sym typeface="Economica"/>
              </a:rPr>
              <a:t>Python Data Structures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3313652"/>
            <a:ext cx="7886700" cy="8313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Variables, Lists, Tuple, Set, dictionaries</a:t>
            </a:r>
          </a:p>
        </p:txBody>
      </p:sp>
    </p:spTree>
    <p:extLst>
      <p:ext uri="{BB962C8B-B14F-4D97-AF65-F5344CB8AC3E}">
        <p14:creationId xmlns:p14="http://schemas.microsoft.com/office/powerpoint/2010/main" val="42598708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4EE9E98C-C6FD-4500-9980-B1E25818CFD1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54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942932"/>
            <a:ext cx="4089610" cy="13145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627" y="952861"/>
            <a:ext cx="4013406" cy="353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016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DBA11380-F7FB-48C2-8D2E-DC033EFF55D7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55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4060" y="1027260"/>
            <a:ext cx="3708591" cy="180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0704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E348FD60-4918-4C43-8A5E-3B480933DA26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56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054475"/>
            <a:ext cx="3899100" cy="306720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763" y="2013375"/>
            <a:ext cx="3810196" cy="210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3641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A075541-D8F3-4B60-88DA-DA8FF94E6CE3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57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748010"/>
            <a:ext cx="3968954" cy="20448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532" y="768590"/>
            <a:ext cx="3436053" cy="386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8237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B5B359C8-E062-4255-BD7A-77F9A8CF6D0F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58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417367"/>
            <a:ext cx="3016405" cy="16828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651" y="533333"/>
            <a:ext cx="3383289" cy="397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4128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E8716531-8E1F-4CA9-AE48-73FE0E0938C8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59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8336" y="1231820"/>
            <a:ext cx="7347328" cy="309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34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BAA9EB5C-B8E5-4DA3-BCFB-D0E6A765E009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60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912" y="1022259"/>
            <a:ext cx="7290175" cy="351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6776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B05D3113-042F-440C-AC8D-BDBAD8AB2A17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61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129333"/>
            <a:ext cx="3860998" cy="23242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852" y="1004144"/>
            <a:ext cx="3146600" cy="363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5756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1F6A9174-8C4D-449B-B324-C28B5CBD2563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62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8033" y="1692219"/>
            <a:ext cx="3587934" cy="217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9200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22F1CBF8-EB2D-41B6-BB07-0849237BF8E9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63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671360"/>
            <a:ext cx="3702240" cy="1936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664" y="1671360"/>
            <a:ext cx="3619686" cy="23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088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125904F1-27DA-40B7-A6F7-5156F8A419B4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64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8800" y="1187368"/>
            <a:ext cx="3886400" cy="318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909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422EF753-E0C2-4DAB-92EA-DA3FA5D1D437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65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343854"/>
            <a:ext cx="3714941" cy="30164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205" y="1343854"/>
            <a:ext cx="3791145" cy="172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5951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55805-9F3D-B901-7A53-756FC046191B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C4D26E7C-7515-48E1-B23D-8D76FDFC8611}" type="datetime1">
              <a:rPr lang="en-US" smtClean="0"/>
              <a:t>4/17/2024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1605E-989C-A817-DD70-99CA13E88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66</a:t>
            </a:fld>
            <a:endParaRPr lang="en-US"/>
          </a:p>
        </p:txBody>
      </p:sp>
      <p:sp>
        <p:nvSpPr>
          <p:cNvPr id="7" name="Google Shape;626;p54">
            <a:extLst>
              <a:ext uri="{FF2B5EF4-FFF2-40B4-BE49-F238E27FC236}">
                <a16:creationId xmlns:a16="http://schemas.microsoft.com/office/drawing/2014/main" id="{84DE0612-C9A5-1073-A4AA-B25E1C6D4625}"/>
              </a:ext>
            </a:extLst>
          </p:cNvPr>
          <p:cNvSpPr txBox="1"/>
          <p:nvPr/>
        </p:nvSpPr>
        <p:spPr>
          <a:xfrm>
            <a:off x="552450" y="105679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32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Q&amp;A </a:t>
            </a:r>
            <a:endParaRPr sz="1050" dirty="0"/>
          </a:p>
          <a:p>
            <a:pPr algn="ctr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3200"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32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 and answers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107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36D7A5FB-D442-4B00-9576-EB433351BE17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67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49" y="2044152"/>
            <a:ext cx="46618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Module III</a:t>
            </a:r>
            <a:b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3600" b="1" dirty="0">
                <a:latin typeface="Economica"/>
                <a:sym typeface="Economica"/>
              </a:rPr>
              <a:t>Working with Data in Python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94185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EDDB9D0F-0E00-4CE9-A470-F2A16472A2C9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68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2044152"/>
            <a:ext cx="7886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Module III</a:t>
            </a:r>
            <a:b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3600" b="1" dirty="0">
                <a:latin typeface="Economica"/>
                <a:sym typeface="Economica"/>
              </a:rPr>
              <a:t>Working with Data in Python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3313652"/>
            <a:ext cx="7886700" cy="8313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Read and Write data to files</a:t>
            </a:r>
          </a:p>
        </p:txBody>
      </p:sp>
    </p:spTree>
    <p:extLst>
      <p:ext uri="{BB962C8B-B14F-4D97-AF65-F5344CB8AC3E}">
        <p14:creationId xmlns:p14="http://schemas.microsoft.com/office/powerpoint/2010/main" val="25297418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37A42F93-81C1-4C89-8F7A-DA2A063A9E14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69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890" y="944171"/>
            <a:ext cx="6788499" cy="19368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820" y="3038896"/>
            <a:ext cx="6674193" cy="153677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463509">
            <a:off x="821970" y="3443403"/>
            <a:ext cx="593073" cy="59307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095389" y="1616059"/>
            <a:ext cx="593073" cy="59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5587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C9E5AD3A-9940-4826-B448-F5A43D63E21A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70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6403" y="1562939"/>
            <a:ext cx="7671194" cy="273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5008" y="903248"/>
            <a:ext cx="824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File Access Modes</a:t>
            </a:r>
          </a:p>
        </p:txBody>
      </p:sp>
    </p:spTree>
    <p:extLst>
      <p:ext uri="{BB962C8B-B14F-4D97-AF65-F5344CB8AC3E}">
        <p14:creationId xmlns:p14="http://schemas.microsoft.com/office/powerpoint/2010/main" val="367803539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000922A9-209D-426D-A7E7-DB12409AB8D5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71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437" y="909358"/>
            <a:ext cx="6636091" cy="1936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026" y="2844760"/>
            <a:ext cx="6617040" cy="173998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747258" y="3895160"/>
            <a:ext cx="593073" cy="59307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547997" y="1983634"/>
            <a:ext cx="593073" cy="59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4116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DF95592C-9F77-4E34-9BD0-045C65692526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72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7276" y="1120689"/>
            <a:ext cx="6769448" cy="332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8826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4DD99668-48D8-4238-B769-42CCE84D5665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73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935717"/>
            <a:ext cx="3097454" cy="37020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347" y="3358269"/>
            <a:ext cx="4056453" cy="127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074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198A25E4-308D-4AC1-9337-BF4DB2989677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74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2044152"/>
            <a:ext cx="7886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Module III</a:t>
            </a:r>
            <a:b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3600" b="1" dirty="0">
                <a:latin typeface="Economica"/>
                <a:sym typeface="Economica"/>
              </a:rPr>
              <a:t>Working with Data in Python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3313652"/>
            <a:ext cx="7886700" cy="8313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Data pickling</a:t>
            </a:r>
          </a:p>
        </p:txBody>
      </p:sp>
    </p:spTree>
    <p:extLst>
      <p:ext uri="{BB962C8B-B14F-4D97-AF65-F5344CB8AC3E}">
        <p14:creationId xmlns:p14="http://schemas.microsoft.com/office/powerpoint/2010/main" val="18760279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321B2A20-900C-4458-9D4E-7F86602A9647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75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9950" y="930275"/>
            <a:ext cx="7404100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9416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2A198A7E-9400-42B0-A964-75C53D225EB9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76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8407" y="1527110"/>
            <a:ext cx="6547186" cy="25083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5008" y="903248"/>
            <a:ext cx="824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Python Pickle — Python object serialization</a:t>
            </a:r>
          </a:p>
        </p:txBody>
      </p:sp>
    </p:spTree>
    <p:extLst>
      <p:ext uri="{BB962C8B-B14F-4D97-AF65-F5344CB8AC3E}">
        <p14:creationId xmlns:p14="http://schemas.microsoft.com/office/powerpoint/2010/main" val="362271758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4D0BF01-EE25-48C6-B44A-1115ABB05E99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77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924833"/>
            <a:ext cx="3505881" cy="37020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778" y="3106774"/>
            <a:ext cx="3896344" cy="14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3962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DB653F4-12B4-48E3-9A21-71D3786CDB02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78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5008" y="903248"/>
            <a:ext cx="824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Advantages of Using Pickle in Python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1254" y="1391361"/>
            <a:ext cx="6661492" cy="321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8216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8F7E9129-2B65-4D7C-BC79-07DF1F10F4F1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79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5008" y="903248"/>
            <a:ext cx="824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Disadvantages of Using Pickle in Python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4101" y="1388206"/>
            <a:ext cx="6775798" cy="246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25726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615E8683-DF2E-402B-B8F4-6FD3AA2EEE63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80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49" y="2044152"/>
            <a:ext cx="46618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Module IIII</a:t>
            </a:r>
            <a:b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3600" b="1" dirty="0">
                <a:latin typeface="Economica"/>
                <a:sym typeface="Economica"/>
              </a:rPr>
              <a:t>Mathematical Computing with Python (NumPy) 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591675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F7659263-1600-4B91-B265-7C1F063342B5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81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2044152"/>
            <a:ext cx="7886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Module IIII</a:t>
            </a:r>
            <a:b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3600" b="1" dirty="0">
                <a:latin typeface="Economica"/>
                <a:sym typeface="Economica"/>
              </a:rPr>
              <a:t>Mathematical Computing with Python (NumPy) 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3313652"/>
            <a:ext cx="7886700" cy="831300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Intro</a:t>
            </a:r>
          </a:p>
        </p:txBody>
      </p:sp>
    </p:spTree>
    <p:extLst>
      <p:ext uri="{BB962C8B-B14F-4D97-AF65-F5344CB8AC3E}">
        <p14:creationId xmlns:p14="http://schemas.microsoft.com/office/powerpoint/2010/main" val="240667692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92F90655-689C-4011-A8EE-868E02E9ECD1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82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2203" y="1530285"/>
            <a:ext cx="6699594" cy="250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3417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3A328DBF-96A1-45FC-B475-4C4B731C27FB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83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7048" y="2543163"/>
            <a:ext cx="3949903" cy="47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6661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318CB427-0720-4148-ACE6-81AB6492CBE0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84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3325" y="930275"/>
            <a:ext cx="4817350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3381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96756BCB-F54F-4AF2-A1F1-8C1C8A36FBD9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85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2924" y="2543163"/>
            <a:ext cx="3918151" cy="47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02569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2F65C391-4469-45DB-ADDF-FD27FF538FAC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86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0451" y="930275"/>
            <a:ext cx="5063098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6542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A974F9CB-E109-45A0-ADE4-DF0B19708EA5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87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9860" y="2552688"/>
            <a:ext cx="4464279" cy="45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53293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A8A0E405-4EDF-4ECC-94DD-82510BAD9357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88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0961" y="930275"/>
            <a:ext cx="6502077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23688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2F01D25B-51D5-4466-B9E8-E0F07BF41117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89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9345" y="2536812"/>
            <a:ext cx="3105310" cy="48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2866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06B231B1-B54A-431E-A92C-39256E8B87AB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90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0680" y="930275"/>
            <a:ext cx="5362640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75189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10BBDAE8-6C5B-4241-97DE-92C1DD2F283F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91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2044152"/>
            <a:ext cx="7886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Module IIII</a:t>
            </a:r>
            <a:b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3600" b="1" dirty="0">
                <a:latin typeface="Economica"/>
                <a:sym typeface="Economica"/>
              </a:rPr>
              <a:t>Mathematical Computing with Python (NumPy) 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3313652"/>
            <a:ext cx="7886700" cy="831300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Vectors and arrays</a:t>
            </a:r>
          </a:p>
        </p:txBody>
      </p:sp>
    </p:spTree>
    <p:extLst>
      <p:ext uri="{BB962C8B-B14F-4D97-AF65-F5344CB8AC3E}">
        <p14:creationId xmlns:p14="http://schemas.microsoft.com/office/powerpoint/2010/main" val="218277977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C34CD111-CBE3-49B0-91D2-E4C92D6E8F30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92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0880" y="1225470"/>
            <a:ext cx="3702240" cy="311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68901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288EDCB5-EAD8-44EF-9939-C6F423FA9096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93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197351"/>
            <a:ext cx="3321221" cy="29719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404" y="3140529"/>
            <a:ext cx="3050659" cy="95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33484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33A5533A-69C6-4BB8-8D7A-1C11D25F4956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94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367" y="930275"/>
            <a:ext cx="6655265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60371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0387F79F-0E6E-4AE6-8592-B57A854DA4B0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95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367" y="930275"/>
            <a:ext cx="6655265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38942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E7D49C58-F6FF-4079-85C1-F06DED4FC2DA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96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367" y="930275"/>
            <a:ext cx="6655265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81776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0636D6CE-1667-4E8C-8D88-DBBA712C1926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97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367" y="930275"/>
            <a:ext cx="6655265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8029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EFF0CC2F-C35F-406E-84CF-4B9F02EC76C6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98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367" y="930275"/>
            <a:ext cx="6655265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15625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1E32A589-B448-4B25-8A28-AED224BC0E55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99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367" y="930275"/>
            <a:ext cx="6655265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35300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22B5A523-399C-493E-8A12-9427606C07BF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100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367" y="930275"/>
            <a:ext cx="6655265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47401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D7FA6CA1-4463-4EBE-9B9E-D4173FD75B93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101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367" y="930275"/>
            <a:ext cx="6655265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83237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3227157D-10A9-48CF-BF78-DCC978CE877C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102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367" y="930275"/>
            <a:ext cx="6655265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817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4BC45513-0DFE-46C1-9E04-7C6A23EAA6DC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103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367" y="930275"/>
            <a:ext cx="6655265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6020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36F36A68-7722-4C9D-8D08-0A3883318659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104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367" y="930275"/>
            <a:ext cx="6655265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2990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70F9CD93-BBC1-4B5C-8A7D-C8548BDCDFE7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105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367" y="930275"/>
            <a:ext cx="6655265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93539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2C869BA1-677D-4241-95E6-98F5E4742051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106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367" y="930275"/>
            <a:ext cx="6655265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97340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A766193F-A9CE-47E1-97E4-D863FBE73285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107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2044152"/>
            <a:ext cx="7886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Module IIII</a:t>
            </a:r>
            <a:br>
              <a:rPr lang="en-US" sz="24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3600" b="1" dirty="0">
                <a:latin typeface="Economica"/>
                <a:sym typeface="Economica"/>
              </a:rPr>
              <a:t>Mathematical Computing with Python (NumPy) 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8650" y="3313652"/>
            <a:ext cx="7886700" cy="831300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Scientific computing with Python (</a:t>
            </a:r>
            <a:r>
              <a:rPr lang="en-US" b="1" i="1" dirty="0" err="1">
                <a:solidFill>
                  <a:srgbClr val="FF0000"/>
                </a:solidFill>
              </a:rPr>
              <a:t>Scipy</a:t>
            </a:r>
            <a:r>
              <a:rPr lang="en-US" b="1" i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594013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5225319F-EEF7-4ECB-83B8-108D87E2693D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108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7276" y="1689044"/>
            <a:ext cx="6769448" cy="218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2348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E3D74C8E-4299-49BB-8EED-5C7FFDBC0127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109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8726" y="930275"/>
            <a:ext cx="5286547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1668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7E2-D49E-9F6C-D69D-0649BC67320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>
              <a:buClrTx/>
            </a:pPr>
            <a:fld id="{998504FB-E4A7-404C-9BF9-AFD83D27333C}" type="datetime1">
              <a:rPr lang="en-US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4/17/2024</a:t>
            </a:fld>
            <a:endParaRPr lang="en-US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4A019-1D12-BE93-542A-C0C676A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</a:pPr>
            <a:fld id="{5EE24C92-1265-4741-8F9F-404A15D9386E}" type="slidenum">
              <a:rPr lang="en-US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pPr defTabSz="685800">
                <a:buClrTx/>
              </a:pPr>
              <a:t>110</a:t>
            </a:fld>
            <a:endParaRPr lang="en-US" kern="120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4690" y="700956"/>
            <a:ext cx="5422170" cy="6865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363" y="1313813"/>
            <a:ext cx="5361843" cy="340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3022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111</a:t>
            </a:fld>
            <a:endParaRPr/>
          </a:p>
        </p:txBody>
      </p:sp>
      <p:sp>
        <p:nvSpPr>
          <p:cNvPr id="626" name="Google Shape;626;p54"/>
          <p:cNvSpPr txBox="1"/>
          <p:nvPr/>
        </p:nvSpPr>
        <p:spPr>
          <a:xfrm>
            <a:off x="552450" y="105679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32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Q&amp;A </a:t>
            </a:r>
            <a:endParaRPr sz="1050" dirty="0"/>
          </a:p>
          <a:p>
            <a:pPr algn="ctr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3200"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32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 and answers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1AF9E1-4704-8BDE-DD0C-077B88650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9A2FA-3A67-4D7A-BD41-91C387C66200}" type="datetime1">
              <a:rPr lang="en-US" smtClean="0"/>
              <a:t>4/17/2024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112</a:t>
            </a:fld>
            <a:endParaRPr/>
          </a:p>
        </p:txBody>
      </p:sp>
      <p:sp>
        <p:nvSpPr>
          <p:cNvPr id="632" name="Google Shape;632;p55"/>
          <p:cNvSpPr txBox="1"/>
          <p:nvPr/>
        </p:nvSpPr>
        <p:spPr>
          <a:xfrm>
            <a:off x="3025776" y="1824373"/>
            <a:ext cx="2955925" cy="1028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694" rIns="0" bIns="0" anchor="ctr" anchorCtr="0">
            <a:spAutoFit/>
          </a:bodyPr>
          <a:lstStyle/>
          <a:p>
            <a:pPr marL="12700">
              <a:buClr>
                <a:srgbClr val="21C3AB"/>
              </a:buClr>
              <a:buSzPts val="8800"/>
            </a:pPr>
            <a:r>
              <a:rPr lang="en-US" sz="6600">
                <a:solidFill>
                  <a:srgbClr val="21C3AB"/>
                </a:solidFill>
                <a:latin typeface="Calibri"/>
                <a:ea typeface="Calibri"/>
                <a:cs typeface="Calibri"/>
                <a:sym typeface="Calibri"/>
              </a:rPr>
              <a:t>Thanks</a:t>
            </a:r>
            <a:endParaRPr sz="6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EA1D3F-A2F8-482D-39C5-3FE3A4E92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F362A-0BB7-41AC-B9E5-F5C40A95ADFC}" type="datetime1">
              <a:rPr lang="en-US" smtClean="0"/>
              <a:t>4/17/2024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900</Words>
  <Application>Microsoft Office PowerPoint</Application>
  <PresentationFormat>On-screen Show (16:9)</PresentationFormat>
  <Paragraphs>307</Paragraphs>
  <Slides>112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3" baseType="lpstr">
      <vt:lpstr>Office Theme</vt:lpstr>
      <vt:lpstr>PowerPoint Presentation</vt:lpstr>
      <vt:lpstr>PowerPoint Presentation</vt:lpstr>
      <vt:lpstr>PowerPoint Presentation</vt:lpstr>
      <vt:lpstr>Topics</vt:lpstr>
      <vt:lpstr>PowerPoint Presentation</vt:lpstr>
      <vt:lpstr>Conditions and Loops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Python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Python Recursion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Python Classes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Big O notation</vt:lpstr>
      <vt:lpstr>PowerPoint Presentation</vt:lpstr>
      <vt:lpstr>PowerPoint Presentation</vt:lpstr>
      <vt:lpstr>PowerPoint Presentation</vt:lpstr>
      <vt:lpstr>PowerPoint Presentation</vt:lpstr>
      <vt:lpstr>Stacks, queues and deques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Variables, Lists, Tuple, Set, dictionaries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Read and Write data to files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pickling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Vectors and 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Scientific computing with Python (Scipy)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DS0101EN Introduction to Data Science</dc:title>
  <dc:creator>Mai</dc:creator>
  <cp:lastModifiedBy>Mai Ahmed</cp:lastModifiedBy>
  <cp:revision>82</cp:revision>
  <dcterms:modified xsi:type="dcterms:W3CDTF">2024-04-17T17:47:41Z</dcterms:modified>
</cp:coreProperties>
</file>