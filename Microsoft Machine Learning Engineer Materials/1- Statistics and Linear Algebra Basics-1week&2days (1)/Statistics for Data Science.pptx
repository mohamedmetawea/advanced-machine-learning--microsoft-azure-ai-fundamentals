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handoutMasterIdLst>
    <p:handoutMasterId r:id="rId59"/>
  </p:handoutMasterIdLst>
  <p:sldIdLst>
    <p:sldId id="256" r:id="rId2"/>
    <p:sldId id="284" r:id="rId3"/>
    <p:sldId id="312" r:id="rId4"/>
    <p:sldId id="257" r:id="rId5"/>
    <p:sldId id="258" r:id="rId6"/>
    <p:sldId id="259" r:id="rId7"/>
    <p:sldId id="260" r:id="rId8"/>
    <p:sldId id="261" r:id="rId9"/>
    <p:sldId id="262" r:id="rId10"/>
    <p:sldId id="289" r:id="rId11"/>
    <p:sldId id="264" r:id="rId12"/>
    <p:sldId id="265" r:id="rId13"/>
    <p:sldId id="266" r:id="rId14"/>
    <p:sldId id="267" r:id="rId15"/>
    <p:sldId id="268" r:id="rId16"/>
    <p:sldId id="310"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90" r:id="rId33"/>
    <p:sldId id="285" r:id="rId34"/>
    <p:sldId id="311" r:id="rId35"/>
    <p:sldId id="286" r:id="rId36"/>
    <p:sldId id="291" r:id="rId37"/>
    <p:sldId id="292" r:id="rId38"/>
    <p:sldId id="293" r:id="rId39"/>
    <p:sldId id="294" r:id="rId40"/>
    <p:sldId id="295" r:id="rId41"/>
    <p:sldId id="313" r:id="rId42"/>
    <p:sldId id="296" r:id="rId43"/>
    <p:sldId id="297" r:id="rId44"/>
    <p:sldId id="298" r:id="rId45"/>
    <p:sldId id="300" r:id="rId46"/>
    <p:sldId id="301" r:id="rId47"/>
    <p:sldId id="302" r:id="rId48"/>
    <p:sldId id="303" r:id="rId49"/>
    <p:sldId id="304" r:id="rId50"/>
    <p:sldId id="305" r:id="rId51"/>
    <p:sldId id="306" r:id="rId52"/>
    <p:sldId id="307" r:id="rId53"/>
    <p:sldId id="308" r:id="rId54"/>
    <p:sldId id="309" r:id="rId55"/>
    <p:sldId id="287" r:id="rId56"/>
    <p:sldId id="263"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9E7"/>
    <a:srgbClr val="0FAB7D"/>
    <a:srgbClr val="336EA8"/>
    <a:srgbClr val="94B9D6"/>
    <a:srgbClr val="1869A6"/>
    <a:srgbClr val="2AAF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56" autoAdjust="0"/>
  </p:normalViewPr>
  <p:slideViewPr>
    <p:cSldViewPr snapToGrid="0">
      <p:cViewPr varScale="1">
        <p:scale>
          <a:sx n="80" d="100"/>
          <a:sy n="80" d="100"/>
        </p:scale>
        <p:origin x="754" y="5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69D18C-F614-AA06-7896-C2537A503FA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90233310-1084-80E5-77A5-58D9FF9781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2A934D-986A-461F-A56A-008EB77503FA}" type="datetimeFigureOut">
              <a:rPr lang="en-GB" smtClean="0"/>
              <a:t>19/07/2024</a:t>
            </a:fld>
            <a:endParaRPr lang="en-GB"/>
          </a:p>
        </p:txBody>
      </p:sp>
      <p:sp>
        <p:nvSpPr>
          <p:cNvPr id="4" name="Footer Placeholder 3">
            <a:extLst>
              <a:ext uri="{FF2B5EF4-FFF2-40B4-BE49-F238E27FC236}">
                <a16:creationId xmlns:a16="http://schemas.microsoft.com/office/drawing/2014/main" id="{D20369A7-2F8D-89A0-ECB3-4F455C56F75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6D0CFA2-3CB1-B738-9B34-7A952AF88B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649821-D232-445A-BEEB-776290B883D8}" type="slidenum">
              <a:rPr lang="en-GB" smtClean="0"/>
              <a:t>‹#›</a:t>
            </a:fld>
            <a:endParaRPr lang="en-GB"/>
          </a:p>
        </p:txBody>
      </p:sp>
    </p:spTree>
    <p:extLst>
      <p:ext uri="{BB962C8B-B14F-4D97-AF65-F5344CB8AC3E}">
        <p14:creationId xmlns:p14="http://schemas.microsoft.com/office/powerpoint/2010/main" val="73210709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601773-843B-402D-B943-E7367BE302C1}" type="datetimeFigureOut">
              <a:rPr lang="en-US" smtClean="0"/>
              <a:t>7/19/2024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223A7-FDE5-4555-AB7B-2BBB96A8A41E}" type="slidenum">
              <a:rPr lang="en-US" smtClean="0"/>
              <a:t>‹#›</a:t>
            </a:fld>
            <a:endParaRPr lang="en-US"/>
          </a:p>
        </p:txBody>
      </p:sp>
    </p:spTree>
    <p:extLst>
      <p:ext uri="{BB962C8B-B14F-4D97-AF65-F5344CB8AC3E}">
        <p14:creationId xmlns:p14="http://schemas.microsoft.com/office/powerpoint/2010/main" val="154529031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c34d02b74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c34d02b74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c34d02b74c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c34d02b74c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c34d02b74c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c34d02b74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1c34d02b74c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1c34d02b74c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c34d02b74c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c34d02b74c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c34d02b74c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c34d02b74c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c34d02b74c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c34d02b74c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c34d02b74c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1c34d02b74c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c34d02b74c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1c34d02b74c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c34d02b74c_0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c34d02b74c_0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c34d02b74c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1c34d02b74c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c34d02b74c_0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1c34d02b74c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c34d02b74c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1c34d02b74c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1c34d02b74c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1c34d02b74c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c34d02b74c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c34d02b74c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1c34d02b74c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1c34d02b74c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1c34d02b74c_0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1c34d02b74c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1c34d02b74c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1c34d02b74c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c34d02b74c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c34d02b74c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1c34d02b74c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1c34d02b74c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c34d02b74c_0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c34d02b74c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1c34d02b74c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1c34d02b74c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c34d02b74c_0_2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c34d02b74c_0_2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1c34d02b74c_0_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1c34d02b74c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1c34d02b74c_0_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1c34d02b74c_0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1c34d02b74c_0_3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1c34d02b74c_0_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1c34d02b74c_0_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1c34d02b74c_0_3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1c34d02b74c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1c34d02b74c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1c34d02b74c_0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1c34d02b74c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1c34d02b74c_0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1c34d02b74c_0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1c34d02b74c_0_3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1c34d02b74c_0_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c34d02b74c_0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1c34d02b74c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34d02b74c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34d02b74c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c34d02b74c_0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1c34d02b74c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1c34d02b74c_0_3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1c34d02b74c_0_3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1c34d02b74c_0_3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1c34d02b74c_0_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cc0f6f3e0e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2cc0f6f3e0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cc0f6f3e0e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cc0f6f3e0e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2cc0f6f3e0e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2cc0f6f3e0e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cc0f6f3e0e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2cc0f6f3e0e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2cc0f6f3e0e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2cc0f6f3e0e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2cc0f6f3e0e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2cc0f6f3e0e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2cc0f6f3e0e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2cc0f6f3e0e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2cc0f6f3e0e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2cc0f6f3e0e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2cc0f6f3e0e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2cc0f6f3e0e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2cc0f6f3e0e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2cc0f6f3e0e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2cc0f6f3e0e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2cc0f6f3e0e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2cc0f6f3e0e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2cc0f6f3e0e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CB26E85-A47D-4EB8-AACC-5D71388BF9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11512" y="330213"/>
            <a:ext cx="1284576" cy="637759"/>
          </a:xfrm>
          <a:prstGeom prst="rect">
            <a:avLst/>
          </a:prstGeom>
        </p:spPr>
      </p:pic>
      <p:sp>
        <p:nvSpPr>
          <p:cNvPr id="2" name="Title 1">
            <a:extLst>
              <a:ext uri="{FF2B5EF4-FFF2-40B4-BE49-F238E27FC236}">
                <a16:creationId xmlns:a16="http://schemas.microsoft.com/office/drawing/2014/main" id="{E5E96502-5A71-49D7-91EF-E9D795A00F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702CB4-0340-43A8-A558-65E5F6C995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5" name="Footer Placeholder 4">
            <a:extLst>
              <a:ext uri="{FF2B5EF4-FFF2-40B4-BE49-F238E27FC236}">
                <a16:creationId xmlns:a16="http://schemas.microsoft.com/office/drawing/2014/main" id="{FB7E7D51-1B41-4AAB-838C-EF900F85CE4B}"/>
              </a:ext>
            </a:extLst>
          </p:cNvPr>
          <p:cNvSpPr>
            <a:spLocks noGrp="1"/>
          </p:cNvSpPr>
          <p:nvPr>
            <p:ph type="ftr" sz="quarter" idx="11"/>
          </p:nvPr>
        </p:nvSpPr>
        <p:spPr/>
        <p:txBody>
          <a:bodyPr/>
          <a:lstStyle/>
          <a:p>
            <a:endParaRPr lang="en-US"/>
          </a:p>
        </p:txBody>
      </p:sp>
      <p:pic>
        <p:nvPicPr>
          <p:cNvPr id="9" name="Picture 8">
            <a:extLst>
              <a:ext uri="{FF2B5EF4-FFF2-40B4-BE49-F238E27FC236}">
                <a16:creationId xmlns:a16="http://schemas.microsoft.com/office/drawing/2014/main" id="{F9E0C4BE-FE7F-4C02-9A3E-71BC3A48C6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3317" y="0"/>
            <a:ext cx="1489765" cy="1386637"/>
          </a:xfrm>
          <a:prstGeom prst="rect">
            <a:avLst/>
          </a:prstGeom>
        </p:spPr>
      </p:pic>
      <p:sp>
        <p:nvSpPr>
          <p:cNvPr id="15" name="Freeform 6">
            <a:extLst>
              <a:ext uri="{FF2B5EF4-FFF2-40B4-BE49-F238E27FC236}">
                <a16:creationId xmlns:a16="http://schemas.microsoft.com/office/drawing/2014/main" id="{5140D0A2-F8A9-7918-6D42-0B21462A7985}"/>
              </a:ext>
            </a:extLst>
          </p:cNvPr>
          <p:cNvSpPr/>
          <p:nvPr userDrawn="1"/>
        </p:nvSpPr>
        <p:spPr>
          <a:xfrm>
            <a:off x="10933155" y="6344015"/>
            <a:ext cx="466090" cy="431923"/>
          </a:xfrm>
          <a:custGeom>
            <a:avLst/>
            <a:gdLst/>
            <a:ahLst/>
            <a:cxnLst/>
            <a:rect l="l" t="t" r="r" b="b"/>
            <a:pathLst>
              <a:path w="1026026" h="189485">
                <a:moveTo>
                  <a:pt x="0" y="0"/>
                </a:moveTo>
                <a:lnTo>
                  <a:pt x="1026026" y="0"/>
                </a:lnTo>
                <a:lnTo>
                  <a:pt x="1026026" y="189485"/>
                </a:lnTo>
                <a:lnTo>
                  <a:pt x="0" y="189485"/>
                </a:lnTo>
                <a:close/>
              </a:path>
            </a:pathLst>
          </a:custGeom>
          <a:solidFill>
            <a:srgbClr val="1869A6"/>
          </a:solidFill>
        </p:spPr>
      </p:sp>
      <p:sp>
        <p:nvSpPr>
          <p:cNvPr id="6" name="Slide Number Placeholder 5">
            <a:extLst>
              <a:ext uri="{FF2B5EF4-FFF2-40B4-BE49-F238E27FC236}">
                <a16:creationId xmlns:a16="http://schemas.microsoft.com/office/drawing/2014/main" id="{40DE9A13-D855-42EA-8471-DDA8E13B3DAB}"/>
              </a:ext>
            </a:extLst>
          </p:cNvPr>
          <p:cNvSpPr>
            <a:spLocks noGrp="1"/>
          </p:cNvSpPr>
          <p:nvPr>
            <p:ph type="sldNum" sz="quarter" idx="12"/>
          </p:nvPr>
        </p:nvSpPr>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1023151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60B6D-1D51-4444-8393-E35BA63F13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761446-D5C8-48D6-8362-2691AC20F3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C5F07058-AB46-40A5-B5AE-E9862D3C84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FC426E-5AEB-4C83-A17B-2416381682D7}"/>
              </a:ext>
            </a:extLst>
          </p:cNvPr>
          <p:cNvSpPr>
            <a:spLocks noGrp="1"/>
          </p:cNvSpPr>
          <p:nvPr>
            <p:ph type="sldNum" sz="quarter" idx="12"/>
          </p:nvPr>
        </p:nvSpPr>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753228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4BE44-49C7-449D-9550-1E7B659704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AA4F7-FE01-4FEF-BC23-4EBFFF370D2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2387F4-F1D2-4A96-86BB-A48310776FBB}"/>
              </a:ext>
            </a:extLst>
          </p:cNvPr>
          <p:cNvSpPr>
            <a:spLocks noGrp="1"/>
          </p:cNvSpPr>
          <p:nvPr>
            <p:ph type="dt" sz="half" idx="10"/>
          </p:nvPr>
        </p:nvSpPr>
        <p:spPr>
          <a:xfrm>
            <a:off x="838200" y="6356350"/>
            <a:ext cx="2743200" cy="365125"/>
          </a:xfrm>
          <a:prstGeom prst="rect">
            <a:avLst/>
          </a:prstGeom>
        </p:spPr>
        <p:txBody>
          <a:bodyPr/>
          <a:lstStyle/>
          <a:p>
            <a:endParaRPr lang="en-US" dirty="0"/>
          </a:p>
        </p:txBody>
      </p:sp>
      <p:sp>
        <p:nvSpPr>
          <p:cNvPr id="5" name="Footer Placeholder 4">
            <a:extLst>
              <a:ext uri="{FF2B5EF4-FFF2-40B4-BE49-F238E27FC236}">
                <a16:creationId xmlns:a16="http://schemas.microsoft.com/office/drawing/2014/main" id="{B0EB9BA3-57A0-4B4B-A089-2C5CE8708D35}"/>
              </a:ext>
            </a:extLst>
          </p:cNvPr>
          <p:cNvSpPr>
            <a:spLocks noGrp="1"/>
          </p:cNvSpPr>
          <p:nvPr>
            <p:ph type="ftr" sz="quarter" idx="11"/>
          </p:nvPr>
        </p:nvSpPr>
        <p:spPr/>
        <p:txBody>
          <a:bodyPr/>
          <a:lstStyle/>
          <a:p>
            <a:endParaRPr lang="en-US"/>
          </a:p>
        </p:txBody>
      </p:sp>
      <p:pic>
        <p:nvPicPr>
          <p:cNvPr id="10" name="Picture 9">
            <a:extLst>
              <a:ext uri="{FF2B5EF4-FFF2-40B4-BE49-F238E27FC236}">
                <a16:creationId xmlns:a16="http://schemas.microsoft.com/office/drawing/2014/main" id="{1A2FDF6D-CD2D-433E-84D7-E83F8FCE52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11512" y="330213"/>
            <a:ext cx="1284576" cy="637759"/>
          </a:xfrm>
          <a:prstGeom prst="rect">
            <a:avLst/>
          </a:prstGeom>
        </p:spPr>
      </p:pic>
      <p:pic>
        <p:nvPicPr>
          <p:cNvPr id="12" name="Picture 11">
            <a:extLst>
              <a:ext uri="{FF2B5EF4-FFF2-40B4-BE49-F238E27FC236}">
                <a16:creationId xmlns:a16="http://schemas.microsoft.com/office/drawing/2014/main" id="{2B2BDD0D-C88D-431E-BC92-4367CEB0061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3317" y="0"/>
            <a:ext cx="1489765" cy="1386637"/>
          </a:xfrm>
          <a:prstGeom prst="rect">
            <a:avLst/>
          </a:prstGeom>
        </p:spPr>
      </p:pic>
      <p:sp>
        <p:nvSpPr>
          <p:cNvPr id="6" name="Slide Number Placeholder 5">
            <a:extLst>
              <a:ext uri="{FF2B5EF4-FFF2-40B4-BE49-F238E27FC236}">
                <a16:creationId xmlns:a16="http://schemas.microsoft.com/office/drawing/2014/main" id="{B84FBEB5-E386-9685-E6D3-A062E9E46742}"/>
              </a:ext>
            </a:extLst>
          </p:cNvPr>
          <p:cNvSpPr>
            <a:spLocks noGrp="1"/>
          </p:cNvSpPr>
          <p:nvPr>
            <p:ph type="sldNum" sz="quarter" idx="12"/>
          </p:nvPr>
        </p:nvSpPr>
        <p:spPr>
          <a:xfrm>
            <a:off x="8610600" y="6356350"/>
            <a:ext cx="2743200" cy="365125"/>
          </a:xfrm>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176343737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325BB-1073-4118-9189-772DE57318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5BC724-756A-4777-8D83-3CD9AFD194E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6FC4DE-2AB7-4E43-BFBA-6FF436D9BAD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1ABCCFF-F409-4BF2-9883-91BA170BFEE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51082A71-7516-408D-862B-A5F3404120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D613D0-7994-4BCE-AE17-12E991FEC0D1}"/>
              </a:ext>
            </a:extLst>
          </p:cNvPr>
          <p:cNvSpPr>
            <a:spLocks noGrp="1"/>
          </p:cNvSpPr>
          <p:nvPr>
            <p:ph type="sldNum" sz="quarter" idx="12"/>
          </p:nvPr>
        </p:nvSpPr>
        <p:spPr/>
        <p:txBody>
          <a:bodyPr/>
          <a:lstStyle/>
          <a:p>
            <a:fld id="{5EE24C92-1265-4741-8F9F-404A15D9386E}" type="slidenum">
              <a:rPr lang="en-US" smtClean="0"/>
              <a:t>‹#›</a:t>
            </a:fld>
            <a:endParaRPr lang="en-US" dirty="0"/>
          </a:p>
        </p:txBody>
      </p:sp>
    </p:spTree>
    <p:extLst>
      <p:ext uri="{BB962C8B-B14F-4D97-AF65-F5344CB8AC3E}">
        <p14:creationId xmlns:p14="http://schemas.microsoft.com/office/powerpoint/2010/main" val="28372149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DCC53-ADBE-4538-BDCF-8A6C0C0746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7A37BC3-80C1-40A0-B8BD-B9E9F56423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A9B7EDB-C158-4B0F-AC48-1D7DE7DC80D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7E96D1-3002-4810-98AF-A275B63346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ADDBB9A-2C9B-4E96-9E5C-6C3BE644980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B99CCF-14FE-46E4-AEF3-3520D661AC00}"/>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F58493FD-6F8C-4BED-896C-CBA26D0E96F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AF6D6A-EFFC-4E81-9BDD-C595B6C90E29}"/>
              </a:ext>
            </a:extLst>
          </p:cNvPr>
          <p:cNvSpPr>
            <a:spLocks noGrp="1"/>
          </p:cNvSpPr>
          <p:nvPr>
            <p:ph type="sldNum" sz="quarter" idx="12"/>
          </p:nvPr>
        </p:nvSpPr>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15560757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16566-0B23-4F08-ACF0-2DDFF54A4B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396B25-2A2B-41A7-AF6D-57D5055F1B03}"/>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6CF5C9F0-C082-4566-AEB4-F08316DEFB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4F48D6-A9E0-485D-BA28-15D5DACAE6D4}"/>
              </a:ext>
            </a:extLst>
          </p:cNvPr>
          <p:cNvSpPr>
            <a:spLocks noGrp="1"/>
          </p:cNvSpPr>
          <p:nvPr>
            <p:ph type="sldNum" sz="quarter" idx="12"/>
          </p:nvPr>
        </p:nvSpPr>
        <p:spPr/>
        <p:txBody>
          <a:bodyPr/>
          <a:lstStyle/>
          <a:p>
            <a:fld id="{5EE24C92-1265-4741-8F9F-404A15D9386E}" type="slidenum">
              <a:rPr lang="en-US" smtClean="0"/>
              <a:t>‹#›</a:t>
            </a:fld>
            <a:endParaRPr lang="en-US" dirty="0"/>
          </a:p>
        </p:txBody>
      </p:sp>
    </p:spTree>
    <p:extLst>
      <p:ext uri="{BB962C8B-B14F-4D97-AF65-F5344CB8AC3E}">
        <p14:creationId xmlns:p14="http://schemas.microsoft.com/office/powerpoint/2010/main" val="7800219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92526D-307A-4059-80C4-1413758A2DF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90E1822F-3DE8-45A0-9F67-6061DB1F88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E21B196-D439-43FF-B35C-F9A301B0338A}"/>
              </a:ext>
            </a:extLst>
          </p:cNvPr>
          <p:cNvSpPr>
            <a:spLocks noGrp="1"/>
          </p:cNvSpPr>
          <p:nvPr>
            <p:ph type="sldNum" sz="quarter" idx="12"/>
          </p:nvPr>
        </p:nvSpPr>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15214485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D350E-3F73-4F95-89B8-BF9D660E0D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FCE4F2-B1FE-4665-B99F-04C8EBAAC3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51F0C4-D797-433C-B73A-9C3B4D1BAC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C3DABF-2DE9-4FD5-B4A8-5E200B9876FD}"/>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81732E28-C4D1-4761-BD12-20FBE946DA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0CF5A0-DC82-4F6C-8E49-2C9987C4F0BF}"/>
              </a:ext>
            </a:extLst>
          </p:cNvPr>
          <p:cNvSpPr>
            <a:spLocks noGrp="1"/>
          </p:cNvSpPr>
          <p:nvPr>
            <p:ph type="sldNum" sz="quarter" idx="12"/>
          </p:nvPr>
        </p:nvSpPr>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39377815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47410-9CC3-4CD7-A18A-2A1FBD8F76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617FFE-99AB-4F61-A4A2-7D7A5832CF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7EFC75-BA25-436F-A339-F8970D50B9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34AE525-9C27-44A4-ADC4-FEBFF450393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0CA2E2F3-7DBB-4D25-9537-D2D24B0DB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77A639-0697-4DE3-8BE3-94C24D6FDF6E}"/>
              </a:ext>
            </a:extLst>
          </p:cNvPr>
          <p:cNvSpPr>
            <a:spLocks noGrp="1"/>
          </p:cNvSpPr>
          <p:nvPr>
            <p:ph type="sldNum" sz="quarter" idx="12"/>
          </p:nvPr>
        </p:nvSpPr>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31362374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27062-6971-4C1F-A975-AC85DCD0FED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D55ECB-B9CD-4FA5-AACA-CDD01AACF60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EF606B-F0E0-4BB1-94D6-738E49DF7229}"/>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3EC65738-7A1D-4D54-ADFC-91C34D4F53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A7C986-B0A0-4B82-9134-1B7676F56557}"/>
              </a:ext>
            </a:extLst>
          </p:cNvPr>
          <p:cNvSpPr>
            <a:spLocks noGrp="1"/>
          </p:cNvSpPr>
          <p:nvPr>
            <p:ph type="sldNum" sz="quarter" idx="12"/>
          </p:nvPr>
        </p:nvSpPr>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278558784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45B8BC-3AC4-4059-BB3C-B12B6148AC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8C1D0E-02A9-4DFB-8CA3-A94A10E7289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D3F7A1-D368-4F71-BA41-54CA742F498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B2CD9678-2347-4C47-858A-5508F8383C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E10E8F-0367-4945-87E5-F2D254ADF62E}"/>
              </a:ext>
            </a:extLst>
          </p:cNvPr>
          <p:cNvSpPr>
            <a:spLocks noGrp="1"/>
          </p:cNvSpPr>
          <p:nvPr>
            <p:ph type="sldNum" sz="quarter" idx="12"/>
          </p:nvPr>
        </p:nvSpPr>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24466474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68A88-1EE1-3422-84E1-7CB361B1DA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A1FC91-FAA2-D65F-E901-C6884F9C6163}"/>
              </a:ext>
            </a:extLst>
          </p:cNvPr>
          <p:cNvSpPr>
            <a:spLocks noGrp="1"/>
          </p:cNvSpPr>
          <p:nvPr>
            <p:ph type="dt" sz="half" idx="10"/>
          </p:nvPr>
        </p:nvSpPr>
        <p:spPr>
          <a:xfrm>
            <a:off x="838200" y="6356350"/>
            <a:ext cx="2743200" cy="365125"/>
          </a:xfrm>
          <a:prstGeom prst="rect">
            <a:avLst/>
          </a:prstGeom>
        </p:spPr>
        <p:txBody>
          <a:bodyPr/>
          <a:lstStyle/>
          <a:p>
            <a:endParaRPr lang="en-US" dirty="0"/>
          </a:p>
        </p:txBody>
      </p:sp>
      <p:sp>
        <p:nvSpPr>
          <p:cNvPr id="4" name="Footer Placeholder 3">
            <a:extLst>
              <a:ext uri="{FF2B5EF4-FFF2-40B4-BE49-F238E27FC236}">
                <a16:creationId xmlns:a16="http://schemas.microsoft.com/office/drawing/2014/main" id="{92948D4D-60AF-93C1-9BF4-DCE9AEF780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6FDD901-3047-7838-FFFA-C6F934BAA0F0}"/>
              </a:ext>
            </a:extLst>
          </p:cNvPr>
          <p:cNvSpPr>
            <a:spLocks noGrp="1"/>
          </p:cNvSpPr>
          <p:nvPr>
            <p:ph type="sldNum" sz="quarter" idx="12"/>
          </p:nvPr>
        </p:nvSpPr>
        <p:spPr/>
        <p:txBody>
          <a:bodyPr/>
          <a:lstStyle/>
          <a:p>
            <a:fld id="{5EE24C92-1265-4741-8F9F-404A15D9386E}" type="slidenum">
              <a:rPr lang="en-US" smtClean="0"/>
              <a:pPr/>
              <a:t>‹#›</a:t>
            </a:fld>
            <a:endParaRPr lang="en-US" dirty="0"/>
          </a:p>
        </p:txBody>
      </p:sp>
    </p:spTree>
    <p:extLst>
      <p:ext uri="{BB962C8B-B14F-4D97-AF65-F5344CB8AC3E}">
        <p14:creationId xmlns:p14="http://schemas.microsoft.com/office/powerpoint/2010/main" val="9578370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rtl="0">
              <a:spcBef>
                <a:spcPts val="0"/>
              </a:spcBef>
              <a:spcAft>
                <a:spcPts val="0"/>
              </a:spcAft>
              <a:buSzPts val="1800"/>
              <a:buChar char="●"/>
              <a:defRPr/>
            </a:lvl1pPr>
            <a:lvl2pPr marL="1219170" lvl="1" indent="-423323" rtl="0">
              <a:spcBef>
                <a:spcPts val="0"/>
              </a:spcBef>
              <a:spcAft>
                <a:spcPts val="0"/>
              </a:spcAft>
              <a:buSzPts val="1400"/>
              <a:buChar char="○"/>
              <a:defRPr/>
            </a:lvl2pPr>
            <a:lvl3pPr marL="1828754" lvl="2" indent="-423323" rtl="0">
              <a:spcBef>
                <a:spcPts val="0"/>
              </a:spcBef>
              <a:spcAft>
                <a:spcPts val="0"/>
              </a:spcAft>
              <a:buSzPts val="1400"/>
              <a:buChar char="■"/>
              <a:defRPr/>
            </a:lvl3pPr>
            <a:lvl4pPr marL="2438339" lvl="3" indent="-423323" rtl="0">
              <a:spcBef>
                <a:spcPts val="0"/>
              </a:spcBef>
              <a:spcAft>
                <a:spcPts val="0"/>
              </a:spcAft>
              <a:buSzPts val="1400"/>
              <a:buChar char="●"/>
              <a:defRPr/>
            </a:lvl4pPr>
            <a:lvl5pPr marL="3047924" lvl="4" indent="-423323" rtl="0">
              <a:spcBef>
                <a:spcPts val="0"/>
              </a:spcBef>
              <a:spcAft>
                <a:spcPts val="0"/>
              </a:spcAft>
              <a:buSzPts val="1400"/>
              <a:buChar char="○"/>
              <a:defRPr/>
            </a:lvl5pPr>
            <a:lvl6pPr marL="3657509" lvl="5" indent="-423323" rtl="0">
              <a:spcBef>
                <a:spcPts val="0"/>
              </a:spcBef>
              <a:spcAft>
                <a:spcPts val="0"/>
              </a:spcAft>
              <a:buSzPts val="1400"/>
              <a:buChar char="■"/>
              <a:defRPr/>
            </a:lvl6pPr>
            <a:lvl7pPr marL="4267093" lvl="6" indent="-423323" rtl="0">
              <a:spcBef>
                <a:spcPts val="0"/>
              </a:spcBef>
              <a:spcAft>
                <a:spcPts val="0"/>
              </a:spcAft>
              <a:buSzPts val="1400"/>
              <a:buChar char="●"/>
              <a:defRPr/>
            </a:lvl7pPr>
            <a:lvl8pPr marL="4876678" lvl="7" indent="-423323" rtl="0">
              <a:spcBef>
                <a:spcPts val="0"/>
              </a:spcBef>
              <a:spcAft>
                <a:spcPts val="0"/>
              </a:spcAft>
              <a:buSzPts val="1400"/>
              <a:buChar char="○"/>
              <a:defRPr/>
            </a:lvl8pPr>
            <a:lvl9pPr marL="5486263" lvl="8" indent="-423323" rtl="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667775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F972D6-1319-4F4E-A35B-D719D3F5F86B}"/>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4385C812-25A0-4E40-A6AB-B4A290A63150}"/>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0711512" y="330213"/>
            <a:ext cx="1284576" cy="637759"/>
          </a:xfrm>
          <a:prstGeom prst="rect">
            <a:avLst/>
          </a:prstGeom>
        </p:spPr>
      </p:pic>
      <p:pic>
        <p:nvPicPr>
          <p:cNvPr id="10" name="Picture 9">
            <a:extLst>
              <a:ext uri="{FF2B5EF4-FFF2-40B4-BE49-F238E27FC236}">
                <a16:creationId xmlns:a16="http://schemas.microsoft.com/office/drawing/2014/main" id="{6591E89A-F8E2-4201-95AC-F9DBA9C318FE}"/>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93317" y="0"/>
            <a:ext cx="1489765" cy="1386637"/>
          </a:xfrm>
          <a:prstGeom prst="rect">
            <a:avLst/>
          </a:prstGeom>
        </p:spPr>
      </p:pic>
      <p:sp>
        <p:nvSpPr>
          <p:cNvPr id="11" name="Freeform 6">
            <a:extLst>
              <a:ext uri="{FF2B5EF4-FFF2-40B4-BE49-F238E27FC236}">
                <a16:creationId xmlns:a16="http://schemas.microsoft.com/office/drawing/2014/main" id="{BE728FAA-6989-49E4-827F-768285FCB943}"/>
              </a:ext>
            </a:extLst>
          </p:cNvPr>
          <p:cNvSpPr/>
          <p:nvPr userDrawn="1"/>
        </p:nvSpPr>
        <p:spPr>
          <a:xfrm>
            <a:off x="10974189" y="6344015"/>
            <a:ext cx="466090" cy="431923"/>
          </a:xfrm>
          <a:custGeom>
            <a:avLst/>
            <a:gdLst/>
            <a:ahLst/>
            <a:cxnLst/>
            <a:rect l="l" t="t" r="r" b="b"/>
            <a:pathLst>
              <a:path w="1026026" h="189485">
                <a:moveTo>
                  <a:pt x="0" y="0"/>
                </a:moveTo>
                <a:lnTo>
                  <a:pt x="1026026" y="0"/>
                </a:lnTo>
                <a:lnTo>
                  <a:pt x="1026026" y="189485"/>
                </a:lnTo>
                <a:lnTo>
                  <a:pt x="0" y="189485"/>
                </a:lnTo>
                <a:close/>
              </a:path>
            </a:pathLst>
          </a:custGeom>
          <a:solidFill>
            <a:srgbClr val="1869A6"/>
          </a:solidFill>
        </p:spPr>
      </p:sp>
      <p:sp>
        <p:nvSpPr>
          <p:cNvPr id="2" name="Title Placeholder 1">
            <a:extLst>
              <a:ext uri="{FF2B5EF4-FFF2-40B4-BE49-F238E27FC236}">
                <a16:creationId xmlns:a16="http://schemas.microsoft.com/office/drawing/2014/main" id="{E1BAA08C-8FDB-46C4-8ADC-9425CB5F29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9C7012-56A5-4A5F-AE60-B293BCF52C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8782B0E-0FEF-49F7-B246-1C5E6D54C82D}"/>
              </a:ext>
            </a:extLst>
          </p:cNvPr>
          <p:cNvSpPr>
            <a:spLocks noGrp="1"/>
          </p:cNvSpPr>
          <p:nvPr>
            <p:ph type="ftr" sz="quarter" idx="3"/>
          </p:nvPr>
        </p:nvSpPr>
        <p:spPr>
          <a:xfrm>
            <a:off x="3880338" y="6356350"/>
            <a:ext cx="427306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EE9E8069-45EF-4F1D-8025-75594D26DC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5EE24C92-1265-4741-8F9F-404A15D9386E}" type="slidenum">
              <a:rPr lang="en-US" smtClean="0"/>
              <a:pPr/>
              <a:t>‹#›</a:t>
            </a:fld>
            <a:endParaRPr lang="en-US" dirty="0"/>
          </a:p>
        </p:txBody>
      </p:sp>
    </p:spTree>
    <p:extLst>
      <p:ext uri="{BB962C8B-B14F-4D97-AF65-F5344CB8AC3E}">
        <p14:creationId xmlns:p14="http://schemas.microsoft.com/office/powerpoint/2010/main" val="489635555"/>
      </p:ext>
    </p:extLst>
  </p:cSld>
  <p:clrMap bg1="lt1" tx1="dk1" bg2="lt2" tx2="dk2" accent1="accent1" accent2="accent2" accent3="accent3" accent4="accent4" accent5="accent5" accent6="accent6" hlink="hlink" folHlink="folHlink"/>
  <p:sldLayoutIdLst>
    <p:sldLayoutId id="2147483651"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hyperlink" Target="https://www.statisticshowto.com/middle-fifty/" TargetMode="External"/><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hyperlink" Target="https://www.statisticshowto.com/probability-and-statistics/statistics-definitions/what-are-quartiles/" TargetMode="External"/><Relationship Id="rId5" Type="http://schemas.openxmlformats.org/officeDocument/2006/relationships/hyperlink" Target="https://www.statisticshowto.com/measures-of-spread/" TargetMode="External"/><Relationship Id="rId4" Type="http://schemas.openxmlformats.org/officeDocument/2006/relationships/hyperlink" Target="https://www.statisticshowto.com/types-of-functions/domain-and-range-of-a-function/"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hyperlink" Target="https://getnave.com/blog/estimation-in-kanban/" TargetMode="External"/><Relationship Id="rId5" Type="http://schemas.openxmlformats.org/officeDocument/2006/relationships/hyperlink" Target="https://getnave.com/blog/histogram-diagram/" TargetMode="Externa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hyperlink" Target="https://www.investopedia.com/terms/c/commodity.asp" TargetMode="External"/><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4.xml"/><Relationship Id="rId1" Type="http://schemas.openxmlformats.org/officeDocument/2006/relationships/slideLayout" Target="../slideLayouts/slideLayout13.xml"/><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hyperlink" Target="https://www.uio.no/studier/emner/matnat/ifi/IN5550/v22/la.pdf" TargetMode="External"/><Relationship Id="rId2" Type="http://schemas.openxmlformats.org/officeDocument/2006/relationships/notesSlide" Target="../notesSlides/notesSlide48.xml"/><Relationship Id="rId1" Type="http://schemas.openxmlformats.org/officeDocument/2006/relationships/slideLayout" Target="../slideLayouts/slideLayout13.xml"/><Relationship Id="rId4" Type="http://schemas.openxmlformats.org/officeDocument/2006/relationships/image" Target="../media/image4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1487559" y="2961115"/>
            <a:ext cx="9221045" cy="878873"/>
          </a:xfrm>
          <a:prstGeom prst="rect">
            <a:avLst/>
          </a:prstGeom>
        </p:spPr>
        <p:txBody>
          <a:bodyPr vert="horz" wrap="square" lIns="0" tIns="16933" rIns="0" bIns="0" rtlCol="0" anchor="ctr">
            <a:spAutoFit/>
          </a:bodyPr>
          <a:lstStyle/>
          <a:p>
            <a:pPr marL="16933">
              <a:lnSpc>
                <a:spcPct val="100000"/>
              </a:lnSpc>
              <a:spcBef>
                <a:spcPts val="133"/>
              </a:spcBef>
            </a:pPr>
            <a:r>
              <a:rPr lang="en-GB" sz="5600" spc="180" dirty="0">
                <a:solidFill>
                  <a:srgbClr val="1A1A1A"/>
                </a:solidFill>
                <a:latin typeface="Trebuchet MS"/>
                <a:cs typeface="Trebuchet MS"/>
              </a:rPr>
              <a:t>Statistics for Data Science</a:t>
            </a:r>
            <a:endParaRPr sz="5600" dirty="0">
              <a:latin typeface="Trebuchet MS"/>
              <a:cs typeface="Trebuchet MS"/>
            </a:endParaRPr>
          </a:p>
        </p:txBody>
      </p:sp>
      <p:sp>
        <p:nvSpPr>
          <p:cNvPr id="3" name="TextBox 2">
            <a:extLst>
              <a:ext uri="{FF2B5EF4-FFF2-40B4-BE49-F238E27FC236}">
                <a16:creationId xmlns:a16="http://schemas.microsoft.com/office/drawing/2014/main" id="{50621858-7F18-0D45-1BCB-689905658EE4}"/>
              </a:ext>
            </a:extLst>
          </p:cNvPr>
          <p:cNvSpPr txBox="1"/>
          <p:nvPr/>
        </p:nvSpPr>
        <p:spPr>
          <a:xfrm>
            <a:off x="1487559" y="6322814"/>
            <a:ext cx="2576441" cy="369332"/>
          </a:xfrm>
          <a:prstGeom prst="rect">
            <a:avLst/>
          </a:prstGeom>
          <a:solidFill>
            <a:schemeClr val="accent1">
              <a:lumMod val="75000"/>
            </a:schemeClr>
          </a:solidFill>
        </p:spPr>
        <p:txBody>
          <a:bodyPr wrap="square">
            <a:spAutoFit/>
          </a:bodyPr>
          <a:lstStyle/>
          <a:p>
            <a:pPr algn="ctr"/>
            <a:r>
              <a:rPr lang="en-GB">
                <a:solidFill>
                  <a:srgbClr val="FFF9E7"/>
                </a:solidFill>
              </a:rPr>
              <a:t>17/04/2024</a:t>
            </a:r>
            <a:endParaRPr lang="en-GB" dirty="0">
              <a:solidFill>
                <a:srgbClr val="FFF9E7"/>
              </a:solidFill>
            </a:endParaRPr>
          </a:p>
        </p:txBody>
      </p:sp>
      <p:sp>
        <p:nvSpPr>
          <p:cNvPr id="2" name="Slide Number Placeholder 1">
            <a:extLst>
              <a:ext uri="{FF2B5EF4-FFF2-40B4-BE49-F238E27FC236}">
                <a16:creationId xmlns:a16="http://schemas.microsoft.com/office/drawing/2014/main" id="{45C8A5BA-CA48-AED3-40AB-3A96C416CF47}"/>
              </a:ext>
            </a:extLst>
          </p:cNvPr>
          <p:cNvSpPr>
            <a:spLocks noGrp="1"/>
          </p:cNvSpPr>
          <p:nvPr>
            <p:ph type="sldNum" sz="quarter" idx="12"/>
          </p:nvPr>
        </p:nvSpPr>
        <p:spPr/>
        <p:txBody>
          <a:bodyPr/>
          <a:lstStyle/>
          <a:p>
            <a:fld id="{5EE24C92-1265-4741-8F9F-404A15D9386E}" type="slidenum">
              <a:rPr lang="en-US" smtClean="0"/>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7FB26-76DB-BA1E-1948-08B97C25DF29}"/>
              </a:ext>
            </a:extLst>
          </p:cNvPr>
          <p:cNvSpPr>
            <a:spLocks noGrp="1"/>
          </p:cNvSpPr>
          <p:nvPr>
            <p:ph type="title"/>
          </p:nvPr>
        </p:nvSpPr>
        <p:spPr>
          <a:xfrm>
            <a:off x="685800" y="1360805"/>
            <a:ext cx="10515600" cy="1325563"/>
          </a:xfrm>
        </p:spPr>
        <p:txBody>
          <a:bodyPr/>
          <a:lstStyle/>
          <a:p>
            <a:r>
              <a:rPr lang="en-GB" dirty="0"/>
              <a:t>Course Overview</a:t>
            </a:r>
            <a:br>
              <a:rPr lang="en-GB" dirty="0"/>
            </a:br>
            <a:endParaRPr lang="en-GB" dirty="0"/>
          </a:p>
        </p:txBody>
      </p:sp>
      <p:sp>
        <p:nvSpPr>
          <p:cNvPr id="5" name="Slide Number Placeholder 4">
            <a:extLst>
              <a:ext uri="{FF2B5EF4-FFF2-40B4-BE49-F238E27FC236}">
                <a16:creationId xmlns:a16="http://schemas.microsoft.com/office/drawing/2014/main" id="{90E33C18-B0E5-F9E4-F2E1-D93C79BA6D9C}"/>
              </a:ext>
            </a:extLst>
          </p:cNvPr>
          <p:cNvSpPr>
            <a:spLocks noGrp="1"/>
          </p:cNvSpPr>
          <p:nvPr>
            <p:ph type="sldNum" sz="quarter" idx="12"/>
          </p:nvPr>
        </p:nvSpPr>
        <p:spPr/>
        <p:txBody>
          <a:bodyPr/>
          <a:lstStyle/>
          <a:p>
            <a:fld id="{5EE24C92-1265-4741-8F9F-404A15D9386E}" type="slidenum">
              <a:rPr lang="en-US" smtClean="0"/>
              <a:t>2</a:t>
            </a:fld>
            <a:endParaRPr lang="en-US"/>
          </a:p>
        </p:txBody>
      </p:sp>
      <p:sp>
        <p:nvSpPr>
          <p:cNvPr id="7" name="TextBox 6">
            <a:extLst>
              <a:ext uri="{FF2B5EF4-FFF2-40B4-BE49-F238E27FC236}">
                <a16:creationId xmlns:a16="http://schemas.microsoft.com/office/drawing/2014/main" id="{22B6C8E1-3BBF-2AA2-D790-5C37AD13653A}"/>
              </a:ext>
            </a:extLst>
          </p:cNvPr>
          <p:cNvSpPr txBox="1"/>
          <p:nvPr/>
        </p:nvSpPr>
        <p:spPr>
          <a:xfrm>
            <a:off x="1368669" y="2493328"/>
            <a:ext cx="9296400" cy="646331"/>
          </a:xfrm>
          <a:prstGeom prst="rect">
            <a:avLst/>
          </a:prstGeom>
          <a:noFill/>
        </p:spPr>
        <p:txBody>
          <a:bodyPr wrap="square">
            <a:spAutoFit/>
          </a:bodyPr>
          <a:lstStyle/>
          <a:p>
            <a:pPr marL="0" marR="0" indent="0">
              <a:spcBef>
                <a:spcPts val="210"/>
              </a:spcBef>
              <a:spcAft>
                <a:spcPts val="0"/>
              </a:spcAft>
              <a:tabLst>
                <a:tab pos="1657350" algn="l"/>
              </a:tabLst>
            </a:pPr>
            <a:r>
              <a:rPr lang="en-GB" sz="1800" dirty="0">
                <a:solidFill>
                  <a:srgbClr val="343A49"/>
                </a:solidFill>
                <a:effectLst/>
                <a:latin typeface="Calibri" panose="020F0502020204030204" pitchFamily="34" charset="0"/>
                <a:ea typeface="Verdana" panose="020B0604030504040204" pitchFamily="34" charset="0"/>
                <a:cs typeface="Calibri" panose="020F0502020204030204" pitchFamily="34" charset="0"/>
              </a:rPr>
              <a:t>Basic knowledge of linear algebra is necessary to develop new algorithms for machine learning and data science.</a:t>
            </a:r>
            <a:endParaRPr lang="en-GB" sz="12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4041477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2178D9C-07A2-23B9-BE0F-4CF0D34026EB}"/>
              </a:ext>
            </a:extLst>
          </p:cNvPr>
          <p:cNvSpPr>
            <a:spLocks noGrp="1"/>
          </p:cNvSpPr>
          <p:nvPr>
            <p:ph type="sldNum" sz="quarter" idx="12"/>
          </p:nvPr>
        </p:nvSpPr>
        <p:spPr/>
        <p:txBody>
          <a:bodyPr/>
          <a:lstStyle/>
          <a:p>
            <a:fld id="{5EE24C92-1265-4741-8F9F-404A15D9386E}" type="slidenum">
              <a:rPr lang="en-US" smtClean="0"/>
              <a:t>3</a:t>
            </a:fld>
            <a:endParaRPr lang="en-US" dirty="0"/>
          </a:p>
        </p:txBody>
      </p:sp>
      <p:sp>
        <p:nvSpPr>
          <p:cNvPr id="6" name="Title 1">
            <a:extLst>
              <a:ext uri="{FF2B5EF4-FFF2-40B4-BE49-F238E27FC236}">
                <a16:creationId xmlns:a16="http://schemas.microsoft.com/office/drawing/2014/main" id="{22E51837-3FCA-A1C0-E243-476DD1019EC3}"/>
              </a:ext>
            </a:extLst>
          </p:cNvPr>
          <p:cNvSpPr>
            <a:spLocks noGrp="1"/>
          </p:cNvSpPr>
          <p:nvPr>
            <p:ph type="title"/>
          </p:nvPr>
        </p:nvSpPr>
        <p:spPr>
          <a:xfrm>
            <a:off x="685800" y="1360805"/>
            <a:ext cx="10429240" cy="935355"/>
          </a:xfrm>
        </p:spPr>
        <p:txBody>
          <a:bodyPr>
            <a:normAutofit fontScale="90000"/>
          </a:bodyPr>
          <a:lstStyle/>
          <a:p>
            <a:r>
              <a:rPr lang="en-GB" dirty="0"/>
              <a:t>Topics</a:t>
            </a:r>
            <a:br>
              <a:rPr lang="en-GB" dirty="0"/>
            </a:br>
            <a:endParaRPr lang="en-GB" dirty="0"/>
          </a:p>
        </p:txBody>
      </p:sp>
      <p:sp>
        <p:nvSpPr>
          <p:cNvPr id="12" name="TextBox 11">
            <a:extLst>
              <a:ext uri="{FF2B5EF4-FFF2-40B4-BE49-F238E27FC236}">
                <a16:creationId xmlns:a16="http://schemas.microsoft.com/office/drawing/2014/main" id="{8D268B73-7600-B16B-AEBA-61110F277BC2}"/>
              </a:ext>
            </a:extLst>
          </p:cNvPr>
          <p:cNvSpPr txBox="1"/>
          <p:nvPr/>
        </p:nvSpPr>
        <p:spPr>
          <a:xfrm>
            <a:off x="1076960" y="2037924"/>
            <a:ext cx="8849360" cy="4031873"/>
          </a:xfrm>
          <a:prstGeom prst="rect">
            <a:avLst/>
          </a:prstGeom>
          <a:noFill/>
        </p:spPr>
        <p:txBody>
          <a:bodyPr wrap="square">
            <a:spAutoFit/>
          </a:bodyPr>
          <a:lstStyle/>
          <a:p>
            <a:pPr indent="457200"/>
            <a:r>
              <a:rPr lang="en-GB" sz="1600" dirty="0"/>
              <a:t>•	Sample and population data.</a:t>
            </a:r>
          </a:p>
          <a:p>
            <a:pPr indent="457200"/>
            <a:r>
              <a:rPr lang="en-GB" sz="1600" dirty="0"/>
              <a:t>•	The fundamentals of descriptive statistics</a:t>
            </a:r>
          </a:p>
          <a:p>
            <a:pPr indent="457200"/>
            <a:r>
              <a:rPr lang="en-GB" sz="1600" dirty="0"/>
              <a:t>•	Measures of central tendency, asymmetry, and variability</a:t>
            </a:r>
          </a:p>
          <a:p>
            <a:pPr indent="457200"/>
            <a:r>
              <a:rPr lang="en-GB" sz="1600" dirty="0"/>
              <a:t>•	Practical example: descriptive statistics</a:t>
            </a:r>
          </a:p>
          <a:p>
            <a:pPr indent="457200"/>
            <a:r>
              <a:rPr lang="en-GB" sz="1600" dirty="0"/>
              <a:t>•	Distributions</a:t>
            </a:r>
          </a:p>
          <a:p>
            <a:pPr indent="457200"/>
            <a:r>
              <a:rPr lang="en-GB" sz="1600" dirty="0"/>
              <a:t>•	Estimators and estimates</a:t>
            </a:r>
          </a:p>
          <a:p>
            <a:pPr indent="457200"/>
            <a:r>
              <a:rPr lang="en-GB" sz="1600" dirty="0"/>
              <a:t>•	Confidence intervals: advanced topics</a:t>
            </a:r>
          </a:p>
          <a:p>
            <a:pPr indent="457200"/>
            <a:r>
              <a:rPr lang="en-GB" sz="1600" dirty="0"/>
              <a:t>•	Practical example: inferential statistics</a:t>
            </a:r>
          </a:p>
          <a:p>
            <a:pPr indent="457200"/>
            <a:r>
              <a:rPr lang="en-GB" sz="1600" dirty="0"/>
              <a:t>•	Hypothesis testing: Introduction</a:t>
            </a:r>
          </a:p>
          <a:p>
            <a:pPr indent="457200"/>
            <a:r>
              <a:rPr lang="en-GB" sz="1600" dirty="0"/>
              <a:t>•	introduction to Probability</a:t>
            </a:r>
          </a:p>
          <a:p>
            <a:pPr indent="457200"/>
            <a:r>
              <a:rPr lang="en-GB" sz="1600" dirty="0"/>
              <a:t>•	Conditional Probability.</a:t>
            </a:r>
          </a:p>
          <a:p>
            <a:pPr indent="457200"/>
            <a:r>
              <a:rPr lang="en-GB" sz="1600" dirty="0"/>
              <a:t>•	Bay’s theorem	</a:t>
            </a:r>
          </a:p>
          <a:p>
            <a:pPr indent="457200"/>
            <a:r>
              <a:rPr lang="en-GB" sz="1600" dirty="0"/>
              <a:t>•	Vectors vs Matrices.</a:t>
            </a:r>
          </a:p>
          <a:p>
            <a:pPr indent="457200"/>
            <a:r>
              <a:rPr lang="en-GB" sz="1600" dirty="0"/>
              <a:t>•	Vectors Magnitude and direction.</a:t>
            </a:r>
          </a:p>
          <a:p>
            <a:pPr indent="457200"/>
            <a:r>
              <a:rPr lang="en-GB" sz="1600" dirty="0"/>
              <a:t>•	Cos similarity between vectors.</a:t>
            </a:r>
          </a:p>
          <a:p>
            <a:pPr indent="457200"/>
            <a:r>
              <a:rPr lang="en-GB" sz="1600" dirty="0"/>
              <a:t>•	Matrix operations (dot product, multiplication, addition, subtraction, inverse).</a:t>
            </a:r>
          </a:p>
        </p:txBody>
      </p:sp>
    </p:spTree>
    <p:extLst>
      <p:ext uri="{BB962C8B-B14F-4D97-AF65-F5344CB8AC3E}">
        <p14:creationId xmlns:p14="http://schemas.microsoft.com/office/powerpoint/2010/main" val="1689122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110800" y="1263927"/>
            <a:ext cx="11360800" cy="763600"/>
          </a:xfrm>
          <a:prstGeom prst="rect">
            <a:avLst/>
          </a:prstGeom>
        </p:spPr>
        <p:txBody>
          <a:bodyPr spcFirstLastPara="1" vert="horz" wrap="square" lIns="121900" tIns="121900" rIns="121900" bIns="121900" rtlCol="0" anchor="t" anchorCtr="0">
            <a:normAutofit fontScale="90000"/>
          </a:bodyPr>
          <a:lstStyle/>
          <a:p>
            <a:r>
              <a:rPr lang="en-GB" dirty="0"/>
              <a:t>What is Statistics ?</a:t>
            </a:r>
            <a:endParaRPr dirty="0"/>
          </a:p>
        </p:txBody>
      </p:sp>
      <p:sp>
        <p:nvSpPr>
          <p:cNvPr id="61" name="Google Shape;61;p14"/>
          <p:cNvSpPr txBox="1">
            <a:spLocks noGrp="1"/>
          </p:cNvSpPr>
          <p:nvPr>
            <p:ph type="body" idx="1"/>
          </p:nvPr>
        </p:nvSpPr>
        <p:spPr>
          <a:xfrm>
            <a:off x="303840" y="2237367"/>
            <a:ext cx="11360800" cy="4555200"/>
          </a:xfrm>
          <a:prstGeom prst="rect">
            <a:avLst/>
          </a:prstGeom>
        </p:spPr>
        <p:txBody>
          <a:bodyPr spcFirstLastPara="1" vert="horz" wrap="square" lIns="121900" tIns="121900" rIns="121900" bIns="121900" rtlCol="0" anchor="t" anchorCtr="0">
            <a:normAutofit/>
          </a:bodyPr>
          <a:lstStyle/>
          <a:p>
            <a:pPr marL="342900" indent="-342900">
              <a:buClr>
                <a:schemeClr val="dk1"/>
              </a:buClr>
              <a:buSzPts val="1100"/>
            </a:pPr>
            <a:r>
              <a:rPr lang="en-GB" sz="2000" dirty="0">
                <a:solidFill>
                  <a:schemeClr val="dk1"/>
                </a:solidFill>
              </a:rPr>
              <a:t>Statistics is the science concerned with developing and </a:t>
            </a:r>
            <a:r>
              <a:rPr lang="en-GB" sz="2000" dirty="0">
                <a:solidFill>
                  <a:schemeClr val="dk1"/>
                </a:solidFill>
                <a:highlight>
                  <a:srgbClr val="FF9900"/>
                </a:highlight>
              </a:rPr>
              <a:t>studying methods for collecting, </a:t>
            </a:r>
            <a:r>
              <a:rPr lang="en-GB" sz="2000" dirty="0" err="1">
                <a:solidFill>
                  <a:schemeClr val="dk1"/>
                </a:solidFill>
                <a:highlight>
                  <a:srgbClr val="FF9900"/>
                </a:highlight>
              </a:rPr>
              <a:t>analyzing</a:t>
            </a:r>
            <a:r>
              <a:rPr lang="en-GB" sz="2000" dirty="0">
                <a:solidFill>
                  <a:schemeClr val="dk1"/>
                </a:solidFill>
                <a:highlight>
                  <a:srgbClr val="FF9900"/>
                </a:highlight>
              </a:rPr>
              <a:t>, interpreting and presenting empirical data </a:t>
            </a:r>
            <a:r>
              <a:rPr lang="ar-EG" sz="2000" dirty="0">
                <a:solidFill>
                  <a:schemeClr val="dk1"/>
                </a:solidFill>
                <a:highlight>
                  <a:srgbClr val="FF9900"/>
                </a:highlight>
              </a:rPr>
              <a:t>البيانات التجريبية</a:t>
            </a:r>
            <a:r>
              <a:rPr lang="en-GB" sz="2000" dirty="0">
                <a:solidFill>
                  <a:schemeClr val="dk1"/>
                </a:solidFill>
              </a:rPr>
              <a:t>. </a:t>
            </a:r>
          </a:p>
          <a:p>
            <a:pPr marL="342900" indent="-342900">
              <a:buClr>
                <a:schemeClr val="dk1"/>
              </a:buClr>
              <a:buSzPts val="1100"/>
            </a:pPr>
            <a:r>
              <a:rPr lang="en-GB" sz="2000" dirty="0">
                <a:solidFill>
                  <a:schemeClr val="dk1"/>
                </a:solidFill>
              </a:rPr>
              <a:t>Statistics is a highly interdisciplinary </a:t>
            </a:r>
            <a:r>
              <a:rPr lang="ar-EG" sz="2000" dirty="0">
                <a:solidFill>
                  <a:schemeClr val="dk1"/>
                </a:solidFill>
              </a:rPr>
              <a:t>متعدد التخصصات</a:t>
            </a:r>
            <a:r>
              <a:rPr lang="en-GB" sz="2000" dirty="0">
                <a:solidFill>
                  <a:schemeClr val="dk1"/>
                </a:solidFill>
              </a:rPr>
              <a:t> field. </a:t>
            </a:r>
            <a:endParaRPr lang="ar-EG" sz="2000" dirty="0">
              <a:solidFill>
                <a:schemeClr val="dk1"/>
              </a:solidFill>
            </a:endParaRPr>
          </a:p>
          <a:p>
            <a:pPr marL="342900" indent="-342900">
              <a:buClr>
                <a:schemeClr val="dk1"/>
              </a:buClr>
              <a:buSzPts val="1100"/>
            </a:pPr>
            <a:r>
              <a:rPr lang="en-US" sz="2000" dirty="0">
                <a:solidFill>
                  <a:schemeClr val="dk1"/>
                </a:solidFill>
              </a:rPr>
              <a:t>R</a:t>
            </a:r>
            <a:r>
              <a:rPr lang="en-GB" sz="2000" dirty="0" err="1">
                <a:solidFill>
                  <a:schemeClr val="dk1"/>
                </a:solidFill>
              </a:rPr>
              <a:t>esearch</a:t>
            </a:r>
            <a:r>
              <a:rPr lang="en-GB" sz="2000" dirty="0">
                <a:solidFill>
                  <a:schemeClr val="dk1"/>
                </a:solidFill>
              </a:rPr>
              <a:t> in statistics finds applicability in virtually all scientific fields and research questions in the various scientific fields motivate the development of new statistical methods and theory. </a:t>
            </a:r>
          </a:p>
          <a:p>
            <a:pPr marL="342900" indent="-342900">
              <a:buClr>
                <a:schemeClr val="dk1"/>
              </a:buClr>
              <a:buSzPts val="1100"/>
            </a:pPr>
            <a:r>
              <a:rPr lang="en-GB" sz="2000" dirty="0">
                <a:solidFill>
                  <a:schemeClr val="dk1"/>
                </a:solidFill>
              </a:rPr>
              <a:t>In developing methods and studying the theory that underlies the methods statisticians draw on a variety of mathematical and computational tools.</a:t>
            </a:r>
            <a:endParaRPr sz="2000" dirty="0">
              <a:solidFill>
                <a:schemeClr val="dk1"/>
              </a:solidFill>
            </a:endParaRPr>
          </a:p>
          <a:p>
            <a:pPr marL="0" indent="0">
              <a:spcBef>
                <a:spcPts val="1600"/>
              </a:spcBef>
              <a:buClr>
                <a:schemeClr val="dk1"/>
              </a:buClr>
              <a:buSzPts val="1100"/>
              <a:buNone/>
            </a:pPr>
            <a:endParaRPr sz="2000" dirty="0">
              <a:solidFill>
                <a:schemeClr val="dk1"/>
              </a:solidFill>
            </a:endParaRPr>
          </a:p>
          <a:p>
            <a:pPr marL="0" indent="0">
              <a:spcBef>
                <a:spcPts val="1600"/>
              </a:spcBef>
              <a:buClr>
                <a:schemeClr val="dk1"/>
              </a:buClr>
              <a:buSzPts val="1100"/>
              <a:buNone/>
            </a:pPr>
            <a:r>
              <a:rPr lang="en-GB" sz="2000" dirty="0">
                <a:solidFill>
                  <a:schemeClr val="dk1"/>
                </a:solidFill>
              </a:rPr>
              <a:t>Two fundamental ideas in the field of statistics are </a:t>
            </a:r>
            <a:r>
              <a:rPr lang="en-GB" sz="2000" dirty="0">
                <a:solidFill>
                  <a:schemeClr val="dk1"/>
                </a:solidFill>
                <a:highlight>
                  <a:schemeClr val="accent4"/>
                </a:highlight>
              </a:rPr>
              <a:t>uncertainty</a:t>
            </a:r>
            <a:r>
              <a:rPr lang="en-GB" sz="2000" dirty="0">
                <a:solidFill>
                  <a:schemeClr val="dk1"/>
                </a:solidFill>
              </a:rPr>
              <a:t> and </a:t>
            </a:r>
            <a:r>
              <a:rPr lang="en-GB" sz="2000" dirty="0">
                <a:solidFill>
                  <a:schemeClr val="dk1"/>
                </a:solidFill>
                <a:highlight>
                  <a:schemeClr val="accent4"/>
                </a:highlight>
              </a:rPr>
              <a:t>variation</a:t>
            </a:r>
            <a:r>
              <a:rPr lang="en-GB" sz="2000" dirty="0">
                <a:solidFill>
                  <a:schemeClr val="dk1"/>
                </a:solidFill>
              </a:rPr>
              <a:t>. </a:t>
            </a:r>
            <a:endParaRPr sz="2000" dirty="0">
              <a:solidFill>
                <a:schemeClr val="dk1"/>
              </a:solidFill>
            </a:endParaRPr>
          </a:p>
          <a:p>
            <a:pPr marL="0" indent="0">
              <a:spcBef>
                <a:spcPts val="1600"/>
              </a:spcBef>
              <a:spcAft>
                <a:spcPts val="1600"/>
              </a:spcAft>
              <a:buNone/>
            </a:pPr>
            <a:endParaRPr dirty="0"/>
          </a:p>
        </p:txBody>
      </p:sp>
      <p:sp>
        <p:nvSpPr>
          <p:cNvPr id="2" name="Slide Number Placeholder 1">
            <a:extLst>
              <a:ext uri="{FF2B5EF4-FFF2-40B4-BE49-F238E27FC236}">
                <a16:creationId xmlns:a16="http://schemas.microsoft.com/office/drawing/2014/main" id="{2D1C9FF5-12AA-2737-91AF-E7C91E49B524}"/>
              </a:ext>
            </a:extLst>
          </p:cNvPr>
          <p:cNvSpPr>
            <a:spLocks noGrp="1"/>
          </p:cNvSpPr>
          <p:nvPr>
            <p:ph type="sldNum" idx="12"/>
          </p:nvPr>
        </p:nvSpPr>
        <p:spPr>
          <a:xfrm>
            <a:off x="10648560" y="6267767"/>
            <a:ext cx="731600" cy="524800"/>
          </a:xfrm>
        </p:spPr>
        <p:txBody>
          <a:bodyPr/>
          <a:lstStyle/>
          <a:p>
            <a:fld id="{00000000-1234-1234-1234-123412341234}" type="slidenum">
              <a:rPr lang="en-GB" smtClean="0"/>
              <a:pPr/>
              <a:t>4</a:t>
            </a:fld>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120960" y="1274933"/>
            <a:ext cx="11360800" cy="763600"/>
          </a:xfrm>
          <a:prstGeom prst="rect">
            <a:avLst/>
          </a:prstGeom>
        </p:spPr>
        <p:txBody>
          <a:bodyPr spcFirstLastPara="1" vert="horz" wrap="square" lIns="121900" tIns="121900" rIns="121900" bIns="121900" rtlCol="0" anchor="t" anchorCtr="0">
            <a:normAutofit fontScale="90000"/>
          </a:bodyPr>
          <a:lstStyle/>
          <a:p>
            <a:r>
              <a:rPr lang="en-GB" dirty="0"/>
              <a:t>Statistics In Data Science</a:t>
            </a:r>
            <a:endParaRPr dirty="0"/>
          </a:p>
        </p:txBody>
      </p:sp>
      <p:sp>
        <p:nvSpPr>
          <p:cNvPr id="67" name="Google Shape;67;p15"/>
          <p:cNvSpPr txBox="1">
            <a:spLocks noGrp="1"/>
          </p:cNvSpPr>
          <p:nvPr>
            <p:ph type="body" idx="1"/>
          </p:nvPr>
        </p:nvSpPr>
        <p:spPr>
          <a:xfrm>
            <a:off x="791520" y="2146233"/>
            <a:ext cx="49312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r>
              <a:rPr lang="en-GB" sz="2400" dirty="0"/>
              <a:t>In data science, statistics is at the core of sophisticated machine learning algorithms, </a:t>
            </a:r>
            <a:r>
              <a:rPr lang="en-GB" sz="2400" dirty="0">
                <a:highlight>
                  <a:schemeClr val="accent4"/>
                </a:highlight>
              </a:rPr>
              <a:t>capturing and translating data patterns into actionable evidence</a:t>
            </a:r>
            <a:r>
              <a:rPr lang="en-GB" sz="2400" dirty="0"/>
              <a:t>. </a:t>
            </a:r>
          </a:p>
          <a:p>
            <a:pPr marL="0" indent="0">
              <a:spcAft>
                <a:spcPts val="1600"/>
              </a:spcAft>
              <a:buNone/>
            </a:pPr>
            <a:r>
              <a:rPr lang="en-GB" sz="2400" dirty="0"/>
              <a:t>Data scientists use statistics to gather, review, analyse, and draw conclusions from data, as well as apply quantified mathematical models to appropriate variables</a:t>
            </a:r>
            <a:r>
              <a:rPr lang="en-GB" dirty="0"/>
              <a:t>.</a:t>
            </a:r>
            <a:endParaRPr dirty="0"/>
          </a:p>
        </p:txBody>
      </p:sp>
      <p:pic>
        <p:nvPicPr>
          <p:cNvPr id="68" name="Google Shape;68;p15"/>
          <p:cNvPicPr preferRelativeResize="0"/>
          <p:nvPr/>
        </p:nvPicPr>
        <p:blipFill>
          <a:blip r:embed="rId3">
            <a:alphaModFix/>
          </a:blip>
          <a:stretch>
            <a:fillRect/>
          </a:stretch>
        </p:blipFill>
        <p:spPr>
          <a:xfrm>
            <a:off x="5520801" y="1656733"/>
            <a:ext cx="6073632" cy="4555200"/>
          </a:xfrm>
          <a:prstGeom prst="rect">
            <a:avLst/>
          </a:prstGeom>
          <a:noFill/>
          <a:ln>
            <a:noFill/>
          </a:ln>
        </p:spPr>
      </p:pic>
      <p:sp>
        <p:nvSpPr>
          <p:cNvPr id="2" name="Slide Number Placeholder 1">
            <a:extLst>
              <a:ext uri="{FF2B5EF4-FFF2-40B4-BE49-F238E27FC236}">
                <a16:creationId xmlns:a16="http://schemas.microsoft.com/office/drawing/2014/main" id="{686078C6-F575-CC30-BA9C-EBC65EB9CC48}"/>
              </a:ext>
            </a:extLst>
          </p:cNvPr>
          <p:cNvSpPr>
            <a:spLocks noGrp="1"/>
          </p:cNvSpPr>
          <p:nvPr>
            <p:ph type="sldNum" idx="12"/>
          </p:nvPr>
        </p:nvSpPr>
        <p:spPr>
          <a:xfrm>
            <a:off x="10668880" y="6331333"/>
            <a:ext cx="731600" cy="524800"/>
          </a:xfrm>
        </p:spPr>
        <p:txBody>
          <a:bodyPr/>
          <a:lstStyle/>
          <a:p>
            <a:fld id="{00000000-1234-1234-1234-123412341234}" type="slidenum">
              <a:rPr lang="en-GB" smtClean="0"/>
              <a:pPr/>
              <a:t>5</a:t>
            </a:fld>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0" y="1162327"/>
            <a:ext cx="11360800" cy="763600"/>
          </a:xfrm>
          <a:prstGeom prst="rect">
            <a:avLst/>
          </a:prstGeom>
        </p:spPr>
        <p:txBody>
          <a:bodyPr spcFirstLastPara="1" vert="horz" wrap="square" lIns="121900" tIns="121900" rIns="121900" bIns="121900" rtlCol="0" anchor="t" anchorCtr="0">
            <a:normAutofit fontScale="90000"/>
          </a:bodyPr>
          <a:lstStyle/>
          <a:p>
            <a:pPr>
              <a:buClr>
                <a:schemeClr val="dk1"/>
              </a:buClr>
              <a:buSzPct val="39285"/>
            </a:pPr>
            <a:r>
              <a:rPr lang="en-GB" dirty="0"/>
              <a:t>Statistics In Data Science</a:t>
            </a:r>
            <a:endParaRPr dirty="0"/>
          </a:p>
        </p:txBody>
      </p:sp>
      <p:sp>
        <p:nvSpPr>
          <p:cNvPr id="74" name="Google Shape;74;p16"/>
          <p:cNvSpPr txBox="1">
            <a:spLocks noGrp="1"/>
          </p:cNvSpPr>
          <p:nvPr>
            <p:ph type="body" idx="1"/>
          </p:nvPr>
        </p:nvSpPr>
        <p:spPr>
          <a:xfrm>
            <a:off x="415600" y="2037647"/>
            <a:ext cx="5581200" cy="4555200"/>
          </a:xfrm>
          <a:prstGeom prst="rect">
            <a:avLst/>
          </a:prstGeom>
        </p:spPr>
        <p:txBody>
          <a:bodyPr spcFirstLastPara="1" vert="horz" wrap="square" lIns="121900" tIns="121900" rIns="121900" bIns="121900" rtlCol="0" anchor="t" anchorCtr="0">
            <a:noAutofit/>
          </a:bodyPr>
          <a:lstStyle/>
          <a:p>
            <a:pPr marL="0" indent="0">
              <a:lnSpc>
                <a:spcPct val="105000"/>
              </a:lnSpc>
              <a:buClr>
                <a:schemeClr val="dk1"/>
              </a:buClr>
              <a:buSzPts val="523"/>
              <a:buNone/>
            </a:pPr>
            <a:r>
              <a:rPr lang="en-GB" sz="1540" dirty="0"/>
              <a:t>Statistical functions are used in data science to analyse raw data, build data models, and infer results. Below is a list of the key statistical terms:</a:t>
            </a:r>
            <a:endParaRPr sz="1540" dirty="0"/>
          </a:p>
          <a:p>
            <a:pPr marL="0" indent="0">
              <a:lnSpc>
                <a:spcPct val="105000"/>
              </a:lnSpc>
              <a:spcBef>
                <a:spcPts val="1600"/>
              </a:spcBef>
              <a:buClr>
                <a:schemeClr val="dk1"/>
              </a:buClr>
              <a:buSzPts val="523"/>
              <a:buNone/>
            </a:pPr>
            <a:endParaRPr sz="1540" dirty="0"/>
          </a:p>
          <a:p>
            <a:pPr indent="-402579">
              <a:lnSpc>
                <a:spcPct val="105000"/>
              </a:lnSpc>
              <a:spcBef>
                <a:spcPts val="1600"/>
              </a:spcBef>
              <a:buSzPts val="1155"/>
            </a:pPr>
            <a:r>
              <a:rPr lang="en-GB" sz="1540" b="1" dirty="0"/>
              <a:t>Population</a:t>
            </a:r>
            <a:r>
              <a:rPr lang="en-GB" sz="1540" dirty="0"/>
              <a:t>: the source of data to be collected.</a:t>
            </a:r>
            <a:endParaRPr sz="1540" dirty="0"/>
          </a:p>
          <a:p>
            <a:pPr indent="-402579">
              <a:lnSpc>
                <a:spcPct val="105000"/>
              </a:lnSpc>
              <a:buSzPts val="1155"/>
            </a:pPr>
            <a:r>
              <a:rPr lang="en-GB" sz="1540" b="1" dirty="0"/>
              <a:t>Sample</a:t>
            </a:r>
            <a:r>
              <a:rPr lang="en-GB" sz="1540" dirty="0"/>
              <a:t>: a portion of the population.</a:t>
            </a:r>
            <a:endParaRPr sz="1540" dirty="0"/>
          </a:p>
          <a:p>
            <a:pPr indent="-402579">
              <a:lnSpc>
                <a:spcPct val="105000"/>
              </a:lnSpc>
              <a:buSzPts val="1155"/>
            </a:pPr>
            <a:r>
              <a:rPr lang="en-GB" sz="1540" b="1" dirty="0"/>
              <a:t>Variable</a:t>
            </a:r>
            <a:r>
              <a:rPr lang="en-GB" sz="1540" dirty="0"/>
              <a:t>: any data item that can be measured or counted.</a:t>
            </a:r>
            <a:endParaRPr sz="1540" dirty="0"/>
          </a:p>
          <a:p>
            <a:pPr indent="-402579">
              <a:lnSpc>
                <a:spcPct val="105000"/>
              </a:lnSpc>
              <a:buSzPts val="1155"/>
            </a:pPr>
            <a:r>
              <a:rPr lang="en-GB" sz="1540" b="1" dirty="0"/>
              <a:t>Quantitative analysis (statistical)</a:t>
            </a:r>
            <a:r>
              <a:rPr lang="en-GB" sz="1540" dirty="0"/>
              <a:t>: </a:t>
            </a:r>
            <a:r>
              <a:rPr lang="ar-EG" sz="1540" dirty="0"/>
              <a:t>كمى</a:t>
            </a:r>
            <a:r>
              <a:rPr lang="en-GB" sz="1540" dirty="0"/>
              <a:t> collecting and interpreting data with patterns and data visualization.</a:t>
            </a:r>
            <a:endParaRPr sz="1540" dirty="0"/>
          </a:p>
          <a:p>
            <a:pPr indent="-402579">
              <a:lnSpc>
                <a:spcPct val="105000"/>
              </a:lnSpc>
              <a:buSzPts val="1155"/>
            </a:pPr>
            <a:r>
              <a:rPr lang="en-GB" sz="1540" b="1" dirty="0"/>
              <a:t>Qualitative analysis (non-statistical)</a:t>
            </a:r>
            <a:r>
              <a:rPr lang="en-GB" sz="1540" dirty="0"/>
              <a:t>: </a:t>
            </a:r>
            <a:r>
              <a:rPr lang="ar-EG" sz="1540" dirty="0"/>
              <a:t>كيفى</a:t>
            </a:r>
            <a:r>
              <a:rPr lang="en-GB" sz="1540" dirty="0"/>
              <a:t>producing generic information from other non-data forms of media.</a:t>
            </a:r>
            <a:endParaRPr sz="1540" dirty="0"/>
          </a:p>
          <a:p>
            <a:pPr indent="-402579">
              <a:lnSpc>
                <a:spcPct val="105000"/>
              </a:lnSpc>
              <a:buSzPts val="1155"/>
            </a:pPr>
            <a:r>
              <a:rPr lang="en-GB" sz="1540" b="1" dirty="0"/>
              <a:t>Descriptive statistics</a:t>
            </a:r>
            <a:r>
              <a:rPr lang="en-GB" sz="1540" dirty="0"/>
              <a:t>: characteristics of a population.</a:t>
            </a:r>
            <a:r>
              <a:rPr lang="ar-EG" sz="1540" dirty="0"/>
              <a:t> </a:t>
            </a:r>
            <a:endParaRPr sz="1540" dirty="0"/>
          </a:p>
          <a:p>
            <a:pPr marL="0" indent="0">
              <a:lnSpc>
                <a:spcPct val="105000"/>
              </a:lnSpc>
              <a:spcBef>
                <a:spcPts val="1600"/>
              </a:spcBef>
              <a:buClr>
                <a:schemeClr val="dk1"/>
              </a:buClr>
              <a:buSzPts val="523"/>
              <a:buNone/>
            </a:pPr>
            <a:endParaRPr sz="1540" dirty="0"/>
          </a:p>
          <a:p>
            <a:pPr marL="0" indent="0">
              <a:lnSpc>
                <a:spcPct val="105000"/>
              </a:lnSpc>
              <a:spcBef>
                <a:spcPts val="1600"/>
              </a:spcBef>
              <a:spcAft>
                <a:spcPts val="1600"/>
              </a:spcAft>
              <a:buSzPts val="523"/>
              <a:buNone/>
            </a:pPr>
            <a:endParaRPr sz="1540" dirty="0"/>
          </a:p>
        </p:txBody>
      </p:sp>
      <p:sp>
        <p:nvSpPr>
          <p:cNvPr id="75" name="Google Shape;75;p16"/>
          <p:cNvSpPr txBox="1"/>
          <p:nvPr/>
        </p:nvSpPr>
        <p:spPr>
          <a:xfrm>
            <a:off x="6581733" y="2764234"/>
            <a:ext cx="5054000" cy="3102027"/>
          </a:xfrm>
          <a:prstGeom prst="rect">
            <a:avLst/>
          </a:prstGeom>
          <a:noFill/>
          <a:ln>
            <a:noFill/>
          </a:ln>
        </p:spPr>
        <p:txBody>
          <a:bodyPr spcFirstLastPara="1" wrap="square" lIns="121900" tIns="121900" rIns="121900" bIns="121900" anchor="t" anchorCtr="0">
            <a:spAutoFit/>
          </a:bodyPr>
          <a:lstStyle/>
          <a:p>
            <a:pPr marL="609585" indent="-397923">
              <a:lnSpc>
                <a:spcPct val="115000"/>
              </a:lnSpc>
              <a:buClr>
                <a:schemeClr val="dk2"/>
              </a:buClr>
              <a:buSzPts val="1100"/>
              <a:buChar char="●"/>
            </a:pPr>
            <a:r>
              <a:rPr lang="en-GB" sz="1467" b="1" dirty="0">
                <a:solidFill>
                  <a:schemeClr val="dk2"/>
                </a:solidFill>
              </a:rPr>
              <a:t>Inferential statistics</a:t>
            </a:r>
            <a:r>
              <a:rPr lang="en-GB" sz="1467" dirty="0">
                <a:solidFill>
                  <a:schemeClr val="dk2"/>
                </a:solidFill>
              </a:rPr>
              <a:t>: predictions for a population.</a:t>
            </a:r>
            <a:endParaRPr sz="1467" dirty="0">
              <a:solidFill>
                <a:schemeClr val="dk2"/>
              </a:solidFill>
            </a:endParaRPr>
          </a:p>
          <a:p>
            <a:pPr marL="609585" indent="-397923">
              <a:lnSpc>
                <a:spcPct val="115000"/>
              </a:lnSpc>
              <a:buClr>
                <a:schemeClr val="dk2"/>
              </a:buClr>
              <a:buSzPts val="1100"/>
              <a:buChar char="●"/>
            </a:pPr>
            <a:r>
              <a:rPr lang="en-GB" sz="1467" b="1" dirty="0">
                <a:solidFill>
                  <a:schemeClr val="dk2"/>
                </a:solidFill>
              </a:rPr>
              <a:t>Central tendency</a:t>
            </a:r>
            <a:r>
              <a:rPr lang="en-GB" sz="1467" dirty="0">
                <a:solidFill>
                  <a:schemeClr val="dk2"/>
                </a:solidFill>
              </a:rPr>
              <a:t> (measures of the </a:t>
            </a:r>
            <a:r>
              <a:rPr lang="en-GB" sz="1467" dirty="0" err="1">
                <a:solidFill>
                  <a:schemeClr val="dk2"/>
                </a:solidFill>
              </a:rPr>
              <a:t>center</a:t>
            </a:r>
            <a:r>
              <a:rPr lang="en-GB" sz="1467" dirty="0">
                <a:solidFill>
                  <a:schemeClr val="dk2"/>
                </a:solidFill>
              </a:rPr>
              <a:t>): mean (average of all values), median (central value of a data set), and mode (the most recurrent value in a data set).</a:t>
            </a:r>
            <a:endParaRPr sz="1467" dirty="0">
              <a:solidFill>
                <a:schemeClr val="dk2"/>
              </a:solidFill>
            </a:endParaRPr>
          </a:p>
          <a:p>
            <a:pPr marL="609585" indent="-397923">
              <a:lnSpc>
                <a:spcPct val="115000"/>
              </a:lnSpc>
              <a:buClr>
                <a:schemeClr val="dk2"/>
              </a:buClr>
              <a:buSzPts val="1100"/>
              <a:buChar char="●"/>
            </a:pPr>
            <a:r>
              <a:rPr lang="en-GB" sz="1467" b="1" dirty="0">
                <a:solidFill>
                  <a:schemeClr val="dk2"/>
                </a:solidFill>
              </a:rPr>
              <a:t>Measures of the spread</a:t>
            </a:r>
            <a:r>
              <a:rPr lang="en-GB" sz="1467" dirty="0">
                <a:solidFill>
                  <a:schemeClr val="dk2"/>
                </a:solidFill>
              </a:rPr>
              <a:t>:</a:t>
            </a:r>
            <a:endParaRPr sz="1467" dirty="0">
              <a:solidFill>
                <a:schemeClr val="dk2"/>
              </a:solidFill>
            </a:endParaRPr>
          </a:p>
          <a:p>
            <a:pPr marL="1219170" lvl="1" indent="-397923">
              <a:lnSpc>
                <a:spcPct val="115000"/>
              </a:lnSpc>
              <a:buClr>
                <a:schemeClr val="dk2"/>
              </a:buClr>
              <a:buSzPts val="1100"/>
              <a:buChar char="○"/>
            </a:pPr>
            <a:r>
              <a:rPr lang="en-GB" sz="1467" b="1" dirty="0">
                <a:solidFill>
                  <a:schemeClr val="dk2"/>
                </a:solidFill>
              </a:rPr>
              <a:t>Range</a:t>
            </a:r>
            <a:r>
              <a:rPr lang="en-GB" sz="1467" dirty="0">
                <a:solidFill>
                  <a:schemeClr val="dk2"/>
                </a:solidFill>
              </a:rPr>
              <a:t>: the distance between each value in a data set.</a:t>
            </a:r>
            <a:endParaRPr sz="1467" dirty="0">
              <a:solidFill>
                <a:schemeClr val="dk2"/>
              </a:solidFill>
            </a:endParaRPr>
          </a:p>
          <a:p>
            <a:pPr marL="1219170" lvl="1" indent="-397923">
              <a:lnSpc>
                <a:spcPct val="115000"/>
              </a:lnSpc>
              <a:buClr>
                <a:schemeClr val="dk2"/>
              </a:buClr>
              <a:buSzPts val="1100"/>
              <a:buChar char="○"/>
            </a:pPr>
            <a:r>
              <a:rPr lang="en-GB" sz="1467" b="1" dirty="0">
                <a:solidFill>
                  <a:schemeClr val="dk2"/>
                </a:solidFill>
              </a:rPr>
              <a:t>Variance</a:t>
            </a:r>
            <a:r>
              <a:rPr lang="en-GB" sz="1467" dirty="0">
                <a:solidFill>
                  <a:schemeClr val="dk2"/>
                </a:solidFill>
              </a:rPr>
              <a:t>: the distance between a variable and its expected value.</a:t>
            </a:r>
            <a:endParaRPr sz="1467" dirty="0">
              <a:solidFill>
                <a:schemeClr val="dk2"/>
              </a:solidFill>
            </a:endParaRPr>
          </a:p>
          <a:p>
            <a:pPr marL="1219170" lvl="1" indent="-397923">
              <a:lnSpc>
                <a:spcPct val="115000"/>
              </a:lnSpc>
              <a:buClr>
                <a:schemeClr val="dk2"/>
              </a:buClr>
              <a:buSzPts val="1100"/>
              <a:buChar char="○"/>
            </a:pPr>
            <a:r>
              <a:rPr lang="en-GB" sz="1467" b="1" dirty="0">
                <a:solidFill>
                  <a:schemeClr val="dk2"/>
                </a:solidFill>
              </a:rPr>
              <a:t>Standard deviation</a:t>
            </a:r>
            <a:r>
              <a:rPr lang="en-GB" sz="1467" dirty="0">
                <a:solidFill>
                  <a:schemeClr val="dk2"/>
                </a:solidFill>
              </a:rPr>
              <a:t>: the dispersion </a:t>
            </a:r>
            <a:r>
              <a:rPr lang="ar-EG" sz="1467" dirty="0">
                <a:solidFill>
                  <a:schemeClr val="dk2"/>
                </a:solidFill>
              </a:rPr>
              <a:t>تشتت</a:t>
            </a:r>
            <a:r>
              <a:rPr lang="en-GB" sz="1467" dirty="0">
                <a:solidFill>
                  <a:schemeClr val="dk2"/>
                </a:solidFill>
              </a:rPr>
              <a:t>of a data set from the mean.</a:t>
            </a:r>
            <a:endParaRPr sz="933" dirty="0"/>
          </a:p>
        </p:txBody>
      </p:sp>
      <p:sp>
        <p:nvSpPr>
          <p:cNvPr id="2" name="Slide Number Placeholder 1">
            <a:extLst>
              <a:ext uri="{FF2B5EF4-FFF2-40B4-BE49-F238E27FC236}">
                <a16:creationId xmlns:a16="http://schemas.microsoft.com/office/drawing/2014/main" id="{8BC3D3CB-877B-14E5-F9E8-14C0D2693984}"/>
              </a:ext>
            </a:extLst>
          </p:cNvPr>
          <p:cNvSpPr>
            <a:spLocks noGrp="1"/>
          </p:cNvSpPr>
          <p:nvPr>
            <p:ph type="sldNum" idx="12"/>
          </p:nvPr>
        </p:nvSpPr>
        <p:spPr>
          <a:xfrm>
            <a:off x="10629200" y="6330447"/>
            <a:ext cx="731600" cy="524800"/>
          </a:xfrm>
        </p:spPr>
        <p:txBody>
          <a:bodyPr/>
          <a:lstStyle/>
          <a:p>
            <a:fld id="{00000000-1234-1234-1234-123412341234}" type="slidenum">
              <a:rPr lang="en-GB" smtClean="0"/>
              <a:pPr/>
              <a:t>6</a:t>
            </a:fld>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202240" y="1345207"/>
            <a:ext cx="11360800" cy="763600"/>
          </a:xfrm>
          <a:prstGeom prst="rect">
            <a:avLst/>
          </a:prstGeom>
        </p:spPr>
        <p:txBody>
          <a:bodyPr spcFirstLastPara="1" vert="horz" wrap="square" lIns="121900" tIns="121900" rIns="121900" bIns="121900" rtlCol="0" anchor="t" anchorCtr="0">
            <a:normAutofit fontScale="90000"/>
          </a:bodyPr>
          <a:lstStyle/>
          <a:p>
            <a:r>
              <a:rPr lang="en-GB" dirty="0"/>
              <a:t>Skills Needed ?</a:t>
            </a:r>
            <a:endParaRPr dirty="0"/>
          </a:p>
        </p:txBody>
      </p:sp>
      <p:sp>
        <p:nvSpPr>
          <p:cNvPr id="81" name="Google Shape;81;p17"/>
          <p:cNvSpPr txBox="1">
            <a:spLocks noGrp="1"/>
          </p:cNvSpPr>
          <p:nvPr>
            <p:ph type="body" idx="1"/>
          </p:nvPr>
        </p:nvSpPr>
        <p:spPr>
          <a:xfrm>
            <a:off x="689920" y="2471353"/>
            <a:ext cx="11360800" cy="4555200"/>
          </a:xfrm>
          <a:prstGeom prst="rect">
            <a:avLst/>
          </a:prstGeom>
        </p:spPr>
        <p:txBody>
          <a:bodyPr spcFirstLastPara="1" vert="horz" wrap="square" lIns="121900" tIns="121900" rIns="121900" bIns="121900" rtlCol="0" anchor="t" anchorCtr="0">
            <a:normAutofit/>
          </a:bodyPr>
          <a:lstStyle/>
          <a:p>
            <a:pPr indent="-455766">
              <a:buClr>
                <a:srgbClr val="111111"/>
              </a:buClr>
              <a:buSzPts val="1783"/>
            </a:pPr>
            <a:r>
              <a:rPr lang="en-GB" sz="2377" dirty="0">
                <a:solidFill>
                  <a:srgbClr val="111111"/>
                </a:solidFill>
                <a:highlight>
                  <a:srgbClr val="FFFFFF"/>
                </a:highlight>
              </a:rPr>
              <a:t>Data manipulation</a:t>
            </a:r>
            <a:endParaRPr sz="2377" dirty="0">
              <a:solidFill>
                <a:srgbClr val="111111"/>
              </a:solidFill>
              <a:highlight>
                <a:srgbClr val="FFFFFF"/>
              </a:highlight>
            </a:endParaRPr>
          </a:p>
          <a:p>
            <a:pPr indent="-455766">
              <a:buClr>
                <a:srgbClr val="111111"/>
              </a:buClr>
              <a:buSzPts val="1783"/>
            </a:pPr>
            <a:r>
              <a:rPr lang="en-GB" sz="2377" dirty="0">
                <a:solidFill>
                  <a:srgbClr val="111111"/>
                </a:solidFill>
                <a:highlight>
                  <a:srgbClr val="FFFFFF"/>
                </a:highlight>
              </a:rPr>
              <a:t>Critical thinking and attention to detail</a:t>
            </a:r>
            <a:endParaRPr sz="2377" dirty="0">
              <a:solidFill>
                <a:srgbClr val="111111"/>
              </a:solidFill>
              <a:highlight>
                <a:srgbClr val="FFFFFF"/>
              </a:highlight>
            </a:endParaRPr>
          </a:p>
          <a:p>
            <a:pPr indent="-455766">
              <a:buClr>
                <a:srgbClr val="111111"/>
              </a:buClr>
              <a:buSzPts val="1783"/>
            </a:pPr>
            <a:r>
              <a:rPr lang="en-GB" sz="2377" dirty="0">
                <a:solidFill>
                  <a:srgbClr val="111111"/>
                </a:solidFill>
                <a:highlight>
                  <a:srgbClr val="FFFFFF"/>
                </a:highlight>
              </a:rPr>
              <a:t>Organization</a:t>
            </a:r>
            <a:endParaRPr sz="2377" dirty="0">
              <a:solidFill>
                <a:srgbClr val="111111"/>
              </a:solidFill>
              <a:highlight>
                <a:srgbClr val="FFFFFF"/>
              </a:highlight>
            </a:endParaRPr>
          </a:p>
          <a:p>
            <a:pPr indent="-455766">
              <a:buClr>
                <a:srgbClr val="111111"/>
              </a:buClr>
              <a:buSzPts val="1783"/>
            </a:pPr>
            <a:r>
              <a:rPr lang="en-GB" sz="2377" dirty="0">
                <a:solidFill>
                  <a:srgbClr val="111111"/>
                </a:solidFill>
                <a:highlight>
                  <a:srgbClr val="FFFFFF"/>
                </a:highlight>
              </a:rPr>
              <a:t>Innovation and problem solving</a:t>
            </a:r>
            <a:endParaRPr sz="2377" dirty="0">
              <a:solidFill>
                <a:srgbClr val="111111"/>
              </a:solidFill>
              <a:highlight>
                <a:srgbClr val="FFFFFF"/>
              </a:highlight>
            </a:endParaRPr>
          </a:p>
          <a:p>
            <a:pPr indent="-455766">
              <a:buClr>
                <a:srgbClr val="111111"/>
              </a:buClr>
              <a:buSzPts val="1783"/>
            </a:pPr>
            <a:r>
              <a:rPr lang="en-GB" sz="2377" dirty="0">
                <a:solidFill>
                  <a:srgbClr val="111111"/>
                </a:solidFill>
                <a:highlight>
                  <a:srgbClr val="FFFFFF"/>
                </a:highlight>
              </a:rPr>
              <a:t>Communication</a:t>
            </a:r>
            <a:endParaRPr sz="2377" dirty="0">
              <a:solidFill>
                <a:srgbClr val="111111"/>
              </a:solidFill>
              <a:highlight>
                <a:srgbClr val="FFFFFF"/>
              </a:highlight>
            </a:endParaRPr>
          </a:p>
          <a:p>
            <a:pPr indent="-455766">
              <a:buClr>
                <a:srgbClr val="111111"/>
              </a:buClr>
              <a:buSzPts val="1783"/>
            </a:pPr>
            <a:r>
              <a:rPr lang="en-GB" sz="2377" dirty="0">
                <a:solidFill>
                  <a:srgbClr val="111111"/>
                </a:solidFill>
                <a:highlight>
                  <a:srgbClr val="FFFFFF"/>
                </a:highlight>
              </a:rPr>
              <a:t>Statistics</a:t>
            </a:r>
            <a:endParaRPr sz="2377" dirty="0">
              <a:solidFill>
                <a:srgbClr val="111111"/>
              </a:solidFill>
              <a:highlight>
                <a:srgbClr val="FFFFFF"/>
              </a:highlight>
            </a:endParaRPr>
          </a:p>
          <a:p>
            <a:pPr marL="0" indent="0">
              <a:spcBef>
                <a:spcPts val="3067"/>
              </a:spcBef>
              <a:spcAft>
                <a:spcPts val="1600"/>
              </a:spcAft>
              <a:buNone/>
            </a:pPr>
            <a:endParaRPr dirty="0"/>
          </a:p>
        </p:txBody>
      </p:sp>
      <p:sp>
        <p:nvSpPr>
          <p:cNvPr id="2" name="Slide Number Placeholder 1">
            <a:extLst>
              <a:ext uri="{FF2B5EF4-FFF2-40B4-BE49-F238E27FC236}">
                <a16:creationId xmlns:a16="http://schemas.microsoft.com/office/drawing/2014/main" id="{E19025BE-03FC-7A72-0361-776266C6531C}"/>
              </a:ext>
            </a:extLst>
          </p:cNvPr>
          <p:cNvSpPr>
            <a:spLocks noGrp="1"/>
          </p:cNvSpPr>
          <p:nvPr>
            <p:ph type="sldNum" idx="12"/>
          </p:nvPr>
        </p:nvSpPr>
        <p:spPr>
          <a:xfrm>
            <a:off x="10565091" y="6248103"/>
            <a:ext cx="731600" cy="524800"/>
          </a:xfrm>
        </p:spPr>
        <p:txBody>
          <a:bodyPr/>
          <a:lstStyle/>
          <a:p>
            <a:fld id="{00000000-1234-1234-1234-123412341234}" type="slidenum">
              <a:rPr lang="en-GB" smtClean="0"/>
              <a:pPr/>
              <a:t>7</a:t>
            </a:fld>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171760" y="1324887"/>
            <a:ext cx="11360800" cy="763600"/>
          </a:xfrm>
          <a:prstGeom prst="rect">
            <a:avLst/>
          </a:prstGeom>
        </p:spPr>
        <p:txBody>
          <a:bodyPr spcFirstLastPara="1" vert="horz" wrap="square" lIns="121900" tIns="121900" rIns="121900" bIns="121900" rtlCol="0" anchor="t" anchorCtr="0">
            <a:normAutofit fontScale="90000"/>
          </a:bodyPr>
          <a:lstStyle/>
          <a:p>
            <a:r>
              <a:rPr lang="en-GB" dirty="0"/>
              <a:t>Variables</a:t>
            </a:r>
            <a:endParaRPr dirty="0"/>
          </a:p>
        </p:txBody>
      </p:sp>
      <p:sp>
        <p:nvSpPr>
          <p:cNvPr id="87" name="Google Shape;87;p18"/>
          <p:cNvSpPr txBox="1">
            <a:spLocks noGrp="1"/>
          </p:cNvSpPr>
          <p:nvPr>
            <p:ph type="body" idx="1"/>
          </p:nvPr>
        </p:nvSpPr>
        <p:spPr>
          <a:xfrm>
            <a:off x="415600" y="2302800"/>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r>
              <a:rPr lang="en-GB" b="1" dirty="0">
                <a:solidFill>
                  <a:schemeClr val="dk1"/>
                </a:solidFill>
              </a:rPr>
              <a:t>A variable</a:t>
            </a:r>
            <a:r>
              <a:rPr lang="en-GB" dirty="0">
                <a:solidFill>
                  <a:schemeClr val="dk1"/>
                </a:solidFill>
              </a:rPr>
              <a:t> is </a:t>
            </a:r>
            <a:r>
              <a:rPr lang="en-GB" dirty="0">
                <a:solidFill>
                  <a:schemeClr val="dk1"/>
                </a:solidFill>
                <a:highlight>
                  <a:schemeClr val="accent4"/>
                </a:highlight>
              </a:rPr>
              <a:t>any characteristics, number, or quantity that can be measured or counted</a:t>
            </a:r>
            <a:r>
              <a:rPr lang="en-GB" dirty="0">
                <a:solidFill>
                  <a:schemeClr val="dk1"/>
                </a:solidFill>
              </a:rPr>
              <a:t>. </a:t>
            </a:r>
            <a:endParaRPr lang="ar-EG" dirty="0">
              <a:solidFill>
                <a:schemeClr val="dk1"/>
              </a:solidFill>
            </a:endParaRPr>
          </a:p>
          <a:p>
            <a:pPr marL="0" indent="0">
              <a:spcAft>
                <a:spcPts val="1600"/>
              </a:spcAft>
              <a:buNone/>
            </a:pPr>
            <a:r>
              <a:rPr lang="en-GB" dirty="0">
                <a:solidFill>
                  <a:schemeClr val="dk1"/>
                </a:solidFill>
              </a:rPr>
              <a:t>A variable may also be called a data item. </a:t>
            </a:r>
            <a:r>
              <a:rPr lang="en-GB" dirty="0">
                <a:solidFill>
                  <a:schemeClr val="dk1"/>
                </a:solidFill>
                <a:highlight>
                  <a:schemeClr val="accent4"/>
                </a:highlight>
              </a:rPr>
              <a:t>Age, sex, business income and expenses, country of birth, capital expenditure </a:t>
            </a:r>
            <a:r>
              <a:rPr lang="ar-EG" dirty="0">
                <a:solidFill>
                  <a:schemeClr val="dk1"/>
                </a:solidFill>
                <a:highlight>
                  <a:schemeClr val="accent4"/>
                </a:highlight>
              </a:rPr>
              <a:t>نفقات راسماليه</a:t>
            </a:r>
            <a:r>
              <a:rPr lang="en-GB" dirty="0">
                <a:solidFill>
                  <a:schemeClr val="dk1"/>
                </a:solidFill>
                <a:highlight>
                  <a:schemeClr val="accent4"/>
                </a:highlight>
              </a:rPr>
              <a:t>, class grades, eye colour and vehicle type are examples of variables.</a:t>
            </a:r>
            <a:r>
              <a:rPr lang="en-GB" dirty="0">
                <a:solidFill>
                  <a:schemeClr val="dk1"/>
                </a:solidFill>
              </a:rPr>
              <a:t> </a:t>
            </a:r>
            <a:endParaRPr lang="ar-EG" dirty="0">
              <a:solidFill>
                <a:schemeClr val="dk1"/>
              </a:solidFill>
            </a:endParaRPr>
          </a:p>
          <a:p>
            <a:pPr marL="0" indent="0">
              <a:spcAft>
                <a:spcPts val="1600"/>
              </a:spcAft>
              <a:buNone/>
            </a:pPr>
            <a:r>
              <a:rPr lang="en-GB" dirty="0">
                <a:solidFill>
                  <a:schemeClr val="dk1"/>
                </a:solidFill>
              </a:rPr>
              <a:t>It is called a variable because the value may vary between data units in a population, and may change in value over time.</a:t>
            </a:r>
            <a:endParaRPr dirty="0">
              <a:solidFill>
                <a:schemeClr val="dk1"/>
              </a:solidFill>
            </a:endParaRPr>
          </a:p>
        </p:txBody>
      </p:sp>
      <p:sp>
        <p:nvSpPr>
          <p:cNvPr id="2" name="Slide Number Placeholder 1">
            <a:extLst>
              <a:ext uri="{FF2B5EF4-FFF2-40B4-BE49-F238E27FC236}">
                <a16:creationId xmlns:a16="http://schemas.microsoft.com/office/drawing/2014/main" id="{073DCC7F-3AEF-49AD-4543-B2E3D7883DC0}"/>
              </a:ext>
            </a:extLst>
          </p:cNvPr>
          <p:cNvSpPr>
            <a:spLocks noGrp="1"/>
          </p:cNvSpPr>
          <p:nvPr>
            <p:ph type="sldNum" idx="12"/>
          </p:nvPr>
        </p:nvSpPr>
        <p:spPr>
          <a:xfrm>
            <a:off x="10636211" y="6333200"/>
            <a:ext cx="731600" cy="524800"/>
          </a:xfrm>
        </p:spPr>
        <p:txBody>
          <a:bodyPr/>
          <a:lstStyle/>
          <a:p>
            <a:fld id="{00000000-1234-1234-1234-123412341234}" type="slidenum">
              <a:rPr lang="en-GB" smtClean="0"/>
              <a:pPr/>
              <a:t>8</a:t>
            </a:fld>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9"/>
          <p:cNvPicPr preferRelativeResize="0"/>
          <p:nvPr/>
        </p:nvPicPr>
        <p:blipFill>
          <a:blip r:embed="rId3">
            <a:alphaModFix/>
          </a:blip>
          <a:stretch>
            <a:fillRect/>
          </a:stretch>
        </p:blipFill>
        <p:spPr>
          <a:xfrm>
            <a:off x="2336800" y="1295400"/>
            <a:ext cx="7518400" cy="4267200"/>
          </a:xfrm>
          <a:prstGeom prst="rect">
            <a:avLst/>
          </a:prstGeom>
          <a:noFill/>
          <a:ln>
            <a:noFill/>
          </a:ln>
        </p:spPr>
      </p:pic>
      <p:sp>
        <p:nvSpPr>
          <p:cNvPr id="2" name="Slide Number Placeholder 1">
            <a:extLst>
              <a:ext uri="{FF2B5EF4-FFF2-40B4-BE49-F238E27FC236}">
                <a16:creationId xmlns:a16="http://schemas.microsoft.com/office/drawing/2014/main" id="{968377E5-7A2D-2F26-4CA7-51BF35EB9472}"/>
              </a:ext>
            </a:extLst>
          </p:cNvPr>
          <p:cNvSpPr>
            <a:spLocks noGrp="1"/>
          </p:cNvSpPr>
          <p:nvPr>
            <p:ph type="sldNum" idx="12"/>
          </p:nvPr>
        </p:nvSpPr>
        <p:spPr/>
        <p:txBody>
          <a:bodyPr/>
          <a:lstStyle/>
          <a:p>
            <a:fld id="{00000000-1234-1234-1234-123412341234}" type="slidenum">
              <a:rPr lang="en-GB" smtClean="0"/>
              <a:pPr/>
              <a:t>9</a:t>
            </a:fld>
            <a:endParaRPr lang="en-GB"/>
          </a:p>
        </p:txBody>
      </p:sp>
      <p:sp>
        <p:nvSpPr>
          <p:cNvPr id="3" name="TextBox 2">
            <a:extLst>
              <a:ext uri="{FF2B5EF4-FFF2-40B4-BE49-F238E27FC236}">
                <a16:creationId xmlns:a16="http://schemas.microsoft.com/office/drawing/2014/main" id="{D2D6A664-5F2E-4652-A9C0-4C67B69DA320}"/>
              </a:ext>
            </a:extLst>
          </p:cNvPr>
          <p:cNvSpPr txBox="1"/>
          <p:nvPr/>
        </p:nvSpPr>
        <p:spPr>
          <a:xfrm>
            <a:off x="6667500" y="5562600"/>
            <a:ext cx="1028700" cy="369332"/>
          </a:xfrm>
          <a:prstGeom prst="rect">
            <a:avLst/>
          </a:prstGeom>
          <a:noFill/>
        </p:spPr>
        <p:txBody>
          <a:bodyPr wrap="square" rtlCol="0">
            <a:spAutoFit/>
          </a:bodyPr>
          <a:lstStyle/>
          <a:p>
            <a:r>
              <a:rPr lang="en-US" dirty="0"/>
              <a:t>A, B, 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80320" y="999767"/>
            <a:ext cx="11360800" cy="763600"/>
          </a:xfrm>
          <a:prstGeom prst="rect">
            <a:avLst/>
          </a:prstGeom>
        </p:spPr>
        <p:txBody>
          <a:bodyPr spcFirstLastPara="1" vert="horz" wrap="square" lIns="121900" tIns="121900" rIns="121900" bIns="121900" rtlCol="0" anchor="t" anchorCtr="0">
            <a:normAutofit fontScale="90000"/>
          </a:bodyPr>
          <a:lstStyle/>
          <a:p>
            <a:r>
              <a:rPr lang="en-GB" dirty="0"/>
              <a:t>Types of Variables</a:t>
            </a:r>
            <a:endParaRPr dirty="0"/>
          </a:p>
        </p:txBody>
      </p:sp>
      <p:sp>
        <p:nvSpPr>
          <p:cNvPr id="98" name="Google Shape;98;p20"/>
          <p:cNvSpPr txBox="1">
            <a:spLocks noGrp="1"/>
          </p:cNvSpPr>
          <p:nvPr>
            <p:ph type="body" idx="1"/>
          </p:nvPr>
        </p:nvSpPr>
        <p:spPr>
          <a:xfrm>
            <a:off x="253040" y="1902393"/>
            <a:ext cx="11360800" cy="4801200"/>
          </a:xfrm>
          <a:prstGeom prst="rect">
            <a:avLst/>
          </a:prstGeom>
        </p:spPr>
        <p:txBody>
          <a:bodyPr spcFirstLastPara="1" vert="horz" wrap="square" lIns="121900" tIns="121900" rIns="121900" bIns="121900" rtlCol="0" anchor="t" anchorCtr="0">
            <a:normAutofit/>
          </a:bodyPr>
          <a:lstStyle/>
          <a:p>
            <a:pPr marL="0" indent="0">
              <a:buClr>
                <a:schemeClr val="dk1"/>
              </a:buClr>
              <a:buSzPct val="61111"/>
              <a:buNone/>
            </a:pPr>
            <a:r>
              <a:rPr lang="en-GB" sz="2000" b="1" dirty="0"/>
              <a:t>Numeric variables</a:t>
            </a:r>
            <a:r>
              <a:rPr lang="en-GB" sz="2000" dirty="0"/>
              <a:t> have values that describe a measurable quantity as a number, like 'how many' or 'how much'. Therefore, numeric variables are quantitative variables.</a:t>
            </a:r>
            <a:endParaRPr sz="2000" dirty="0"/>
          </a:p>
          <a:p>
            <a:pPr marL="0" indent="0">
              <a:spcBef>
                <a:spcPts val="1600"/>
              </a:spcBef>
              <a:buClr>
                <a:schemeClr val="dk1"/>
              </a:buClr>
              <a:buSzPct val="61111"/>
              <a:buNone/>
            </a:pPr>
            <a:r>
              <a:rPr lang="en-GB" sz="2000" dirty="0"/>
              <a:t>Numeric variables may be further described as either </a:t>
            </a:r>
            <a:r>
              <a:rPr lang="en-GB" sz="2000" b="1" dirty="0"/>
              <a:t>continuous or discrete</a:t>
            </a:r>
            <a:r>
              <a:rPr lang="en-GB" sz="2000" dirty="0"/>
              <a:t>:</a:t>
            </a:r>
            <a:endParaRPr sz="2000" dirty="0"/>
          </a:p>
          <a:p>
            <a:pPr marL="0" indent="0">
              <a:spcBef>
                <a:spcPts val="1600"/>
              </a:spcBef>
              <a:buNone/>
            </a:pPr>
            <a:r>
              <a:rPr lang="en-GB" sz="2000" b="1" dirty="0"/>
              <a:t>A continuous variable is a numeric variable</a:t>
            </a:r>
            <a:r>
              <a:rPr lang="en-GB" sz="2000" dirty="0"/>
              <a:t>. Observations can take any value between a certain set of real numbers. The value given to an observation for a continuous variable can include values as small as the instrument of measurement allows. Examples of continuous variables include </a:t>
            </a:r>
            <a:r>
              <a:rPr lang="en-GB" sz="2000" dirty="0">
                <a:solidFill>
                  <a:srgbClr val="FF0000"/>
                </a:solidFill>
              </a:rPr>
              <a:t>height, time, age, and temperature</a:t>
            </a:r>
            <a:r>
              <a:rPr lang="en-GB" sz="2000" dirty="0"/>
              <a:t>.</a:t>
            </a:r>
            <a:endParaRPr sz="2000" dirty="0"/>
          </a:p>
          <a:p>
            <a:pPr marL="0" indent="0">
              <a:spcBef>
                <a:spcPts val="1600"/>
              </a:spcBef>
              <a:buClr>
                <a:schemeClr val="dk1"/>
              </a:buClr>
              <a:buSzPct val="61111"/>
              <a:buNone/>
            </a:pPr>
            <a:r>
              <a:rPr lang="en-GB" sz="2000" b="1" dirty="0"/>
              <a:t>A discrete variable is a numeric variable</a:t>
            </a:r>
            <a:r>
              <a:rPr lang="en-GB" sz="2000" dirty="0"/>
              <a:t>. Observations can take a value based on a count from a set of distinct whole values. A discrete variable cannot take the value of a fraction between one value and the next closest value. Examples of discrete variables include the number of registered cars, number of business locations, and number of children in a family, all of </a:t>
            </a:r>
            <a:r>
              <a:rPr lang="en-GB" sz="2000" dirty="0" err="1"/>
              <a:t>of</a:t>
            </a:r>
            <a:r>
              <a:rPr lang="en-GB" sz="2000" dirty="0"/>
              <a:t> which measured as whole units (i.e. 1, 2, 3 cars).</a:t>
            </a:r>
            <a:endParaRPr sz="2000" dirty="0"/>
          </a:p>
          <a:p>
            <a:pPr marL="0" indent="0">
              <a:spcBef>
                <a:spcPts val="1600"/>
              </a:spcBef>
              <a:buClr>
                <a:schemeClr val="dk1"/>
              </a:buClr>
              <a:buSzPct val="61111"/>
              <a:buNone/>
            </a:pPr>
            <a:endParaRPr dirty="0"/>
          </a:p>
          <a:p>
            <a:pPr marL="0" indent="0">
              <a:spcBef>
                <a:spcPts val="1600"/>
              </a:spcBef>
              <a:spcAft>
                <a:spcPts val="1600"/>
              </a:spcAft>
              <a:buNone/>
            </a:pPr>
            <a:endParaRPr dirty="0"/>
          </a:p>
        </p:txBody>
      </p:sp>
      <p:sp>
        <p:nvSpPr>
          <p:cNvPr id="2" name="Slide Number Placeholder 1">
            <a:extLst>
              <a:ext uri="{FF2B5EF4-FFF2-40B4-BE49-F238E27FC236}">
                <a16:creationId xmlns:a16="http://schemas.microsoft.com/office/drawing/2014/main" id="{AFD46CA1-21C1-CDD3-A36F-03017B114591}"/>
              </a:ext>
            </a:extLst>
          </p:cNvPr>
          <p:cNvSpPr>
            <a:spLocks noGrp="1"/>
          </p:cNvSpPr>
          <p:nvPr>
            <p:ph type="sldNum" idx="12"/>
          </p:nvPr>
        </p:nvSpPr>
        <p:spPr>
          <a:xfrm>
            <a:off x="10709520" y="6317819"/>
            <a:ext cx="731600" cy="524800"/>
          </a:xfrm>
        </p:spPr>
        <p:txBody>
          <a:bodyPr/>
          <a:lstStyle/>
          <a:p>
            <a:fld id="{00000000-1234-1234-1234-123412341234}" type="slidenum">
              <a:rPr lang="en-GB" smtClean="0"/>
              <a:pPr/>
              <a:t>10</a:t>
            </a:fld>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131120" y="1120186"/>
            <a:ext cx="11360800" cy="763600"/>
          </a:xfrm>
          <a:prstGeom prst="rect">
            <a:avLst/>
          </a:prstGeom>
        </p:spPr>
        <p:txBody>
          <a:bodyPr spcFirstLastPara="1" vert="horz" wrap="square" lIns="121900" tIns="121900" rIns="121900" bIns="121900" rtlCol="0" anchor="t" anchorCtr="0">
            <a:normAutofit fontScale="90000"/>
          </a:bodyPr>
          <a:lstStyle/>
          <a:p>
            <a:r>
              <a:rPr lang="en-GB" dirty="0"/>
              <a:t>Types of Variables</a:t>
            </a:r>
            <a:endParaRPr dirty="0"/>
          </a:p>
        </p:txBody>
      </p:sp>
      <p:sp>
        <p:nvSpPr>
          <p:cNvPr id="104" name="Google Shape;104;p21"/>
          <p:cNvSpPr txBox="1">
            <a:spLocks noGrp="1"/>
          </p:cNvSpPr>
          <p:nvPr>
            <p:ph type="body" idx="1"/>
          </p:nvPr>
        </p:nvSpPr>
        <p:spPr>
          <a:xfrm>
            <a:off x="415600" y="1902393"/>
            <a:ext cx="11360800" cy="4555200"/>
          </a:xfrm>
          <a:prstGeom prst="rect">
            <a:avLst/>
          </a:prstGeom>
        </p:spPr>
        <p:txBody>
          <a:bodyPr spcFirstLastPara="1" vert="horz" wrap="square" lIns="121900" tIns="121900" rIns="121900" bIns="121900" rtlCol="0" anchor="t" anchorCtr="0">
            <a:normAutofit fontScale="92500" lnSpcReduction="20000"/>
          </a:bodyPr>
          <a:lstStyle/>
          <a:p>
            <a:pPr marL="0" indent="0">
              <a:buClr>
                <a:schemeClr val="dk1"/>
              </a:buClr>
              <a:buSzPct val="61111"/>
              <a:buNone/>
            </a:pPr>
            <a:r>
              <a:rPr lang="en-GB" sz="2400" b="1" dirty="0"/>
              <a:t>Categorical variables</a:t>
            </a:r>
            <a:r>
              <a:rPr lang="en-GB" sz="2400" dirty="0"/>
              <a:t> have values that describe a 'quality' or 'characteristic' of a data unit, like 'what type' or 'which category'. Categorical variables fall into mutually exclusive (in one category or in another) and exhaustive (include all possible options) categories. Therefore, categorical variables are qualitative variables and tend to be represented by a non-numeric value.</a:t>
            </a:r>
            <a:endParaRPr sz="2400" dirty="0"/>
          </a:p>
          <a:p>
            <a:pPr marL="0" indent="0">
              <a:spcBef>
                <a:spcPts val="1600"/>
              </a:spcBef>
              <a:buClr>
                <a:schemeClr val="dk1"/>
              </a:buClr>
              <a:buSzPct val="61111"/>
              <a:buNone/>
            </a:pPr>
            <a:r>
              <a:rPr lang="en-GB" sz="2400" dirty="0"/>
              <a:t>Categorical variables may be further described as </a:t>
            </a:r>
            <a:r>
              <a:rPr lang="en-GB" sz="2400" b="1" dirty="0"/>
              <a:t>ordinal </a:t>
            </a:r>
            <a:r>
              <a:rPr lang="en-GB" sz="2400" dirty="0"/>
              <a:t>or </a:t>
            </a:r>
            <a:r>
              <a:rPr lang="en-GB" sz="2400" b="1" dirty="0"/>
              <a:t>nominal</a:t>
            </a:r>
            <a:r>
              <a:rPr lang="en-GB" sz="2400" dirty="0"/>
              <a:t>:</a:t>
            </a:r>
            <a:endParaRPr sz="2400" dirty="0"/>
          </a:p>
          <a:p>
            <a:pPr marL="0" indent="0">
              <a:spcBef>
                <a:spcPts val="1600"/>
              </a:spcBef>
              <a:buClr>
                <a:schemeClr val="dk1"/>
              </a:buClr>
              <a:buSzPct val="61111"/>
              <a:buNone/>
            </a:pPr>
            <a:r>
              <a:rPr lang="en-GB" sz="2400" b="1" dirty="0"/>
              <a:t>An ordinal variable</a:t>
            </a:r>
            <a:r>
              <a:rPr lang="en-GB" sz="2400" dirty="0"/>
              <a:t> is a categorical variable. Observations can take a value that can be logically ordered or ranked. The categories associated with ordinal variables can be ranked higher or lower than another, but do not necessarily establish a numeric difference between each category. Examples of ordinal categorical variables include academic grades </a:t>
            </a:r>
            <a:r>
              <a:rPr lang="en-GB" sz="2400" dirty="0">
                <a:solidFill>
                  <a:srgbClr val="FF0000"/>
                </a:solidFill>
              </a:rPr>
              <a:t>(i.e. A, B, C), clothing size (i.e. small, medium, large, extra large) and attitudes (i.e. strongly agree, agree, disagree, strongly disagree).</a:t>
            </a:r>
            <a:endParaRPr sz="2400" dirty="0">
              <a:solidFill>
                <a:srgbClr val="FF0000"/>
              </a:solidFill>
            </a:endParaRPr>
          </a:p>
          <a:p>
            <a:pPr marL="0" indent="0">
              <a:spcBef>
                <a:spcPts val="1600"/>
              </a:spcBef>
              <a:buClr>
                <a:schemeClr val="dk1"/>
              </a:buClr>
              <a:buSzPct val="61111"/>
              <a:buNone/>
            </a:pPr>
            <a:r>
              <a:rPr lang="en-GB" sz="2400" b="1" dirty="0"/>
              <a:t>A nominal variable</a:t>
            </a:r>
            <a:r>
              <a:rPr lang="en-GB" sz="2400" dirty="0"/>
              <a:t> is a categorical variable. </a:t>
            </a:r>
            <a:r>
              <a:rPr lang="en-GB" sz="2400" dirty="0">
                <a:solidFill>
                  <a:srgbClr val="FF0000"/>
                </a:solidFill>
              </a:rPr>
              <a:t>Observations can take a value that is not able to be organised in a logical sequence</a:t>
            </a:r>
            <a:r>
              <a:rPr lang="en-GB" sz="2400" dirty="0"/>
              <a:t>. Examples of nominal categorical variables include </a:t>
            </a:r>
            <a:r>
              <a:rPr lang="en-GB" sz="2400" dirty="0">
                <a:solidFill>
                  <a:srgbClr val="FF0000"/>
                </a:solidFill>
              </a:rPr>
              <a:t>sex, business type, eye colour, religion and brand</a:t>
            </a:r>
            <a:r>
              <a:rPr lang="en-GB" sz="2400" dirty="0"/>
              <a:t>.</a:t>
            </a:r>
            <a:endParaRPr sz="2400" dirty="0"/>
          </a:p>
          <a:p>
            <a:pPr marL="0" indent="0">
              <a:spcBef>
                <a:spcPts val="1600"/>
              </a:spcBef>
              <a:spcAft>
                <a:spcPts val="1600"/>
              </a:spcAft>
              <a:buNone/>
            </a:pPr>
            <a:endParaRPr dirty="0"/>
          </a:p>
        </p:txBody>
      </p:sp>
      <p:sp>
        <p:nvSpPr>
          <p:cNvPr id="2" name="Slide Number Placeholder 1">
            <a:extLst>
              <a:ext uri="{FF2B5EF4-FFF2-40B4-BE49-F238E27FC236}">
                <a16:creationId xmlns:a16="http://schemas.microsoft.com/office/drawing/2014/main" id="{C49552CE-4AD8-2C74-696E-A140E5A642EE}"/>
              </a:ext>
            </a:extLst>
          </p:cNvPr>
          <p:cNvSpPr>
            <a:spLocks noGrp="1"/>
          </p:cNvSpPr>
          <p:nvPr>
            <p:ph type="sldNum" idx="12"/>
          </p:nvPr>
        </p:nvSpPr>
        <p:spPr>
          <a:xfrm>
            <a:off x="10646371" y="6333200"/>
            <a:ext cx="731600" cy="524800"/>
          </a:xfrm>
        </p:spPr>
        <p:txBody>
          <a:bodyPr/>
          <a:lstStyle/>
          <a:p>
            <a:fld id="{00000000-1234-1234-1234-123412341234}" type="slidenum">
              <a:rPr lang="en-GB" smtClean="0"/>
              <a:pPr/>
              <a:t>11</a:t>
            </a:fld>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0" y="1159112"/>
            <a:ext cx="11360800" cy="763600"/>
          </a:xfrm>
          <a:prstGeom prst="rect">
            <a:avLst/>
          </a:prstGeom>
        </p:spPr>
        <p:txBody>
          <a:bodyPr spcFirstLastPara="1" vert="horz" wrap="square" lIns="121900" tIns="121900" rIns="121900" bIns="121900" rtlCol="0" anchor="t" anchorCtr="0">
            <a:normAutofit fontScale="90000"/>
          </a:bodyPr>
          <a:lstStyle/>
          <a:p>
            <a:r>
              <a:rPr lang="en-GB" dirty="0"/>
              <a:t>Working with Matrices</a:t>
            </a:r>
            <a:endParaRPr dirty="0"/>
          </a:p>
        </p:txBody>
      </p:sp>
      <p:sp>
        <p:nvSpPr>
          <p:cNvPr id="110" name="Google Shape;110;p22"/>
          <p:cNvSpPr txBox="1">
            <a:spLocks noGrp="1"/>
          </p:cNvSpPr>
          <p:nvPr>
            <p:ph type="body" idx="1"/>
          </p:nvPr>
        </p:nvSpPr>
        <p:spPr>
          <a:xfrm>
            <a:off x="415600" y="1922712"/>
            <a:ext cx="11360800" cy="4569527"/>
          </a:xfrm>
          <a:prstGeom prst="rect">
            <a:avLst/>
          </a:prstGeom>
        </p:spPr>
        <p:txBody>
          <a:bodyPr spcFirstLastPara="1" vert="horz" wrap="square" lIns="121900" tIns="121900" rIns="121900" bIns="121900" rtlCol="0" anchor="t" anchorCtr="0">
            <a:normAutofit/>
          </a:bodyPr>
          <a:lstStyle/>
          <a:p>
            <a:pPr marL="0" indent="0">
              <a:buNone/>
            </a:pPr>
            <a:r>
              <a:rPr lang="en-GB" sz="2000" b="1" dirty="0"/>
              <a:t>matrix</a:t>
            </a:r>
            <a:r>
              <a:rPr lang="en-GB" sz="2000" dirty="0"/>
              <a:t>, a set of numbers arranged in rows and columns so as to form a rectangular array. The numbers are called the elements, or entries, of the matrix.</a:t>
            </a:r>
            <a:endParaRPr sz="2000" dirty="0"/>
          </a:p>
          <a:p>
            <a:pPr marL="0" indent="0">
              <a:spcBef>
                <a:spcPts val="1600"/>
              </a:spcBef>
              <a:spcAft>
                <a:spcPts val="1600"/>
              </a:spcAft>
              <a:buNone/>
            </a:pPr>
            <a:endParaRPr dirty="0"/>
          </a:p>
        </p:txBody>
      </p:sp>
      <p:pic>
        <p:nvPicPr>
          <p:cNvPr id="111" name="Google Shape;111;p22"/>
          <p:cNvPicPr preferRelativeResize="0"/>
          <p:nvPr/>
        </p:nvPicPr>
        <p:blipFill>
          <a:blip r:embed="rId3">
            <a:alphaModFix/>
          </a:blip>
          <a:stretch>
            <a:fillRect/>
          </a:stretch>
        </p:blipFill>
        <p:spPr>
          <a:xfrm>
            <a:off x="1854197" y="2954332"/>
            <a:ext cx="8483600" cy="3378233"/>
          </a:xfrm>
          <a:prstGeom prst="rect">
            <a:avLst/>
          </a:prstGeom>
          <a:noFill/>
          <a:ln>
            <a:noFill/>
          </a:ln>
        </p:spPr>
      </p:pic>
      <p:sp>
        <p:nvSpPr>
          <p:cNvPr id="2" name="Slide Number Placeholder 1">
            <a:extLst>
              <a:ext uri="{FF2B5EF4-FFF2-40B4-BE49-F238E27FC236}">
                <a16:creationId xmlns:a16="http://schemas.microsoft.com/office/drawing/2014/main" id="{93D95506-626E-DD85-C400-E4FD06EF416C}"/>
              </a:ext>
            </a:extLst>
          </p:cNvPr>
          <p:cNvSpPr>
            <a:spLocks noGrp="1"/>
          </p:cNvSpPr>
          <p:nvPr>
            <p:ph type="sldNum" idx="12"/>
          </p:nvPr>
        </p:nvSpPr>
        <p:spPr>
          <a:xfrm>
            <a:off x="10753397" y="6229839"/>
            <a:ext cx="731600" cy="524800"/>
          </a:xfrm>
        </p:spPr>
        <p:txBody>
          <a:bodyPr/>
          <a:lstStyle/>
          <a:p>
            <a:fld id="{00000000-1234-1234-1234-123412341234}" type="slidenum">
              <a:rPr lang="en-GB" smtClean="0"/>
              <a:pPr/>
              <a:t>12</a:t>
            </a:fld>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3"/>
          <p:cNvSpPr txBox="1">
            <a:spLocks noGrp="1"/>
          </p:cNvSpPr>
          <p:nvPr>
            <p:ph type="title"/>
          </p:nvPr>
        </p:nvSpPr>
        <p:spPr>
          <a:xfrm>
            <a:off x="314000" y="1335047"/>
            <a:ext cx="11360800" cy="763600"/>
          </a:xfrm>
          <a:prstGeom prst="rect">
            <a:avLst/>
          </a:prstGeom>
        </p:spPr>
        <p:txBody>
          <a:bodyPr spcFirstLastPara="1" vert="horz" wrap="square" lIns="121900" tIns="121900" rIns="121900" bIns="121900" rtlCol="0" anchor="t" anchorCtr="0">
            <a:normAutofit fontScale="90000"/>
          </a:bodyPr>
          <a:lstStyle/>
          <a:p>
            <a:r>
              <a:rPr lang="en-GB" dirty="0"/>
              <a:t>Working with Matrices</a:t>
            </a:r>
            <a:endParaRPr dirty="0"/>
          </a:p>
        </p:txBody>
      </p:sp>
      <p:pic>
        <p:nvPicPr>
          <p:cNvPr id="117" name="Google Shape;117;p23"/>
          <p:cNvPicPr preferRelativeResize="0"/>
          <p:nvPr/>
        </p:nvPicPr>
        <p:blipFill>
          <a:blip r:embed="rId3">
            <a:alphaModFix/>
          </a:blip>
          <a:stretch>
            <a:fillRect/>
          </a:stretch>
        </p:blipFill>
        <p:spPr>
          <a:xfrm>
            <a:off x="7515200" y="3268651"/>
            <a:ext cx="3175000" cy="1663700"/>
          </a:xfrm>
          <a:prstGeom prst="rect">
            <a:avLst/>
          </a:prstGeom>
          <a:noFill/>
          <a:ln>
            <a:noFill/>
          </a:ln>
        </p:spPr>
      </p:pic>
      <p:pic>
        <p:nvPicPr>
          <p:cNvPr id="118" name="Google Shape;118;p23"/>
          <p:cNvPicPr preferRelativeResize="0"/>
          <p:nvPr/>
        </p:nvPicPr>
        <p:blipFill>
          <a:blip r:embed="rId4">
            <a:alphaModFix/>
          </a:blip>
          <a:stretch>
            <a:fillRect/>
          </a:stretch>
        </p:blipFill>
        <p:spPr>
          <a:xfrm>
            <a:off x="1371600" y="2561121"/>
            <a:ext cx="3767168" cy="3078800"/>
          </a:xfrm>
          <a:prstGeom prst="rect">
            <a:avLst/>
          </a:prstGeom>
          <a:noFill/>
          <a:ln>
            <a:noFill/>
          </a:ln>
        </p:spPr>
      </p:pic>
      <p:sp>
        <p:nvSpPr>
          <p:cNvPr id="2" name="Slide Number Placeholder 1">
            <a:extLst>
              <a:ext uri="{FF2B5EF4-FFF2-40B4-BE49-F238E27FC236}">
                <a16:creationId xmlns:a16="http://schemas.microsoft.com/office/drawing/2014/main" id="{4FB82833-09FC-0F35-6D2B-46765AD927BC}"/>
              </a:ext>
            </a:extLst>
          </p:cNvPr>
          <p:cNvSpPr>
            <a:spLocks noGrp="1"/>
          </p:cNvSpPr>
          <p:nvPr>
            <p:ph type="sldNum" idx="12"/>
          </p:nvPr>
        </p:nvSpPr>
        <p:spPr>
          <a:xfrm>
            <a:off x="10690200" y="6237943"/>
            <a:ext cx="731600" cy="524800"/>
          </a:xfrm>
        </p:spPr>
        <p:txBody>
          <a:bodyPr/>
          <a:lstStyle/>
          <a:p>
            <a:fld id="{00000000-1234-1234-1234-123412341234}" type="slidenum">
              <a:rPr lang="en-GB" smtClean="0"/>
              <a:pPr/>
              <a:t>13</a:t>
            </a:fld>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4"/>
          <p:cNvSpPr txBox="1">
            <a:spLocks noGrp="1"/>
          </p:cNvSpPr>
          <p:nvPr>
            <p:ph type="title"/>
          </p:nvPr>
        </p:nvSpPr>
        <p:spPr>
          <a:xfrm>
            <a:off x="415600" y="1202967"/>
            <a:ext cx="11360800" cy="763600"/>
          </a:xfrm>
          <a:prstGeom prst="rect">
            <a:avLst/>
          </a:prstGeom>
        </p:spPr>
        <p:txBody>
          <a:bodyPr spcFirstLastPara="1" vert="horz" wrap="square" lIns="121900" tIns="121900" rIns="121900" bIns="121900" rtlCol="0" anchor="t" anchorCtr="0">
            <a:normAutofit fontScale="90000"/>
          </a:bodyPr>
          <a:lstStyle/>
          <a:p>
            <a:r>
              <a:rPr lang="en-GB" dirty="0"/>
              <a:t>Matrices Addition / Subtraction</a:t>
            </a:r>
            <a:endParaRPr dirty="0"/>
          </a:p>
        </p:txBody>
      </p:sp>
      <p:pic>
        <p:nvPicPr>
          <p:cNvPr id="124" name="Google Shape;124;p24"/>
          <p:cNvPicPr preferRelativeResize="0"/>
          <p:nvPr/>
        </p:nvPicPr>
        <p:blipFill>
          <a:blip r:embed="rId3">
            <a:alphaModFix/>
          </a:blip>
          <a:stretch>
            <a:fillRect/>
          </a:stretch>
        </p:blipFill>
        <p:spPr>
          <a:xfrm>
            <a:off x="3873500" y="2178051"/>
            <a:ext cx="4445000" cy="2501900"/>
          </a:xfrm>
          <a:prstGeom prst="rect">
            <a:avLst/>
          </a:prstGeom>
          <a:noFill/>
          <a:ln>
            <a:noFill/>
          </a:ln>
        </p:spPr>
      </p:pic>
      <p:sp>
        <p:nvSpPr>
          <p:cNvPr id="2" name="Slide Number Placeholder 1">
            <a:extLst>
              <a:ext uri="{FF2B5EF4-FFF2-40B4-BE49-F238E27FC236}">
                <a16:creationId xmlns:a16="http://schemas.microsoft.com/office/drawing/2014/main" id="{E64BEAC6-110C-E0BD-CD58-EFDC0A80712F}"/>
              </a:ext>
            </a:extLst>
          </p:cNvPr>
          <p:cNvSpPr>
            <a:spLocks noGrp="1"/>
          </p:cNvSpPr>
          <p:nvPr>
            <p:ph type="sldNum" idx="12"/>
          </p:nvPr>
        </p:nvSpPr>
        <p:spPr>
          <a:xfrm>
            <a:off x="10717491" y="6237943"/>
            <a:ext cx="731600" cy="524800"/>
          </a:xfrm>
        </p:spPr>
        <p:txBody>
          <a:bodyPr/>
          <a:lstStyle/>
          <a:p>
            <a:fld id="{00000000-1234-1234-1234-123412341234}" type="slidenum">
              <a:rPr lang="en-GB" smtClean="0"/>
              <a:pPr/>
              <a:t>14</a:t>
            </a:fld>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txBox="1">
            <a:spLocks noGrp="1"/>
          </p:cNvSpPr>
          <p:nvPr>
            <p:ph type="title"/>
          </p:nvPr>
        </p:nvSpPr>
        <p:spPr>
          <a:xfrm>
            <a:off x="263200" y="1162327"/>
            <a:ext cx="11360800" cy="763600"/>
          </a:xfrm>
          <a:prstGeom prst="rect">
            <a:avLst/>
          </a:prstGeom>
        </p:spPr>
        <p:txBody>
          <a:bodyPr spcFirstLastPara="1" vert="horz" wrap="square" lIns="121900" tIns="121900" rIns="121900" bIns="121900" rtlCol="0" anchor="t" anchorCtr="0">
            <a:normAutofit fontScale="90000"/>
          </a:bodyPr>
          <a:lstStyle/>
          <a:p>
            <a:r>
              <a:rPr lang="en-GB"/>
              <a:t>Matrices Multiplication</a:t>
            </a:r>
            <a:endParaRPr/>
          </a:p>
        </p:txBody>
      </p:sp>
      <p:pic>
        <p:nvPicPr>
          <p:cNvPr id="130" name="Google Shape;130;p25"/>
          <p:cNvPicPr preferRelativeResize="0"/>
          <p:nvPr/>
        </p:nvPicPr>
        <p:blipFill>
          <a:blip r:embed="rId3">
            <a:alphaModFix/>
          </a:blip>
          <a:stretch>
            <a:fillRect/>
          </a:stretch>
        </p:blipFill>
        <p:spPr>
          <a:xfrm>
            <a:off x="2596164" y="1814934"/>
            <a:ext cx="6999669" cy="4239799"/>
          </a:xfrm>
          <a:prstGeom prst="rect">
            <a:avLst/>
          </a:prstGeom>
          <a:noFill/>
          <a:ln>
            <a:noFill/>
          </a:ln>
        </p:spPr>
      </p:pic>
      <p:sp>
        <p:nvSpPr>
          <p:cNvPr id="2" name="Slide Number Placeholder 1">
            <a:extLst>
              <a:ext uri="{FF2B5EF4-FFF2-40B4-BE49-F238E27FC236}">
                <a16:creationId xmlns:a16="http://schemas.microsoft.com/office/drawing/2014/main" id="{06E0FD03-1768-5385-B7EB-F3D83FC8321B}"/>
              </a:ext>
            </a:extLst>
          </p:cNvPr>
          <p:cNvSpPr>
            <a:spLocks noGrp="1"/>
          </p:cNvSpPr>
          <p:nvPr>
            <p:ph type="sldNum" idx="12"/>
          </p:nvPr>
        </p:nvSpPr>
        <p:spPr>
          <a:xfrm>
            <a:off x="10656531" y="6227783"/>
            <a:ext cx="731600" cy="524800"/>
          </a:xfrm>
        </p:spPr>
        <p:txBody>
          <a:bodyPr/>
          <a:lstStyle/>
          <a:p>
            <a:fld id="{00000000-1234-1234-1234-123412341234}" type="slidenum">
              <a:rPr lang="en-GB" smtClean="0"/>
              <a:pPr/>
              <a:t>15</a:t>
            </a:fld>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DCB636-4C2E-74DA-8492-8BEE449A9268}"/>
              </a:ext>
            </a:extLst>
          </p:cNvPr>
          <p:cNvSpPr>
            <a:spLocks noGrp="1"/>
          </p:cNvSpPr>
          <p:nvPr>
            <p:ph type="sldNum" idx="12"/>
          </p:nvPr>
        </p:nvSpPr>
        <p:spPr>
          <a:xfrm>
            <a:off x="10707331" y="6248103"/>
            <a:ext cx="731600" cy="524800"/>
          </a:xfrm>
        </p:spPr>
        <p:txBody>
          <a:bodyPr/>
          <a:lstStyle/>
          <a:p>
            <a:fld id="{00000000-1234-1234-1234-123412341234}" type="slidenum">
              <a:rPr lang="en-GB" smtClean="0"/>
              <a:pPr/>
              <a:t>16</a:t>
            </a:fld>
            <a:endParaRPr lang="en-GB" dirty="0"/>
          </a:p>
        </p:txBody>
      </p:sp>
      <p:sp>
        <p:nvSpPr>
          <p:cNvPr id="5" name="Content Placeholder 2">
            <a:extLst>
              <a:ext uri="{FF2B5EF4-FFF2-40B4-BE49-F238E27FC236}">
                <a16:creationId xmlns:a16="http://schemas.microsoft.com/office/drawing/2014/main" id="{16677053-A55D-DE88-20A3-31B8A162B216}"/>
              </a:ext>
            </a:extLst>
          </p:cNvPr>
          <p:cNvSpPr txBox="1">
            <a:spLocks/>
          </p:cNvSpPr>
          <p:nvPr/>
        </p:nvSpPr>
        <p:spPr>
          <a:xfrm>
            <a:off x="736600" y="1409065"/>
            <a:ext cx="10515600" cy="4351338"/>
          </a:xfrm>
          <a:prstGeom prst="rect">
            <a:avLst/>
          </a:prstGeom>
        </p:spPr>
        <p:txBody>
          <a:bodyPr spcFirstLastPara="1" vert="horz" wrap="square" lIns="91425" tIns="91425" rIns="91425" bIns="91425" rtlCol="0" anchor="t" anchorCtr="0">
            <a:normAutofit/>
          </a:bodyPr>
          <a:lstStyle>
            <a:lvl1pPr marL="609585" lvl="0" indent="-457189" algn="l" defTabSz="914400" rtl="0" eaLnBrk="1" latinLnBrk="0" hangingPunct="1">
              <a:lnSpc>
                <a:spcPct val="90000"/>
              </a:lnSpc>
              <a:spcBef>
                <a:spcPts val="0"/>
              </a:spcBef>
              <a:spcAft>
                <a:spcPts val="0"/>
              </a:spcAft>
              <a:buSzPts val="1800"/>
              <a:buFont typeface="Arial" panose="020B0604020202020204" pitchFamily="34" charset="0"/>
              <a:buChar char="●"/>
              <a:defRPr sz="2800" kern="1200">
                <a:solidFill>
                  <a:schemeClr val="tx1"/>
                </a:solidFill>
                <a:latin typeface="+mn-lt"/>
                <a:ea typeface="+mn-ea"/>
                <a:cs typeface="+mn-cs"/>
              </a:defRPr>
            </a:lvl1pPr>
            <a:lvl2pPr marL="1219170" lvl="1" indent="-423323" algn="l" defTabSz="914400" rtl="0" eaLnBrk="1" latinLnBrk="0" hangingPunct="1">
              <a:lnSpc>
                <a:spcPct val="90000"/>
              </a:lnSpc>
              <a:spcBef>
                <a:spcPts val="0"/>
              </a:spcBef>
              <a:spcAft>
                <a:spcPts val="0"/>
              </a:spcAft>
              <a:buSzPts val="1400"/>
              <a:buFont typeface="Arial" panose="020B0604020202020204" pitchFamily="34" charset="0"/>
              <a:buChar char="○"/>
              <a:defRPr sz="2400" kern="1200">
                <a:solidFill>
                  <a:schemeClr val="tx1"/>
                </a:solidFill>
                <a:latin typeface="+mn-lt"/>
                <a:ea typeface="+mn-ea"/>
                <a:cs typeface="+mn-cs"/>
              </a:defRPr>
            </a:lvl2pPr>
            <a:lvl3pPr marL="1828754" lvl="2" indent="-423323" algn="l" defTabSz="914400" rtl="0" eaLnBrk="1" latinLnBrk="0" hangingPunct="1">
              <a:lnSpc>
                <a:spcPct val="90000"/>
              </a:lnSpc>
              <a:spcBef>
                <a:spcPts val="0"/>
              </a:spcBef>
              <a:spcAft>
                <a:spcPts val="0"/>
              </a:spcAft>
              <a:buSzPts val="1400"/>
              <a:buFont typeface="Arial" panose="020B0604020202020204" pitchFamily="34" charset="0"/>
              <a:buChar char="■"/>
              <a:defRPr sz="2000" kern="1200">
                <a:solidFill>
                  <a:schemeClr val="tx1"/>
                </a:solidFill>
                <a:latin typeface="+mn-lt"/>
                <a:ea typeface="+mn-ea"/>
                <a:cs typeface="+mn-cs"/>
              </a:defRPr>
            </a:lvl3pPr>
            <a:lvl4pPr marL="2438339" lvl="3"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4pPr>
            <a:lvl5pPr marL="3047924" lvl="4"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5pPr>
            <a:lvl6pPr marL="3657509" lvl="5"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ar-EG"/>
          </a:p>
          <a:p>
            <a:pPr marL="0" indent="0" algn="ctr">
              <a:buFont typeface="Arial" panose="020B0604020202020204" pitchFamily="34" charset="0"/>
              <a:buNone/>
            </a:pPr>
            <a:r>
              <a:rPr lang="en-GB" sz="3200"/>
              <a:t>Q&amp;A </a:t>
            </a:r>
          </a:p>
          <a:p>
            <a:pPr marL="0" indent="0" algn="ctr">
              <a:buFont typeface="Arial" panose="020B0604020202020204" pitchFamily="34" charset="0"/>
              <a:buNone/>
            </a:pPr>
            <a:endParaRPr lang="ar-EG" sz="3200"/>
          </a:p>
          <a:p>
            <a:pPr marL="0" indent="0" algn="ctr">
              <a:buFont typeface="Arial" panose="020B0604020202020204" pitchFamily="34" charset="0"/>
              <a:buNone/>
            </a:pPr>
            <a:r>
              <a:rPr lang="en-GB" sz="3200"/>
              <a:t>Questions and answers </a:t>
            </a:r>
            <a:endParaRPr lang="en-GB" sz="3200" dirty="0"/>
          </a:p>
        </p:txBody>
      </p:sp>
    </p:spTree>
    <p:extLst>
      <p:ext uri="{BB962C8B-B14F-4D97-AF65-F5344CB8AC3E}">
        <p14:creationId xmlns:p14="http://schemas.microsoft.com/office/powerpoint/2010/main" val="1139442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6"/>
          <p:cNvSpPr txBox="1">
            <a:spLocks noGrp="1"/>
          </p:cNvSpPr>
          <p:nvPr>
            <p:ph type="title"/>
          </p:nvPr>
        </p:nvSpPr>
        <p:spPr>
          <a:xfrm>
            <a:off x="222560" y="1223287"/>
            <a:ext cx="11360800" cy="763600"/>
          </a:xfrm>
          <a:prstGeom prst="rect">
            <a:avLst/>
          </a:prstGeom>
        </p:spPr>
        <p:txBody>
          <a:bodyPr spcFirstLastPara="1" vert="horz" wrap="square" lIns="121900" tIns="121900" rIns="121900" bIns="121900" rtlCol="0" anchor="t" anchorCtr="0">
            <a:normAutofit fontScale="90000"/>
          </a:bodyPr>
          <a:lstStyle/>
          <a:p>
            <a:r>
              <a:rPr lang="en-GB" dirty="0"/>
              <a:t>Frequency Table</a:t>
            </a:r>
            <a:endParaRPr dirty="0"/>
          </a:p>
        </p:txBody>
      </p:sp>
      <p:sp>
        <p:nvSpPr>
          <p:cNvPr id="136" name="Google Shape;136;p26"/>
          <p:cNvSpPr txBox="1">
            <a:spLocks noGrp="1"/>
          </p:cNvSpPr>
          <p:nvPr>
            <p:ph type="body" idx="1"/>
          </p:nvPr>
        </p:nvSpPr>
        <p:spPr>
          <a:xfrm>
            <a:off x="334320" y="2302800"/>
            <a:ext cx="11360800" cy="4555200"/>
          </a:xfrm>
          <a:prstGeom prst="rect">
            <a:avLst/>
          </a:prstGeom>
        </p:spPr>
        <p:txBody>
          <a:bodyPr spcFirstLastPara="1" vert="horz" wrap="square" lIns="121900" tIns="121900" rIns="121900" bIns="121900" rtlCol="0" anchor="t" anchorCtr="0">
            <a:normAutofit/>
          </a:bodyPr>
          <a:lstStyle/>
          <a:p>
            <a:pPr marL="342900" indent="-342900">
              <a:lnSpc>
                <a:spcPct val="150000"/>
              </a:lnSpc>
              <a:buClr>
                <a:schemeClr val="dk1"/>
              </a:buClr>
              <a:buSzPts val="1100"/>
            </a:pPr>
            <a:r>
              <a:rPr lang="en-GB" sz="2000" dirty="0">
                <a:solidFill>
                  <a:schemeClr val="dk1"/>
                </a:solidFill>
              </a:rPr>
              <a:t>A </a:t>
            </a:r>
            <a:r>
              <a:rPr lang="en-GB" sz="2000" b="1" dirty="0">
                <a:solidFill>
                  <a:schemeClr val="dk1"/>
                </a:solidFill>
              </a:rPr>
              <a:t>frequency table</a:t>
            </a:r>
            <a:r>
              <a:rPr lang="en-GB" sz="2000" dirty="0">
                <a:solidFill>
                  <a:schemeClr val="dk1"/>
                </a:solidFill>
              </a:rPr>
              <a:t> </a:t>
            </a:r>
            <a:r>
              <a:rPr lang="en-GB" sz="2000" dirty="0">
                <a:solidFill>
                  <a:schemeClr val="dk1"/>
                </a:solidFill>
                <a:highlight>
                  <a:srgbClr val="FF9900"/>
                </a:highlight>
              </a:rPr>
              <a:t>lists a set of values and how often each one appears</a:t>
            </a:r>
            <a:r>
              <a:rPr lang="en-GB" sz="2000" dirty="0">
                <a:solidFill>
                  <a:schemeClr val="dk1"/>
                </a:solidFill>
              </a:rPr>
              <a:t>. </a:t>
            </a:r>
            <a:endParaRPr lang="ar-EG" sz="2000" dirty="0">
              <a:solidFill>
                <a:schemeClr val="dk1"/>
              </a:solidFill>
            </a:endParaRPr>
          </a:p>
          <a:p>
            <a:pPr marL="342900" indent="-342900">
              <a:lnSpc>
                <a:spcPct val="150000"/>
              </a:lnSpc>
              <a:buClr>
                <a:schemeClr val="dk1"/>
              </a:buClr>
              <a:buSzPts val="1100"/>
            </a:pPr>
            <a:r>
              <a:rPr lang="en-GB" sz="2000" b="1" dirty="0">
                <a:solidFill>
                  <a:schemeClr val="dk1"/>
                </a:solidFill>
              </a:rPr>
              <a:t>Frequency </a:t>
            </a:r>
            <a:r>
              <a:rPr lang="en-GB" sz="2000" dirty="0">
                <a:solidFill>
                  <a:schemeClr val="dk1"/>
                </a:solidFill>
              </a:rPr>
              <a:t>is the number of times a specific data value occurs in your dataset. </a:t>
            </a:r>
          </a:p>
          <a:p>
            <a:pPr marL="342900" indent="-342900">
              <a:lnSpc>
                <a:spcPct val="150000"/>
              </a:lnSpc>
              <a:buClr>
                <a:schemeClr val="dk1"/>
              </a:buClr>
              <a:buSzPts val="1100"/>
            </a:pPr>
            <a:r>
              <a:rPr lang="en-GB" sz="2000" dirty="0">
                <a:solidFill>
                  <a:schemeClr val="dk1"/>
                </a:solidFill>
              </a:rPr>
              <a:t>These tables </a:t>
            </a:r>
            <a:r>
              <a:rPr lang="en-GB" sz="2000" dirty="0">
                <a:solidFill>
                  <a:schemeClr val="dk1"/>
                </a:solidFill>
                <a:highlight>
                  <a:schemeClr val="accent4"/>
                </a:highlight>
              </a:rPr>
              <a:t>help you understand which data values are common and which are rare</a:t>
            </a:r>
            <a:r>
              <a:rPr lang="en-GB" sz="2000" dirty="0">
                <a:solidFill>
                  <a:schemeClr val="dk1"/>
                </a:solidFill>
              </a:rPr>
              <a:t>. </a:t>
            </a:r>
          </a:p>
          <a:p>
            <a:pPr marL="342900" indent="-342900">
              <a:lnSpc>
                <a:spcPct val="150000"/>
              </a:lnSpc>
              <a:buClr>
                <a:schemeClr val="dk1"/>
              </a:buClr>
              <a:buSzPts val="1100"/>
            </a:pPr>
            <a:r>
              <a:rPr lang="en-GB" sz="2000" dirty="0">
                <a:solidFill>
                  <a:schemeClr val="dk1"/>
                </a:solidFill>
              </a:rPr>
              <a:t>These tables organize your data and are an effective way to present the results to others. </a:t>
            </a:r>
          </a:p>
          <a:p>
            <a:pPr marL="342900" indent="-342900">
              <a:lnSpc>
                <a:spcPct val="150000"/>
              </a:lnSpc>
              <a:buClr>
                <a:schemeClr val="dk1"/>
              </a:buClr>
              <a:buSzPts val="1100"/>
            </a:pPr>
            <a:r>
              <a:rPr lang="en-GB" sz="2000" dirty="0">
                <a:solidFill>
                  <a:schemeClr val="dk1"/>
                </a:solidFill>
              </a:rPr>
              <a:t>Frequency tables are also known as frequency distributions because they allow you to </a:t>
            </a:r>
            <a:r>
              <a:rPr lang="en-GB" sz="2000" dirty="0">
                <a:solidFill>
                  <a:schemeClr val="dk1"/>
                </a:solidFill>
                <a:highlight>
                  <a:srgbClr val="FF9900"/>
                </a:highlight>
              </a:rPr>
              <a:t>understand the distribution of values in your dataset</a:t>
            </a:r>
            <a:r>
              <a:rPr lang="en-GB" sz="2000" dirty="0">
                <a:solidFill>
                  <a:schemeClr val="dk1"/>
                </a:solidFill>
              </a:rPr>
              <a:t>.</a:t>
            </a:r>
            <a:endParaRPr sz="2000" dirty="0">
              <a:solidFill>
                <a:schemeClr val="dk1"/>
              </a:solidFill>
            </a:endParaRPr>
          </a:p>
          <a:p>
            <a:pPr marL="0" indent="0">
              <a:spcBef>
                <a:spcPts val="1600"/>
              </a:spcBef>
              <a:spcAft>
                <a:spcPts val="1600"/>
              </a:spcAft>
              <a:buNone/>
            </a:pPr>
            <a:endParaRPr dirty="0"/>
          </a:p>
        </p:txBody>
      </p:sp>
      <p:sp>
        <p:nvSpPr>
          <p:cNvPr id="2" name="Slide Number Placeholder 1">
            <a:extLst>
              <a:ext uri="{FF2B5EF4-FFF2-40B4-BE49-F238E27FC236}">
                <a16:creationId xmlns:a16="http://schemas.microsoft.com/office/drawing/2014/main" id="{AB812065-2345-5790-7269-E5CBD280944F}"/>
              </a:ext>
            </a:extLst>
          </p:cNvPr>
          <p:cNvSpPr>
            <a:spLocks noGrp="1"/>
          </p:cNvSpPr>
          <p:nvPr>
            <p:ph type="sldNum" idx="12"/>
          </p:nvPr>
        </p:nvSpPr>
        <p:spPr>
          <a:xfrm>
            <a:off x="10605731" y="6248103"/>
            <a:ext cx="731600" cy="524800"/>
          </a:xfrm>
        </p:spPr>
        <p:txBody>
          <a:bodyPr/>
          <a:lstStyle/>
          <a:p>
            <a:fld id="{00000000-1234-1234-1234-123412341234}" type="slidenum">
              <a:rPr lang="en-GB" smtClean="0"/>
              <a:pPr/>
              <a:t>17</a:t>
            </a:fld>
            <a:endParaRPr 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7"/>
          <p:cNvSpPr txBox="1">
            <a:spLocks noGrp="1"/>
          </p:cNvSpPr>
          <p:nvPr>
            <p:ph type="title"/>
          </p:nvPr>
        </p:nvSpPr>
        <p:spPr>
          <a:xfrm>
            <a:off x="324160" y="1154101"/>
            <a:ext cx="11360800" cy="763600"/>
          </a:xfrm>
          <a:prstGeom prst="rect">
            <a:avLst/>
          </a:prstGeom>
        </p:spPr>
        <p:txBody>
          <a:bodyPr spcFirstLastPara="1" vert="horz" wrap="square" lIns="121900" tIns="121900" rIns="121900" bIns="121900" rtlCol="0" anchor="t" anchorCtr="0">
            <a:normAutofit fontScale="90000"/>
          </a:bodyPr>
          <a:lstStyle/>
          <a:p>
            <a:r>
              <a:rPr lang="en-GB" dirty="0"/>
              <a:t>Frequency Table</a:t>
            </a:r>
            <a:endParaRPr dirty="0"/>
          </a:p>
        </p:txBody>
      </p:sp>
      <p:pic>
        <p:nvPicPr>
          <p:cNvPr id="142" name="Google Shape;142;p27"/>
          <p:cNvPicPr preferRelativeResize="0"/>
          <p:nvPr/>
        </p:nvPicPr>
        <p:blipFill>
          <a:blip r:embed="rId3">
            <a:alphaModFix/>
          </a:blip>
          <a:stretch>
            <a:fillRect/>
          </a:stretch>
        </p:blipFill>
        <p:spPr>
          <a:xfrm>
            <a:off x="1946267" y="1917701"/>
            <a:ext cx="2654300" cy="1511300"/>
          </a:xfrm>
          <a:prstGeom prst="rect">
            <a:avLst/>
          </a:prstGeom>
          <a:noFill/>
          <a:ln>
            <a:noFill/>
          </a:ln>
        </p:spPr>
      </p:pic>
      <p:pic>
        <p:nvPicPr>
          <p:cNvPr id="143" name="Google Shape;143;p27"/>
          <p:cNvPicPr preferRelativeResize="0"/>
          <p:nvPr/>
        </p:nvPicPr>
        <p:blipFill>
          <a:blip r:embed="rId4">
            <a:alphaModFix/>
          </a:blip>
          <a:stretch>
            <a:fillRect/>
          </a:stretch>
        </p:blipFill>
        <p:spPr>
          <a:xfrm>
            <a:off x="6775401" y="1778001"/>
            <a:ext cx="3111500" cy="1790700"/>
          </a:xfrm>
          <a:prstGeom prst="rect">
            <a:avLst/>
          </a:prstGeom>
          <a:noFill/>
          <a:ln>
            <a:noFill/>
          </a:ln>
        </p:spPr>
      </p:pic>
      <p:pic>
        <p:nvPicPr>
          <p:cNvPr id="144" name="Google Shape;144;p27"/>
          <p:cNvPicPr preferRelativeResize="0"/>
          <p:nvPr/>
        </p:nvPicPr>
        <p:blipFill>
          <a:blip r:embed="rId5">
            <a:alphaModFix/>
          </a:blip>
          <a:stretch>
            <a:fillRect/>
          </a:stretch>
        </p:blipFill>
        <p:spPr>
          <a:xfrm>
            <a:off x="1952617" y="3800467"/>
            <a:ext cx="2641600" cy="2298700"/>
          </a:xfrm>
          <a:prstGeom prst="rect">
            <a:avLst/>
          </a:prstGeom>
          <a:noFill/>
          <a:ln>
            <a:noFill/>
          </a:ln>
        </p:spPr>
      </p:pic>
      <p:pic>
        <p:nvPicPr>
          <p:cNvPr id="145" name="Google Shape;145;p27"/>
          <p:cNvPicPr preferRelativeResize="0"/>
          <p:nvPr/>
        </p:nvPicPr>
        <p:blipFill>
          <a:blip r:embed="rId6">
            <a:alphaModFix/>
          </a:blip>
          <a:stretch>
            <a:fillRect/>
          </a:stretch>
        </p:blipFill>
        <p:spPr>
          <a:xfrm>
            <a:off x="6788085" y="3800467"/>
            <a:ext cx="3086100" cy="2641600"/>
          </a:xfrm>
          <a:prstGeom prst="rect">
            <a:avLst/>
          </a:prstGeom>
          <a:noFill/>
          <a:ln>
            <a:noFill/>
          </a:ln>
        </p:spPr>
      </p:pic>
      <p:sp>
        <p:nvSpPr>
          <p:cNvPr id="2" name="Slide Number Placeholder 1">
            <a:extLst>
              <a:ext uri="{FF2B5EF4-FFF2-40B4-BE49-F238E27FC236}">
                <a16:creationId xmlns:a16="http://schemas.microsoft.com/office/drawing/2014/main" id="{8BCB4C91-2BE6-8E74-92DA-9DD783483312}"/>
              </a:ext>
            </a:extLst>
          </p:cNvPr>
          <p:cNvSpPr>
            <a:spLocks noGrp="1"/>
          </p:cNvSpPr>
          <p:nvPr>
            <p:ph type="sldNum" idx="12"/>
          </p:nvPr>
        </p:nvSpPr>
        <p:spPr/>
        <p:txBody>
          <a:bodyPr/>
          <a:lstStyle/>
          <a:p>
            <a:fld id="{00000000-1234-1234-1234-123412341234}" type="slidenum">
              <a:rPr lang="en-GB" smtClean="0"/>
              <a:pPr/>
              <a:t>18</a:t>
            </a:fld>
            <a:endParaRPr lang="en-GB"/>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8"/>
          <p:cNvSpPr txBox="1">
            <a:spLocks noGrp="1"/>
          </p:cNvSpPr>
          <p:nvPr>
            <p:ph type="title"/>
          </p:nvPr>
        </p:nvSpPr>
        <p:spPr>
          <a:xfrm>
            <a:off x="232720" y="1108313"/>
            <a:ext cx="11360800" cy="763600"/>
          </a:xfrm>
          <a:prstGeom prst="rect">
            <a:avLst/>
          </a:prstGeom>
        </p:spPr>
        <p:txBody>
          <a:bodyPr spcFirstLastPara="1" vert="horz" wrap="square" lIns="121900" tIns="121900" rIns="121900" bIns="121900" rtlCol="0" anchor="t" anchorCtr="0">
            <a:normAutofit fontScale="90000"/>
          </a:bodyPr>
          <a:lstStyle/>
          <a:p>
            <a:r>
              <a:rPr lang="en-GB" dirty="0"/>
              <a:t>Mean, Median and Mode</a:t>
            </a:r>
            <a:endParaRPr dirty="0"/>
          </a:p>
        </p:txBody>
      </p:sp>
      <p:sp>
        <p:nvSpPr>
          <p:cNvPr id="151" name="Google Shape;151;p28"/>
          <p:cNvSpPr txBox="1">
            <a:spLocks noGrp="1"/>
          </p:cNvSpPr>
          <p:nvPr>
            <p:ph type="body" idx="1"/>
          </p:nvPr>
        </p:nvSpPr>
        <p:spPr>
          <a:xfrm>
            <a:off x="415600" y="1871913"/>
            <a:ext cx="11360800" cy="4555200"/>
          </a:xfrm>
          <a:prstGeom prst="rect">
            <a:avLst/>
          </a:prstGeom>
        </p:spPr>
        <p:txBody>
          <a:bodyPr spcFirstLastPara="1" vert="horz" wrap="square" lIns="121900" tIns="121900" rIns="121900" bIns="121900" rtlCol="0" anchor="t" anchorCtr="0">
            <a:normAutofit fontScale="92500" lnSpcReduction="20000"/>
          </a:bodyPr>
          <a:lstStyle/>
          <a:p>
            <a:pPr marL="0" indent="0">
              <a:buNone/>
            </a:pPr>
            <a:r>
              <a:rPr lang="en-GB" sz="2000" b="1" dirty="0">
                <a:solidFill>
                  <a:srgbClr val="21242C"/>
                </a:solidFill>
                <a:highlight>
                  <a:srgbClr val="FFFFFF"/>
                </a:highlight>
              </a:rPr>
              <a:t>Mean</a:t>
            </a:r>
            <a:r>
              <a:rPr lang="en-GB" sz="2000" dirty="0">
                <a:solidFill>
                  <a:srgbClr val="21242C"/>
                </a:solidFill>
                <a:highlight>
                  <a:srgbClr val="FFFFFF"/>
                </a:highlight>
              </a:rPr>
              <a:t>, </a:t>
            </a:r>
            <a:r>
              <a:rPr lang="en-GB" sz="2000" b="1" dirty="0">
                <a:solidFill>
                  <a:srgbClr val="21242C"/>
                </a:solidFill>
                <a:highlight>
                  <a:srgbClr val="FFFFFF"/>
                </a:highlight>
              </a:rPr>
              <a:t>median</a:t>
            </a:r>
            <a:r>
              <a:rPr lang="en-GB" sz="2000" dirty="0">
                <a:solidFill>
                  <a:srgbClr val="21242C"/>
                </a:solidFill>
                <a:highlight>
                  <a:srgbClr val="FFFFFF"/>
                </a:highlight>
              </a:rPr>
              <a:t>, and </a:t>
            </a:r>
            <a:r>
              <a:rPr lang="en-GB" sz="2000" b="1" dirty="0">
                <a:solidFill>
                  <a:srgbClr val="21242C"/>
                </a:solidFill>
                <a:highlight>
                  <a:srgbClr val="FFFFFF"/>
                </a:highlight>
              </a:rPr>
              <a:t>mode </a:t>
            </a:r>
            <a:r>
              <a:rPr lang="en-GB" sz="2000" dirty="0">
                <a:solidFill>
                  <a:srgbClr val="21242C"/>
                </a:solidFill>
                <a:highlight>
                  <a:srgbClr val="FFFFFF"/>
                </a:highlight>
              </a:rPr>
              <a:t>are different measures of </a:t>
            </a:r>
            <a:r>
              <a:rPr lang="en-GB" sz="2000" dirty="0" err="1">
                <a:solidFill>
                  <a:srgbClr val="21242C"/>
                </a:solidFill>
                <a:highlight>
                  <a:srgbClr val="FFFFFF"/>
                </a:highlight>
              </a:rPr>
              <a:t>center</a:t>
            </a:r>
            <a:r>
              <a:rPr lang="en-GB" sz="2000" dirty="0">
                <a:solidFill>
                  <a:srgbClr val="21242C"/>
                </a:solidFill>
                <a:highlight>
                  <a:srgbClr val="FFFFFF"/>
                </a:highlight>
              </a:rPr>
              <a:t> in a numerical data set. They each try to summarize a dataset with a single number to represent a "typical" data point from the dataset.</a:t>
            </a:r>
            <a:endParaRPr sz="2000" dirty="0">
              <a:solidFill>
                <a:srgbClr val="21242C"/>
              </a:solidFill>
              <a:highlight>
                <a:srgbClr val="FFFFFF"/>
              </a:highlight>
            </a:endParaRPr>
          </a:p>
          <a:p>
            <a:pPr marL="0" indent="0">
              <a:spcBef>
                <a:spcPts val="1600"/>
              </a:spcBef>
              <a:buNone/>
            </a:pPr>
            <a:r>
              <a:rPr lang="en-GB" sz="2000" b="1" dirty="0">
                <a:solidFill>
                  <a:srgbClr val="21242C"/>
                </a:solidFill>
                <a:highlight>
                  <a:srgbClr val="FFFFFF"/>
                </a:highlight>
              </a:rPr>
              <a:t>Mean:</a:t>
            </a:r>
            <a:r>
              <a:rPr lang="en-GB" sz="2000" dirty="0">
                <a:solidFill>
                  <a:srgbClr val="21242C"/>
                </a:solidFill>
                <a:highlight>
                  <a:srgbClr val="FFFFFF"/>
                </a:highlight>
              </a:rPr>
              <a:t> The "average" number; found by adding all data points and dividing by the number of data points.</a:t>
            </a:r>
            <a:endParaRPr sz="2000" dirty="0">
              <a:solidFill>
                <a:srgbClr val="21242C"/>
              </a:solidFill>
              <a:highlight>
                <a:srgbClr val="FFFFFF"/>
              </a:highlight>
            </a:endParaRPr>
          </a:p>
          <a:p>
            <a:pPr marL="0" indent="0">
              <a:spcBef>
                <a:spcPts val="1600"/>
              </a:spcBef>
              <a:buNone/>
            </a:pPr>
            <a:r>
              <a:rPr lang="en-GB" sz="2000" dirty="0">
                <a:solidFill>
                  <a:srgbClr val="21242C"/>
                </a:solidFill>
                <a:highlight>
                  <a:srgbClr val="FFFFFF"/>
                </a:highlight>
              </a:rPr>
              <a:t>“Affected By Outliers”</a:t>
            </a:r>
            <a:endParaRPr sz="2000" dirty="0">
              <a:solidFill>
                <a:srgbClr val="21242C"/>
              </a:solidFill>
              <a:highlight>
                <a:srgbClr val="FFFFFF"/>
              </a:highlight>
            </a:endParaRPr>
          </a:p>
          <a:p>
            <a:pPr marL="0" indent="0">
              <a:spcBef>
                <a:spcPts val="1600"/>
              </a:spcBef>
              <a:buNone/>
            </a:pPr>
            <a:r>
              <a:rPr lang="en-GB" sz="2000" dirty="0">
                <a:solidFill>
                  <a:srgbClr val="21242C"/>
                </a:solidFill>
                <a:highlight>
                  <a:schemeClr val="accent4"/>
                </a:highlight>
              </a:rPr>
              <a:t>Example: The mean of 4, 1, and 7 is (4+1+7)/3 = 12/3 = 4.</a:t>
            </a:r>
            <a:endParaRPr sz="2000" dirty="0">
              <a:solidFill>
                <a:srgbClr val="21242C"/>
              </a:solidFill>
              <a:highlight>
                <a:schemeClr val="accent4"/>
              </a:highlight>
            </a:endParaRPr>
          </a:p>
          <a:p>
            <a:pPr marL="0" indent="0">
              <a:spcBef>
                <a:spcPts val="1600"/>
              </a:spcBef>
              <a:buNone/>
            </a:pPr>
            <a:r>
              <a:rPr lang="en-GB" sz="2000" b="1" dirty="0">
                <a:solidFill>
                  <a:srgbClr val="21242C"/>
                </a:solidFill>
                <a:highlight>
                  <a:srgbClr val="FFFFFF"/>
                </a:highlight>
              </a:rPr>
              <a:t>Median</a:t>
            </a:r>
            <a:r>
              <a:rPr lang="en-GB" sz="2000" dirty="0">
                <a:solidFill>
                  <a:srgbClr val="21242C"/>
                </a:solidFill>
                <a:highlight>
                  <a:srgbClr val="FFFFFF"/>
                </a:highlight>
              </a:rPr>
              <a:t>: The middle number; found by ordering all data points and picking out the one in the middle (or if there are two middle numbers, taking the mean of those two numbers).</a:t>
            </a:r>
            <a:endParaRPr sz="2000" dirty="0">
              <a:solidFill>
                <a:srgbClr val="21242C"/>
              </a:solidFill>
              <a:highlight>
                <a:srgbClr val="FFFFFF"/>
              </a:highlight>
            </a:endParaRPr>
          </a:p>
          <a:p>
            <a:pPr marL="0" indent="0">
              <a:spcBef>
                <a:spcPts val="1600"/>
              </a:spcBef>
              <a:buClr>
                <a:schemeClr val="dk1"/>
              </a:buClr>
              <a:buSzPct val="73333"/>
              <a:buNone/>
            </a:pPr>
            <a:r>
              <a:rPr lang="en-GB" sz="2000" dirty="0">
                <a:solidFill>
                  <a:srgbClr val="21242C"/>
                </a:solidFill>
                <a:highlight>
                  <a:srgbClr val="FFFFFF"/>
                </a:highlight>
              </a:rPr>
              <a:t>“More reliable to substitute missing data points”</a:t>
            </a:r>
            <a:endParaRPr sz="2000" dirty="0">
              <a:solidFill>
                <a:srgbClr val="21242C"/>
              </a:solidFill>
              <a:highlight>
                <a:srgbClr val="FFFFFF"/>
              </a:highlight>
            </a:endParaRPr>
          </a:p>
          <a:p>
            <a:pPr marL="0" indent="0">
              <a:spcBef>
                <a:spcPts val="1600"/>
              </a:spcBef>
              <a:buNone/>
            </a:pPr>
            <a:r>
              <a:rPr lang="en-GB" sz="2000" dirty="0">
                <a:solidFill>
                  <a:srgbClr val="21242C"/>
                </a:solidFill>
                <a:highlight>
                  <a:schemeClr val="accent4"/>
                </a:highlight>
              </a:rPr>
              <a:t>Example: The median of 4, 1, and 7 is 4 because when the numbers are put in order the number 4 is in the middle.</a:t>
            </a:r>
            <a:endParaRPr sz="2000" dirty="0">
              <a:solidFill>
                <a:srgbClr val="21242C"/>
              </a:solidFill>
              <a:highlight>
                <a:schemeClr val="accent4"/>
              </a:highlight>
            </a:endParaRPr>
          </a:p>
          <a:p>
            <a:pPr marL="0" indent="0">
              <a:spcBef>
                <a:spcPts val="1600"/>
              </a:spcBef>
              <a:buNone/>
            </a:pPr>
            <a:r>
              <a:rPr lang="en-GB" sz="2000" b="1" dirty="0">
                <a:solidFill>
                  <a:srgbClr val="21242C"/>
                </a:solidFill>
                <a:highlight>
                  <a:schemeClr val="lt1"/>
                </a:highlight>
              </a:rPr>
              <a:t>Mode</a:t>
            </a:r>
            <a:r>
              <a:rPr lang="en-GB" sz="2000" dirty="0">
                <a:solidFill>
                  <a:srgbClr val="21242C"/>
                </a:solidFill>
                <a:highlight>
                  <a:schemeClr val="lt1"/>
                </a:highlight>
              </a:rPr>
              <a:t>: The most frequent number—that is, the number that occurs the highest number of times.</a:t>
            </a:r>
            <a:endParaRPr sz="2000" dirty="0">
              <a:solidFill>
                <a:srgbClr val="21242C"/>
              </a:solidFill>
              <a:highlight>
                <a:schemeClr val="lt1"/>
              </a:highlight>
            </a:endParaRPr>
          </a:p>
          <a:p>
            <a:pPr marL="0" indent="0">
              <a:spcBef>
                <a:spcPts val="1600"/>
              </a:spcBef>
              <a:buNone/>
            </a:pPr>
            <a:r>
              <a:rPr lang="en-GB" sz="2000" dirty="0">
                <a:solidFill>
                  <a:srgbClr val="21242C"/>
                </a:solidFill>
                <a:highlight>
                  <a:schemeClr val="accent4"/>
                </a:highlight>
              </a:rPr>
              <a:t>Example: The mode of { 4, 2, 4, 3, 2, 2} is 2 because it occurs three times, which is more than any other number.</a:t>
            </a:r>
            <a:endParaRPr sz="2000" dirty="0">
              <a:solidFill>
                <a:srgbClr val="21242C"/>
              </a:solidFill>
              <a:highlight>
                <a:schemeClr val="accent4"/>
              </a:highlight>
            </a:endParaRPr>
          </a:p>
          <a:p>
            <a:pPr marL="0" indent="0">
              <a:spcBef>
                <a:spcPts val="1600"/>
              </a:spcBef>
              <a:spcAft>
                <a:spcPts val="1600"/>
              </a:spcAft>
              <a:buNone/>
            </a:pPr>
            <a:endParaRPr sz="2000" dirty="0">
              <a:solidFill>
                <a:srgbClr val="21242C"/>
              </a:solidFill>
              <a:highlight>
                <a:srgbClr val="FFFFFF"/>
              </a:highlight>
            </a:endParaRPr>
          </a:p>
        </p:txBody>
      </p:sp>
      <p:sp>
        <p:nvSpPr>
          <p:cNvPr id="2" name="Slide Number Placeholder 1">
            <a:extLst>
              <a:ext uri="{FF2B5EF4-FFF2-40B4-BE49-F238E27FC236}">
                <a16:creationId xmlns:a16="http://schemas.microsoft.com/office/drawing/2014/main" id="{3A1675EE-F4BA-F73F-587C-4DB74EF28153}"/>
              </a:ext>
            </a:extLst>
          </p:cNvPr>
          <p:cNvSpPr>
            <a:spLocks noGrp="1"/>
          </p:cNvSpPr>
          <p:nvPr>
            <p:ph type="sldNum" idx="12"/>
          </p:nvPr>
        </p:nvSpPr>
        <p:spPr>
          <a:xfrm>
            <a:off x="10737811" y="6258263"/>
            <a:ext cx="731600" cy="524800"/>
          </a:xfrm>
        </p:spPr>
        <p:txBody>
          <a:bodyPr/>
          <a:lstStyle/>
          <a:p>
            <a:fld id="{00000000-1234-1234-1234-123412341234}" type="slidenum">
              <a:rPr lang="en-GB" smtClean="0"/>
              <a:pPr/>
              <a:t>19</a:t>
            </a:fld>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9"/>
          <p:cNvSpPr txBox="1">
            <a:spLocks noGrp="1"/>
          </p:cNvSpPr>
          <p:nvPr>
            <p:ph type="title"/>
          </p:nvPr>
        </p:nvSpPr>
        <p:spPr>
          <a:xfrm>
            <a:off x="415600" y="1062400"/>
            <a:ext cx="11360800" cy="763600"/>
          </a:xfrm>
          <a:prstGeom prst="rect">
            <a:avLst/>
          </a:prstGeom>
        </p:spPr>
        <p:txBody>
          <a:bodyPr spcFirstLastPara="1" vert="horz" wrap="square" lIns="121900" tIns="121900" rIns="121900" bIns="121900" rtlCol="0" anchor="t" anchorCtr="0">
            <a:normAutofit fontScale="90000"/>
          </a:bodyPr>
          <a:lstStyle/>
          <a:p>
            <a:pPr>
              <a:buClr>
                <a:schemeClr val="dk1"/>
              </a:buClr>
              <a:buSzPct val="39285"/>
            </a:pPr>
            <a:r>
              <a:rPr lang="en-GB" dirty="0"/>
              <a:t>Mean, Median and Mode</a:t>
            </a:r>
            <a:endParaRPr dirty="0"/>
          </a:p>
        </p:txBody>
      </p:sp>
      <p:pic>
        <p:nvPicPr>
          <p:cNvPr id="157" name="Google Shape;157;p29"/>
          <p:cNvPicPr preferRelativeResize="0"/>
          <p:nvPr/>
        </p:nvPicPr>
        <p:blipFill>
          <a:blip r:embed="rId3">
            <a:alphaModFix/>
          </a:blip>
          <a:stretch>
            <a:fillRect/>
          </a:stretch>
        </p:blipFill>
        <p:spPr>
          <a:xfrm>
            <a:off x="1308100" y="1731600"/>
            <a:ext cx="9575800" cy="4064000"/>
          </a:xfrm>
          <a:prstGeom prst="rect">
            <a:avLst/>
          </a:prstGeom>
          <a:noFill/>
          <a:ln>
            <a:noFill/>
          </a:ln>
        </p:spPr>
      </p:pic>
      <p:sp>
        <p:nvSpPr>
          <p:cNvPr id="2" name="Slide Number Placeholder 1">
            <a:extLst>
              <a:ext uri="{FF2B5EF4-FFF2-40B4-BE49-F238E27FC236}">
                <a16:creationId xmlns:a16="http://schemas.microsoft.com/office/drawing/2014/main" id="{43025E86-6DB1-0774-7E8A-50CD53494BBF}"/>
              </a:ext>
            </a:extLst>
          </p:cNvPr>
          <p:cNvSpPr>
            <a:spLocks noGrp="1"/>
          </p:cNvSpPr>
          <p:nvPr>
            <p:ph type="sldNum" idx="12"/>
          </p:nvPr>
        </p:nvSpPr>
        <p:spPr>
          <a:xfrm>
            <a:off x="10737811" y="6333200"/>
            <a:ext cx="731600" cy="524800"/>
          </a:xfrm>
        </p:spPr>
        <p:txBody>
          <a:bodyPr/>
          <a:lstStyle/>
          <a:p>
            <a:fld id="{00000000-1234-1234-1234-123412341234}" type="slidenum">
              <a:rPr lang="en-GB" smtClean="0"/>
              <a:pPr/>
              <a:t>20</a:t>
            </a:fld>
            <a:endParaRPr lang="en-GB"/>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0"/>
          <p:cNvSpPr txBox="1">
            <a:spLocks noGrp="1"/>
          </p:cNvSpPr>
          <p:nvPr>
            <p:ph type="title"/>
          </p:nvPr>
        </p:nvSpPr>
        <p:spPr>
          <a:xfrm>
            <a:off x="161600" y="1025653"/>
            <a:ext cx="11360800" cy="763600"/>
          </a:xfrm>
          <a:prstGeom prst="rect">
            <a:avLst/>
          </a:prstGeom>
        </p:spPr>
        <p:txBody>
          <a:bodyPr spcFirstLastPara="1" vert="horz" wrap="square" lIns="121900" tIns="121900" rIns="121900" bIns="121900" rtlCol="0" anchor="t" anchorCtr="0">
            <a:normAutofit fontScale="90000"/>
          </a:bodyPr>
          <a:lstStyle/>
          <a:p>
            <a:r>
              <a:rPr lang="en-GB" dirty="0"/>
              <a:t>Variance</a:t>
            </a:r>
            <a:endParaRPr dirty="0"/>
          </a:p>
        </p:txBody>
      </p:sp>
      <p:sp>
        <p:nvSpPr>
          <p:cNvPr id="163" name="Google Shape;163;p30"/>
          <p:cNvSpPr txBox="1">
            <a:spLocks noGrp="1"/>
          </p:cNvSpPr>
          <p:nvPr>
            <p:ph type="body" idx="1"/>
          </p:nvPr>
        </p:nvSpPr>
        <p:spPr>
          <a:xfrm>
            <a:off x="415599" y="1922713"/>
            <a:ext cx="9171200" cy="4555200"/>
          </a:xfrm>
          <a:prstGeom prst="rect">
            <a:avLst/>
          </a:prstGeom>
        </p:spPr>
        <p:txBody>
          <a:bodyPr spcFirstLastPara="1" vert="horz" wrap="square" lIns="121900" tIns="121900" rIns="121900" bIns="121900" rtlCol="0" anchor="t" anchorCtr="0">
            <a:normAutofit fontScale="92500" lnSpcReduction="10000"/>
          </a:bodyPr>
          <a:lstStyle/>
          <a:p>
            <a:pPr marL="0" indent="0">
              <a:buClr>
                <a:schemeClr val="dk1"/>
              </a:buClr>
              <a:buSzPct val="61111"/>
              <a:buNone/>
            </a:pPr>
            <a:r>
              <a:rPr lang="en-GB" b="1" dirty="0"/>
              <a:t>variance </a:t>
            </a:r>
            <a:r>
              <a:rPr lang="en-GB" dirty="0">
                <a:highlight>
                  <a:schemeClr val="accent4"/>
                </a:highlight>
              </a:rPr>
              <a:t>is a measure of how far a set of data are dispersed out from their mean or average value</a:t>
            </a:r>
            <a:r>
              <a:rPr lang="en-GB" dirty="0"/>
              <a:t>. It is denoted as ‘σ2’.</a:t>
            </a:r>
          </a:p>
          <a:p>
            <a:pPr marL="0" indent="0">
              <a:buClr>
                <a:schemeClr val="dk1"/>
              </a:buClr>
              <a:buSzPct val="61111"/>
              <a:buNone/>
            </a:pPr>
            <a:endParaRPr lang="en-US" dirty="0"/>
          </a:p>
          <a:p>
            <a:pPr marL="0" indent="0">
              <a:buClr>
                <a:schemeClr val="dk1"/>
              </a:buClr>
              <a:buSzPct val="61111"/>
              <a:buNone/>
            </a:pPr>
            <a:r>
              <a:rPr lang="en-US" dirty="0"/>
              <a:t>xi is the one sample of the data</a:t>
            </a:r>
          </a:p>
          <a:p>
            <a:pPr marL="0" indent="0">
              <a:buClr>
                <a:schemeClr val="dk1"/>
              </a:buClr>
              <a:buSzPct val="61111"/>
              <a:buNone/>
            </a:pPr>
            <a:r>
              <a:rPr lang="en-US" dirty="0"/>
              <a:t>X hat is the mean or average of the data points</a:t>
            </a:r>
            <a:endParaRPr dirty="0"/>
          </a:p>
          <a:p>
            <a:pPr marL="0" indent="0">
              <a:spcBef>
                <a:spcPts val="1600"/>
              </a:spcBef>
              <a:buClr>
                <a:schemeClr val="dk1"/>
              </a:buClr>
              <a:buSzPct val="61111"/>
              <a:buNone/>
            </a:pPr>
            <a:r>
              <a:rPr lang="en-GB" b="1" dirty="0"/>
              <a:t>Properties of Variance</a:t>
            </a:r>
            <a:endParaRPr b="1" dirty="0"/>
          </a:p>
          <a:p>
            <a:pPr indent="-434329">
              <a:spcBef>
                <a:spcPts val="1600"/>
              </a:spcBef>
              <a:buSzPct val="100000"/>
            </a:pPr>
            <a:r>
              <a:rPr lang="en-GB" sz="2200" dirty="0"/>
              <a:t>It is always non-negative since each term in the variance sum is squared and therefore the result is either </a:t>
            </a:r>
            <a:r>
              <a:rPr lang="en-GB" sz="2200" dirty="0">
                <a:solidFill>
                  <a:srgbClr val="FF0000"/>
                </a:solidFill>
              </a:rPr>
              <a:t>positive or zero</a:t>
            </a:r>
            <a:r>
              <a:rPr lang="en-GB" sz="2200" dirty="0"/>
              <a:t>.</a:t>
            </a:r>
            <a:endParaRPr sz="2200" dirty="0"/>
          </a:p>
          <a:p>
            <a:pPr indent="-434329">
              <a:buSzPct val="100000"/>
            </a:pPr>
            <a:r>
              <a:rPr lang="en-GB" sz="2200" dirty="0"/>
              <a:t>Variance always has squared units. </a:t>
            </a:r>
          </a:p>
          <a:p>
            <a:pPr indent="-434329">
              <a:buSzPct val="100000"/>
            </a:pPr>
            <a:r>
              <a:rPr lang="en-GB" sz="2200" dirty="0"/>
              <a:t>For example, the variance of a set of weights estimated in kilograms will be given in kg squared. Since the population variance is squared, we cannot compare it directly with the mean or the data themselves.</a:t>
            </a:r>
          </a:p>
          <a:p>
            <a:pPr indent="-434329">
              <a:buSzPct val="100000"/>
            </a:pPr>
            <a:r>
              <a:rPr lang="en-GB" sz="2200" dirty="0"/>
              <a:t>Low value of </a:t>
            </a:r>
            <a:r>
              <a:rPr lang="en-GB" sz="2200" dirty="0" err="1"/>
              <a:t>varience</a:t>
            </a:r>
            <a:r>
              <a:rPr lang="en-GB" sz="2200" dirty="0"/>
              <a:t> is the best</a:t>
            </a:r>
            <a:endParaRPr sz="2200" dirty="0"/>
          </a:p>
          <a:p>
            <a:pPr marL="0" indent="0">
              <a:spcBef>
                <a:spcPts val="1600"/>
              </a:spcBef>
              <a:spcAft>
                <a:spcPts val="1600"/>
              </a:spcAft>
              <a:buNone/>
            </a:pPr>
            <a:endParaRPr dirty="0"/>
          </a:p>
        </p:txBody>
      </p:sp>
      <p:pic>
        <p:nvPicPr>
          <p:cNvPr id="164" name="Google Shape;164;p30"/>
          <p:cNvPicPr preferRelativeResize="0"/>
          <p:nvPr/>
        </p:nvPicPr>
        <p:blipFill>
          <a:blip r:embed="rId3">
            <a:alphaModFix/>
          </a:blip>
          <a:stretch>
            <a:fillRect/>
          </a:stretch>
        </p:blipFill>
        <p:spPr>
          <a:xfrm>
            <a:off x="8318500" y="2618258"/>
            <a:ext cx="3203900" cy="1301867"/>
          </a:xfrm>
          <a:prstGeom prst="rect">
            <a:avLst/>
          </a:prstGeom>
          <a:noFill/>
          <a:ln>
            <a:noFill/>
          </a:ln>
        </p:spPr>
      </p:pic>
      <p:sp>
        <p:nvSpPr>
          <p:cNvPr id="2" name="Slide Number Placeholder 1">
            <a:extLst>
              <a:ext uri="{FF2B5EF4-FFF2-40B4-BE49-F238E27FC236}">
                <a16:creationId xmlns:a16="http://schemas.microsoft.com/office/drawing/2014/main" id="{B0B12EF0-CC23-0B23-683B-792C090C918E}"/>
              </a:ext>
            </a:extLst>
          </p:cNvPr>
          <p:cNvSpPr>
            <a:spLocks noGrp="1"/>
          </p:cNvSpPr>
          <p:nvPr>
            <p:ph type="sldNum" idx="12"/>
          </p:nvPr>
        </p:nvSpPr>
        <p:spPr>
          <a:xfrm>
            <a:off x="10790800" y="6215513"/>
            <a:ext cx="731600" cy="524800"/>
          </a:xfrm>
        </p:spPr>
        <p:txBody>
          <a:bodyPr/>
          <a:lstStyle/>
          <a:p>
            <a:fld id="{00000000-1234-1234-1234-123412341234}" type="slidenum">
              <a:rPr lang="en-GB" smtClean="0"/>
              <a:pPr/>
              <a:t>21</a:t>
            </a:fld>
            <a:endParaRPr lang="en-GB"/>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1"/>
          <p:cNvSpPr txBox="1">
            <a:spLocks noGrp="1"/>
          </p:cNvSpPr>
          <p:nvPr>
            <p:ph type="title"/>
          </p:nvPr>
        </p:nvSpPr>
        <p:spPr>
          <a:xfrm>
            <a:off x="0" y="1182647"/>
            <a:ext cx="11360800" cy="763600"/>
          </a:xfrm>
          <a:prstGeom prst="rect">
            <a:avLst/>
          </a:prstGeom>
        </p:spPr>
        <p:txBody>
          <a:bodyPr spcFirstLastPara="1" vert="horz" wrap="square" lIns="121900" tIns="121900" rIns="121900" bIns="121900" rtlCol="0" anchor="t" anchorCtr="0">
            <a:normAutofit fontScale="90000"/>
          </a:bodyPr>
          <a:lstStyle/>
          <a:p>
            <a:r>
              <a:rPr lang="en-GB" dirty="0"/>
              <a:t>Standard Deviation</a:t>
            </a:r>
            <a:endParaRPr dirty="0"/>
          </a:p>
        </p:txBody>
      </p:sp>
      <p:sp>
        <p:nvSpPr>
          <p:cNvPr id="170" name="Google Shape;170;p31"/>
          <p:cNvSpPr txBox="1">
            <a:spLocks noGrp="1"/>
          </p:cNvSpPr>
          <p:nvPr>
            <p:ph type="body" idx="1"/>
          </p:nvPr>
        </p:nvSpPr>
        <p:spPr>
          <a:xfrm>
            <a:off x="343521" y="2085353"/>
            <a:ext cx="9628400" cy="4555200"/>
          </a:xfrm>
          <a:prstGeom prst="rect">
            <a:avLst/>
          </a:prstGeom>
        </p:spPr>
        <p:txBody>
          <a:bodyPr spcFirstLastPara="1" vert="horz" wrap="square" lIns="121900" tIns="121900" rIns="121900" bIns="121900" rtlCol="0" anchor="t" anchorCtr="0">
            <a:normAutofit fontScale="92500"/>
          </a:bodyPr>
          <a:lstStyle/>
          <a:p>
            <a:pPr marL="0" indent="0">
              <a:buClr>
                <a:schemeClr val="dk1"/>
              </a:buClr>
              <a:buSzPct val="61111"/>
              <a:buNone/>
            </a:pPr>
            <a:r>
              <a:rPr lang="en-GB" sz="2400" dirty="0">
                <a:highlight>
                  <a:schemeClr val="accent4"/>
                </a:highlight>
              </a:rPr>
              <a:t>Distribution measures the deviation of data from its mean or average position</a:t>
            </a:r>
            <a:r>
              <a:rPr lang="en-GB" sz="2400" dirty="0"/>
              <a:t>. The degree of dispersion is computed by the method of estimating the deviation of data points. It is denoted by the symbol, ‘σ’.</a:t>
            </a:r>
            <a:endParaRPr sz="2400" dirty="0"/>
          </a:p>
          <a:p>
            <a:pPr marL="0" indent="0">
              <a:spcBef>
                <a:spcPts val="1600"/>
              </a:spcBef>
              <a:buClr>
                <a:schemeClr val="dk1"/>
              </a:buClr>
              <a:buSzPct val="61111"/>
              <a:buNone/>
            </a:pPr>
            <a:endParaRPr sz="2400" dirty="0"/>
          </a:p>
          <a:p>
            <a:pPr marL="0" indent="0">
              <a:spcBef>
                <a:spcPts val="1600"/>
              </a:spcBef>
              <a:buClr>
                <a:schemeClr val="dk1"/>
              </a:buClr>
              <a:buSzPct val="61111"/>
              <a:buNone/>
            </a:pPr>
            <a:r>
              <a:rPr lang="en-GB" sz="2400" b="1" dirty="0"/>
              <a:t>Properties of Standard Deviation</a:t>
            </a:r>
            <a:endParaRPr sz="2400" b="1" dirty="0"/>
          </a:p>
          <a:p>
            <a:pPr indent="-411470">
              <a:spcBef>
                <a:spcPts val="1600"/>
              </a:spcBef>
              <a:buSzPct val="100000"/>
            </a:pPr>
            <a:r>
              <a:rPr lang="en-GB" sz="2400" dirty="0"/>
              <a:t>It describes the square root of the mean of the squares of all values in a data set and is also called the root-mean-square deviation.</a:t>
            </a:r>
            <a:endParaRPr sz="2400" dirty="0"/>
          </a:p>
          <a:p>
            <a:pPr indent="-411470">
              <a:buSzPct val="100000"/>
            </a:pPr>
            <a:r>
              <a:rPr lang="en-GB" sz="2400" dirty="0"/>
              <a:t>The smallest value of the standard deviation is 0 since it cannot be negative.</a:t>
            </a:r>
            <a:endParaRPr sz="2400" dirty="0"/>
          </a:p>
          <a:p>
            <a:pPr indent="-411470">
              <a:buSzPct val="100000"/>
            </a:pPr>
            <a:r>
              <a:rPr lang="en-GB" sz="2400" dirty="0"/>
              <a:t>When the data values of </a:t>
            </a:r>
            <a:r>
              <a:rPr lang="en-GB" sz="2400" dirty="0">
                <a:solidFill>
                  <a:srgbClr val="FF0000"/>
                </a:solidFill>
              </a:rPr>
              <a:t>a group are similar, </a:t>
            </a:r>
            <a:r>
              <a:rPr lang="en-GB" sz="2400" dirty="0"/>
              <a:t>then the standard deviation will </a:t>
            </a:r>
            <a:r>
              <a:rPr lang="en-GB" sz="2400" dirty="0">
                <a:solidFill>
                  <a:srgbClr val="FF0000"/>
                </a:solidFill>
              </a:rPr>
              <a:t>be very low or close to zero</a:t>
            </a:r>
            <a:r>
              <a:rPr lang="en-GB" sz="2400" dirty="0"/>
              <a:t>. But when the data values vary with each other, then the standard variation </a:t>
            </a:r>
            <a:r>
              <a:rPr lang="en-GB" sz="2400" dirty="0">
                <a:solidFill>
                  <a:srgbClr val="FF0000"/>
                </a:solidFill>
              </a:rPr>
              <a:t>is high or far from zero</a:t>
            </a:r>
            <a:r>
              <a:rPr lang="en-GB" sz="2400" dirty="0"/>
              <a:t>.</a:t>
            </a:r>
            <a:endParaRPr sz="2400" dirty="0"/>
          </a:p>
          <a:p>
            <a:pPr marL="0" indent="0">
              <a:spcBef>
                <a:spcPts val="1600"/>
              </a:spcBef>
              <a:spcAft>
                <a:spcPts val="1600"/>
              </a:spcAft>
              <a:buNone/>
            </a:pPr>
            <a:endParaRPr dirty="0"/>
          </a:p>
        </p:txBody>
      </p:sp>
      <p:pic>
        <p:nvPicPr>
          <p:cNvPr id="171" name="Google Shape;171;p31"/>
          <p:cNvPicPr preferRelativeResize="0"/>
          <p:nvPr/>
        </p:nvPicPr>
        <p:blipFill>
          <a:blip r:embed="rId3">
            <a:alphaModFix/>
          </a:blip>
          <a:stretch>
            <a:fillRect/>
          </a:stretch>
        </p:blipFill>
        <p:spPr>
          <a:xfrm>
            <a:off x="7763200" y="2877187"/>
            <a:ext cx="4013200" cy="1381467"/>
          </a:xfrm>
          <a:prstGeom prst="rect">
            <a:avLst/>
          </a:prstGeom>
          <a:noFill/>
          <a:ln>
            <a:noFill/>
          </a:ln>
        </p:spPr>
      </p:pic>
      <p:sp>
        <p:nvSpPr>
          <p:cNvPr id="2" name="Slide Number Placeholder 1">
            <a:extLst>
              <a:ext uri="{FF2B5EF4-FFF2-40B4-BE49-F238E27FC236}">
                <a16:creationId xmlns:a16="http://schemas.microsoft.com/office/drawing/2014/main" id="{D7550D68-2EFD-1372-7E31-77FE28088600}"/>
              </a:ext>
            </a:extLst>
          </p:cNvPr>
          <p:cNvSpPr>
            <a:spLocks noGrp="1"/>
          </p:cNvSpPr>
          <p:nvPr>
            <p:ph type="sldNum" idx="12"/>
          </p:nvPr>
        </p:nvSpPr>
        <p:spPr>
          <a:xfrm>
            <a:off x="10629200" y="6333200"/>
            <a:ext cx="731600" cy="524800"/>
          </a:xfrm>
        </p:spPr>
        <p:txBody>
          <a:bodyPr/>
          <a:lstStyle/>
          <a:p>
            <a:fld id="{00000000-1234-1234-1234-123412341234}" type="slidenum">
              <a:rPr lang="en-GB" smtClean="0"/>
              <a:pPr/>
              <a:t>22</a:t>
            </a:fld>
            <a:endParaRPr lang="en-GB"/>
          </a:p>
        </p:txBody>
      </p:sp>
      <p:sp>
        <p:nvSpPr>
          <p:cNvPr id="3" name="TextBox 2">
            <a:extLst>
              <a:ext uri="{FF2B5EF4-FFF2-40B4-BE49-F238E27FC236}">
                <a16:creationId xmlns:a16="http://schemas.microsoft.com/office/drawing/2014/main" id="{0C782543-65E1-472E-A846-A9C35B99FAA4}"/>
              </a:ext>
            </a:extLst>
          </p:cNvPr>
          <p:cNvSpPr txBox="1"/>
          <p:nvPr/>
        </p:nvSpPr>
        <p:spPr>
          <a:xfrm flipH="1">
            <a:off x="1512569" y="3059668"/>
            <a:ext cx="2268856" cy="369332"/>
          </a:xfrm>
          <a:prstGeom prst="rect">
            <a:avLst/>
          </a:prstGeom>
          <a:noFill/>
        </p:spPr>
        <p:txBody>
          <a:bodyPr wrap="square" rtlCol="0">
            <a:spAutoFit/>
          </a:bodyPr>
          <a:lstStyle/>
          <a:p>
            <a:r>
              <a:rPr lang="ar-EG" dirty="0"/>
              <a:t>درجة التشتت</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2"/>
          <p:cNvSpPr txBox="1">
            <a:spLocks noGrp="1"/>
          </p:cNvSpPr>
          <p:nvPr>
            <p:ph type="title"/>
          </p:nvPr>
        </p:nvSpPr>
        <p:spPr>
          <a:xfrm>
            <a:off x="0" y="1172487"/>
            <a:ext cx="11360800" cy="763600"/>
          </a:xfrm>
          <a:prstGeom prst="rect">
            <a:avLst/>
          </a:prstGeom>
        </p:spPr>
        <p:txBody>
          <a:bodyPr spcFirstLastPara="1" vert="horz" wrap="square" lIns="121900" tIns="121900" rIns="121900" bIns="121900" rtlCol="0" anchor="t" anchorCtr="0">
            <a:normAutofit fontScale="90000"/>
          </a:bodyPr>
          <a:lstStyle/>
          <a:p>
            <a:r>
              <a:rPr lang="en-GB" dirty="0"/>
              <a:t>Range and Interquartile Range</a:t>
            </a:r>
            <a:endParaRPr dirty="0"/>
          </a:p>
        </p:txBody>
      </p:sp>
      <p:sp>
        <p:nvSpPr>
          <p:cNvPr id="177" name="Google Shape;177;p32"/>
          <p:cNvSpPr txBox="1">
            <a:spLocks noGrp="1"/>
          </p:cNvSpPr>
          <p:nvPr>
            <p:ph type="body" idx="1"/>
          </p:nvPr>
        </p:nvSpPr>
        <p:spPr>
          <a:xfrm>
            <a:off x="415600" y="2390073"/>
            <a:ext cx="11360800" cy="4555200"/>
          </a:xfrm>
          <a:prstGeom prst="rect">
            <a:avLst/>
          </a:prstGeom>
        </p:spPr>
        <p:txBody>
          <a:bodyPr spcFirstLastPara="1" vert="horz" wrap="square" lIns="121900" tIns="121900" rIns="121900" bIns="121900" rtlCol="0" anchor="t" anchorCtr="0">
            <a:normAutofit fontScale="77500" lnSpcReduction="20000"/>
          </a:bodyPr>
          <a:lstStyle/>
          <a:p>
            <a:pPr marL="0" indent="0">
              <a:buClr>
                <a:schemeClr val="dk1"/>
              </a:buClr>
              <a:buSzPts val="1100"/>
              <a:buNone/>
            </a:pPr>
            <a:r>
              <a:rPr lang="en-GB" sz="2467" dirty="0">
                <a:solidFill>
                  <a:schemeClr val="dk1"/>
                </a:solidFill>
                <a:highlight>
                  <a:srgbClr val="FFFFFF"/>
                </a:highlight>
              </a:rPr>
              <a:t>The </a:t>
            </a:r>
            <a:r>
              <a:rPr lang="en-GB" sz="2467" b="1" dirty="0">
                <a:solidFill>
                  <a:schemeClr val="dk1"/>
                </a:solidFill>
                <a:highlight>
                  <a:srgbClr val="FFFFFF"/>
                </a:highlight>
              </a:rPr>
              <a:t>interquartile range</a:t>
            </a:r>
            <a:r>
              <a:rPr lang="en-GB" sz="2467" dirty="0">
                <a:solidFill>
                  <a:schemeClr val="dk1"/>
                </a:solidFill>
                <a:highlight>
                  <a:srgbClr val="FFFFFF"/>
                </a:highlight>
              </a:rPr>
              <a:t> is a measure of where the “</a:t>
            </a:r>
            <a:r>
              <a:rPr lang="en-GB" sz="2467" dirty="0">
                <a:solidFill>
                  <a:schemeClr val="dk1"/>
                </a:solidFill>
                <a:highlight>
                  <a:srgbClr val="FFFFFF"/>
                </a:highlight>
                <a:uFill>
                  <a:noFill/>
                </a:uFill>
                <a:hlinkClick r:id="rId3">
                  <a:extLst>
                    <a:ext uri="{A12FA001-AC4F-418D-AE19-62706E023703}">
                      <ahyp:hlinkClr xmlns:ahyp="http://schemas.microsoft.com/office/drawing/2018/hyperlinkcolor" val="tx"/>
                    </a:ext>
                  </a:extLst>
                </a:hlinkClick>
              </a:rPr>
              <a:t>middle fifty</a:t>
            </a:r>
            <a:r>
              <a:rPr lang="en-GB" sz="2467" dirty="0">
                <a:solidFill>
                  <a:schemeClr val="dk1"/>
                </a:solidFill>
                <a:highlight>
                  <a:srgbClr val="FFFFFF"/>
                </a:highlight>
              </a:rPr>
              <a:t>” is in a data set. Where a </a:t>
            </a:r>
            <a:r>
              <a:rPr lang="en-GB" sz="2467" dirty="0">
                <a:solidFill>
                  <a:schemeClr val="dk1"/>
                </a:solidFill>
                <a:highlight>
                  <a:srgbClr val="FFFFFF"/>
                </a:highlight>
                <a:uFill>
                  <a:noFill/>
                </a:uFill>
                <a:hlinkClick r:id="rId4">
                  <a:extLst>
                    <a:ext uri="{A12FA001-AC4F-418D-AE19-62706E023703}">
                      <ahyp:hlinkClr xmlns:ahyp="http://schemas.microsoft.com/office/drawing/2018/hyperlinkcolor" val="tx"/>
                    </a:ext>
                  </a:extLst>
                </a:hlinkClick>
              </a:rPr>
              <a:t>range </a:t>
            </a:r>
            <a:r>
              <a:rPr lang="en-GB" sz="2467" dirty="0">
                <a:solidFill>
                  <a:schemeClr val="dk1"/>
                </a:solidFill>
                <a:highlight>
                  <a:srgbClr val="FFFFFF"/>
                </a:highlight>
              </a:rPr>
              <a:t>is a measure of where the beginning and end are in a set, </a:t>
            </a:r>
            <a:r>
              <a:rPr lang="en-GB" sz="2467" b="1" dirty="0">
                <a:solidFill>
                  <a:schemeClr val="dk1"/>
                </a:solidFill>
                <a:highlight>
                  <a:srgbClr val="FFFFFF"/>
                </a:highlight>
              </a:rPr>
              <a:t>an interquartile range is a measure of where the bulk of the values lie.</a:t>
            </a:r>
            <a:r>
              <a:rPr lang="en-GB" sz="2467" dirty="0">
                <a:solidFill>
                  <a:schemeClr val="dk1"/>
                </a:solidFill>
                <a:highlight>
                  <a:srgbClr val="FFFFFF"/>
                </a:highlight>
              </a:rPr>
              <a:t> That’s why it’s preferred over many other </a:t>
            </a:r>
            <a:r>
              <a:rPr lang="en-GB" sz="2467" dirty="0">
                <a:solidFill>
                  <a:schemeClr val="dk1"/>
                </a:solidFill>
                <a:highlight>
                  <a:srgbClr val="FFFFFF"/>
                </a:highlight>
                <a:uFill>
                  <a:noFill/>
                </a:uFill>
                <a:hlinkClick r:id="rId5">
                  <a:extLst>
                    <a:ext uri="{A12FA001-AC4F-418D-AE19-62706E023703}">
                      <ahyp:hlinkClr xmlns:ahyp="http://schemas.microsoft.com/office/drawing/2018/hyperlinkcolor" val="tx"/>
                    </a:ext>
                  </a:extLst>
                </a:hlinkClick>
              </a:rPr>
              <a:t>measures of spread</a:t>
            </a:r>
            <a:r>
              <a:rPr lang="en-GB" sz="2467" dirty="0">
                <a:solidFill>
                  <a:schemeClr val="dk1"/>
                </a:solidFill>
                <a:highlight>
                  <a:srgbClr val="FFFFFF"/>
                </a:highlight>
              </a:rPr>
              <a:t> when reporting things like school performance or SAT scores.</a:t>
            </a:r>
            <a:endParaRPr sz="2467" dirty="0">
              <a:solidFill>
                <a:schemeClr val="dk1"/>
              </a:solidFill>
              <a:highlight>
                <a:srgbClr val="FFFFFF"/>
              </a:highlight>
            </a:endParaRPr>
          </a:p>
          <a:p>
            <a:pPr marL="0" indent="0">
              <a:spcBef>
                <a:spcPts val="2133"/>
              </a:spcBef>
              <a:buClr>
                <a:schemeClr val="dk1"/>
              </a:buClr>
              <a:buSzPts val="1100"/>
              <a:buNone/>
            </a:pPr>
            <a:r>
              <a:rPr lang="en-GB" sz="2467" dirty="0">
                <a:solidFill>
                  <a:schemeClr val="dk1"/>
                </a:solidFill>
                <a:highlight>
                  <a:srgbClr val="FFFFFF"/>
                </a:highlight>
              </a:rPr>
              <a:t>The interquartile range formula is the first </a:t>
            </a:r>
            <a:r>
              <a:rPr lang="en-GB" sz="2467" dirty="0">
                <a:solidFill>
                  <a:schemeClr val="dk1"/>
                </a:solidFill>
                <a:highlight>
                  <a:srgbClr val="FFFFFF"/>
                </a:highlight>
                <a:uFill>
                  <a:noFill/>
                </a:uFill>
                <a:hlinkClick r:id="rId6">
                  <a:extLst>
                    <a:ext uri="{A12FA001-AC4F-418D-AE19-62706E023703}">
                      <ahyp:hlinkClr xmlns:ahyp="http://schemas.microsoft.com/office/drawing/2018/hyperlinkcolor" val="tx"/>
                    </a:ext>
                  </a:extLst>
                </a:hlinkClick>
              </a:rPr>
              <a:t>quartile </a:t>
            </a:r>
            <a:r>
              <a:rPr lang="en-GB" sz="2467" dirty="0">
                <a:solidFill>
                  <a:schemeClr val="dk1"/>
                </a:solidFill>
                <a:highlight>
                  <a:srgbClr val="FFFFFF"/>
                </a:highlight>
              </a:rPr>
              <a:t>subtracted from the third </a:t>
            </a:r>
            <a:r>
              <a:rPr lang="en-GB" sz="2467" dirty="0">
                <a:solidFill>
                  <a:schemeClr val="dk1"/>
                </a:solidFill>
                <a:highlight>
                  <a:srgbClr val="FFFFFF"/>
                </a:highlight>
                <a:uFill>
                  <a:noFill/>
                </a:uFill>
                <a:hlinkClick r:id="rId6">
                  <a:extLst>
                    <a:ext uri="{A12FA001-AC4F-418D-AE19-62706E023703}">
                      <ahyp:hlinkClr xmlns:ahyp="http://schemas.microsoft.com/office/drawing/2018/hyperlinkcolor" val="tx"/>
                    </a:ext>
                  </a:extLst>
                </a:hlinkClick>
              </a:rPr>
              <a:t>quartile</a:t>
            </a:r>
            <a:r>
              <a:rPr lang="en-GB" sz="2467" dirty="0">
                <a:solidFill>
                  <a:schemeClr val="dk1"/>
                </a:solidFill>
                <a:highlight>
                  <a:srgbClr val="FFFFFF"/>
                </a:highlight>
              </a:rPr>
              <a:t>:</a:t>
            </a:r>
            <a:endParaRPr sz="2467" dirty="0">
              <a:solidFill>
                <a:schemeClr val="dk1"/>
              </a:solidFill>
              <a:highlight>
                <a:srgbClr val="FFFFFF"/>
              </a:highlight>
            </a:endParaRPr>
          </a:p>
          <a:p>
            <a:pPr marL="0" indent="0" algn="ctr">
              <a:spcBef>
                <a:spcPts val="2133"/>
              </a:spcBef>
              <a:buClr>
                <a:schemeClr val="dk1"/>
              </a:buClr>
              <a:buSzPts val="1100"/>
              <a:buNone/>
            </a:pPr>
            <a:r>
              <a:rPr lang="en-GB" sz="2467" b="1" dirty="0">
                <a:solidFill>
                  <a:srgbClr val="575760"/>
                </a:solidFill>
                <a:highlight>
                  <a:srgbClr val="FFFFFF"/>
                </a:highlight>
              </a:rPr>
              <a:t>IQR = Q</a:t>
            </a:r>
            <a:r>
              <a:rPr lang="en-GB" sz="2133" b="1" dirty="0">
                <a:solidFill>
                  <a:srgbClr val="575760"/>
                </a:solidFill>
                <a:highlight>
                  <a:srgbClr val="FFFFFF"/>
                </a:highlight>
              </a:rPr>
              <a:t>3</a:t>
            </a:r>
            <a:r>
              <a:rPr lang="en-GB" sz="2467" b="1" dirty="0">
                <a:solidFill>
                  <a:srgbClr val="575760"/>
                </a:solidFill>
                <a:highlight>
                  <a:srgbClr val="FFFFFF"/>
                </a:highlight>
              </a:rPr>
              <a:t> – Q</a:t>
            </a:r>
            <a:r>
              <a:rPr lang="en-GB" sz="2133" b="1" dirty="0">
                <a:solidFill>
                  <a:srgbClr val="575760"/>
                </a:solidFill>
                <a:highlight>
                  <a:srgbClr val="FFFFFF"/>
                </a:highlight>
              </a:rPr>
              <a:t>1</a:t>
            </a:r>
            <a:r>
              <a:rPr lang="en-GB" sz="2467" b="1" dirty="0">
                <a:solidFill>
                  <a:srgbClr val="575760"/>
                </a:solidFill>
                <a:highlight>
                  <a:srgbClr val="FFFFFF"/>
                </a:highlight>
              </a:rPr>
              <a:t>.</a:t>
            </a:r>
            <a:endParaRPr sz="2467" b="1" dirty="0">
              <a:solidFill>
                <a:srgbClr val="575760"/>
              </a:solidFill>
              <a:highlight>
                <a:srgbClr val="FFFFFF"/>
              </a:highlight>
            </a:endParaRPr>
          </a:p>
          <a:p>
            <a:pPr marL="0" indent="0">
              <a:spcAft>
                <a:spcPts val="1600"/>
              </a:spcAft>
              <a:buNone/>
            </a:pPr>
            <a:endParaRPr lang="en-US" dirty="0"/>
          </a:p>
          <a:p>
            <a:pPr marL="457200" indent="-457200">
              <a:spcAft>
                <a:spcPts val="1600"/>
              </a:spcAft>
            </a:pPr>
            <a:r>
              <a:rPr lang="en-US" dirty="0"/>
              <a:t>Range: The difference between the highest and lowest values in a dataset.</a:t>
            </a:r>
          </a:p>
          <a:p>
            <a:pPr marL="457200" indent="-457200">
              <a:spcAft>
                <a:spcPts val="1600"/>
              </a:spcAft>
            </a:pPr>
            <a:r>
              <a:rPr lang="en-US" dirty="0"/>
              <a:t>Interquartile Range (IQR):The difference between the third quartile (Q3) and the first quartile (Q1) in a dataset.</a:t>
            </a:r>
          </a:p>
          <a:p>
            <a:pPr marL="457200" indent="-457200">
              <a:spcAft>
                <a:spcPts val="1600"/>
              </a:spcAft>
            </a:pPr>
            <a:r>
              <a:rPr lang="en-US" dirty="0"/>
              <a:t>They're used to measure the spread of data, with IQR being </a:t>
            </a:r>
            <a:r>
              <a:rPr lang="en-US" dirty="0">
                <a:solidFill>
                  <a:srgbClr val="FF0000"/>
                </a:solidFill>
              </a:rPr>
              <a:t>less sensitive to outliers </a:t>
            </a:r>
            <a:r>
              <a:rPr lang="en-US" dirty="0"/>
              <a:t>than the range. They provide insights into data distribution and are easy to interpret and calculate.</a:t>
            </a:r>
            <a:endParaRPr dirty="0"/>
          </a:p>
        </p:txBody>
      </p:sp>
      <p:sp>
        <p:nvSpPr>
          <p:cNvPr id="2" name="Slide Number Placeholder 1">
            <a:extLst>
              <a:ext uri="{FF2B5EF4-FFF2-40B4-BE49-F238E27FC236}">
                <a16:creationId xmlns:a16="http://schemas.microsoft.com/office/drawing/2014/main" id="{20BC3822-D45C-0C4B-6AB8-C628A5DCD22E}"/>
              </a:ext>
            </a:extLst>
          </p:cNvPr>
          <p:cNvSpPr>
            <a:spLocks noGrp="1"/>
          </p:cNvSpPr>
          <p:nvPr>
            <p:ph type="sldNum" idx="12"/>
          </p:nvPr>
        </p:nvSpPr>
        <p:spPr>
          <a:xfrm>
            <a:off x="10717491" y="6197303"/>
            <a:ext cx="731600" cy="524800"/>
          </a:xfrm>
        </p:spPr>
        <p:txBody>
          <a:bodyPr/>
          <a:lstStyle/>
          <a:p>
            <a:fld id="{00000000-1234-1234-1234-123412341234}" type="slidenum">
              <a:rPr lang="en-GB" smtClean="0"/>
              <a:pPr/>
              <a:t>23</a:t>
            </a:fld>
            <a:endParaRPr lang="en-GB"/>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3"/>
          <p:cNvSpPr txBox="1">
            <a:spLocks noGrp="1"/>
          </p:cNvSpPr>
          <p:nvPr>
            <p:ph type="title"/>
          </p:nvPr>
        </p:nvSpPr>
        <p:spPr>
          <a:xfrm>
            <a:off x="110800" y="999767"/>
            <a:ext cx="11360800" cy="763600"/>
          </a:xfrm>
          <a:prstGeom prst="rect">
            <a:avLst/>
          </a:prstGeom>
        </p:spPr>
        <p:txBody>
          <a:bodyPr spcFirstLastPara="1" vert="horz" wrap="square" lIns="121900" tIns="121900" rIns="121900" bIns="121900" rtlCol="0" anchor="t" anchorCtr="0">
            <a:normAutofit fontScale="90000"/>
          </a:bodyPr>
          <a:lstStyle/>
          <a:p>
            <a:r>
              <a:rPr lang="en-GB" dirty="0"/>
              <a:t>1st quartile and 3rd quartile</a:t>
            </a:r>
            <a:endParaRPr dirty="0"/>
          </a:p>
        </p:txBody>
      </p:sp>
      <p:sp>
        <p:nvSpPr>
          <p:cNvPr id="183" name="Google Shape;183;p33"/>
          <p:cNvSpPr txBox="1">
            <a:spLocks noGrp="1"/>
          </p:cNvSpPr>
          <p:nvPr>
            <p:ph type="body" idx="1"/>
          </p:nvPr>
        </p:nvSpPr>
        <p:spPr>
          <a:xfrm>
            <a:off x="415600" y="205479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r>
              <a:rPr lang="en-GB" sz="2000" dirty="0"/>
              <a:t>Quartiles segment any distribution that’s ordered from low to high into four equal parts. The interquartile range (IQR) contains the second and third quartiles, or the middle half of your data set.</a:t>
            </a:r>
            <a:endParaRPr sz="2000" dirty="0"/>
          </a:p>
        </p:txBody>
      </p:sp>
      <p:pic>
        <p:nvPicPr>
          <p:cNvPr id="184" name="Google Shape;184;p33"/>
          <p:cNvPicPr preferRelativeResize="0"/>
          <p:nvPr/>
        </p:nvPicPr>
        <p:blipFill>
          <a:blip r:embed="rId3">
            <a:alphaModFix/>
          </a:blip>
          <a:stretch>
            <a:fillRect/>
          </a:stretch>
        </p:blipFill>
        <p:spPr>
          <a:xfrm>
            <a:off x="2827701" y="3066733"/>
            <a:ext cx="6536599" cy="3445900"/>
          </a:xfrm>
          <a:prstGeom prst="rect">
            <a:avLst/>
          </a:prstGeom>
          <a:noFill/>
          <a:ln>
            <a:noFill/>
          </a:ln>
        </p:spPr>
      </p:pic>
      <p:sp>
        <p:nvSpPr>
          <p:cNvPr id="2" name="Slide Number Placeholder 1">
            <a:extLst>
              <a:ext uri="{FF2B5EF4-FFF2-40B4-BE49-F238E27FC236}">
                <a16:creationId xmlns:a16="http://schemas.microsoft.com/office/drawing/2014/main" id="{93A8347C-1CA0-A23D-2865-97C0A03F2CD6}"/>
              </a:ext>
            </a:extLst>
          </p:cNvPr>
          <p:cNvSpPr>
            <a:spLocks noGrp="1"/>
          </p:cNvSpPr>
          <p:nvPr>
            <p:ph type="sldNum" idx="12"/>
          </p:nvPr>
        </p:nvSpPr>
        <p:spPr>
          <a:xfrm>
            <a:off x="10626051" y="6250233"/>
            <a:ext cx="731600" cy="524800"/>
          </a:xfrm>
        </p:spPr>
        <p:txBody>
          <a:bodyPr/>
          <a:lstStyle/>
          <a:p>
            <a:fld id="{00000000-1234-1234-1234-123412341234}" type="slidenum">
              <a:rPr lang="en-GB" smtClean="0"/>
              <a:pPr/>
              <a:t>24</a:t>
            </a:fld>
            <a:endParaRPr lang="en-GB"/>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4"/>
          <p:cNvSpPr txBox="1">
            <a:spLocks noGrp="1"/>
          </p:cNvSpPr>
          <p:nvPr>
            <p:ph type="title"/>
          </p:nvPr>
        </p:nvSpPr>
        <p:spPr>
          <a:xfrm>
            <a:off x="151440" y="1091207"/>
            <a:ext cx="11360800" cy="763600"/>
          </a:xfrm>
          <a:prstGeom prst="rect">
            <a:avLst/>
          </a:prstGeom>
        </p:spPr>
        <p:txBody>
          <a:bodyPr spcFirstLastPara="1" vert="horz" wrap="square" lIns="121900" tIns="121900" rIns="121900" bIns="121900" rtlCol="0" anchor="t" anchorCtr="0">
            <a:normAutofit fontScale="90000"/>
          </a:bodyPr>
          <a:lstStyle/>
          <a:p>
            <a:r>
              <a:rPr lang="en-GB"/>
              <a:t>Quartile Calculations</a:t>
            </a:r>
            <a:endParaRPr/>
          </a:p>
        </p:txBody>
      </p:sp>
      <p:pic>
        <p:nvPicPr>
          <p:cNvPr id="190" name="Google Shape;190;p34"/>
          <p:cNvPicPr preferRelativeResize="0"/>
          <p:nvPr/>
        </p:nvPicPr>
        <p:blipFill>
          <a:blip r:embed="rId3">
            <a:alphaModFix/>
          </a:blip>
          <a:stretch>
            <a:fillRect/>
          </a:stretch>
        </p:blipFill>
        <p:spPr>
          <a:xfrm>
            <a:off x="2275840" y="1970687"/>
            <a:ext cx="8604878" cy="4135473"/>
          </a:xfrm>
          <a:prstGeom prst="rect">
            <a:avLst/>
          </a:prstGeom>
          <a:noFill/>
          <a:ln>
            <a:noFill/>
          </a:ln>
        </p:spPr>
      </p:pic>
      <p:sp>
        <p:nvSpPr>
          <p:cNvPr id="2" name="Slide Number Placeholder 1">
            <a:extLst>
              <a:ext uri="{FF2B5EF4-FFF2-40B4-BE49-F238E27FC236}">
                <a16:creationId xmlns:a16="http://schemas.microsoft.com/office/drawing/2014/main" id="{4F2DC145-1680-7657-FD59-03669FACEF88}"/>
              </a:ext>
            </a:extLst>
          </p:cNvPr>
          <p:cNvSpPr>
            <a:spLocks noGrp="1"/>
          </p:cNvSpPr>
          <p:nvPr>
            <p:ph type="sldNum" idx="12"/>
          </p:nvPr>
        </p:nvSpPr>
        <p:spPr>
          <a:xfrm>
            <a:off x="10666691" y="6222040"/>
            <a:ext cx="731600" cy="524800"/>
          </a:xfrm>
        </p:spPr>
        <p:txBody>
          <a:bodyPr/>
          <a:lstStyle/>
          <a:p>
            <a:fld id="{00000000-1234-1234-1234-123412341234}" type="slidenum">
              <a:rPr lang="en-GB" smtClean="0"/>
              <a:pPr/>
              <a:t>25</a:t>
            </a:fld>
            <a:endParaRPr lang="en-GB"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5"/>
          <p:cNvSpPr txBox="1">
            <a:spLocks noGrp="1"/>
          </p:cNvSpPr>
          <p:nvPr>
            <p:ph type="title"/>
          </p:nvPr>
        </p:nvSpPr>
        <p:spPr>
          <a:xfrm>
            <a:off x="344480" y="1231470"/>
            <a:ext cx="11360800" cy="763600"/>
          </a:xfrm>
          <a:prstGeom prst="rect">
            <a:avLst/>
          </a:prstGeom>
        </p:spPr>
        <p:txBody>
          <a:bodyPr spcFirstLastPara="1" vert="horz" wrap="square" lIns="121900" tIns="121900" rIns="121900" bIns="121900" rtlCol="0" anchor="t" anchorCtr="0">
            <a:normAutofit fontScale="90000"/>
          </a:bodyPr>
          <a:lstStyle/>
          <a:p>
            <a:r>
              <a:rPr lang="en-GB"/>
              <a:t>Box Plot</a:t>
            </a:r>
            <a:endParaRPr/>
          </a:p>
        </p:txBody>
      </p:sp>
      <p:sp>
        <p:nvSpPr>
          <p:cNvPr id="196" name="Google Shape;196;p35"/>
          <p:cNvSpPr txBox="1">
            <a:spLocks noGrp="1"/>
          </p:cNvSpPr>
          <p:nvPr>
            <p:ph type="body" idx="1"/>
          </p:nvPr>
        </p:nvSpPr>
        <p:spPr>
          <a:xfrm>
            <a:off x="629920" y="2288473"/>
            <a:ext cx="11075360" cy="4569527"/>
          </a:xfrm>
          <a:prstGeom prst="rect">
            <a:avLst/>
          </a:prstGeom>
        </p:spPr>
        <p:txBody>
          <a:bodyPr spcFirstLastPara="1" vert="horz" wrap="square" lIns="121900" tIns="121900" rIns="121900" bIns="121900" rtlCol="0" anchor="t" anchorCtr="0">
            <a:normAutofit/>
          </a:bodyPr>
          <a:lstStyle/>
          <a:p>
            <a:pPr marL="0" indent="0">
              <a:buNone/>
            </a:pPr>
            <a:r>
              <a:rPr lang="en-GB" sz="2000" dirty="0"/>
              <a:t>Box plots divide the data into sections that each contain approximately 25% of the data in that set.</a:t>
            </a:r>
            <a:endParaRPr sz="2000" dirty="0"/>
          </a:p>
          <a:p>
            <a:pPr marL="0" indent="0">
              <a:spcBef>
                <a:spcPts val="1600"/>
              </a:spcBef>
              <a:buNone/>
            </a:pPr>
            <a:endParaRPr sz="2000" dirty="0"/>
          </a:p>
          <a:p>
            <a:pPr marL="0" indent="0">
              <a:spcBef>
                <a:spcPts val="1600"/>
              </a:spcBef>
              <a:buNone/>
            </a:pPr>
            <a:endParaRPr sz="2000" dirty="0"/>
          </a:p>
          <a:p>
            <a:pPr marL="0" indent="0">
              <a:spcBef>
                <a:spcPts val="1600"/>
              </a:spcBef>
              <a:buNone/>
            </a:pPr>
            <a:endParaRPr sz="2000" dirty="0"/>
          </a:p>
          <a:p>
            <a:pPr marL="0" indent="0">
              <a:spcBef>
                <a:spcPts val="1600"/>
              </a:spcBef>
              <a:buNone/>
            </a:pPr>
            <a:endParaRPr sz="2000" dirty="0"/>
          </a:p>
          <a:p>
            <a:pPr marL="0" indent="0">
              <a:spcBef>
                <a:spcPts val="1600"/>
              </a:spcBef>
              <a:buNone/>
            </a:pPr>
            <a:r>
              <a:rPr lang="en-GB" sz="2000" dirty="0"/>
              <a:t>Box plots are useful as they provide a visual summary of the data enabling researchers to quickly identify mean values, the dispersion of the data set, and signs of outliers.</a:t>
            </a:r>
            <a:endParaRPr sz="2000" dirty="0"/>
          </a:p>
          <a:p>
            <a:pPr marL="0" indent="0">
              <a:spcBef>
                <a:spcPts val="1600"/>
              </a:spcBef>
              <a:spcAft>
                <a:spcPts val="1600"/>
              </a:spcAft>
              <a:buNone/>
            </a:pPr>
            <a:endParaRPr dirty="0"/>
          </a:p>
        </p:txBody>
      </p:sp>
      <p:pic>
        <p:nvPicPr>
          <p:cNvPr id="197" name="Google Shape;197;p35"/>
          <p:cNvPicPr preferRelativeResize="0"/>
          <p:nvPr/>
        </p:nvPicPr>
        <p:blipFill>
          <a:blip r:embed="rId3">
            <a:alphaModFix/>
          </a:blip>
          <a:stretch>
            <a:fillRect/>
          </a:stretch>
        </p:blipFill>
        <p:spPr>
          <a:xfrm>
            <a:off x="4819809" y="2875280"/>
            <a:ext cx="4665667" cy="1782200"/>
          </a:xfrm>
          <a:prstGeom prst="rect">
            <a:avLst/>
          </a:prstGeom>
          <a:noFill/>
          <a:ln>
            <a:noFill/>
          </a:ln>
        </p:spPr>
      </p:pic>
      <p:sp>
        <p:nvSpPr>
          <p:cNvPr id="2" name="Slide Number Placeholder 1">
            <a:extLst>
              <a:ext uri="{FF2B5EF4-FFF2-40B4-BE49-F238E27FC236}">
                <a16:creationId xmlns:a16="http://schemas.microsoft.com/office/drawing/2014/main" id="{FD42FB0F-6CCD-98C8-58D4-B7F994FC7CA3}"/>
              </a:ext>
            </a:extLst>
          </p:cNvPr>
          <p:cNvSpPr>
            <a:spLocks noGrp="1"/>
          </p:cNvSpPr>
          <p:nvPr>
            <p:ph type="sldNum" idx="12"/>
          </p:nvPr>
        </p:nvSpPr>
        <p:spPr>
          <a:xfrm>
            <a:off x="10727651" y="6217623"/>
            <a:ext cx="731600" cy="524800"/>
          </a:xfrm>
        </p:spPr>
        <p:txBody>
          <a:bodyPr/>
          <a:lstStyle/>
          <a:p>
            <a:fld id="{00000000-1234-1234-1234-123412341234}" type="slidenum">
              <a:rPr lang="en-GB" smtClean="0"/>
              <a:pPr/>
              <a:t>26</a:t>
            </a:fld>
            <a:endParaRPr lang="en-GB"/>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6"/>
          <p:cNvSpPr txBox="1">
            <a:spLocks noGrp="1"/>
          </p:cNvSpPr>
          <p:nvPr>
            <p:ph type="title"/>
          </p:nvPr>
        </p:nvSpPr>
        <p:spPr>
          <a:xfrm>
            <a:off x="415600" y="1223287"/>
            <a:ext cx="11360800" cy="763600"/>
          </a:xfrm>
          <a:prstGeom prst="rect">
            <a:avLst/>
          </a:prstGeom>
        </p:spPr>
        <p:txBody>
          <a:bodyPr spcFirstLastPara="1" vert="horz" wrap="square" lIns="121900" tIns="121900" rIns="121900" bIns="121900" rtlCol="0" anchor="t" anchorCtr="0">
            <a:normAutofit fontScale="90000"/>
          </a:bodyPr>
          <a:lstStyle/>
          <a:p>
            <a:r>
              <a:rPr lang="en-GB" dirty="0"/>
              <a:t>Box Plot</a:t>
            </a:r>
            <a:endParaRPr dirty="0"/>
          </a:p>
        </p:txBody>
      </p:sp>
      <p:pic>
        <p:nvPicPr>
          <p:cNvPr id="203" name="Google Shape;203;p36"/>
          <p:cNvPicPr preferRelativeResize="0"/>
          <p:nvPr/>
        </p:nvPicPr>
        <p:blipFill>
          <a:blip r:embed="rId3">
            <a:alphaModFix/>
          </a:blip>
          <a:stretch>
            <a:fillRect/>
          </a:stretch>
        </p:blipFill>
        <p:spPr>
          <a:xfrm>
            <a:off x="3647440" y="2068169"/>
            <a:ext cx="5667314" cy="3966872"/>
          </a:xfrm>
          <a:prstGeom prst="rect">
            <a:avLst/>
          </a:prstGeom>
          <a:noFill/>
          <a:ln>
            <a:noFill/>
          </a:ln>
        </p:spPr>
      </p:pic>
      <p:sp>
        <p:nvSpPr>
          <p:cNvPr id="2" name="Slide Number Placeholder 1">
            <a:extLst>
              <a:ext uri="{FF2B5EF4-FFF2-40B4-BE49-F238E27FC236}">
                <a16:creationId xmlns:a16="http://schemas.microsoft.com/office/drawing/2014/main" id="{3DC44467-D1C1-5074-A578-621608774A38}"/>
              </a:ext>
            </a:extLst>
          </p:cNvPr>
          <p:cNvSpPr>
            <a:spLocks noGrp="1"/>
          </p:cNvSpPr>
          <p:nvPr>
            <p:ph type="sldNum" idx="12"/>
          </p:nvPr>
        </p:nvSpPr>
        <p:spPr>
          <a:xfrm>
            <a:off x="10626051" y="6333200"/>
            <a:ext cx="731600" cy="524800"/>
          </a:xfrm>
        </p:spPr>
        <p:txBody>
          <a:bodyPr/>
          <a:lstStyle/>
          <a:p>
            <a:fld id="{00000000-1234-1234-1234-123412341234}" type="slidenum">
              <a:rPr lang="en-GB" smtClean="0"/>
              <a:pPr/>
              <a:t>27</a:t>
            </a:fld>
            <a:endParaRPr lang="en-GB"/>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7"/>
          <p:cNvSpPr txBox="1">
            <a:spLocks noGrp="1"/>
          </p:cNvSpPr>
          <p:nvPr>
            <p:ph type="title"/>
          </p:nvPr>
        </p:nvSpPr>
        <p:spPr>
          <a:xfrm>
            <a:off x="232720" y="1182647"/>
            <a:ext cx="11360800" cy="763600"/>
          </a:xfrm>
          <a:prstGeom prst="rect">
            <a:avLst/>
          </a:prstGeom>
        </p:spPr>
        <p:txBody>
          <a:bodyPr spcFirstLastPara="1" vert="horz" wrap="square" lIns="121900" tIns="121900" rIns="121900" bIns="121900" rtlCol="0" anchor="t" anchorCtr="0">
            <a:normAutofit fontScale="90000"/>
          </a:bodyPr>
          <a:lstStyle/>
          <a:p>
            <a:r>
              <a:rPr lang="en-GB" dirty="0"/>
              <a:t>Box Plot</a:t>
            </a:r>
            <a:endParaRPr dirty="0"/>
          </a:p>
        </p:txBody>
      </p:sp>
      <p:sp>
        <p:nvSpPr>
          <p:cNvPr id="209" name="Google Shape;209;p37"/>
          <p:cNvSpPr txBox="1">
            <a:spLocks noGrp="1"/>
          </p:cNvSpPr>
          <p:nvPr>
            <p:ph type="body" idx="1"/>
          </p:nvPr>
        </p:nvSpPr>
        <p:spPr>
          <a:xfrm>
            <a:off x="415584" y="207511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r>
              <a:rPr lang="en-GB" sz="2000" dirty="0"/>
              <a:t>When reviewing a box plot, an </a:t>
            </a:r>
            <a:r>
              <a:rPr lang="en-GB" sz="2000" dirty="0">
                <a:highlight>
                  <a:schemeClr val="accent4"/>
                </a:highlight>
              </a:rPr>
              <a:t>outlier is defined as a data point that is located outside the whiskers of the box plot</a:t>
            </a:r>
            <a:r>
              <a:rPr lang="en-GB" sz="2000" dirty="0"/>
              <a:t>.</a:t>
            </a:r>
            <a:endParaRPr sz="2000" dirty="0"/>
          </a:p>
        </p:txBody>
      </p:sp>
      <p:pic>
        <p:nvPicPr>
          <p:cNvPr id="210" name="Google Shape;210;p37"/>
          <p:cNvPicPr preferRelativeResize="0"/>
          <p:nvPr/>
        </p:nvPicPr>
        <p:blipFill>
          <a:blip r:embed="rId3">
            <a:alphaModFix/>
          </a:blip>
          <a:stretch>
            <a:fillRect/>
          </a:stretch>
        </p:blipFill>
        <p:spPr>
          <a:xfrm>
            <a:off x="2774934" y="2902867"/>
            <a:ext cx="6642100" cy="3327400"/>
          </a:xfrm>
          <a:prstGeom prst="rect">
            <a:avLst/>
          </a:prstGeom>
          <a:noFill/>
          <a:ln>
            <a:noFill/>
          </a:ln>
        </p:spPr>
      </p:pic>
      <p:sp>
        <p:nvSpPr>
          <p:cNvPr id="2" name="Slide Number Placeholder 1">
            <a:extLst>
              <a:ext uri="{FF2B5EF4-FFF2-40B4-BE49-F238E27FC236}">
                <a16:creationId xmlns:a16="http://schemas.microsoft.com/office/drawing/2014/main" id="{C50436BA-83E3-90A1-A49C-5957E2877124}"/>
              </a:ext>
            </a:extLst>
          </p:cNvPr>
          <p:cNvSpPr>
            <a:spLocks noGrp="1"/>
          </p:cNvSpPr>
          <p:nvPr>
            <p:ph type="sldNum" idx="12"/>
          </p:nvPr>
        </p:nvSpPr>
        <p:spPr/>
        <p:txBody>
          <a:bodyPr/>
          <a:lstStyle/>
          <a:p>
            <a:fld id="{00000000-1234-1234-1234-123412341234}" type="slidenum">
              <a:rPr lang="en-GB" smtClean="0"/>
              <a:pPr/>
              <a:t>28</a:t>
            </a:fld>
            <a:endParaRPr lang="en-GB"/>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8"/>
          <p:cNvSpPr txBox="1">
            <a:spLocks noGrp="1"/>
          </p:cNvSpPr>
          <p:nvPr>
            <p:ph type="title"/>
          </p:nvPr>
        </p:nvSpPr>
        <p:spPr>
          <a:xfrm>
            <a:off x="0" y="1192807"/>
            <a:ext cx="11360800" cy="763600"/>
          </a:xfrm>
          <a:prstGeom prst="rect">
            <a:avLst/>
          </a:prstGeom>
        </p:spPr>
        <p:txBody>
          <a:bodyPr spcFirstLastPara="1" vert="horz" wrap="square" lIns="121900" tIns="121900" rIns="121900" bIns="121900" rtlCol="0" anchor="t" anchorCtr="0">
            <a:normAutofit fontScale="90000"/>
          </a:bodyPr>
          <a:lstStyle/>
          <a:p>
            <a:r>
              <a:rPr lang="en-GB"/>
              <a:t>Normal Distribution</a:t>
            </a:r>
            <a:endParaRPr/>
          </a:p>
        </p:txBody>
      </p:sp>
      <p:pic>
        <p:nvPicPr>
          <p:cNvPr id="216" name="Google Shape;216;p38"/>
          <p:cNvPicPr preferRelativeResize="0"/>
          <p:nvPr/>
        </p:nvPicPr>
        <p:blipFill>
          <a:blip r:embed="rId3">
            <a:alphaModFix/>
          </a:blip>
          <a:stretch>
            <a:fillRect/>
          </a:stretch>
        </p:blipFill>
        <p:spPr>
          <a:xfrm>
            <a:off x="1148080" y="2258691"/>
            <a:ext cx="7508609" cy="3709701"/>
          </a:xfrm>
          <a:prstGeom prst="rect">
            <a:avLst/>
          </a:prstGeom>
          <a:noFill/>
          <a:ln>
            <a:noFill/>
          </a:ln>
        </p:spPr>
      </p:pic>
      <p:sp>
        <p:nvSpPr>
          <p:cNvPr id="217" name="Google Shape;217;p38"/>
          <p:cNvSpPr txBox="1"/>
          <p:nvPr/>
        </p:nvSpPr>
        <p:spPr>
          <a:xfrm>
            <a:off x="7776400" y="1356968"/>
            <a:ext cx="4000000" cy="4124166"/>
          </a:xfrm>
          <a:prstGeom prst="rect">
            <a:avLst/>
          </a:prstGeom>
          <a:noFill/>
          <a:ln>
            <a:noFill/>
          </a:ln>
        </p:spPr>
        <p:txBody>
          <a:bodyPr spcFirstLastPara="1" wrap="square" lIns="121900" tIns="121900" rIns="121900" bIns="121900" anchor="t" anchorCtr="0">
            <a:spAutoFit/>
          </a:bodyPr>
          <a:lstStyle/>
          <a:p>
            <a:r>
              <a:rPr lang="en-GB" dirty="0">
                <a:solidFill>
                  <a:srgbClr val="2D3754"/>
                </a:solidFill>
                <a:highlight>
                  <a:srgbClr val="FFFFFF"/>
                </a:highlight>
                <a:latin typeface="Montserrat"/>
                <a:ea typeface="Montserrat"/>
                <a:cs typeface="Montserrat"/>
                <a:sym typeface="Montserrat"/>
              </a:rPr>
              <a:t>The normal distribution, also known as a </a:t>
            </a:r>
            <a:r>
              <a:rPr lang="en-GB" dirty="0">
                <a:solidFill>
                  <a:srgbClr val="2D3754"/>
                </a:solidFill>
                <a:highlight>
                  <a:schemeClr val="accent4"/>
                </a:highlight>
                <a:latin typeface="Montserrat"/>
                <a:ea typeface="Montserrat"/>
                <a:cs typeface="Montserrat"/>
                <a:sym typeface="Montserrat"/>
              </a:rPr>
              <a:t>Gaussian distribution or “bell curve” is the most common frequency distribution</a:t>
            </a:r>
            <a:r>
              <a:rPr lang="en-GB" dirty="0">
                <a:solidFill>
                  <a:srgbClr val="2D3754"/>
                </a:solidFill>
                <a:highlight>
                  <a:srgbClr val="FFFFFF"/>
                </a:highlight>
                <a:latin typeface="Montserrat"/>
                <a:ea typeface="Montserrat"/>
                <a:cs typeface="Montserrat"/>
                <a:sym typeface="Montserrat"/>
              </a:rPr>
              <a:t>. This distribution is symmetrical, with most values falling towards the centre and long tails to the left and right. It is a continuous distribution, with no gaps between values.</a:t>
            </a:r>
            <a:endParaRPr dirty="0">
              <a:solidFill>
                <a:srgbClr val="2D3754"/>
              </a:solidFill>
              <a:highlight>
                <a:srgbClr val="FFFFFF"/>
              </a:highlight>
              <a:latin typeface="Montserrat"/>
              <a:ea typeface="Montserrat"/>
              <a:cs typeface="Montserrat"/>
              <a:sym typeface="Montserrat"/>
            </a:endParaRPr>
          </a:p>
          <a:p>
            <a:endParaRPr sz="2400" dirty="0">
              <a:solidFill>
                <a:srgbClr val="2D3754"/>
              </a:solidFill>
              <a:highlight>
                <a:srgbClr val="FFFFFF"/>
              </a:highlight>
              <a:latin typeface="Montserrat"/>
              <a:ea typeface="Montserrat"/>
              <a:cs typeface="Montserrat"/>
              <a:sym typeface="Montserrat"/>
            </a:endParaRPr>
          </a:p>
          <a:p>
            <a:r>
              <a:rPr lang="en-GB" sz="2400" dirty="0">
                <a:solidFill>
                  <a:srgbClr val="2D3754"/>
                </a:solidFill>
                <a:highlight>
                  <a:srgbClr val="FFFFFF"/>
                </a:highlight>
                <a:latin typeface="Montserrat"/>
                <a:ea typeface="Montserrat"/>
                <a:cs typeface="Montserrat"/>
                <a:sym typeface="Montserrat"/>
              </a:rPr>
              <a:t>Later we can use this to identify the </a:t>
            </a:r>
            <a:r>
              <a:rPr lang="en-GB" sz="2400" dirty="0">
                <a:solidFill>
                  <a:srgbClr val="2D3754"/>
                </a:solidFill>
                <a:highlight>
                  <a:schemeClr val="accent4"/>
                </a:highlight>
                <a:latin typeface="Montserrat"/>
                <a:ea typeface="Montserrat"/>
                <a:cs typeface="Montserrat"/>
                <a:sym typeface="Montserrat"/>
              </a:rPr>
              <a:t>outliers</a:t>
            </a:r>
            <a:endParaRPr sz="2400" dirty="0">
              <a:solidFill>
                <a:srgbClr val="2D3754"/>
              </a:solidFill>
              <a:highlight>
                <a:schemeClr val="accent4"/>
              </a:highlight>
              <a:latin typeface="Montserrat"/>
              <a:ea typeface="Montserrat"/>
              <a:cs typeface="Montserrat"/>
              <a:sym typeface="Montserrat"/>
            </a:endParaRPr>
          </a:p>
        </p:txBody>
      </p:sp>
      <p:sp>
        <p:nvSpPr>
          <p:cNvPr id="2" name="Slide Number Placeholder 1">
            <a:extLst>
              <a:ext uri="{FF2B5EF4-FFF2-40B4-BE49-F238E27FC236}">
                <a16:creationId xmlns:a16="http://schemas.microsoft.com/office/drawing/2014/main" id="{6A98E644-2478-E0EB-0F88-4C3434090B4D}"/>
              </a:ext>
            </a:extLst>
          </p:cNvPr>
          <p:cNvSpPr>
            <a:spLocks noGrp="1"/>
          </p:cNvSpPr>
          <p:nvPr>
            <p:ph type="sldNum" idx="12"/>
          </p:nvPr>
        </p:nvSpPr>
        <p:spPr>
          <a:xfrm>
            <a:off x="10788611" y="6207463"/>
            <a:ext cx="731600" cy="524800"/>
          </a:xfrm>
        </p:spPr>
        <p:txBody>
          <a:bodyPr/>
          <a:lstStyle/>
          <a:p>
            <a:fld id="{00000000-1234-1234-1234-123412341234}" type="slidenum">
              <a:rPr lang="en-GB" smtClean="0"/>
              <a:pPr/>
              <a:t>29</a:t>
            </a:fld>
            <a:endParaRPr lang="en-GB"/>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9"/>
          <p:cNvSpPr txBox="1">
            <a:spLocks noGrp="1"/>
          </p:cNvSpPr>
          <p:nvPr>
            <p:ph type="title"/>
          </p:nvPr>
        </p:nvSpPr>
        <p:spPr>
          <a:xfrm>
            <a:off x="314000" y="1189800"/>
            <a:ext cx="11360800" cy="763600"/>
          </a:xfrm>
          <a:prstGeom prst="rect">
            <a:avLst/>
          </a:prstGeom>
        </p:spPr>
        <p:txBody>
          <a:bodyPr spcFirstLastPara="1" vert="horz" wrap="square" lIns="121900" tIns="121900" rIns="121900" bIns="121900" rtlCol="0" anchor="t" anchorCtr="0">
            <a:normAutofit fontScale="90000"/>
          </a:bodyPr>
          <a:lstStyle/>
          <a:p>
            <a:r>
              <a:rPr lang="en-GB" dirty="0"/>
              <a:t>Skewed Distribution</a:t>
            </a:r>
            <a:endParaRPr dirty="0"/>
          </a:p>
        </p:txBody>
      </p:sp>
      <p:pic>
        <p:nvPicPr>
          <p:cNvPr id="223" name="Google Shape;223;p39"/>
          <p:cNvPicPr preferRelativeResize="0"/>
          <p:nvPr/>
        </p:nvPicPr>
        <p:blipFill>
          <a:blip r:embed="rId3">
            <a:alphaModFix/>
          </a:blip>
          <a:stretch>
            <a:fillRect/>
          </a:stretch>
        </p:blipFill>
        <p:spPr>
          <a:xfrm>
            <a:off x="2153920" y="2129035"/>
            <a:ext cx="4421576" cy="2199126"/>
          </a:xfrm>
          <a:prstGeom prst="rect">
            <a:avLst/>
          </a:prstGeom>
          <a:noFill/>
          <a:ln>
            <a:noFill/>
          </a:ln>
        </p:spPr>
      </p:pic>
      <p:pic>
        <p:nvPicPr>
          <p:cNvPr id="224" name="Google Shape;224;p39"/>
          <p:cNvPicPr preferRelativeResize="0"/>
          <p:nvPr/>
        </p:nvPicPr>
        <p:blipFill>
          <a:blip r:embed="rId4">
            <a:alphaModFix/>
          </a:blip>
          <a:stretch>
            <a:fillRect/>
          </a:stretch>
        </p:blipFill>
        <p:spPr>
          <a:xfrm>
            <a:off x="2365324" y="4910130"/>
            <a:ext cx="3730676" cy="1354503"/>
          </a:xfrm>
          <a:prstGeom prst="rect">
            <a:avLst/>
          </a:prstGeom>
          <a:noFill/>
          <a:ln>
            <a:noFill/>
          </a:ln>
        </p:spPr>
      </p:pic>
      <p:sp>
        <p:nvSpPr>
          <p:cNvPr id="225" name="Google Shape;225;p39"/>
          <p:cNvSpPr txBox="1"/>
          <p:nvPr/>
        </p:nvSpPr>
        <p:spPr>
          <a:xfrm>
            <a:off x="7304375" y="1955236"/>
            <a:ext cx="4000000" cy="3712964"/>
          </a:xfrm>
          <a:prstGeom prst="rect">
            <a:avLst/>
          </a:prstGeom>
          <a:noFill/>
          <a:ln>
            <a:noFill/>
          </a:ln>
        </p:spPr>
        <p:txBody>
          <a:bodyPr spcFirstLastPara="1" wrap="square" lIns="121900" tIns="121900" rIns="121900" bIns="121900" anchor="t" anchorCtr="0">
            <a:spAutoFit/>
          </a:bodyPr>
          <a:lstStyle/>
          <a:p>
            <a:r>
              <a:rPr lang="en-GB" sz="1733">
                <a:solidFill>
                  <a:schemeClr val="dk1"/>
                </a:solidFill>
                <a:highlight>
                  <a:srgbClr val="FFFFFF"/>
                </a:highlight>
                <a:latin typeface="Montserrat"/>
                <a:ea typeface="Montserrat"/>
                <a:cs typeface="Montserrat"/>
                <a:sym typeface="Montserrat"/>
              </a:rPr>
              <a:t>One important fact about skewed distributions is that, </a:t>
            </a:r>
            <a:r>
              <a:rPr lang="en-GB" sz="1733">
                <a:solidFill>
                  <a:schemeClr val="dk1"/>
                </a:solidFill>
                <a:highlight>
                  <a:schemeClr val="accent4"/>
                </a:highlight>
                <a:latin typeface="Montserrat"/>
                <a:ea typeface="Montserrat"/>
                <a:cs typeface="Montserrat"/>
                <a:sym typeface="Montserrat"/>
              </a:rPr>
              <a:t>unlike a bell curve, the mode, median and mean are not the same value.</a:t>
            </a:r>
            <a:r>
              <a:rPr lang="en-GB" sz="1733">
                <a:solidFill>
                  <a:schemeClr val="dk1"/>
                </a:solidFill>
                <a:highlight>
                  <a:srgbClr val="FFFFFF"/>
                </a:highlight>
                <a:latin typeface="Montserrat"/>
                <a:ea typeface="Montserrat"/>
                <a:cs typeface="Montserrat"/>
                <a:sym typeface="Montserrat"/>
              </a:rPr>
              <a:t> The long tail skews the mean and median in the direction of the tail. There is a very easy way to calculate the different average values using a </a:t>
            </a:r>
            <a:r>
              <a:rPr lang="en-GB" sz="1733">
                <a:solidFill>
                  <a:schemeClr val="dk1"/>
                </a:solidFill>
                <a:highlight>
                  <a:srgbClr val="FFFFFF"/>
                </a:highlight>
                <a:uFill>
                  <a:noFill/>
                </a:uFill>
                <a:latin typeface="Montserrat"/>
                <a:ea typeface="Montserrat"/>
                <a:cs typeface="Montserrat"/>
                <a:sym typeface="Montserrat"/>
                <a:hlinkClick r:id="rId5">
                  <a:extLst>
                    <a:ext uri="{A12FA001-AC4F-418D-AE19-62706E023703}">
                      <ahyp:hlinkClr xmlns:ahyp="http://schemas.microsoft.com/office/drawing/2018/hyperlinkcolor" val="tx"/>
                    </a:ext>
                  </a:extLst>
                </a:hlinkClick>
              </a:rPr>
              <a:t>histogram diagram</a:t>
            </a:r>
            <a:r>
              <a:rPr lang="en-GB" sz="1733">
                <a:solidFill>
                  <a:schemeClr val="dk1"/>
                </a:solidFill>
                <a:highlight>
                  <a:srgbClr val="FFFFFF"/>
                </a:highlight>
                <a:latin typeface="Montserrat"/>
                <a:ea typeface="Montserrat"/>
                <a:cs typeface="Montserrat"/>
                <a:sym typeface="Montserrat"/>
              </a:rPr>
              <a:t>. </a:t>
            </a:r>
            <a:r>
              <a:rPr lang="en-GB" sz="1733">
                <a:solidFill>
                  <a:schemeClr val="dk1"/>
                </a:solidFill>
                <a:highlight>
                  <a:schemeClr val="accent4"/>
                </a:highlight>
                <a:latin typeface="Montserrat"/>
                <a:ea typeface="Montserrat"/>
                <a:cs typeface="Montserrat"/>
                <a:sym typeface="Montserrat"/>
              </a:rPr>
              <a:t>If you rely on average values to make quick </a:t>
            </a:r>
            <a:r>
              <a:rPr lang="en-GB" sz="1733">
                <a:solidFill>
                  <a:schemeClr val="dk1"/>
                </a:solidFill>
                <a:highlight>
                  <a:schemeClr val="accent4"/>
                </a:highlight>
                <a:uFill>
                  <a:noFill/>
                </a:uFill>
                <a:latin typeface="Montserrat"/>
                <a:ea typeface="Montserrat"/>
                <a:cs typeface="Montserrat"/>
                <a:sym typeface="Montserrat"/>
                <a:hlinkClick r:id="rId6">
                  <a:extLst>
                    <a:ext uri="{A12FA001-AC4F-418D-AE19-62706E023703}">
                      <ahyp:hlinkClr xmlns:ahyp="http://schemas.microsoft.com/office/drawing/2018/hyperlinkcolor" val="tx"/>
                    </a:ext>
                  </a:extLst>
                </a:hlinkClick>
              </a:rPr>
              <a:t>predictions</a:t>
            </a:r>
            <a:r>
              <a:rPr lang="en-GB" sz="1733">
                <a:solidFill>
                  <a:schemeClr val="dk1"/>
                </a:solidFill>
                <a:highlight>
                  <a:schemeClr val="accent4"/>
                </a:highlight>
                <a:latin typeface="Montserrat"/>
                <a:ea typeface="Montserrat"/>
                <a:cs typeface="Montserrat"/>
                <a:sym typeface="Montserrat"/>
              </a:rPr>
              <a:t>, pay attention to which average you use!</a:t>
            </a:r>
            <a:endParaRPr sz="2000">
              <a:solidFill>
                <a:schemeClr val="dk1"/>
              </a:solidFill>
              <a:highlight>
                <a:schemeClr val="accent4"/>
              </a:highlight>
            </a:endParaRPr>
          </a:p>
        </p:txBody>
      </p:sp>
      <p:sp>
        <p:nvSpPr>
          <p:cNvPr id="2" name="Slide Number Placeholder 1">
            <a:extLst>
              <a:ext uri="{FF2B5EF4-FFF2-40B4-BE49-F238E27FC236}">
                <a16:creationId xmlns:a16="http://schemas.microsoft.com/office/drawing/2014/main" id="{DA16BDAA-3069-42F4-05A5-0DE458A994E2}"/>
              </a:ext>
            </a:extLst>
          </p:cNvPr>
          <p:cNvSpPr>
            <a:spLocks noGrp="1"/>
          </p:cNvSpPr>
          <p:nvPr>
            <p:ph type="sldNum" idx="12"/>
          </p:nvPr>
        </p:nvSpPr>
        <p:spPr>
          <a:xfrm>
            <a:off x="10696600" y="6166823"/>
            <a:ext cx="731600" cy="524800"/>
          </a:xfrm>
        </p:spPr>
        <p:txBody>
          <a:bodyPr/>
          <a:lstStyle/>
          <a:p>
            <a:fld id="{00000000-1234-1234-1234-123412341234}" type="slidenum">
              <a:rPr lang="en-GB" smtClean="0"/>
              <a:pPr/>
              <a:t>30</a:t>
            </a:fld>
            <a:endParaRPr lang="en-GB"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40"/>
          <p:cNvSpPr txBox="1">
            <a:spLocks noGrp="1"/>
          </p:cNvSpPr>
          <p:nvPr>
            <p:ph type="title"/>
          </p:nvPr>
        </p:nvSpPr>
        <p:spPr>
          <a:xfrm>
            <a:off x="212400" y="1237915"/>
            <a:ext cx="11360800" cy="763600"/>
          </a:xfrm>
          <a:prstGeom prst="rect">
            <a:avLst/>
          </a:prstGeom>
        </p:spPr>
        <p:txBody>
          <a:bodyPr spcFirstLastPara="1" vert="horz" wrap="square" lIns="121900" tIns="121900" rIns="121900" bIns="121900" rtlCol="0" anchor="t" anchorCtr="0">
            <a:normAutofit fontScale="90000"/>
          </a:bodyPr>
          <a:lstStyle/>
          <a:p>
            <a:r>
              <a:rPr lang="en-GB" dirty="0"/>
              <a:t>Bimodal/Multimodal Distribution</a:t>
            </a:r>
            <a:endParaRPr dirty="0"/>
          </a:p>
        </p:txBody>
      </p:sp>
      <p:sp>
        <p:nvSpPr>
          <p:cNvPr id="231" name="Google Shape;231;p40"/>
          <p:cNvSpPr txBox="1">
            <a:spLocks noGrp="1"/>
          </p:cNvSpPr>
          <p:nvPr>
            <p:ph type="body" idx="1"/>
          </p:nvPr>
        </p:nvSpPr>
        <p:spPr>
          <a:xfrm>
            <a:off x="7134267" y="1478867"/>
            <a:ext cx="4756000" cy="2858000"/>
          </a:xfrm>
          <a:prstGeom prst="rect">
            <a:avLst/>
          </a:prstGeom>
        </p:spPr>
        <p:txBody>
          <a:bodyPr spcFirstLastPara="1" vert="horz" wrap="square" lIns="121900" tIns="121900" rIns="121900" bIns="121900" rtlCol="0" anchor="t" anchorCtr="0">
            <a:normAutofit fontScale="25000" lnSpcReduction="20000"/>
          </a:bodyPr>
          <a:lstStyle/>
          <a:p>
            <a:pPr marL="0" indent="0">
              <a:lnSpc>
                <a:spcPct val="150000"/>
              </a:lnSpc>
              <a:spcBef>
                <a:spcPts val="2800"/>
              </a:spcBef>
              <a:buNone/>
            </a:pPr>
            <a:r>
              <a:rPr lang="en-GB" sz="7224">
                <a:solidFill>
                  <a:srgbClr val="2D3754"/>
                </a:solidFill>
                <a:highlight>
                  <a:srgbClr val="FFFFFF"/>
                </a:highlight>
                <a:latin typeface="Montserrat"/>
                <a:ea typeface="Montserrat"/>
                <a:cs typeface="Montserrat"/>
                <a:sym typeface="Montserrat"/>
              </a:rPr>
              <a:t>A </a:t>
            </a:r>
            <a:r>
              <a:rPr lang="en-GB" sz="7224">
                <a:solidFill>
                  <a:srgbClr val="2D3754"/>
                </a:solidFill>
                <a:highlight>
                  <a:schemeClr val="accent4"/>
                </a:highlight>
                <a:latin typeface="Montserrat"/>
                <a:ea typeface="Montserrat"/>
                <a:cs typeface="Montserrat"/>
                <a:sym typeface="Montserrat"/>
              </a:rPr>
              <a:t>bimodal distribution occurs when two unimodal distributions are in the group being measured.</a:t>
            </a:r>
            <a:r>
              <a:rPr lang="en-GB" sz="7224">
                <a:solidFill>
                  <a:srgbClr val="2D3754"/>
                </a:solidFill>
                <a:highlight>
                  <a:srgbClr val="FFFFFF"/>
                </a:highlight>
                <a:latin typeface="Montserrat"/>
                <a:ea typeface="Montserrat"/>
                <a:cs typeface="Montserrat"/>
                <a:sym typeface="Montserrat"/>
              </a:rPr>
              <a:t> When more than two peaks occur, its known as a multimodal distribution.This distribution </a:t>
            </a:r>
            <a:r>
              <a:rPr lang="en-GB" sz="7224">
                <a:solidFill>
                  <a:srgbClr val="2D3754"/>
                </a:solidFill>
                <a:highlight>
                  <a:schemeClr val="accent4"/>
                </a:highlight>
                <a:latin typeface="Montserrat"/>
                <a:ea typeface="Montserrat"/>
                <a:cs typeface="Montserrat"/>
                <a:sym typeface="Montserrat"/>
              </a:rPr>
              <a:t>can be split into two or more groups.. </a:t>
            </a:r>
            <a:endParaRPr sz="7224">
              <a:solidFill>
                <a:srgbClr val="2D3754"/>
              </a:solidFill>
              <a:highlight>
                <a:schemeClr val="accent4"/>
              </a:highlight>
              <a:latin typeface="Montserrat"/>
              <a:ea typeface="Montserrat"/>
              <a:cs typeface="Montserrat"/>
              <a:sym typeface="Montserrat"/>
            </a:endParaRPr>
          </a:p>
          <a:p>
            <a:pPr marL="0" indent="0">
              <a:lnSpc>
                <a:spcPct val="150000"/>
              </a:lnSpc>
              <a:spcBef>
                <a:spcPts val="2800"/>
              </a:spcBef>
              <a:buClr>
                <a:schemeClr val="dk1"/>
              </a:buClr>
              <a:buSzPts val="275"/>
              <a:buNone/>
            </a:pPr>
            <a:r>
              <a:rPr lang="en-GB" sz="7224">
                <a:solidFill>
                  <a:srgbClr val="2D3754"/>
                </a:solidFill>
                <a:highlight>
                  <a:schemeClr val="accent4"/>
                </a:highlight>
                <a:latin typeface="Montserrat"/>
                <a:ea typeface="Montserrat"/>
                <a:cs typeface="Montserrat"/>
                <a:sym typeface="Montserrat"/>
              </a:rPr>
              <a:t>If you spot a bimodal frequency distribution, it’s worth checking if you can split the measured data into sub-groups to see the shape for each group.</a:t>
            </a:r>
            <a:endParaRPr sz="7224">
              <a:solidFill>
                <a:srgbClr val="2D3754"/>
              </a:solidFill>
              <a:highlight>
                <a:schemeClr val="accent4"/>
              </a:highlight>
              <a:latin typeface="Montserrat"/>
              <a:ea typeface="Montserrat"/>
              <a:cs typeface="Montserrat"/>
              <a:sym typeface="Montserrat"/>
            </a:endParaRPr>
          </a:p>
          <a:p>
            <a:pPr marL="0" indent="0">
              <a:spcBef>
                <a:spcPts val="2800"/>
              </a:spcBef>
              <a:spcAft>
                <a:spcPts val="1600"/>
              </a:spcAft>
              <a:buNone/>
            </a:pPr>
            <a:endParaRPr/>
          </a:p>
        </p:txBody>
      </p:sp>
      <p:pic>
        <p:nvPicPr>
          <p:cNvPr id="232" name="Google Shape;232;p40"/>
          <p:cNvPicPr preferRelativeResize="0"/>
          <p:nvPr/>
        </p:nvPicPr>
        <p:blipFill>
          <a:blip r:embed="rId3">
            <a:alphaModFix/>
          </a:blip>
          <a:stretch>
            <a:fillRect/>
          </a:stretch>
        </p:blipFill>
        <p:spPr>
          <a:xfrm>
            <a:off x="321067" y="2226468"/>
            <a:ext cx="6727869" cy="3011817"/>
          </a:xfrm>
          <a:prstGeom prst="rect">
            <a:avLst/>
          </a:prstGeom>
          <a:noFill/>
          <a:ln>
            <a:noFill/>
          </a:ln>
        </p:spPr>
      </p:pic>
      <p:sp>
        <p:nvSpPr>
          <p:cNvPr id="2" name="Slide Number Placeholder 1">
            <a:extLst>
              <a:ext uri="{FF2B5EF4-FFF2-40B4-BE49-F238E27FC236}">
                <a16:creationId xmlns:a16="http://schemas.microsoft.com/office/drawing/2014/main" id="{8D1AA998-A6BF-B558-F3E4-0322FE0E8D21}"/>
              </a:ext>
            </a:extLst>
          </p:cNvPr>
          <p:cNvSpPr>
            <a:spLocks noGrp="1"/>
          </p:cNvSpPr>
          <p:nvPr>
            <p:ph type="sldNum" idx="12"/>
          </p:nvPr>
        </p:nvSpPr>
        <p:spPr>
          <a:xfrm>
            <a:off x="10727651" y="6217623"/>
            <a:ext cx="731600" cy="524800"/>
          </a:xfrm>
        </p:spPr>
        <p:txBody>
          <a:bodyPr/>
          <a:lstStyle/>
          <a:p>
            <a:fld id="{00000000-1234-1234-1234-123412341234}" type="slidenum">
              <a:rPr lang="en-GB" smtClean="0"/>
              <a:pPr/>
              <a:t>31</a:t>
            </a:fld>
            <a:endParaRPr lang="en-GB"/>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1"/>
          <p:cNvSpPr txBox="1">
            <a:spLocks noGrp="1"/>
          </p:cNvSpPr>
          <p:nvPr>
            <p:ph type="title"/>
          </p:nvPr>
        </p:nvSpPr>
        <p:spPr>
          <a:xfrm>
            <a:off x="344480" y="1040407"/>
            <a:ext cx="11360800" cy="763600"/>
          </a:xfrm>
          <a:prstGeom prst="rect">
            <a:avLst/>
          </a:prstGeom>
        </p:spPr>
        <p:txBody>
          <a:bodyPr spcFirstLastPara="1" vert="horz" wrap="square" lIns="121900" tIns="121900" rIns="121900" bIns="121900" rtlCol="0" anchor="t" anchorCtr="0">
            <a:normAutofit fontScale="90000"/>
          </a:bodyPr>
          <a:lstStyle/>
          <a:p>
            <a:r>
              <a:rPr lang="en-GB" dirty="0"/>
              <a:t>Logarithmic Distribution</a:t>
            </a:r>
            <a:endParaRPr dirty="0"/>
          </a:p>
        </p:txBody>
      </p:sp>
      <p:pic>
        <p:nvPicPr>
          <p:cNvPr id="238" name="Google Shape;238;p41"/>
          <p:cNvPicPr preferRelativeResize="0"/>
          <p:nvPr/>
        </p:nvPicPr>
        <p:blipFill>
          <a:blip r:embed="rId3">
            <a:alphaModFix/>
          </a:blip>
          <a:stretch>
            <a:fillRect/>
          </a:stretch>
        </p:blipFill>
        <p:spPr>
          <a:xfrm>
            <a:off x="1340718" y="1884165"/>
            <a:ext cx="9510565" cy="4257535"/>
          </a:xfrm>
          <a:prstGeom prst="rect">
            <a:avLst/>
          </a:prstGeom>
          <a:noFill/>
          <a:ln>
            <a:noFill/>
          </a:ln>
        </p:spPr>
      </p:pic>
      <p:sp>
        <p:nvSpPr>
          <p:cNvPr id="239" name="Google Shape;239;p41"/>
          <p:cNvSpPr txBox="1"/>
          <p:nvPr/>
        </p:nvSpPr>
        <p:spPr>
          <a:xfrm>
            <a:off x="6851267" y="1235101"/>
            <a:ext cx="4000000" cy="6093231"/>
          </a:xfrm>
          <a:prstGeom prst="rect">
            <a:avLst/>
          </a:prstGeom>
          <a:noFill/>
          <a:ln>
            <a:noFill/>
          </a:ln>
        </p:spPr>
        <p:txBody>
          <a:bodyPr spcFirstLastPara="1" wrap="square" lIns="121900" tIns="121900" rIns="121900" bIns="121900" anchor="t" anchorCtr="0">
            <a:spAutoFit/>
          </a:bodyPr>
          <a:lstStyle/>
          <a:p>
            <a:pPr>
              <a:lnSpc>
                <a:spcPct val="150000"/>
              </a:lnSpc>
              <a:spcBef>
                <a:spcPts val="2800"/>
              </a:spcBef>
            </a:pPr>
            <a:r>
              <a:rPr lang="en-GB" sz="1733" dirty="0">
                <a:solidFill>
                  <a:schemeClr val="dk1"/>
                </a:solidFill>
                <a:highlight>
                  <a:srgbClr val="FFFFFF"/>
                </a:highlight>
                <a:latin typeface="Montserrat"/>
                <a:ea typeface="Montserrat"/>
                <a:cs typeface="Montserrat"/>
                <a:sym typeface="Montserrat"/>
              </a:rPr>
              <a:t>Some data sets have nearly all </a:t>
            </a:r>
            <a:r>
              <a:rPr lang="en-GB" sz="1733" dirty="0">
                <a:solidFill>
                  <a:schemeClr val="dk1"/>
                </a:solidFill>
                <a:highlight>
                  <a:srgbClr val="FF9900"/>
                </a:highlight>
                <a:latin typeface="Montserrat"/>
                <a:ea typeface="Montserrat"/>
                <a:cs typeface="Montserrat"/>
                <a:sym typeface="Montserrat"/>
              </a:rPr>
              <a:t>their frequency values clustered to one side of the graph.</a:t>
            </a:r>
            <a:r>
              <a:rPr lang="en-GB" sz="1733" dirty="0">
                <a:solidFill>
                  <a:schemeClr val="dk1"/>
                </a:solidFill>
                <a:highlight>
                  <a:srgbClr val="FFFFFF"/>
                </a:highlight>
                <a:latin typeface="Montserrat"/>
                <a:ea typeface="Montserrat"/>
                <a:cs typeface="Montserrat"/>
                <a:sym typeface="Montserrat"/>
              </a:rPr>
              <a:t> This frequency distribution shape is known as logarithmic. A common example of this in real life is found in </a:t>
            </a:r>
            <a:r>
              <a:rPr lang="en-GB" sz="1733" dirty="0">
                <a:solidFill>
                  <a:schemeClr val="dk1"/>
                </a:solidFill>
                <a:highlight>
                  <a:schemeClr val="accent4"/>
                </a:highlight>
                <a:latin typeface="Montserrat"/>
                <a:ea typeface="Montserrat"/>
                <a:cs typeface="Montserrat"/>
                <a:sym typeface="Montserrat"/>
              </a:rPr>
              <a:t>distributions of wealth and income, with large numbers of people at the bottom but extreme outliers extending the tail to the right.</a:t>
            </a:r>
            <a:endParaRPr sz="1733" dirty="0">
              <a:solidFill>
                <a:schemeClr val="dk1"/>
              </a:solidFill>
              <a:highlight>
                <a:schemeClr val="accent4"/>
              </a:highlight>
              <a:latin typeface="Montserrat"/>
              <a:ea typeface="Montserrat"/>
              <a:cs typeface="Montserrat"/>
              <a:sym typeface="Montserrat"/>
            </a:endParaRPr>
          </a:p>
          <a:p>
            <a:pPr>
              <a:lnSpc>
                <a:spcPct val="150000"/>
              </a:lnSpc>
              <a:spcBef>
                <a:spcPts val="2800"/>
              </a:spcBef>
              <a:spcAft>
                <a:spcPts val="2800"/>
              </a:spcAft>
            </a:pPr>
            <a:endParaRPr sz="1600" dirty="0">
              <a:solidFill>
                <a:srgbClr val="2D3754"/>
              </a:solidFill>
              <a:highlight>
                <a:srgbClr val="FFFFFF"/>
              </a:highlight>
              <a:latin typeface="Montserrat"/>
              <a:ea typeface="Montserrat"/>
              <a:cs typeface="Montserrat"/>
              <a:sym typeface="Montserrat"/>
            </a:endParaRPr>
          </a:p>
        </p:txBody>
      </p:sp>
      <p:sp>
        <p:nvSpPr>
          <p:cNvPr id="2" name="Slide Number Placeholder 1">
            <a:extLst>
              <a:ext uri="{FF2B5EF4-FFF2-40B4-BE49-F238E27FC236}">
                <a16:creationId xmlns:a16="http://schemas.microsoft.com/office/drawing/2014/main" id="{17A081E9-24E2-62AA-9606-13D2BC208BF0}"/>
              </a:ext>
            </a:extLst>
          </p:cNvPr>
          <p:cNvSpPr>
            <a:spLocks noGrp="1"/>
          </p:cNvSpPr>
          <p:nvPr>
            <p:ph type="sldNum" idx="12"/>
          </p:nvPr>
        </p:nvSpPr>
        <p:spPr>
          <a:xfrm>
            <a:off x="10666691" y="6333200"/>
            <a:ext cx="731600" cy="524800"/>
          </a:xfrm>
        </p:spPr>
        <p:txBody>
          <a:bodyPr/>
          <a:lstStyle/>
          <a:p>
            <a:fld id="{00000000-1234-1234-1234-123412341234}" type="slidenum">
              <a:rPr lang="en-GB" smtClean="0"/>
              <a:pPr/>
              <a:t>32</a:t>
            </a:fld>
            <a:endParaRPr lang="en-GB"/>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2"/>
          <p:cNvSpPr txBox="1">
            <a:spLocks noGrp="1"/>
          </p:cNvSpPr>
          <p:nvPr>
            <p:ph type="title"/>
          </p:nvPr>
        </p:nvSpPr>
        <p:spPr>
          <a:xfrm>
            <a:off x="415600" y="1170241"/>
            <a:ext cx="11360800" cy="763600"/>
          </a:xfrm>
          <a:prstGeom prst="rect">
            <a:avLst/>
          </a:prstGeom>
        </p:spPr>
        <p:txBody>
          <a:bodyPr spcFirstLastPara="1" vert="horz" wrap="square" lIns="121900" tIns="121900" rIns="121900" bIns="121900" rtlCol="0" anchor="t" anchorCtr="0">
            <a:normAutofit fontScale="90000"/>
          </a:bodyPr>
          <a:lstStyle/>
          <a:p>
            <a:r>
              <a:rPr lang="en-GB" dirty="0"/>
              <a:t>Triangular Distribution</a:t>
            </a:r>
            <a:endParaRPr dirty="0"/>
          </a:p>
        </p:txBody>
      </p:sp>
      <p:pic>
        <p:nvPicPr>
          <p:cNvPr id="245" name="Google Shape;245;p42"/>
          <p:cNvPicPr preferRelativeResize="0"/>
          <p:nvPr/>
        </p:nvPicPr>
        <p:blipFill>
          <a:blip r:embed="rId3">
            <a:alphaModFix/>
          </a:blip>
          <a:stretch>
            <a:fillRect/>
          </a:stretch>
        </p:blipFill>
        <p:spPr>
          <a:xfrm>
            <a:off x="690880" y="2589594"/>
            <a:ext cx="8845547" cy="3862006"/>
          </a:xfrm>
          <a:prstGeom prst="rect">
            <a:avLst/>
          </a:prstGeom>
          <a:noFill/>
          <a:ln>
            <a:noFill/>
          </a:ln>
        </p:spPr>
      </p:pic>
      <p:sp>
        <p:nvSpPr>
          <p:cNvPr id="246" name="Google Shape;246;p42"/>
          <p:cNvSpPr txBox="1"/>
          <p:nvPr/>
        </p:nvSpPr>
        <p:spPr>
          <a:xfrm>
            <a:off x="6630500" y="1852634"/>
            <a:ext cx="4000000" cy="3179613"/>
          </a:xfrm>
          <a:prstGeom prst="rect">
            <a:avLst/>
          </a:prstGeom>
          <a:noFill/>
          <a:ln>
            <a:noFill/>
          </a:ln>
        </p:spPr>
        <p:txBody>
          <a:bodyPr spcFirstLastPara="1" wrap="square" lIns="121900" tIns="121900" rIns="121900" bIns="121900" anchor="t" anchorCtr="0">
            <a:spAutoFit/>
          </a:bodyPr>
          <a:lstStyle/>
          <a:p>
            <a:r>
              <a:rPr lang="en-GB" sz="1733" dirty="0">
                <a:solidFill>
                  <a:schemeClr val="dk1"/>
                </a:solidFill>
                <a:highlight>
                  <a:srgbClr val="FFFFFF"/>
                </a:highlight>
                <a:latin typeface="Montserrat"/>
                <a:ea typeface="Montserrat"/>
                <a:cs typeface="Montserrat"/>
                <a:sym typeface="Montserrat"/>
              </a:rPr>
              <a:t>While the triangular </a:t>
            </a:r>
            <a:r>
              <a:rPr lang="en-GB" sz="1733" dirty="0">
                <a:solidFill>
                  <a:schemeClr val="dk1"/>
                </a:solidFill>
                <a:highlight>
                  <a:schemeClr val="accent4"/>
                </a:highlight>
                <a:latin typeface="Montserrat"/>
                <a:ea typeface="Montserrat"/>
                <a:cs typeface="Montserrat"/>
                <a:sym typeface="Montserrat"/>
              </a:rPr>
              <a:t>distribution is a simple shape made using straight lines between each of the 3 values,</a:t>
            </a:r>
            <a:r>
              <a:rPr lang="en-GB" sz="1733" dirty="0">
                <a:solidFill>
                  <a:schemeClr val="dk1"/>
                </a:solidFill>
                <a:highlight>
                  <a:srgbClr val="FFFFFF"/>
                </a:highlight>
                <a:latin typeface="Montserrat"/>
                <a:ea typeface="Montserrat"/>
                <a:cs typeface="Montserrat"/>
                <a:sym typeface="Montserrat"/>
              </a:rPr>
              <a:t> </a:t>
            </a:r>
            <a:r>
              <a:rPr lang="en-GB" sz="1733" dirty="0">
                <a:solidFill>
                  <a:schemeClr val="dk1"/>
                </a:solidFill>
                <a:highlight>
                  <a:schemeClr val="accent4"/>
                </a:highlight>
                <a:latin typeface="Montserrat"/>
                <a:ea typeface="Montserrat"/>
                <a:cs typeface="Montserrat"/>
                <a:sym typeface="Montserrat"/>
              </a:rPr>
              <a:t>the PERT distribution assumes that the long tail values appear less frequently.</a:t>
            </a:r>
            <a:r>
              <a:rPr lang="en-GB" sz="1733" dirty="0">
                <a:solidFill>
                  <a:schemeClr val="dk1"/>
                </a:solidFill>
                <a:highlight>
                  <a:srgbClr val="FFFFFF"/>
                </a:highlight>
                <a:latin typeface="Montserrat"/>
                <a:ea typeface="Montserrat"/>
                <a:cs typeface="Montserrat"/>
                <a:sym typeface="Montserrat"/>
              </a:rPr>
              <a:t> The frequency distribution shape generated from these three values is then used to estimate likely completion times.</a:t>
            </a:r>
            <a:endParaRPr sz="2000" dirty="0">
              <a:solidFill>
                <a:schemeClr val="dk1"/>
              </a:solidFill>
            </a:endParaRPr>
          </a:p>
        </p:txBody>
      </p:sp>
      <p:sp>
        <p:nvSpPr>
          <p:cNvPr id="2" name="Slide Number Placeholder 1">
            <a:extLst>
              <a:ext uri="{FF2B5EF4-FFF2-40B4-BE49-F238E27FC236}">
                <a16:creationId xmlns:a16="http://schemas.microsoft.com/office/drawing/2014/main" id="{15C3FDFC-6A13-D771-3F59-564FABFFB6BB}"/>
              </a:ext>
            </a:extLst>
          </p:cNvPr>
          <p:cNvSpPr>
            <a:spLocks noGrp="1"/>
          </p:cNvSpPr>
          <p:nvPr>
            <p:ph type="sldNum" idx="12"/>
          </p:nvPr>
        </p:nvSpPr>
        <p:spPr>
          <a:xfrm>
            <a:off x="10630500" y="6189200"/>
            <a:ext cx="731600" cy="524800"/>
          </a:xfrm>
        </p:spPr>
        <p:txBody>
          <a:bodyPr/>
          <a:lstStyle/>
          <a:p>
            <a:fld id="{00000000-1234-1234-1234-123412341234}" type="slidenum">
              <a:rPr lang="en-GB" smtClean="0"/>
              <a:pPr/>
              <a:t>33</a:t>
            </a:fld>
            <a:endParaRPr lang="en-GB"/>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71E0C6-D1EA-ED5A-9D5C-52CA0C97184C}"/>
              </a:ext>
            </a:extLst>
          </p:cNvPr>
          <p:cNvSpPr>
            <a:spLocks noGrp="1"/>
          </p:cNvSpPr>
          <p:nvPr>
            <p:ph type="sldNum" idx="12"/>
          </p:nvPr>
        </p:nvSpPr>
        <p:spPr>
          <a:xfrm>
            <a:off x="10697171" y="6217623"/>
            <a:ext cx="731600" cy="524800"/>
          </a:xfrm>
        </p:spPr>
        <p:txBody>
          <a:bodyPr/>
          <a:lstStyle/>
          <a:p>
            <a:fld id="{00000000-1234-1234-1234-123412341234}" type="slidenum">
              <a:rPr lang="en-GB" smtClean="0"/>
              <a:pPr/>
              <a:t>34</a:t>
            </a:fld>
            <a:endParaRPr lang="en-GB"/>
          </a:p>
        </p:txBody>
      </p:sp>
      <p:sp>
        <p:nvSpPr>
          <p:cNvPr id="5" name="Content Placeholder 2">
            <a:extLst>
              <a:ext uri="{FF2B5EF4-FFF2-40B4-BE49-F238E27FC236}">
                <a16:creationId xmlns:a16="http://schemas.microsoft.com/office/drawing/2014/main" id="{19F2DC9E-91D2-7274-DA4C-B58D20FF56F3}"/>
              </a:ext>
            </a:extLst>
          </p:cNvPr>
          <p:cNvSpPr txBox="1">
            <a:spLocks/>
          </p:cNvSpPr>
          <p:nvPr/>
        </p:nvSpPr>
        <p:spPr>
          <a:xfrm>
            <a:off x="736600" y="1409065"/>
            <a:ext cx="10515600" cy="4351338"/>
          </a:xfrm>
          <a:prstGeom prst="rect">
            <a:avLst/>
          </a:prstGeom>
        </p:spPr>
        <p:txBody>
          <a:bodyPr spcFirstLastPara="1" vert="horz" wrap="square" lIns="91425" tIns="91425" rIns="91425" bIns="91425" rtlCol="0" anchor="t" anchorCtr="0">
            <a:normAutofit/>
          </a:bodyPr>
          <a:lstStyle>
            <a:lvl1pPr marL="609585" lvl="0" indent="-457189" algn="l" defTabSz="914400" rtl="0" eaLnBrk="1" latinLnBrk="0" hangingPunct="1">
              <a:lnSpc>
                <a:spcPct val="90000"/>
              </a:lnSpc>
              <a:spcBef>
                <a:spcPts val="0"/>
              </a:spcBef>
              <a:spcAft>
                <a:spcPts val="0"/>
              </a:spcAft>
              <a:buSzPts val="1800"/>
              <a:buFont typeface="Arial" panose="020B0604020202020204" pitchFamily="34" charset="0"/>
              <a:buChar char="●"/>
              <a:defRPr sz="2800" kern="1200">
                <a:solidFill>
                  <a:schemeClr val="tx1"/>
                </a:solidFill>
                <a:latin typeface="+mn-lt"/>
                <a:ea typeface="+mn-ea"/>
                <a:cs typeface="+mn-cs"/>
              </a:defRPr>
            </a:lvl1pPr>
            <a:lvl2pPr marL="1219170" lvl="1" indent="-423323" algn="l" defTabSz="914400" rtl="0" eaLnBrk="1" latinLnBrk="0" hangingPunct="1">
              <a:lnSpc>
                <a:spcPct val="90000"/>
              </a:lnSpc>
              <a:spcBef>
                <a:spcPts val="0"/>
              </a:spcBef>
              <a:spcAft>
                <a:spcPts val="0"/>
              </a:spcAft>
              <a:buSzPts val="1400"/>
              <a:buFont typeface="Arial" panose="020B0604020202020204" pitchFamily="34" charset="0"/>
              <a:buChar char="○"/>
              <a:defRPr sz="2400" kern="1200">
                <a:solidFill>
                  <a:schemeClr val="tx1"/>
                </a:solidFill>
                <a:latin typeface="+mn-lt"/>
                <a:ea typeface="+mn-ea"/>
                <a:cs typeface="+mn-cs"/>
              </a:defRPr>
            </a:lvl2pPr>
            <a:lvl3pPr marL="1828754" lvl="2" indent="-423323" algn="l" defTabSz="914400" rtl="0" eaLnBrk="1" latinLnBrk="0" hangingPunct="1">
              <a:lnSpc>
                <a:spcPct val="90000"/>
              </a:lnSpc>
              <a:spcBef>
                <a:spcPts val="0"/>
              </a:spcBef>
              <a:spcAft>
                <a:spcPts val="0"/>
              </a:spcAft>
              <a:buSzPts val="1400"/>
              <a:buFont typeface="Arial" panose="020B0604020202020204" pitchFamily="34" charset="0"/>
              <a:buChar char="■"/>
              <a:defRPr sz="2000" kern="1200">
                <a:solidFill>
                  <a:schemeClr val="tx1"/>
                </a:solidFill>
                <a:latin typeface="+mn-lt"/>
                <a:ea typeface="+mn-ea"/>
                <a:cs typeface="+mn-cs"/>
              </a:defRPr>
            </a:lvl3pPr>
            <a:lvl4pPr marL="2438339" lvl="3"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4pPr>
            <a:lvl5pPr marL="3047924" lvl="4"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5pPr>
            <a:lvl6pPr marL="3657509" lvl="5"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ar-EG"/>
          </a:p>
          <a:p>
            <a:pPr marL="0" indent="0" algn="ctr">
              <a:buFont typeface="Arial" panose="020B0604020202020204" pitchFamily="34" charset="0"/>
              <a:buNone/>
            </a:pPr>
            <a:r>
              <a:rPr lang="en-GB" sz="3200"/>
              <a:t>Q&amp;A </a:t>
            </a:r>
          </a:p>
          <a:p>
            <a:pPr marL="0" indent="0" algn="ctr">
              <a:buFont typeface="Arial" panose="020B0604020202020204" pitchFamily="34" charset="0"/>
              <a:buNone/>
            </a:pPr>
            <a:endParaRPr lang="ar-EG" sz="3200"/>
          </a:p>
          <a:p>
            <a:pPr marL="0" indent="0" algn="ctr">
              <a:buFont typeface="Arial" panose="020B0604020202020204" pitchFamily="34" charset="0"/>
              <a:buNone/>
            </a:pPr>
            <a:r>
              <a:rPr lang="en-GB" sz="3200"/>
              <a:t>Questions and answers </a:t>
            </a:r>
            <a:endParaRPr lang="en-GB" sz="3200" dirty="0"/>
          </a:p>
        </p:txBody>
      </p:sp>
    </p:spTree>
    <p:extLst>
      <p:ext uri="{BB962C8B-B14F-4D97-AF65-F5344CB8AC3E}">
        <p14:creationId xmlns:p14="http://schemas.microsoft.com/office/powerpoint/2010/main" val="29359410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3"/>
          <p:cNvSpPr txBox="1">
            <a:spLocks noGrp="1"/>
          </p:cNvSpPr>
          <p:nvPr>
            <p:ph type="title"/>
          </p:nvPr>
        </p:nvSpPr>
        <p:spPr>
          <a:xfrm>
            <a:off x="141280" y="1240393"/>
            <a:ext cx="11360800" cy="763600"/>
          </a:xfrm>
          <a:prstGeom prst="rect">
            <a:avLst/>
          </a:prstGeom>
        </p:spPr>
        <p:txBody>
          <a:bodyPr spcFirstLastPara="1" vert="horz" wrap="square" lIns="121900" tIns="121900" rIns="121900" bIns="121900" rtlCol="0" anchor="t" anchorCtr="0">
            <a:normAutofit fontScale="90000"/>
          </a:bodyPr>
          <a:lstStyle/>
          <a:p>
            <a:r>
              <a:rPr lang="en-GB" dirty="0"/>
              <a:t>Regression </a:t>
            </a:r>
            <a:endParaRPr dirty="0"/>
          </a:p>
        </p:txBody>
      </p:sp>
      <p:sp>
        <p:nvSpPr>
          <p:cNvPr id="252" name="Google Shape;252;p43"/>
          <p:cNvSpPr txBox="1">
            <a:spLocks noGrp="1"/>
          </p:cNvSpPr>
          <p:nvPr>
            <p:ph type="body" idx="1"/>
          </p:nvPr>
        </p:nvSpPr>
        <p:spPr>
          <a:xfrm>
            <a:off x="415600" y="200399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r>
              <a:rPr lang="en-GB" sz="2000" dirty="0">
                <a:solidFill>
                  <a:schemeClr val="dk1"/>
                </a:solidFill>
              </a:rPr>
              <a:t>Regression is a statistical method used in finance, investing, and other disciplines that attempts to</a:t>
            </a:r>
            <a:r>
              <a:rPr lang="en-GB" sz="2000" dirty="0">
                <a:solidFill>
                  <a:schemeClr val="dk1"/>
                </a:solidFill>
                <a:highlight>
                  <a:schemeClr val="accent4"/>
                </a:highlight>
              </a:rPr>
              <a:t> determine the strength and character of the relationship</a:t>
            </a:r>
            <a:r>
              <a:rPr lang="en-GB" sz="2000" dirty="0">
                <a:solidFill>
                  <a:schemeClr val="dk1"/>
                </a:solidFill>
              </a:rPr>
              <a:t> between one dependent variable (usually denoted by Y) and a series of other variables (known as independent variables)</a:t>
            </a:r>
            <a:endParaRPr sz="2000" dirty="0">
              <a:solidFill>
                <a:schemeClr val="dk1"/>
              </a:solidFill>
            </a:endParaRPr>
          </a:p>
        </p:txBody>
      </p:sp>
      <p:pic>
        <p:nvPicPr>
          <p:cNvPr id="253" name="Google Shape;253;p43"/>
          <p:cNvPicPr preferRelativeResize="0"/>
          <p:nvPr/>
        </p:nvPicPr>
        <p:blipFill>
          <a:blip r:embed="rId3">
            <a:alphaModFix/>
          </a:blip>
          <a:stretch>
            <a:fillRect/>
          </a:stretch>
        </p:blipFill>
        <p:spPr>
          <a:xfrm>
            <a:off x="4242667" y="3411530"/>
            <a:ext cx="3706667" cy="2549533"/>
          </a:xfrm>
          <a:prstGeom prst="rect">
            <a:avLst/>
          </a:prstGeom>
          <a:noFill/>
          <a:ln>
            <a:noFill/>
          </a:ln>
        </p:spPr>
      </p:pic>
      <p:sp>
        <p:nvSpPr>
          <p:cNvPr id="2" name="Slide Number Placeholder 1">
            <a:extLst>
              <a:ext uri="{FF2B5EF4-FFF2-40B4-BE49-F238E27FC236}">
                <a16:creationId xmlns:a16="http://schemas.microsoft.com/office/drawing/2014/main" id="{D1821636-66CE-7AC6-B65F-09F170EBA8CE}"/>
              </a:ext>
            </a:extLst>
          </p:cNvPr>
          <p:cNvSpPr>
            <a:spLocks noGrp="1"/>
          </p:cNvSpPr>
          <p:nvPr>
            <p:ph type="sldNum" idx="12"/>
          </p:nvPr>
        </p:nvSpPr>
        <p:spPr>
          <a:xfrm>
            <a:off x="10770480" y="6217623"/>
            <a:ext cx="731600" cy="524800"/>
          </a:xfrm>
        </p:spPr>
        <p:txBody>
          <a:bodyPr/>
          <a:lstStyle/>
          <a:p>
            <a:fld id="{00000000-1234-1234-1234-123412341234}" type="slidenum">
              <a:rPr lang="en-GB" smtClean="0"/>
              <a:pPr/>
              <a:t>35</a:t>
            </a:fld>
            <a:endParaRPr lang="en-GB"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4"/>
          <p:cNvSpPr txBox="1">
            <a:spLocks noGrp="1"/>
          </p:cNvSpPr>
          <p:nvPr>
            <p:ph type="title"/>
          </p:nvPr>
        </p:nvSpPr>
        <p:spPr>
          <a:xfrm>
            <a:off x="344480" y="1121687"/>
            <a:ext cx="11360800" cy="763600"/>
          </a:xfrm>
          <a:prstGeom prst="rect">
            <a:avLst/>
          </a:prstGeom>
        </p:spPr>
        <p:txBody>
          <a:bodyPr spcFirstLastPara="1" vert="horz" wrap="square" lIns="121900" tIns="121900" rIns="121900" bIns="121900" rtlCol="0" anchor="t" anchorCtr="0">
            <a:normAutofit fontScale="90000"/>
          </a:bodyPr>
          <a:lstStyle/>
          <a:p>
            <a:r>
              <a:rPr lang="en-GB"/>
              <a:t>Regression Analysis</a:t>
            </a:r>
            <a:endParaRPr/>
          </a:p>
        </p:txBody>
      </p:sp>
      <p:sp>
        <p:nvSpPr>
          <p:cNvPr id="259" name="Google Shape;259;p44"/>
          <p:cNvSpPr txBox="1">
            <a:spLocks noGrp="1"/>
          </p:cNvSpPr>
          <p:nvPr>
            <p:ph type="body" idx="1"/>
          </p:nvPr>
        </p:nvSpPr>
        <p:spPr>
          <a:xfrm>
            <a:off x="415600" y="2511993"/>
            <a:ext cx="11360800" cy="4555200"/>
          </a:xfrm>
          <a:prstGeom prst="rect">
            <a:avLst/>
          </a:prstGeom>
        </p:spPr>
        <p:txBody>
          <a:bodyPr spcFirstLastPara="1" vert="horz" wrap="square" lIns="121900" tIns="121900" rIns="121900" bIns="121900" rtlCol="0" anchor="t" anchorCtr="0">
            <a:normAutofit/>
          </a:bodyPr>
          <a:lstStyle/>
          <a:p>
            <a:pPr marL="0" indent="0">
              <a:buNone/>
            </a:pPr>
            <a:r>
              <a:rPr lang="en-GB" sz="1800" dirty="0">
                <a:solidFill>
                  <a:schemeClr val="dk1"/>
                </a:solidFill>
                <a:highlight>
                  <a:srgbClr val="FFFFFF"/>
                </a:highlight>
              </a:rPr>
              <a:t>Regression analysis is a powerful tool for </a:t>
            </a:r>
            <a:r>
              <a:rPr lang="en-GB" sz="1800" dirty="0">
                <a:solidFill>
                  <a:schemeClr val="dk1"/>
                </a:solidFill>
                <a:highlight>
                  <a:schemeClr val="accent4"/>
                </a:highlight>
              </a:rPr>
              <a:t>uncovering the associations between variables observed in data, but cannot easily indicate causation</a:t>
            </a:r>
            <a:r>
              <a:rPr lang="en-GB" sz="1800" dirty="0">
                <a:solidFill>
                  <a:schemeClr val="dk1"/>
                </a:solidFill>
                <a:highlight>
                  <a:srgbClr val="FFFFFF"/>
                </a:highlight>
              </a:rPr>
              <a:t>. It is used in several contexts in business, finance, and economics. For instance, it is used to help investment managers value assets and understand the relationships between factors such as </a:t>
            </a:r>
            <a:r>
              <a:rPr lang="en-GB" sz="1800" dirty="0">
                <a:solidFill>
                  <a:schemeClr val="dk1"/>
                </a:solidFill>
                <a:highlight>
                  <a:srgbClr val="FFFFFF"/>
                </a:highlight>
                <a:uFill>
                  <a:noFill/>
                </a:uFill>
                <a:hlinkClick r:id="rId3">
                  <a:extLst>
                    <a:ext uri="{A12FA001-AC4F-418D-AE19-62706E023703}">
                      <ahyp:hlinkClr xmlns:ahyp="http://schemas.microsoft.com/office/drawing/2018/hyperlinkcolor" val="tx"/>
                    </a:ext>
                  </a:extLst>
                </a:hlinkClick>
              </a:rPr>
              <a:t>commodity prices</a:t>
            </a:r>
            <a:r>
              <a:rPr lang="en-GB" sz="1800" dirty="0">
                <a:solidFill>
                  <a:schemeClr val="dk1"/>
                </a:solidFill>
                <a:highlight>
                  <a:srgbClr val="FFFFFF"/>
                </a:highlight>
              </a:rPr>
              <a:t> and the stocks of businesses dealing in those commodities.</a:t>
            </a:r>
            <a:endParaRPr sz="1800" dirty="0">
              <a:solidFill>
                <a:schemeClr val="dk1"/>
              </a:solidFill>
              <a:highlight>
                <a:srgbClr val="FFFFFF"/>
              </a:highlight>
            </a:endParaRPr>
          </a:p>
          <a:p>
            <a:pPr indent="-419090">
              <a:spcBef>
                <a:spcPts val="1600"/>
              </a:spcBef>
              <a:buClr>
                <a:srgbClr val="111111"/>
              </a:buClr>
              <a:buSzPts val="1350"/>
            </a:pPr>
            <a:r>
              <a:rPr lang="en-GB" sz="1800" dirty="0">
                <a:solidFill>
                  <a:srgbClr val="111111"/>
                </a:solidFill>
                <a:highlight>
                  <a:srgbClr val="FFFFFF"/>
                </a:highlight>
              </a:rPr>
              <a:t>A regression is a statistical technique that relates a dependent variable to one or more independent (explanatory) variables.</a:t>
            </a:r>
            <a:endParaRPr sz="1800" dirty="0">
              <a:solidFill>
                <a:srgbClr val="111111"/>
              </a:solidFill>
              <a:highlight>
                <a:srgbClr val="FFFFFF"/>
              </a:highlight>
            </a:endParaRPr>
          </a:p>
          <a:p>
            <a:pPr indent="-419090">
              <a:buClr>
                <a:srgbClr val="111111"/>
              </a:buClr>
              <a:buSzPts val="1350"/>
            </a:pPr>
            <a:r>
              <a:rPr lang="en-GB" sz="1800" dirty="0">
                <a:solidFill>
                  <a:srgbClr val="111111"/>
                </a:solidFill>
                <a:highlight>
                  <a:srgbClr val="FFFFFF"/>
                </a:highlight>
              </a:rPr>
              <a:t>A regression model is able to show whether changes observed in the dependent variable are associated with changes in one or more of the explanatory variables.</a:t>
            </a:r>
            <a:endParaRPr sz="1800" dirty="0">
              <a:solidFill>
                <a:srgbClr val="111111"/>
              </a:solidFill>
              <a:highlight>
                <a:srgbClr val="FFFFFF"/>
              </a:highlight>
            </a:endParaRPr>
          </a:p>
          <a:p>
            <a:pPr indent="-419090">
              <a:buClr>
                <a:srgbClr val="111111"/>
              </a:buClr>
              <a:buSzPts val="1350"/>
            </a:pPr>
            <a:r>
              <a:rPr lang="en-GB" sz="1800" dirty="0">
                <a:solidFill>
                  <a:srgbClr val="111111"/>
                </a:solidFill>
                <a:highlight>
                  <a:srgbClr val="FFFFFF"/>
                </a:highlight>
              </a:rPr>
              <a:t>It does this by essentially fitting a best-fit line and seeing how the data is dispersed around this line.</a:t>
            </a:r>
            <a:endParaRPr sz="1800" dirty="0">
              <a:solidFill>
                <a:srgbClr val="111111"/>
              </a:solidFill>
              <a:highlight>
                <a:srgbClr val="FFFFFF"/>
              </a:highlight>
            </a:endParaRPr>
          </a:p>
          <a:p>
            <a:pPr indent="-419090">
              <a:buClr>
                <a:srgbClr val="111111"/>
              </a:buClr>
              <a:buSzPts val="1350"/>
            </a:pPr>
            <a:r>
              <a:rPr lang="en-GB" sz="1800" dirty="0">
                <a:solidFill>
                  <a:srgbClr val="111111"/>
                </a:solidFill>
                <a:highlight>
                  <a:srgbClr val="FFFFFF"/>
                </a:highlight>
              </a:rPr>
              <a:t>Regression helps economists and financial analysts in things ranging from asset valuation to making predictions.</a:t>
            </a:r>
            <a:endParaRPr sz="1800" dirty="0">
              <a:solidFill>
                <a:srgbClr val="111111"/>
              </a:solidFill>
              <a:highlight>
                <a:srgbClr val="FFFFFF"/>
              </a:highlight>
            </a:endParaRPr>
          </a:p>
          <a:p>
            <a:pPr indent="-419090">
              <a:buClr>
                <a:srgbClr val="111111"/>
              </a:buClr>
              <a:buSzPts val="1350"/>
            </a:pPr>
            <a:r>
              <a:rPr lang="en-GB" sz="1800" dirty="0">
                <a:solidFill>
                  <a:srgbClr val="111111"/>
                </a:solidFill>
                <a:highlight>
                  <a:srgbClr val="FFFFFF"/>
                </a:highlight>
              </a:rPr>
              <a:t>In order for regression results to be properly interpreted, several assumptions about the data and the model itself must hold.</a:t>
            </a:r>
            <a:endParaRPr sz="1800" dirty="0">
              <a:solidFill>
                <a:srgbClr val="111111"/>
              </a:solidFill>
              <a:highlight>
                <a:srgbClr val="FFFFFF"/>
              </a:highlight>
            </a:endParaRPr>
          </a:p>
          <a:p>
            <a:pPr marL="0" indent="0">
              <a:spcAft>
                <a:spcPts val="1600"/>
              </a:spcAft>
              <a:buNone/>
            </a:pPr>
            <a:endParaRPr sz="1800" dirty="0">
              <a:solidFill>
                <a:schemeClr val="dk1"/>
              </a:solidFill>
              <a:highlight>
                <a:srgbClr val="FFFFFF"/>
              </a:highlight>
            </a:endParaRPr>
          </a:p>
        </p:txBody>
      </p:sp>
      <p:sp>
        <p:nvSpPr>
          <p:cNvPr id="2" name="Slide Number Placeholder 1">
            <a:extLst>
              <a:ext uri="{FF2B5EF4-FFF2-40B4-BE49-F238E27FC236}">
                <a16:creationId xmlns:a16="http://schemas.microsoft.com/office/drawing/2014/main" id="{6E0AE74E-BC9E-09AA-0BEE-7DE6124E2C3C}"/>
              </a:ext>
            </a:extLst>
          </p:cNvPr>
          <p:cNvSpPr>
            <a:spLocks noGrp="1"/>
          </p:cNvSpPr>
          <p:nvPr>
            <p:ph type="sldNum" idx="12"/>
          </p:nvPr>
        </p:nvSpPr>
        <p:spPr>
          <a:xfrm>
            <a:off x="10615891" y="6237943"/>
            <a:ext cx="731600" cy="524800"/>
          </a:xfrm>
        </p:spPr>
        <p:txBody>
          <a:bodyPr/>
          <a:lstStyle/>
          <a:p>
            <a:fld id="{00000000-1234-1234-1234-123412341234}" type="slidenum">
              <a:rPr lang="en-GB" smtClean="0"/>
              <a:pPr/>
              <a:t>36</a:t>
            </a:fld>
            <a:endParaRPr lang="en-GB"/>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5"/>
          <p:cNvSpPr txBox="1">
            <a:spLocks noGrp="1"/>
          </p:cNvSpPr>
          <p:nvPr>
            <p:ph type="title"/>
          </p:nvPr>
        </p:nvSpPr>
        <p:spPr>
          <a:xfrm>
            <a:off x="314000" y="1209860"/>
            <a:ext cx="11360800" cy="763600"/>
          </a:xfrm>
          <a:prstGeom prst="rect">
            <a:avLst/>
          </a:prstGeom>
        </p:spPr>
        <p:txBody>
          <a:bodyPr spcFirstLastPara="1" vert="horz" wrap="square" lIns="121900" tIns="121900" rIns="121900" bIns="121900" rtlCol="0" anchor="t" anchorCtr="0">
            <a:normAutofit fontScale="90000"/>
          </a:bodyPr>
          <a:lstStyle/>
          <a:p>
            <a:r>
              <a:rPr lang="en-GB" dirty="0"/>
              <a:t>Regression types</a:t>
            </a:r>
            <a:endParaRPr dirty="0"/>
          </a:p>
        </p:txBody>
      </p:sp>
      <p:sp>
        <p:nvSpPr>
          <p:cNvPr id="265" name="Google Shape;265;p45"/>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buClr>
                <a:schemeClr val="dk1"/>
              </a:buClr>
              <a:buSzPts val="1100"/>
              <a:buNone/>
            </a:pPr>
            <a:endParaRPr/>
          </a:p>
          <a:p>
            <a:pPr marL="0" indent="0">
              <a:spcBef>
                <a:spcPts val="1600"/>
              </a:spcBef>
              <a:buClr>
                <a:schemeClr val="dk1"/>
              </a:buClr>
              <a:buSzPts val="1100"/>
              <a:buNone/>
            </a:pPr>
            <a:r>
              <a:rPr lang="en-GB"/>
              <a:t>​</a:t>
            </a:r>
            <a:endParaRPr/>
          </a:p>
          <a:p>
            <a:pPr marL="0" indent="0">
              <a:spcBef>
                <a:spcPts val="1600"/>
              </a:spcBef>
              <a:buClr>
                <a:schemeClr val="dk1"/>
              </a:buClr>
              <a:buSzPts val="1100"/>
              <a:buNone/>
            </a:pPr>
            <a:endParaRPr/>
          </a:p>
          <a:p>
            <a:pPr marL="0" indent="0">
              <a:spcBef>
                <a:spcPts val="1600"/>
              </a:spcBef>
              <a:spcAft>
                <a:spcPts val="1600"/>
              </a:spcAft>
              <a:buNone/>
            </a:pPr>
            <a:endParaRPr/>
          </a:p>
        </p:txBody>
      </p:sp>
      <p:pic>
        <p:nvPicPr>
          <p:cNvPr id="266" name="Google Shape;266;p45"/>
          <p:cNvPicPr preferRelativeResize="0"/>
          <p:nvPr/>
        </p:nvPicPr>
        <p:blipFill>
          <a:blip r:embed="rId3">
            <a:alphaModFix/>
          </a:blip>
          <a:stretch>
            <a:fillRect/>
          </a:stretch>
        </p:blipFill>
        <p:spPr>
          <a:xfrm>
            <a:off x="1268006" y="2265093"/>
            <a:ext cx="5981925" cy="3153307"/>
          </a:xfrm>
          <a:prstGeom prst="rect">
            <a:avLst/>
          </a:prstGeom>
          <a:noFill/>
          <a:ln>
            <a:noFill/>
          </a:ln>
        </p:spPr>
      </p:pic>
      <p:pic>
        <p:nvPicPr>
          <p:cNvPr id="267" name="Google Shape;267;p45"/>
          <p:cNvPicPr preferRelativeResize="0"/>
          <p:nvPr/>
        </p:nvPicPr>
        <p:blipFill>
          <a:blip r:embed="rId4">
            <a:alphaModFix/>
          </a:blip>
          <a:stretch>
            <a:fillRect/>
          </a:stretch>
        </p:blipFill>
        <p:spPr>
          <a:xfrm>
            <a:off x="4599001" y="1861753"/>
            <a:ext cx="6634167" cy="3349467"/>
          </a:xfrm>
          <a:prstGeom prst="rect">
            <a:avLst/>
          </a:prstGeom>
          <a:noFill/>
          <a:ln>
            <a:noFill/>
          </a:ln>
        </p:spPr>
      </p:pic>
      <p:sp>
        <p:nvSpPr>
          <p:cNvPr id="2" name="Slide Number Placeholder 1">
            <a:extLst>
              <a:ext uri="{FF2B5EF4-FFF2-40B4-BE49-F238E27FC236}">
                <a16:creationId xmlns:a16="http://schemas.microsoft.com/office/drawing/2014/main" id="{78E062F5-EC8C-4F9E-15B7-C2A4EA9A3F85}"/>
              </a:ext>
            </a:extLst>
          </p:cNvPr>
          <p:cNvSpPr>
            <a:spLocks noGrp="1"/>
          </p:cNvSpPr>
          <p:nvPr>
            <p:ph type="sldNum" idx="12"/>
          </p:nvPr>
        </p:nvSpPr>
        <p:spPr>
          <a:xfrm>
            <a:off x="10747971" y="6269739"/>
            <a:ext cx="731600" cy="524800"/>
          </a:xfrm>
        </p:spPr>
        <p:txBody>
          <a:bodyPr/>
          <a:lstStyle/>
          <a:p>
            <a:fld id="{00000000-1234-1234-1234-123412341234}" type="slidenum">
              <a:rPr lang="en-GB" smtClean="0"/>
              <a:pPr/>
              <a:t>37</a:t>
            </a:fld>
            <a:endParaRPr lang="en-GB"/>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6"/>
          <p:cNvSpPr txBox="1">
            <a:spLocks noGrp="1"/>
          </p:cNvSpPr>
          <p:nvPr>
            <p:ph type="title"/>
          </p:nvPr>
        </p:nvSpPr>
        <p:spPr>
          <a:xfrm>
            <a:off x="202240" y="1243607"/>
            <a:ext cx="11360800" cy="763600"/>
          </a:xfrm>
          <a:prstGeom prst="rect">
            <a:avLst/>
          </a:prstGeom>
        </p:spPr>
        <p:txBody>
          <a:bodyPr spcFirstLastPara="1" vert="horz" wrap="square" lIns="121900" tIns="121900" rIns="121900" bIns="121900" rtlCol="0" anchor="t" anchorCtr="0">
            <a:normAutofit fontScale="90000"/>
          </a:bodyPr>
          <a:lstStyle/>
          <a:p>
            <a:r>
              <a:rPr lang="en-GB" dirty="0"/>
              <a:t>Elementary Probability</a:t>
            </a:r>
            <a:endParaRPr dirty="0"/>
          </a:p>
        </p:txBody>
      </p:sp>
      <p:sp>
        <p:nvSpPr>
          <p:cNvPr id="273" name="Google Shape;273;p46"/>
          <p:cNvSpPr txBox="1">
            <a:spLocks noGrp="1"/>
          </p:cNvSpPr>
          <p:nvPr>
            <p:ph type="body" idx="1"/>
          </p:nvPr>
        </p:nvSpPr>
        <p:spPr>
          <a:xfrm>
            <a:off x="415600" y="2522153"/>
            <a:ext cx="11360800" cy="4555200"/>
          </a:xfrm>
          <a:prstGeom prst="rect">
            <a:avLst/>
          </a:prstGeom>
        </p:spPr>
        <p:txBody>
          <a:bodyPr spcFirstLastPara="1" vert="horz" wrap="square" lIns="121900" tIns="121900" rIns="121900" bIns="121900" rtlCol="0" anchor="t" anchorCtr="0">
            <a:normAutofit fontScale="85000" lnSpcReduction="20000"/>
          </a:bodyPr>
          <a:lstStyle/>
          <a:p>
            <a:pPr marL="0" indent="0">
              <a:spcAft>
                <a:spcPts val="1600"/>
              </a:spcAft>
              <a:buNone/>
            </a:pPr>
            <a:r>
              <a:rPr lang="en-GB" dirty="0">
                <a:solidFill>
                  <a:schemeClr val="dk1"/>
                </a:solidFill>
              </a:rPr>
              <a:t>A probability gives </a:t>
            </a:r>
            <a:r>
              <a:rPr lang="en-GB" dirty="0">
                <a:solidFill>
                  <a:schemeClr val="dk1"/>
                </a:solidFill>
                <a:highlight>
                  <a:schemeClr val="accent4"/>
                </a:highlight>
              </a:rPr>
              <a:t>the likelihood that a defined event will occur. It is quantified as a positive number between 0 (the event is impossible) and 1 (the event is certain).</a:t>
            </a:r>
            <a:r>
              <a:rPr lang="en-GB" dirty="0">
                <a:solidFill>
                  <a:schemeClr val="dk1"/>
                </a:solidFill>
              </a:rPr>
              <a:t> Thus, the higher the probability of a given event, the more likely it is to occur.</a:t>
            </a:r>
          </a:p>
          <a:p>
            <a:pPr algn="l"/>
            <a:r>
              <a:rPr lang="en-US" b="0" i="0" dirty="0">
                <a:solidFill>
                  <a:srgbClr val="0D0D0D"/>
                </a:solidFill>
                <a:effectLst/>
                <a:latin typeface="Söhne"/>
              </a:rPr>
              <a:t>Key concepts in elementary probability include:</a:t>
            </a:r>
          </a:p>
          <a:p>
            <a:pPr algn="l">
              <a:buFont typeface="+mj-lt"/>
              <a:buAutoNum type="arabicPeriod"/>
            </a:pPr>
            <a:r>
              <a:rPr lang="en-US" b="1" i="0" dirty="0">
                <a:solidFill>
                  <a:srgbClr val="0D0D0D"/>
                </a:solidFill>
                <a:effectLst/>
                <a:latin typeface="Söhne"/>
              </a:rPr>
              <a:t>Sample Space:</a:t>
            </a:r>
            <a:r>
              <a:rPr lang="en-US" b="0" i="0" dirty="0">
                <a:solidFill>
                  <a:srgbClr val="0D0D0D"/>
                </a:solidFill>
                <a:effectLst/>
                <a:latin typeface="Söhne"/>
              </a:rPr>
              <a:t> The set of all possible outcomes of a random experiment.</a:t>
            </a:r>
          </a:p>
          <a:p>
            <a:pPr algn="l">
              <a:buFont typeface="+mj-lt"/>
              <a:buAutoNum type="arabicPeriod"/>
            </a:pPr>
            <a:r>
              <a:rPr lang="en-US" b="1" i="0" dirty="0">
                <a:solidFill>
                  <a:srgbClr val="0D0D0D"/>
                </a:solidFill>
                <a:effectLst/>
                <a:latin typeface="Söhne"/>
              </a:rPr>
              <a:t>Event:</a:t>
            </a:r>
            <a:r>
              <a:rPr lang="en-US" b="0" i="0" dirty="0">
                <a:solidFill>
                  <a:srgbClr val="0D0D0D"/>
                </a:solidFill>
                <a:effectLst/>
                <a:latin typeface="Söhne"/>
              </a:rPr>
              <a:t> A subset of the sample space, representing a particular outcome or a collection of outcomes.</a:t>
            </a:r>
          </a:p>
          <a:p>
            <a:pPr algn="l">
              <a:buFont typeface="+mj-lt"/>
              <a:buAutoNum type="arabicPeriod"/>
            </a:pPr>
            <a:r>
              <a:rPr lang="en-US" b="1" i="0" dirty="0">
                <a:solidFill>
                  <a:srgbClr val="0D0D0D"/>
                </a:solidFill>
                <a:effectLst/>
                <a:latin typeface="Söhne"/>
              </a:rPr>
              <a:t>Probability:</a:t>
            </a:r>
            <a:r>
              <a:rPr lang="en-US" b="0" i="0" dirty="0">
                <a:solidFill>
                  <a:srgbClr val="0D0D0D"/>
                </a:solidFill>
                <a:effectLst/>
                <a:latin typeface="Söhne"/>
              </a:rPr>
              <a:t> A numerical measure of the likelihood of an event occurring, ranging from 0 (impossible) to 1 (certain).</a:t>
            </a:r>
          </a:p>
          <a:p>
            <a:pPr algn="l">
              <a:buFont typeface="+mj-lt"/>
              <a:buAutoNum type="arabicPeriod"/>
            </a:pPr>
            <a:r>
              <a:rPr lang="en-US" b="1" i="0" dirty="0">
                <a:solidFill>
                  <a:srgbClr val="0D0D0D"/>
                </a:solidFill>
                <a:effectLst/>
                <a:latin typeface="Söhne"/>
              </a:rPr>
              <a:t>Probability of an Event:</a:t>
            </a:r>
            <a:r>
              <a:rPr lang="en-US" b="0" i="0" dirty="0">
                <a:solidFill>
                  <a:srgbClr val="0D0D0D"/>
                </a:solidFill>
                <a:effectLst/>
                <a:latin typeface="Söhne"/>
              </a:rPr>
              <a:t> The ratio of the number of favorable outcomes to the total number of outcomes in the sample space.</a:t>
            </a:r>
          </a:p>
          <a:p>
            <a:pPr algn="l">
              <a:buFont typeface="+mj-lt"/>
              <a:buAutoNum type="arabicPeriod"/>
            </a:pPr>
            <a:endParaRPr lang="en-GB" dirty="0">
              <a:solidFill>
                <a:schemeClr val="dk1"/>
              </a:solidFill>
            </a:endParaRPr>
          </a:p>
          <a:p>
            <a:pPr marL="0" indent="0">
              <a:spcAft>
                <a:spcPts val="1600"/>
              </a:spcAft>
              <a:buNone/>
            </a:pPr>
            <a:r>
              <a:rPr lang="en-US" b="0" i="0" dirty="0">
                <a:solidFill>
                  <a:srgbClr val="0D0D0D"/>
                </a:solidFill>
                <a:effectLst/>
                <a:latin typeface="Söhne"/>
              </a:rPr>
              <a:t>For example, when rolling a fair six-sided die, the sample space consists of {1, 2, 3, 4, 5, 6}. The probability of rolling a 3 is 1/6 because there is one favorable outcome (rolling a 3) out of six possible outcomes.</a:t>
            </a:r>
            <a:endParaRPr dirty="0">
              <a:solidFill>
                <a:schemeClr val="dk1"/>
              </a:solidFill>
            </a:endParaRPr>
          </a:p>
        </p:txBody>
      </p:sp>
      <p:sp>
        <p:nvSpPr>
          <p:cNvPr id="2" name="Slide Number Placeholder 1">
            <a:extLst>
              <a:ext uri="{FF2B5EF4-FFF2-40B4-BE49-F238E27FC236}">
                <a16:creationId xmlns:a16="http://schemas.microsoft.com/office/drawing/2014/main" id="{CE63E9AA-E6DA-D06F-C863-F8852AC05C0F}"/>
              </a:ext>
            </a:extLst>
          </p:cNvPr>
          <p:cNvSpPr>
            <a:spLocks noGrp="1"/>
          </p:cNvSpPr>
          <p:nvPr>
            <p:ph type="sldNum" idx="12"/>
          </p:nvPr>
        </p:nvSpPr>
        <p:spPr>
          <a:xfrm>
            <a:off x="10676851" y="6258263"/>
            <a:ext cx="731600" cy="524800"/>
          </a:xfrm>
        </p:spPr>
        <p:txBody>
          <a:bodyPr/>
          <a:lstStyle/>
          <a:p>
            <a:fld id="{00000000-1234-1234-1234-123412341234}" type="slidenum">
              <a:rPr lang="en-GB" smtClean="0"/>
              <a:pPr/>
              <a:t>38</a:t>
            </a:fld>
            <a:endParaRPr lang="en-GB"/>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47"/>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GB"/>
              <a:t>Probability Rules</a:t>
            </a:r>
            <a:endParaRPr/>
          </a:p>
        </p:txBody>
      </p:sp>
      <p:sp>
        <p:nvSpPr>
          <p:cNvPr id="279" name="Google Shape;279;p47"/>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fontScale="85000" lnSpcReduction="20000"/>
          </a:bodyPr>
          <a:lstStyle/>
          <a:p>
            <a:pPr marL="0" indent="0">
              <a:buClr>
                <a:schemeClr val="dk1"/>
              </a:buClr>
              <a:buSzPts val="1100"/>
              <a:buNone/>
            </a:pPr>
            <a:r>
              <a:rPr lang="en-GB" sz="1800" dirty="0">
                <a:solidFill>
                  <a:schemeClr val="dk1"/>
                </a:solidFill>
                <a:highlight>
                  <a:srgbClr val="FFFFFF"/>
                </a:highlight>
              </a:rPr>
              <a:t>Given two events A and B, we often want to determine the probability of either event, or both events, occurring.</a:t>
            </a:r>
            <a:endParaRPr sz="1800" dirty="0">
              <a:solidFill>
                <a:schemeClr val="dk1"/>
              </a:solidFill>
              <a:highlight>
                <a:srgbClr val="FFFFFF"/>
              </a:highlight>
            </a:endParaRPr>
          </a:p>
          <a:p>
            <a:pPr marL="0" indent="0">
              <a:spcBef>
                <a:spcPts val="1200"/>
              </a:spcBef>
              <a:buClr>
                <a:schemeClr val="dk1"/>
              </a:buClr>
              <a:buSzPts val="1100"/>
              <a:buNone/>
            </a:pPr>
            <a:r>
              <a:rPr lang="en-GB" sz="1800" dirty="0">
                <a:solidFill>
                  <a:schemeClr val="dk1"/>
                </a:solidFill>
                <a:highlight>
                  <a:srgbClr val="FFFFFF"/>
                </a:highlight>
              </a:rPr>
              <a:t> </a:t>
            </a:r>
            <a:endParaRPr sz="1800" dirty="0">
              <a:solidFill>
                <a:schemeClr val="dk1"/>
              </a:solidFill>
              <a:highlight>
                <a:srgbClr val="FFFFFF"/>
              </a:highlight>
            </a:endParaRPr>
          </a:p>
          <a:p>
            <a:pPr marL="0" indent="0">
              <a:spcBef>
                <a:spcPts val="1200"/>
              </a:spcBef>
              <a:buClr>
                <a:schemeClr val="dk1"/>
              </a:buClr>
              <a:buSzPts val="1100"/>
              <a:buNone/>
            </a:pPr>
            <a:r>
              <a:rPr lang="en-GB" sz="1800" b="1" dirty="0">
                <a:solidFill>
                  <a:schemeClr val="dk1"/>
                </a:solidFill>
                <a:highlight>
                  <a:srgbClr val="FFFFFF"/>
                </a:highlight>
              </a:rPr>
              <a:t>Addition Rule</a:t>
            </a:r>
            <a:endParaRPr sz="1800" b="1" dirty="0">
              <a:solidFill>
                <a:schemeClr val="dk1"/>
              </a:solidFill>
              <a:highlight>
                <a:srgbClr val="FFFFFF"/>
              </a:highlight>
            </a:endParaRPr>
          </a:p>
          <a:p>
            <a:pPr marL="0" indent="0">
              <a:spcBef>
                <a:spcPts val="1200"/>
              </a:spcBef>
              <a:buClr>
                <a:schemeClr val="dk1"/>
              </a:buClr>
              <a:buSzPts val="1100"/>
              <a:buNone/>
            </a:pPr>
            <a:r>
              <a:rPr lang="en-GB" sz="1800" dirty="0">
                <a:solidFill>
                  <a:schemeClr val="dk1"/>
                </a:solidFill>
                <a:highlight>
                  <a:srgbClr val="FFFFFF"/>
                </a:highlight>
              </a:rPr>
              <a:t>The addition rule is used to determine the probability of at least one of two (or more) events occurring.  In general, the probability of either event A or B is given by:</a:t>
            </a:r>
            <a:endParaRPr sz="1800" dirty="0">
              <a:solidFill>
                <a:schemeClr val="dk1"/>
              </a:solidFill>
              <a:highlight>
                <a:srgbClr val="FFFFFF"/>
              </a:highlight>
            </a:endParaRPr>
          </a:p>
          <a:p>
            <a:pPr marL="0" indent="0">
              <a:spcBef>
                <a:spcPts val="1200"/>
              </a:spcBef>
              <a:buClr>
                <a:schemeClr val="dk1"/>
              </a:buClr>
              <a:buSzPts val="1100"/>
              <a:buNone/>
            </a:pPr>
            <a:r>
              <a:rPr lang="en-GB" sz="1800" dirty="0">
                <a:solidFill>
                  <a:schemeClr val="dk1"/>
                </a:solidFill>
                <a:highlight>
                  <a:srgbClr val="FFFFFF"/>
                </a:highlight>
              </a:rPr>
              <a:t>      	</a:t>
            </a:r>
            <a:r>
              <a:rPr lang="en-GB" sz="1800" dirty="0">
                <a:solidFill>
                  <a:schemeClr val="dk1"/>
                </a:solidFill>
                <a:highlight>
                  <a:schemeClr val="accent4"/>
                </a:highlight>
              </a:rPr>
              <a:t>P(A or B) = P(A) + P(B) – P(A and B)</a:t>
            </a:r>
            <a:endParaRPr sz="1800" dirty="0">
              <a:solidFill>
                <a:schemeClr val="dk1"/>
              </a:solidFill>
              <a:highlight>
                <a:schemeClr val="accent4"/>
              </a:highlight>
            </a:endParaRPr>
          </a:p>
          <a:p>
            <a:pPr marL="0" indent="0">
              <a:spcBef>
                <a:spcPts val="1200"/>
              </a:spcBef>
              <a:buClr>
                <a:schemeClr val="dk1"/>
              </a:buClr>
              <a:buSzPts val="1100"/>
              <a:buNone/>
            </a:pPr>
            <a:r>
              <a:rPr lang="en-GB" sz="1800" dirty="0">
                <a:solidFill>
                  <a:schemeClr val="dk1"/>
                </a:solidFill>
                <a:highlight>
                  <a:schemeClr val="accent4"/>
                </a:highlight>
              </a:rPr>
              <a:t>If A and B are </a:t>
            </a:r>
            <a:r>
              <a:rPr lang="en-GB" sz="1800" i="1" dirty="0">
                <a:solidFill>
                  <a:schemeClr val="dk1"/>
                </a:solidFill>
                <a:highlight>
                  <a:schemeClr val="accent4"/>
                </a:highlight>
              </a:rPr>
              <a:t>mutually exclusive</a:t>
            </a:r>
            <a:r>
              <a:rPr lang="en-GB" sz="1800" dirty="0">
                <a:solidFill>
                  <a:schemeClr val="dk1"/>
                </a:solidFill>
                <a:highlight>
                  <a:schemeClr val="accent4"/>
                </a:highlight>
              </a:rPr>
              <a:t>,</a:t>
            </a:r>
            <a:r>
              <a:rPr lang="en-GB" sz="1800" dirty="0">
                <a:solidFill>
                  <a:schemeClr val="dk1"/>
                </a:solidFill>
                <a:highlight>
                  <a:srgbClr val="FFFFFF"/>
                </a:highlight>
              </a:rPr>
              <a:t> this means they cannot occur together, i.e. P(A and B)=0.  Therefore, for mutually exclusive events the probability of either A or B occurring is given by:</a:t>
            </a:r>
            <a:endParaRPr sz="1800" dirty="0">
              <a:solidFill>
                <a:schemeClr val="dk1"/>
              </a:solidFill>
              <a:highlight>
                <a:srgbClr val="FFFFFF"/>
              </a:highlight>
            </a:endParaRPr>
          </a:p>
          <a:p>
            <a:pPr marL="0" indent="0">
              <a:spcBef>
                <a:spcPts val="1200"/>
              </a:spcBef>
              <a:buClr>
                <a:schemeClr val="dk1"/>
              </a:buClr>
              <a:buSzPts val="1100"/>
              <a:buNone/>
            </a:pPr>
            <a:r>
              <a:rPr lang="en-GB" sz="1800" dirty="0">
                <a:solidFill>
                  <a:schemeClr val="dk1"/>
                </a:solidFill>
                <a:highlight>
                  <a:srgbClr val="FFFFFF"/>
                </a:highlight>
              </a:rPr>
              <a:t>      	</a:t>
            </a:r>
            <a:r>
              <a:rPr lang="en-GB" sz="1800" dirty="0">
                <a:solidFill>
                  <a:schemeClr val="dk1"/>
                </a:solidFill>
                <a:highlight>
                  <a:schemeClr val="accent4"/>
                </a:highlight>
              </a:rPr>
              <a:t>P(A or B) = P(A) + P(B)</a:t>
            </a:r>
          </a:p>
          <a:p>
            <a:pPr marL="0" indent="0">
              <a:spcBef>
                <a:spcPts val="1200"/>
              </a:spcBef>
              <a:buClr>
                <a:schemeClr val="dk1"/>
              </a:buClr>
              <a:buSzPts val="1100"/>
              <a:buNone/>
            </a:pPr>
            <a:r>
              <a:rPr lang="en-US" sz="1700" b="0" i="0" dirty="0">
                <a:solidFill>
                  <a:srgbClr val="0D0D0D"/>
                </a:solidFill>
                <a:effectLst/>
                <a:latin typeface="Söhne"/>
              </a:rPr>
              <a:t>Suppose you have a bag containing 5 red balls and 3 blue balls. You randomly pick one ball from the bag. Let event A be selecting a red ball, and event B be selecting a blue ball</a:t>
            </a:r>
          </a:p>
          <a:p>
            <a:pPr marL="0" indent="0">
              <a:spcBef>
                <a:spcPts val="1200"/>
              </a:spcBef>
              <a:buClr>
                <a:schemeClr val="dk1"/>
              </a:buClr>
              <a:buSzPts val="1100"/>
              <a:buNone/>
            </a:pPr>
            <a:endParaRPr sz="2600" dirty="0">
              <a:solidFill>
                <a:schemeClr val="dk1"/>
              </a:solidFill>
              <a:highlight>
                <a:schemeClr val="accent4"/>
              </a:highlight>
            </a:endParaRPr>
          </a:p>
          <a:p>
            <a:pPr marL="152396" indent="0" algn="l">
              <a:buNone/>
            </a:pPr>
            <a:r>
              <a:rPr lang="en-US" sz="1700" b="0" i="1" dirty="0">
                <a:solidFill>
                  <a:srgbClr val="0D0D0D"/>
                </a:solidFill>
                <a:effectLst/>
                <a:latin typeface="+mj-lt"/>
              </a:rPr>
              <a:t>P</a:t>
            </a:r>
            <a:r>
              <a:rPr lang="en-US" sz="1700" b="0" i="0" dirty="0">
                <a:solidFill>
                  <a:srgbClr val="0D0D0D"/>
                </a:solidFill>
                <a:effectLst/>
                <a:latin typeface="+mj-lt"/>
              </a:rPr>
              <a:t>(</a:t>
            </a:r>
            <a:r>
              <a:rPr lang="en-US" sz="1700" b="0" i="1" dirty="0">
                <a:solidFill>
                  <a:srgbClr val="0D0D0D"/>
                </a:solidFill>
                <a:effectLst/>
                <a:latin typeface="+mj-lt"/>
              </a:rPr>
              <a:t>A</a:t>
            </a:r>
            <a:r>
              <a:rPr lang="en-US" sz="1700" b="0" i="0" dirty="0">
                <a:solidFill>
                  <a:srgbClr val="0D0D0D"/>
                </a:solidFill>
                <a:effectLst/>
                <a:latin typeface="+mj-lt"/>
              </a:rPr>
              <a:t>): Probability of selecting a red ball = Number of red balls / Total number of balls = 5/8</a:t>
            </a:r>
          </a:p>
          <a:p>
            <a:pPr marL="152396" indent="0" algn="l">
              <a:buNone/>
            </a:pPr>
            <a:endParaRPr lang="en-US" sz="1700" b="0" i="0" dirty="0">
              <a:solidFill>
                <a:srgbClr val="0D0D0D"/>
              </a:solidFill>
              <a:effectLst/>
              <a:latin typeface="+mj-lt"/>
            </a:endParaRPr>
          </a:p>
          <a:p>
            <a:pPr marL="152396" indent="0" algn="l">
              <a:buNone/>
            </a:pPr>
            <a:r>
              <a:rPr lang="en-US" sz="1700" b="0" i="0" dirty="0">
                <a:solidFill>
                  <a:srgbClr val="0D0D0D"/>
                </a:solidFill>
                <a:effectLst/>
                <a:latin typeface="+mj-lt"/>
              </a:rPr>
              <a:t>𝑃(𝐵): Probability of selecting a blue ball = Number of blue balls / Total number of balls = 3/8</a:t>
            </a:r>
          </a:p>
          <a:p>
            <a:pPr marL="152396" indent="0" algn="l">
              <a:buNone/>
            </a:pPr>
            <a:endParaRPr lang="en-US" sz="1700" b="0" i="0" dirty="0">
              <a:solidFill>
                <a:srgbClr val="0D0D0D"/>
              </a:solidFill>
              <a:effectLst/>
              <a:latin typeface="+mj-lt"/>
            </a:endParaRPr>
          </a:p>
          <a:p>
            <a:pPr marL="152396" indent="0" algn="l">
              <a:buNone/>
            </a:pPr>
            <a:r>
              <a:rPr lang="en-US" sz="1700" b="0" i="0" dirty="0">
                <a:solidFill>
                  <a:srgbClr val="0D0D0D"/>
                </a:solidFill>
                <a:effectLst/>
                <a:latin typeface="+mj-lt"/>
              </a:rPr>
              <a:t>𝑃(𝐴∩𝐵): Probability of selecting both a red and a blue ball = 0 (since it's impossible to select both simultaneously)</a:t>
            </a:r>
          </a:p>
          <a:p>
            <a:pPr marL="152396" indent="0" algn="l">
              <a:buNone/>
            </a:pPr>
            <a:endParaRPr lang="en-US" sz="1700" b="0" i="0" dirty="0">
              <a:solidFill>
                <a:srgbClr val="0D0D0D"/>
              </a:solidFill>
              <a:effectLst/>
              <a:latin typeface="+mj-lt"/>
            </a:endParaRPr>
          </a:p>
          <a:p>
            <a:pPr marL="152396" indent="0" algn="l">
              <a:buNone/>
            </a:pPr>
            <a:r>
              <a:rPr lang="en-US" sz="1700" b="0" i="0" dirty="0">
                <a:solidFill>
                  <a:srgbClr val="0D0D0D"/>
                </a:solidFill>
                <a:effectLst/>
                <a:latin typeface="+mj-lt"/>
              </a:rPr>
              <a:t>Using the addition rule: 𝑃(𝐴∪𝐵)=𝑃(𝐴)+𝑃(𝐵)−𝑃(𝐴∩𝐵)</a:t>
            </a:r>
            <a:r>
              <a:rPr lang="en-US" sz="1700" b="0" i="1" dirty="0">
                <a:solidFill>
                  <a:srgbClr val="0D0D0D"/>
                </a:solidFill>
                <a:effectLst/>
                <a:latin typeface="+mj-lt"/>
              </a:rPr>
              <a:t> </a:t>
            </a:r>
            <a:r>
              <a:rPr lang="en-US" sz="1700" b="0" i="0" dirty="0">
                <a:solidFill>
                  <a:srgbClr val="0D0D0D"/>
                </a:solidFill>
                <a:effectLst/>
                <a:latin typeface="+mj-lt"/>
              </a:rPr>
              <a:t>𝑃(𝐴∪𝐵)=(5/8)+(3/8)−0=8/8=1</a:t>
            </a:r>
            <a:r>
              <a:rPr lang="en-US" sz="1700" b="0" i="1" dirty="0">
                <a:solidFill>
                  <a:srgbClr val="0D0D0D"/>
                </a:solidFill>
                <a:effectLst/>
                <a:latin typeface="+mj-lt"/>
              </a:rPr>
              <a:t>P</a:t>
            </a:r>
            <a:r>
              <a:rPr lang="en-US" sz="1700" b="0" i="0" dirty="0">
                <a:solidFill>
                  <a:srgbClr val="0D0D0D"/>
                </a:solidFill>
                <a:effectLst/>
                <a:latin typeface="+mj-lt"/>
              </a:rPr>
              <a:t>(</a:t>
            </a:r>
            <a:r>
              <a:rPr lang="en-US" sz="1700" b="0" i="1" dirty="0">
                <a:solidFill>
                  <a:srgbClr val="0D0D0D"/>
                </a:solidFill>
                <a:effectLst/>
                <a:latin typeface="+mj-lt"/>
              </a:rPr>
              <a:t>A</a:t>
            </a:r>
            <a:r>
              <a:rPr lang="en-US" sz="1700" b="0" i="0" dirty="0">
                <a:solidFill>
                  <a:srgbClr val="0D0D0D"/>
                </a:solidFill>
                <a:effectLst/>
                <a:latin typeface="+mj-lt"/>
              </a:rPr>
              <a:t>∪</a:t>
            </a:r>
            <a:r>
              <a:rPr lang="en-US" sz="1700" b="0" i="1" dirty="0">
                <a:solidFill>
                  <a:srgbClr val="0D0D0D"/>
                </a:solidFill>
                <a:effectLst/>
                <a:latin typeface="+mj-lt"/>
              </a:rPr>
              <a:t>B</a:t>
            </a:r>
            <a:r>
              <a:rPr lang="en-US" sz="1700" b="0" i="0" dirty="0">
                <a:solidFill>
                  <a:srgbClr val="0D0D0D"/>
                </a:solidFill>
                <a:effectLst/>
                <a:latin typeface="+mj-lt"/>
              </a:rPr>
              <a:t>)=(5/8)+(3/8)−0=8/8=1</a:t>
            </a:r>
          </a:p>
          <a:p>
            <a:pPr marL="0" indent="0">
              <a:spcBef>
                <a:spcPts val="1200"/>
              </a:spcBef>
              <a:spcAft>
                <a:spcPts val="1600"/>
              </a:spcAft>
              <a:buNone/>
            </a:pPr>
            <a:endParaRPr dirty="0"/>
          </a:p>
        </p:txBody>
      </p:sp>
      <p:sp>
        <p:nvSpPr>
          <p:cNvPr id="2" name="Slide Number Placeholder 1">
            <a:extLst>
              <a:ext uri="{FF2B5EF4-FFF2-40B4-BE49-F238E27FC236}">
                <a16:creationId xmlns:a16="http://schemas.microsoft.com/office/drawing/2014/main" id="{92A0F756-3C7A-40CB-4A6E-681D80FB410F}"/>
              </a:ext>
            </a:extLst>
          </p:cNvPr>
          <p:cNvSpPr>
            <a:spLocks noGrp="1"/>
          </p:cNvSpPr>
          <p:nvPr>
            <p:ph type="sldNum" idx="12"/>
          </p:nvPr>
        </p:nvSpPr>
        <p:spPr/>
        <p:txBody>
          <a:bodyPr/>
          <a:lstStyle/>
          <a:p>
            <a:fld id="{00000000-1234-1234-1234-123412341234}" type="slidenum">
              <a:rPr lang="en-GB" smtClean="0"/>
              <a:pPr/>
              <a:t>39</a:t>
            </a:fld>
            <a:endParaRPr lang="en-GB"/>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8"/>
          <p:cNvSpPr txBox="1">
            <a:spLocks noGrp="1"/>
          </p:cNvSpPr>
          <p:nvPr>
            <p:ph type="title"/>
          </p:nvPr>
        </p:nvSpPr>
        <p:spPr>
          <a:xfrm>
            <a:off x="415600" y="1091207"/>
            <a:ext cx="11360800" cy="763600"/>
          </a:xfrm>
          <a:prstGeom prst="rect">
            <a:avLst/>
          </a:prstGeom>
        </p:spPr>
        <p:txBody>
          <a:bodyPr spcFirstLastPara="1" vert="horz" wrap="square" lIns="121900" tIns="121900" rIns="121900" bIns="121900" rtlCol="0" anchor="t" anchorCtr="0">
            <a:normAutofit fontScale="90000"/>
          </a:bodyPr>
          <a:lstStyle/>
          <a:p>
            <a:r>
              <a:rPr lang="en-GB"/>
              <a:t>Probability Rules</a:t>
            </a:r>
            <a:endParaRPr/>
          </a:p>
        </p:txBody>
      </p:sp>
      <p:sp>
        <p:nvSpPr>
          <p:cNvPr id="285" name="Google Shape;285;p48"/>
          <p:cNvSpPr txBox="1">
            <a:spLocks noGrp="1"/>
          </p:cNvSpPr>
          <p:nvPr>
            <p:ph type="body" idx="1"/>
          </p:nvPr>
        </p:nvSpPr>
        <p:spPr>
          <a:xfrm>
            <a:off x="415600" y="2136073"/>
            <a:ext cx="11360800" cy="4555200"/>
          </a:xfrm>
          <a:prstGeom prst="rect">
            <a:avLst/>
          </a:prstGeom>
        </p:spPr>
        <p:txBody>
          <a:bodyPr spcFirstLastPara="1" vert="horz" wrap="square" lIns="121900" tIns="121900" rIns="121900" bIns="121900" rtlCol="0" anchor="t" anchorCtr="0">
            <a:normAutofit fontScale="32500" lnSpcReduction="20000"/>
          </a:bodyPr>
          <a:lstStyle/>
          <a:p>
            <a:pPr marL="0" indent="0">
              <a:buNone/>
            </a:pPr>
            <a:r>
              <a:rPr lang="en-GB" sz="6400" b="1" dirty="0">
                <a:solidFill>
                  <a:schemeClr val="dk1"/>
                </a:solidFill>
                <a:highlight>
                  <a:srgbClr val="FFFFFF"/>
                </a:highlight>
              </a:rPr>
              <a:t>Multiplication Rule</a:t>
            </a:r>
            <a:endParaRPr sz="6400" b="1" dirty="0">
              <a:solidFill>
                <a:schemeClr val="dk1"/>
              </a:solidFill>
              <a:highlight>
                <a:srgbClr val="FFFFFF"/>
              </a:highlight>
            </a:endParaRPr>
          </a:p>
          <a:p>
            <a:pPr marL="0" indent="0">
              <a:spcBef>
                <a:spcPts val="1200"/>
              </a:spcBef>
              <a:buNone/>
            </a:pPr>
            <a:endParaRPr sz="1800" dirty="0">
              <a:solidFill>
                <a:schemeClr val="dk1"/>
              </a:solidFill>
              <a:highlight>
                <a:srgbClr val="FFFFFF"/>
              </a:highlight>
            </a:endParaRPr>
          </a:p>
          <a:p>
            <a:pPr marL="0" indent="0">
              <a:spcBef>
                <a:spcPts val="1200"/>
              </a:spcBef>
              <a:buNone/>
            </a:pPr>
            <a:r>
              <a:rPr lang="en-GB" sz="6200" dirty="0">
                <a:solidFill>
                  <a:schemeClr val="dk1"/>
                </a:solidFill>
                <a:highlight>
                  <a:srgbClr val="FFFFFF"/>
                </a:highlight>
              </a:rPr>
              <a:t>The multiplication rule gives the probability that two (or more) events happen together. In general, the probability of both events A and B occurring is given by:</a:t>
            </a:r>
            <a:endParaRPr sz="6200" dirty="0">
              <a:solidFill>
                <a:schemeClr val="dk1"/>
              </a:solidFill>
              <a:highlight>
                <a:srgbClr val="FFFFFF"/>
              </a:highlight>
            </a:endParaRPr>
          </a:p>
          <a:p>
            <a:pPr marL="0" indent="0">
              <a:spcBef>
                <a:spcPts val="1200"/>
              </a:spcBef>
              <a:buNone/>
            </a:pPr>
            <a:endParaRPr sz="6200" dirty="0">
              <a:solidFill>
                <a:schemeClr val="dk1"/>
              </a:solidFill>
              <a:highlight>
                <a:srgbClr val="FFFFFF"/>
              </a:highlight>
            </a:endParaRPr>
          </a:p>
          <a:p>
            <a:pPr marL="0" indent="0">
              <a:spcBef>
                <a:spcPts val="1200"/>
              </a:spcBef>
              <a:buNone/>
            </a:pPr>
            <a:r>
              <a:rPr lang="en-GB" sz="6200" dirty="0">
                <a:solidFill>
                  <a:schemeClr val="dk1"/>
                </a:solidFill>
                <a:highlight>
                  <a:srgbClr val="FFFFFF"/>
                </a:highlight>
              </a:rPr>
              <a:t>         </a:t>
            </a:r>
            <a:r>
              <a:rPr lang="en-GB" sz="6200" dirty="0">
                <a:solidFill>
                  <a:schemeClr val="dk1"/>
                </a:solidFill>
                <a:highlight>
                  <a:schemeClr val="accent4"/>
                </a:highlight>
              </a:rPr>
              <a:t> P(A and B) = P(A) x P(B|A) = P(B) x P(A|B)</a:t>
            </a:r>
            <a:endParaRPr sz="6200" dirty="0">
              <a:solidFill>
                <a:schemeClr val="dk1"/>
              </a:solidFill>
              <a:highlight>
                <a:schemeClr val="accent4"/>
              </a:highlight>
            </a:endParaRPr>
          </a:p>
          <a:p>
            <a:pPr marL="0" indent="0">
              <a:spcBef>
                <a:spcPts val="1200"/>
              </a:spcBef>
              <a:buNone/>
            </a:pPr>
            <a:endParaRPr sz="6200" dirty="0">
              <a:solidFill>
                <a:schemeClr val="dk1"/>
              </a:solidFill>
              <a:highlight>
                <a:srgbClr val="FFFFFF"/>
              </a:highlight>
            </a:endParaRPr>
          </a:p>
          <a:p>
            <a:pPr marL="0" indent="0">
              <a:spcBef>
                <a:spcPts val="1200"/>
              </a:spcBef>
              <a:buNone/>
            </a:pPr>
            <a:r>
              <a:rPr lang="en-GB" sz="6200" dirty="0">
                <a:solidFill>
                  <a:schemeClr val="dk1"/>
                </a:solidFill>
                <a:highlight>
                  <a:srgbClr val="FFFFFF"/>
                </a:highlight>
              </a:rPr>
              <a:t>The notation P(B|A) is the probability that event B occurs given that event A has occurred where the symbol ‘|’ is read is ‘given’.  This is an example of a conditional probability, the condition being that event A has happened. </a:t>
            </a:r>
            <a:endParaRPr sz="6200" dirty="0">
              <a:solidFill>
                <a:schemeClr val="dk1"/>
              </a:solidFill>
              <a:highlight>
                <a:srgbClr val="FFFFFF"/>
              </a:highlight>
            </a:endParaRPr>
          </a:p>
          <a:p>
            <a:pPr marL="0" indent="0">
              <a:spcBef>
                <a:spcPts val="1200"/>
              </a:spcBef>
              <a:buNone/>
            </a:pPr>
            <a:r>
              <a:rPr lang="en-GB" sz="6200" dirty="0">
                <a:solidFill>
                  <a:schemeClr val="dk1"/>
                </a:solidFill>
                <a:highlight>
                  <a:schemeClr val="accent4"/>
                </a:highlight>
              </a:rPr>
              <a:t>If A and B are </a:t>
            </a:r>
            <a:r>
              <a:rPr lang="en-GB" sz="6200" i="1" dirty="0">
                <a:solidFill>
                  <a:schemeClr val="dk1"/>
                </a:solidFill>
                <a:highlight>
                  <a:schemeClr val="accent4"/>
                </a:highlight>
              </a:rPr>
              <a:t>independent events</a:t>
            </a:r>
            <a:r>
              <a:rPr lang="en-GB" sz="6200" dirty="0">
                <a:solidFill>
                  <a:schemeClr val="dk1"/>
                </a:solidFill>
                <a:highlight>
                  <a:srgbClr val="FFFFFF"/>
                </a:highlight>
              </a:rPr>
              <a:t>, then the probability of event B is unaffected by the probability of event A (and vice versa). In other words, P(B</a:t>
            </a:r>
            <a:r>
              <a:rPr lang="en-GB" sz="6200" i="1" dirty="0">
                <a:solidFill>
                  <a:schemeClr val="dk1"/>
                </a:solidFill>
                <a:highlight>
                  <a:srgbClr val="FFFFFF"/>
                </a:highlight>
              </a:rPr>
              <a:t>|</a:t>
            </a:r>
            <a:r>
              <a:rPr lang="en-GB" sz="6200" dirty="0">
                <a:solidFill>
                  <a:schemeClr val="dk1"/>
                </a:solidFill>
                <a:highlight>
                  <a:srgbClr val="FFFFFF"/>
                </a:highlight>
              </a:rPr>
              <a:t>A) = P(B). Therefore, for independent events, the probability of both events A and B occurring is given by:</a:t>
            </a:r>
            <a:endParaRPr sz="6200" dirty="0">
              <a:solidFill>
                <a:schemeClr val="dk1"/>
              </a:solidFill>
              <a:highlight>
                <a:srgbClr val="FFFFFF"/>
              </a:highlight>
            </a:endParaRPr>
          </a:p>
          <a:p>
            <a:pPr marL="0" indent="0">
              <a:spcBef>
                <a:spcPts val="1200"/>
              </a:spcBef>
              <a:buNone/>
            </a:pPr>
            <a:r>
              <a:rPr lang="en-GB" sz="6200" dirty="0">
                <a:solidFill>
                  <a:schemeClr val="dk1"/>
                </a:solidFill>
                <a:highlight>
                  <a:srgbClr val="FFFFFF"/>
                </a:highlight>
              </a:rPr>
              <a:t>      	</a:t>
            </a:r>
            <a:r>
              <a:rPr lang="en-GB" sz="6200" dirty="0">
                <a:solidFill>
                  <a:schemeClr val="dk1"/>
                </a:solidFill>
                <a:highlight>
                  <a:schemeClr val="accent4"/>
                </a:highlight>
              </a:rPr>
              <a:t>P(A and B) = P(A) x P(B)</a:t>
            </a:r>
            <a:endParaRPr sz="6200" dirty="0">
              <a:solidFill>
                <a:schemeClr val="dk1"/>
              </a:solidFill>
              <a:highlight>
                <a:schemeClr val="accent4"/>
              </a:highlight>
            </a:endParaRPr>
          </a:p>
          <a:p>
            <a:pPr marL="0" indent="0">
              <a:spcBef>
                <a:spcPts val="1200"/>
              </a:spcBef>
              <a:buNone/>
            </a:pPr>
            <a:endParaRPr sz="1956" dirty="0">
              <a:solidFill>
                <a:schemeClr val="dk1"/>
              </a:solidFill>
              <a:highlight>
                <a:srgbClr val="FFFFFF"/>
              </a:highlight>
            </a:endParaRPr>
          </a:p>
          <a:p>
            <a:pPr marL="0" indent="0">
              <a:spcBef>
                <a:spcPts val="1200"/>
              </a:spcBef>
              <a:buNone/>
            </a:pPr>
            <a:endParaRPr sz="1800" dirty="0">
              <a:solidFill>
                <a:schemeClr val="dk1"/>
              </a:solidFill>
              <a:highlight>
                <a:srgbClr val="FFFFFF"/>
              </a:highlight>
            </a:endParaRPr>
          </a:p>
          <a:p>
            <a:pPr marL="0" indent="0">
              <a:spcBef>
                <a:spcPts val="1200"/>
              </a:spcBef>
              <a:spcAft>
                <a:spcPts val="1600"/>
              </a:spcAft>
              <a:buNone/>
            </a:pPr>
            <a:endParaRPr dirty="0"/>
          </a:p>
        </p:txBody>
      </p:sp>
      <p:sp>
        <p:nvSpPr>
          <p:cNvPr id="2" name="Slide Number Placeholder 1">
            <a:extLst>
              <a:ext uri="{FF2B5EF4-FFF2-40B4-BE49-F238E27FC236}">
                <a16:creationId xmlns:a16="http://schemas.microsoft.com/office/drawing/2014/main" id="{0935DB68-2343-8D82-7F60-CF8F6D1CB01F}"/>
              </a:ext>
            </a:extLst>
          </p:cNvPr>
          <p:cNvSpPr>
            <a:spLocks noGrp="1"/>
          </p:cNvSpPr>
          <p:nvPr>
            <p:ph type="sldNum" idx="12"/>
          </p:nvPr>
        </p:nvSpPr>
        <p:spPr>
          <a:xfrm>
            <a:off x="10778451" y="6298553"/>
            <a:ext cx="731600" cy="524800"/>
          </a:xfrm>
        </p:spPr>
        <p:txBody>
          <a:bodyPr/>
          <a:lstStyle/>
          <a:p>
            <a:fld id="{00000000-1234-1234-1234-123412341234}" type="slidenum">
              <a:rPr lang="en-GB" smtClean="0"/>
              <a:pPr/>
              <a:t>40</a:t>
            </a:fld>
            <a:endParaRPr lang="en-GB"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F3116-08A7-466D-A603-7035DCC5C219}"/>
              </a:ext>
            </a:extLst>
          </p:cNvPr>
          <p:cNvSpPr>
            <a:spLocks noGrp="1"/>
          </p:cNvSpPr>
          <p:nvPr>
            <p:ph type="title"/>
          </p:nvPr>
        </p:nvSpPr>
        <p:spPr/>
        <p:txBody>
          <a:bodyPr>
            <a:normAutofit fontScale="90000"/>
          </a:bodyPr>
          <a:lstStyle/>
          <a:p>
            <a:r>
              <a:rPr lang="en-US" dirty="0"/>
              <a:t>Example</a:t>
            </a:r>
          </a:p>
        </p:txBody>
      </p:sp>
      <p:sp>
        <p:nvSpPr>
          <p:cNvPr id="3" name="Text Placeholder 2">
            <a:extLst>
              <a:ext uri="{FF2B5EF4-FFF2-40B4-BE49-F238E27FC236}">
                <a16:creationId xmlns:a16="http://schemas.microsoft.com/office/drawing/2014/main" id="{57CD320D-4A0C-4B57-A425-ECF14A314D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97EC70E-4D8B-4FF4-8FDB-77DA359857EA}"/>
              </a:ext>
            </a:extLst>
          </p:cNvPr>
          <p:cNvSpPr>
            <a:spLocks noGrp="1"/>
          </p:cNvSpPr>
          <p:nvPr>
            <p:ph type="sldNum" idx="12"/>
          </p:nvPr>
        </p:nvSpPr>
        <p:spPr/>
        <p:txBody>
          <a:bodyPr/>
          <a:lstStyle/>
          <a:p>
            <a:fld id="{00000000-1234-1234-1234-123412341234}" type="slidenum">
              <a:rPr lang="en-GB" smtClean="0"/>
              <a:pPr/>
              <a:t>41</a:t>
            </a:fld>
            <a:endParaRPr lang="en-GB"/>
          </a:p>
        </p:txBody>
      </p:sp>
      <p:pic>
        <p:nvPicPr>
          <p:cNvPr id="6" name="Picture 5">
            <a:extLst>
              <a:ext uri="{FF2B5EF4-FFF2-40B4-BE49-F238E27FC236}">
                <a16:creationId xmlns:a16="http://schemas.microsoft.com/office/drawing/2014/main" id="{5AEDE224-AEF1-4399-B4CC-BA41851506EA}"/>
              </a:ext>
            </a:extLst>
          </p:cNvPr>
          <p:cNvPicPr>
            <a:picLocks noChangeAspect="1"/>
          </p:cNvPicPr>
          <p:nvPr/>
        </p:nvPicPr>
        <p:blipFill>
          <a:blip r:embed="rId2"/>
          <a:stretch>
            <a:fillRect/>
          </a:stretch>
        </p:blipFill>
        <p:spPr>
          <a:xfrm>
            <a:off x="932809" y="1670809"/>
            <a:ext cx="9183382" cy="4286848"/>
          </a:xfrm>
          <a:prstGeom prst="rect">
            <a:avLst/>
          </a:prstGeom>
        </p:spPr>
      </p:pic>
      <p:sp>
        <p:nvSpPr>
          <p:cNvPr id="5" name="Rectangle 4">
            <a:extLst>
              <a:ext uri="{FF2B5EF4-FFF2-40B4-BE49-F238E27FC236}">
                <a16:creationId xmlns:a16="http://schemas.microsoft.com/office/drawing/2014/main" id="{595E3076-F742-462F-B6E6-03835D91D1E8}"/>
              </a:ext>
            </a:extLst>
          </p:cNvPr>
          <p:cNvSpPr/>
          <p:nvPr/>
        </p:nvSpPr>
        <p:spPr>
          <a:xfrm>
            <a:off x="1200150" y="1670809"/>
            <a:ext cx="542925" cy="27229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7569556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9"/>
          <p:cNvSpPr txBox="1">
            <a:spLocks noGrp="1"/>
          </p:cNvSpPr>
          <p:nvPr>
            <p:ph type="title"/>
          </p:nvPr>
        </p:nvSpPr>
        <p:spPr>
          <a:xfrm>
            <a:off x="324160" y="1043766"/>
            <a:ext cx="11360800" cy="763600"/>
          </a:xfrm>
          <a:prstGeom prst="rect">
            <a:avLst/>
          </a:prstGeom>
        </p:spPr>
        <p:txBody>
          <a:bodyPr spcFirstLastPara="1" vert="horz" wrap="square" lIns="121900" tIns="121900" rIns="121900" bIns="121900" rtlCol="0" anchor="t" anchorCtr="0">
            <a:normAutofit fontScale="90000"/>
          </a:bodyPr>
          <a:lstStyle/>
          <a:p>
            <a:r>
              <a:rPr lang="en-GB" dirty="0"/>
              <a:t>Bayes Theorem</a:t>
            </a:r>
            <a:endParaRPr dirty="0"/>
          </a:p>
        </p:txBody>
      </p:sp>
      <mc:AlternateContent xmlns:mc="http://schemas.openxmlformats.org/markup-compatibility/2006" xmlns:a14="http://schemas.microsoft.com/office/drawing/2010/main">
        <mc:Choice Requires="a14">
          <p:sp>
            <p:nvSpPr>
              <p:cNvPr id="291" name="Google Shape;291;p49"/>
              <p:cNvSpPr txBox="1">
                <a:spLocks noGrp="1"/>
              </p:cNvSpPr>
              <p:nvPr>
                <p:ph type="body" idx="1"/>
              </p:nvPr>
            </p:nvSpPr>
            <p:spPr>
              <a:xfrm>
                <a:off x="415600" y="2115753"/>
                <a:ext cx="11360800" cy="4555200"/>
              </a:xfrm>
              <a:prstGeom prst="rect">
                <a:avLst/>
              </a:prstGeom>
            </p:spPr>
            <p:txBody>
              <a:bodyPr spcFirstLastPara="1" vert="horz" wrap="square" lIns="121900" tIns="121900" rIns="121900" bIns="121900" rtlCol="0" anchor="t" anchorCtr="0">
                <a:normAutofit fontScale="92500"/>
              </a:bodyPr>
              <a:lstStyle/>
              <a:p>
                <a:pPr marL="0" indent="0">
                  <a:buClr>
                    <a:schemeClr val="dk1"/>
                  </a:buClr>
                  <a:buSzPts val="1100"/>
                  <a:buNone/>
                </a:pPr>
                <a:r>
                  <a:rPr lang="en-GB" dirty="0"/>
                  <a:t>Bayes Theorem Statement</a:t>
                </a:r>
              </a:p>
              <a:p>
                <a:pPr marL="0" indent="0">
                  <a:buClr>
                    <a:schemeClr val="dk1"/>
                  </a:buClr>
                  <a:buSzPts val="1100"/>
                  <a:buNone/>
                </a:pPr>
                <a:endParaRPr lang="en-GB" b="0" i="1" dirty="0">
                  <a:latin typeface="Cambria Math" panose="02040503050406030204" pitchFamily="18" charset="0"/>
                </a:endParaRPr>
              </a:p>
              <a:p>
                <a:pPr marL="457200" indent="-457200">
                  <a:lnSpc>
                    <a:spcPct val="150000"/>
                  </a:lnSpc>
                  <a:buClr>
                    <a:schemeClr val="dk1"/>
                  </a:buClr>
                  <a:buSzPts val="1100"/>
                </a:pPr>
                <a14:m>
                  <m:oMath xmlns:m="http://schemas.openxmlformats.org/officeDocument/2006/math">
                    <m:r>
                      <a:rPr lang="en-GB" sz="2400" b="0" i="1" smtClean="0">
                        <a:latin typeface="Cambria Math" panose="02040503050406030204" pitchFamily="18" charset="0"/>
                        <a:cs typeface="+mj-cs"/>
                      </a:rPr>
                      <m:t>𝑃</m:t>
                    </m:r>
                    <m:d>
                      <m:dPr>
                        <m:ctrlPr>
                          <a:rPr lang="ar-EG" sz="2400" b="0" i="1" smtClean="0">
                            <a:latin typeface="Cambria Math" panose="02040503050406030204" pitchFamily="18" charset="0"/>
                            <a:cs typeface="+mj-cs"/>
                          </a:rPr>
                        </m:ctrlPr>
                      </m:dPr>
                      <m:e>
                        <m:r>
                          <a:rPr lang="ar-EG" sz="2400" b="0" i="1" smtClean="0">
                            <a:latin typeface="Cambria Math" panose="02040503050406030204" pitchFamily="18" charset="0"/>
                            <a:cs typeface="+mj-cs"/>
                          </a:rPr>
                          <m:t>𝐴</m:t>
                        </m:r>
                      </m:e>
                      <m:e>
                        <m:r>
                          <a:rPr lang="ar-EG" sz="2400" b="0" i="1" smtClean="0">
                            <a:latin typeface="Cambria Math" panose="02040503050406030204" pitchFamily="18" charset="0"/>
                            <a:cs typeface="+mj-cs"/>
                          </a:rPr>
                          <m:t>𝐵</m:t>
                        </m:r>
                      </m:e>
                    </m:d>
                    <m:r>
                      <a:rPr lang="ar-EG" sz="2400" b="0" i="1" smtClean="0">
                        <a:latin typeface="Cambria Math" panose="02040503050406030204" pitchFamily="18" charset="0"/>
                        <a:cs typeface="+mj-cs"/>
                      </a:rPr>
                      <m:t>=</m:t>
                    </m:r>
                    <m:f>
                      <m:fPr>
                        <m:ctrlPr>
                          <a:rPr lang="ar-EG" sz="2400" b="0" i="1" smtClean="0">
                            <a:latin typeface="Cambria Math" panose="02040503050406030204" pitchFamily="18" charset="0"/>
                            <a:cs typeface="+mj-cs"/>
                          </a:rPr>
                        </m:ctrlPr>
                      </m:fPr>
                      <m:num>
                        <m:r>
                          <a:rPr lang="ar-EG" sz="2400" b="0" i="1" smtClean="0">
                            <a:latin typeface="Cambria Math" panose="02040503050406030204" pitchFamily="18" charset="0"/>
                            <a:cs typeface="+mj-cs"/>
                          </a:rPr>
                          <m:t>𝑃</m:t>
                        </m:r>
                        <m:d>
                          <m:dPr>
                            <m:ctrlPr>
                              <a:rPr lang="ar-EG" sz="2400" b="0" i="1" smtClean="0">
                                <a:latin typeface="Cambria Math" panose="02040503050406030204" pitchFamily="18" charset="0"/>
                                <a:cs typeface="+mj-cs"/>
                              </a:rPr>
                            </m:ctrlPr>
                          </m:dPr>
                          <m:e>
                            <m:r>
                              <a:rPr lang="ar-EG" sz="2400" b="0" i="1" smtClean="0">
                                <a:latin typeface="Cambria Math" panose="02040503050406030204" pitchFamily="18" charset="0"/>
                                <a:cs typeface="+mj-cs"/>
                              </a:rPr>
                              <m:t>𝐴</m:t>
                            </m:r>
                            <m:r>
                              <m:rPr>
                                <m:nor/>
                              </m:rPr>
                              <a:rPr lang="ar-EG" sz="2400">
                                <a:cs typeface="+mj-cs"/>
                              </a:rPr>
                              <m:t>∩</m:t>
                            </m:r>
                            <m:r>
                              <a:rPr lang="ar-EG" sz="2400" b="0" i="1" smtClean="0">
                                <a:latin typeface="Cambria Math" panose="02040503050406030204" pitchFamily="18" charset="0"/>
                                <a:cs typeface="+mj-cs"/>
                              </a:rPr>
                              <m:t>𝐵</m:t>
                            </m:r>
                          </m:e>
                        </m:d>
                      </m:num>
                      <m:den>
                        <m:r>
                          <a:rPr lang="ar-EG" sz="2400" b="0" i="1" smtClean="0">
                            <a:latin typeface="Cambria Math" panose="02040503050406030204" pitchFamily="18" charset="0"/>
                            <a:cs typeface="+mj-cs"/>
                          </a:rPr>
                          <m:t>𝑃</m:t>
                        </m:r>
                        <m:r>
                          <a:rPr lang="ar-EG" sz="2400" b="0" i="1" smtClean="0">
                            <a:latin typeface="Cambria Math" panose="02040503050406030204" pitchFamily="18" charset="0"/>
                            <a:cs typeface="+mj-cs"/>
                          </a:rPr>
                          <m:t>(</m:t>
                        </m:r>
                        <m:r>
                          <a:rPr lang="ar-EG" sz="2400" b="0" i="1" smtClean="0">
                            <a:latin typeface="Cambria Math" panose="02040503050406030204" pitchFamily="18" charset="0"/>
                            <a:cs typeface="+mj-cs"/>
                          </a:rPr>
                          <m:t>𝐵</m:t>
                        </m:r>
                        <m:r>
                          <a:rPr lang="ar-EG" sz="2400" b="0" i="1" smtClean="0">
                            <a:latin typeface="Cambria Math" panose="02040503050406030204" pitchFamily="18" charset="0"/>
                            <a:cs typeface="+mj-cs"/>
                          </a:rPr>
                          <m:t>)</m:t>
                        </m:r>
                      </m:den>
                    </m:f>
                  </m:oMath>
                </a14:m>
                <a:r>
                  <a:rPr lang="ar-EG" sz="2400" dirty="0">
                    <a:cs typeface="+mj-cs"/>
                  </a:rPr>
                  <a:t>    </a:t>
                </a:r>
                <a:r>
                  <a:rPr lang="en-GB" sz="2400" dirty="0">
                    <a:cs typeface="+mj-cs"/>
                  </a:rPr>
                  <a:t>P(B) &gt; 0</a:t>
                </a:r>
              </a:p>
              <a:p>
                <a:pPr marL="457200" indent="-457200">
                  <a:lnSpc>
                    <a:spcPct val="150000"/>
                  </a:lnSpc>
                  <a:buClr>
                    <a:schemeClr val="dk1"/>
                  </a:buClr>
                  <a:buSzPts val="1100"/>
                </a:pPr>
                <a14:m>
                  <m:oMath xmlns:m="http://schemas.openxmlformats.org/officeDocument/2006/math">
                    <m:r>
                      <a:rPr lang="en-GB" sz="2400" b="0" i="1" smtClean="0">
                        <a:latin typeface="Cambria Math" panose="02040503050406030204" pitchFamily="18" charset="0"/>
                        <a:cs typeface="+mj-cs"/>
                      </a:rPr>
                      <m:t>𝑃</m:t>
                    </m:r>
                    <m:d>
                      <m:dPr>
                        <m:ctrlPr>
                          <a:rPr lang="ar-EG" sz="2400" b="0" i="1" smtClean="0">
                            <a:latin typeface="Cambria Math" panose="02040503050406030204" pitchFamily="18" charset="0"/>
                            <a:cs typeface="+mj-cs"/>
                          </a:rPr>
                        </m:ctrlPr>
                      </m:dPr>
                      <m:e>
                        <m:r>
                          <a:rPr lang="ar-EG" sz="2400" b="0" i="1" smtClean="0">
                            <a:latin typeface="Cambria Math" panose="02040503050406030204" pitchFamily="18" charset="0"/>
                            <a:cs typeface="+mj-cs"/>
                          </a:rPr>
                          <m:t>𝐵</m:t>
                        </m:r>
                      </m:e>
                      <m:e>
                        <m:r>
                          <a:rPr lang="ar-EG" sz="2400" b="0" i="1" smtClean="0">
                            <a:latin typeface="Cambria Math" panose="02040503050406030204" pitchFamily="18" charset="0"/>
                            <a:cs typeface="+mj-cs"/>
                          </a:rPr>
                          <m:t>𝐴</m:t>
                        </m:r>
                      </m:e>
                    </m:d>
                    <m:r>
                      <a:rPr lang="ar-EG" sz="2400" b="0" i="1" smtClean="0">
                        <a:latin typeface="Cambria Math" panose="02040503050406030204" pitchFamily="18" charset="0"/>
                        <a:cs typeface="+mj-cs"/>
                      </a:rPr>
                      <m:t>=</m:t>
                    </m:r>
                    <m:f>
                      <m:fPr>
                        <m:ctrlPr>
                          <a:rPr lang="ar-EG" sz="2400" b="0" i="1" smtClean="0">
                            <a:latin typeface="Cambria Math" panose="02040503050406030204" pitchFamily="18" charset="0"/>
                            <a:cs typeface="+mj-cs"/>
                          </a:rPr>
                        </m:ctrlPr>
                      </m:fPr>
                      <m:num>
                        <m:r>
                          <a:rPr lang="ar-EG" sz="2400" b="0" i="1" smtClean="0">
                            <a:latin typeface="Cambria Math" panose="02040503050406030204" pitchFamily="18" charset="0"/>
                            <a:cs typeface="+mj-cs"/>
                          </a:rPr>
                          <m:t>𝑃</m:t>
                        </m:r>
                        <m:d>
                          <m:dPr>
                            <m:ctrlPr>
                              <a:rPr lang="ar-EG" sz="2400" b="0" i="1" smtClean="0">
                                <a:latin typeface="Cambria Math" panose="02040503050406030204" pitchFamily="18" charset="0"/>
                                <a:cs typeface="+mj-cs"/>
                              </a:rPr>
                            </m:ctrlPr>
                          </m:dPr>
                          <m:e>
                            <m:r>
                              <m:rPr>
                                <m:nor/>
                              </m:rPr>
                              <a:rPr lang="en-US" sz="2400" b="0" i="0" smtClean="0">
                                <a:latin typeface="Times New Roman" panose="02020603050405020304" pitchFamily="18" charset="0"/>
                                <a:cs typeface="Times New Roman" panose="02020603050405020304" pitchFamily="18" charset="0"/>
                              </a:rPr>
                              <m:t>B</m:t>
                            </m:r>
                            <m:r>
                              <m:rPr>
                                <m:nor/>
                              </m:rPr>
                              <a:rPr lang="en-GB" sz="2400">
                                <a:cs typeface="+mj-cs"/>
                              </a:rPr>
                              <m:t>∩</m:t>
                            </m:r>
                            <m:r>
                              <a:rPr lang="en-GB" sz="2400" b="0" i="1" smtClean="0">
                                <a:latin typeface="Cambria Math" panose="02040503050406030204" pitchFamily="18" charset="0"/>
                                <a:cs typeface="+mj-cs"/>
                              </a:rPr>
                              <m:t>𝐴</m:t>
                            </m:r>
                          </m:e>
                        </m:d>
                      </m:num>
                      <m:den>
                        <m:r>
                          <a:rPr lang="ar-EG" sz="2400" b="0" i="1" smtClean="0">
                            <a:latin typeface="Cambria Math" panose="02040503050406030204" pitchFamily="18" charset="0"/>
                            <a:cs typeface="+mj-cs"/>
                          </a:rPr>
                          <m:t>𝑃</m:t>
                        </m:r>
                        <m:r>
                          <a:rPr lang="ar-EG" sz="2400" b="0" i="1" smtClean="0">
                            <a:latin typeface="Cambria Math" panose="02040503050406030204" pitchFamily="18" charset="0"/>
                            <a:cs typeface="+mj-cs"/>
                          </a:rPr>
                          <m:t>(</m:t>
                        </m:r>
                        <m:r>
                          <a:rPr lang="ar-EG" sz="2400" b="0" i="1" smtClean="0">
                            <a:latin typeface="Cambria Math" panose="02040503050406030204" pitchFamily="18" charset="0"/>
                            <a:cs typeface="+mj-cs"/>
                          </a:rPr>
                          <m:t>𝐴</m:t>
                        </m:r>
                        <m:r>
                          <a:rPr lang="ar-EG" sz="2400" b="0" i="1" smtClean="0">
                            <a:latin typeface="Cambria Math" panose="02040503050406030204" pitchFamily="18" charset="0"/>
                            <a:cs typeface="+mj-cs"/>
                          </a:rPr>
                          <m:t>)</m:t>
                        </m:r>
                      </m:den>
                    </m:f>
                    <m:r>
                      <a:rPr lang="ar-EG" sz="2400" b="0" i="1" smtClean="0">
                        <a:latin typeface="Cambria Math" panose="02040503050406030204" pitchFamily="18" charset="0"/>
                        <a:cs typeface="+mj-cs"/>
                      </a:rPr>
                      <m:t>        </m:t>
                    </m:r>
                    <m:r>
                      <a:rPr lang="ar-EG" sz="2400" b="0" i="1" smtClean="0">
                        <a:latin typeface="Cambria Math" panose="02040503050406030204" pitchFamily="18" charset="0"/>
                        <a:cs typeface="+mj-cs"/>
                      </a:rPr>
                      <m:t>𝑃</m:t>
                    </m:r>
                    <m:d>
                      <m:dPr>
                        <m:ctrlPr>
                          <a:rPr lang="ar-EG" sz="2400" b="0" i="1" smtClean="0">
                            <a:latin typeface="Cambria Math" panose="02040503050406030204" pitchFamily="18" charset="0"/>
                            <a:cs typeface="+mj-cs"/>
                          </a:rPr>
                        </m:ctrlPr>
                      </m:dPr>
                      <m:e>
                        <m:r>
                          <a:rPr lang="ar-EG" sz="2400" b="0" i="1" smtClean="0">
                            <a:latin typeface="Cambria Math" panose="02040503050406030204" pitchFamily="18" charset="0"/>
                            <a:cs typeface="+mj-cs"/>
                          </a:rPr>
                          <m:t>𝐴</m:t>
                        </m:r>
                      </m:e>
                    </m:d>
                    <m:r>
                      <a:rPr lang="ar-EG" sz="2400" b="0" i="1" smtClean="0">
                        <a:latin typeface="Cambria Math" panose="02040503050406030204" pitchFamily="18" charset="0"/>
                        <a:cs typeface="+mj-cs"/>
                      </a:rPr>
                      <m:t>&gt;</m:t>
                    </m:r>
                    <m:r>
                      <a:rPr lang="ar-EG" sz="2400" b="0" i="1" smtClean="0">
                        <a:latin typeface="Cambria Math" panose="02040503050406030204" pitchFamily="18" charset="0"/>
                        <a:cs typeface="+mj-cs"/>
                      </a:rPr>
                      <m:t>0</m:t>
                    </m:r>
                  </m:oMath>
                </a14:m>
                <a:endParaRPr lang="ar-EG" sz="2400" b="0" dirty="0">
                  <a:cs typeface="+mj-cs"/>
                </a:endParaRPr>
              </a:p>
              <a:p>
                <a:pPr>
                  <a:lnSpc>
                    <a:spcPct val="150000"/>
                  </a:lnSpc>
                </a:pPr>
                <a14:m>
                  <m:oMath xmlns:m="http://schemas.openxmlformats.org/officeDocument/2006/math">
                    <m:r>
                      <a:rPr lang="ar-EG" sz="2400" b="0" i="1" smtClean="0">
                        <a:latin typeface="Cambria Math" panose="02040503050406030204" pitchFamily="18" charset="0"/>
                        <a:cs typeface="+mj-cs"/>
                      </a:rPr>
                      <m:t>𝑃</m:t>
                    </m:r>
                    <m:d>
                      <m:dPr>
                        <m:ctrlPr>
                          <a:rPr lang="ar-EG" sz="2400" b="0" i="1" smtClean="0">
                            <a:latin typeface="Cambria Math" panose="02040503050406030204" pitchFamily="18" charset="0"/>
                            <a:cs typeface="+mj-cs"/>
                          </a:rPr>
                        </m:ctrlPr>
                      </m:dPr>
                      <m:e>
                        <m:r>
                          <a:rPr lang="ar-EG" sz="2400" b="0" i="1" smtClean="0">
                            <a:latin typeface="Cambria Math" panose="02040503050406030204" pitchFamily="18" charset="0"/>
                            <a:cs typeface="+mj-cs"/>
                          </a:rPr>
                          <m:t>𝐴</m:t>
                        </m:r>
                        <m:r>
                          <m:rPr>
                            <m:nor/>
                          </m:rPr>
                          <a:rPr lang="ar-EG" sz="2400">
                            <a:cs typeface="+mj-cs"/>
                          </a:rPr>
                          <m:t>∩</m:t>
                        </m:r>
                        <m:r>
                          <a:rPr lang="ar-EG" sz="2400" b="0" i="1" smtClean="0">
                            <a:latin typeface="Cambria Math" panose="02040503050406030204" pitchFamily="18" charset="0"/>
                            <a:cs typeface="+mj-cs"/>
                          </a:rPr>
                          <m:t>𝐵</m:t>
                        </m:r>
                      </m:e>
                    </m:d>
                  </m:oMath>
                </a14:m>
                <a:r>
                  <a:rPr lang="en-US" sz="2400" b="0" dirty="0">
                    <a:cs typeface="+mj-cs"/>
                  </a:rPr>
                  <a:t> = </a:t>
                </a:r>
                <a14:m>
                  <m:oMath xmlns:m="http://schemas.openxmlformats.org/officeDocument/2006/math">
                    <m:r>
                      <a:rPr lang="ar-EG" sz="2400" i="1">
                        <a:latin typeface="Cambria Math" panose="02040503050406030204" pitchFamily="18" charset="0"/>
                        <a:cs typeface="+mj-cs"/>
                      </a:rPr>
                      <m:t>𝑃</m:t>
                    </m:r>
                    <m:d>
                      <m:dPr>
                        <m:ctrlPr>
                          <a:rPr lang="ar-EG" sz="2400" i="1">
                            <a:latin typeface="Cambria Math" panose="02040503050406030204" pitchFamily="18" charset="0"/>
                            <a:cs typeface="+mj-cs"/>
                          </a:rPr>
                        </m:ctrlPr>
                      </m:dPr>
                      <m:e>
                        <m:r>
                          <a:rPr lang="en-US" sz="2400" b="0" i="1" smtClean="0">
                            <a:latin typeface="Cambria Math" panose="02040503050406030204" pitchFamily="18" charset="0"/>
                            <a:cs typeface="+mj-cs"/>
                          </a:rPr>
                          <m:t>𝐵</m:t>
                        </m:r>
                        <m:r>
                          <m:rPr>
                            <m:nor/>
                          </m:rPr>
                          <a:rPr lang="ar-EG" sz="2400">
                            <a:cs typeface="+mj-cs"/>
                          </a:rPr>
                          <m:t>∩</m:t>
                        </m:r>
                        <m:r>
                          <a:rPr lang="en-US" sz="2400" b="0" i="1" smtClean="0">
                            <a:latin typeface="Cambria Math" panose="02040503050406030204" pitchFamily="18" charset="0"/>
                            <a:cs typeface="+mj-cs"/>
                          </a:rPr>
                          <m:t>𝐴</m:t>
                        </m:r>
                      </m:e>
                    </m:d>
                  </m:oMath>
                </a14:m>
                <a:endParaRPr lang="en-US" sz="2400" b="0" dirty="0">
                  <a:cs typeface="+mj-cs"/>
                </a:endParaRPr>
              </a:p>
              <a:p>
                <a:pPr>
                  <a:lnSpc>
                    <a:spcPct val="150000"/>
                  </a:lnSpc>
                </a:pPr>
                <a14:m>
                  <m:oMath xmlns:m="http://schemas.openxmlformats.org/officeDocument/2006/math">
                    <m:r>
                      <a:rPr lang="ar-EG" sz="2400" b="0" i="1" smtClean="0">
                        <a:solidFill>
                          <a:srgbClr val="FF0000"/>
                        </a:solidFill>
                        <a:latin typeface="Cambria Math" panose="02040503050406030204" pitchFamily="18" charset="0"/>
                        <a:cs typeface="+mj-cs"/>
                      </a:rPr>
                      <m:t>𝑃</m:t>
                    </m:r>
                    <m:d>
                      <m:dPr>
                        <m:ctrlPr>
                          <a:rPr lang="ar-EG" sz="2400" b="0" i="1" smtClean="0">
                            <a:solidFill>
                              <a:srgbClr val="FF0000"/>
                            </a:solidFill>
                            <a:latin typeface="Cambria Math" panose="02040503050406030204" pitchFamily="18" charset="0"/>
                            <a:cs typeface="+mj-cs"/>
                          </a:rPr>
                        </m:ctrlPr>
                      </m:dPr>
                      <m:e>
                        <m:r>
                          <a:rPr lang="ar-EG" sz="2400" b="0" i="1" smtClean="0">
                            <a:solidFill>
                              <a:srgbClr val="FF0000"/>
                            </a:solidFill>
                            <a:latin typeface="Cambria Math" panose="02040503050406030204" pitchFamily="18" charset="0"/>
                            <a:cs typeface="+mj-cs"/>
                          </a:rPr>
                          <m:t>𝐴</m:t>
                        </m:r>
                        <m:r>
                          <m:rPr>
                            <m:nor/>
                          </m:rPr>
                          <a:rPr lang="ar-EG" sz="2400">
                            <a:solidFill>
                              <a:srgbClr val="FF0000"/>
                            </a:solidFill>
                            <a:cs typeface="+mj-cs"/>
                          </a:rPr>
                          <m:t>∩</m:t>
                        </m:r>
                        <m:r>
                          <a:rPr lang="ar-EG" sz="2400" b="0" i="1" smtClean="0">
                            <a:solidFill>
                              <a:srgbClr val="FF0000"/>
                            </a:solidFill>
                            <a:latin typeface="Cambria Math" panose="02040503050406030204" pitchFamily="18" charset="0"/>
                            <a:cs typeface="+mj-cs"/>
                          </a:rPr>
                          <m:t>𝐵</m:t>
                        </m:r>
                      </m:e>
                    </m:d>
                  </m:oMath>
                </a14:m>
                <a:r>
                  <a:rPr lang="en-US" sz="2400" dirty="0">
                    <a:solidFill>
                      <a:srgbClr val="FF0000"/>
                    </a:solidFill>
                    <a:cs typeface="+mj-cs"/>
                  </a:rPr>
                  <a:t> = </a:t>
                </a:r>
                <a14:m>
                  <m:oMath xmlns:m="http://schemas.openxmlformats.org/officeDocument/2006/math">
                    <m:r>
                      <a:rPr lang="en-GB" sz="2400" i="1">
                        <a:solidFill>
                          <a:srgbClr val="FF0000"/>
                        </a:solidFill>
                        <a:latin typeface="Cambria Math" panose="02040503050406030204" pitchFamily="18" charset="0"/>
                        <a:cs typeface="+mj-cs"/>
                      </a:rPr>
                      <m:t>𝑃</m:t>
                    </m:r>
                    <m:d>
                      <m:dPr>
                        <m:ctrlPr>
                          <a:rPr lang="ar-EG" sz="2400" i="1">
                            <a:solidFill>
                              <a:srgbClr val="FF0000"/>
                            </a:solidFill>
                            <a:latin typeface="Cambria Math" panose="02040503050406030204" pitchFamily="18" charset="0"/>
                            <a:cs typeface="+mj-cs"/>
                          </a:rPr>
                        </m:ctrlPr>
                      </m:dPr>
                      <m:e>
                        <m:r>
                          <a:rPr lang="ar-EG" sz="2400" i="1">
                            <a:solidFill>
                              <a:srgbClr val="FF0000"/>
                            </a:solidFill>
                            <a:latin typeface="Cambria Math" panose="02040503050406030204" pitchFamily="18" charset="0"/>
                            <a:cs typeface="+mj-cs"/>
                          </a:rPr>
                          <m:t>𝐴</m:t>
                        </m:r>
                      </m:e>
                      <m:e>
                        <m:r>
                          <a:rPr lang="ar-EG" sz="2400" i="1">
                            <a:solidFill>
                              <a:srgbClr val="FF0000"/>
                            </a:solidFill>
                            <a:latin typeface="Cambria Math" panose="02040503050406030204" pitchFamily="18" charset="0"/>
                            <a:cs typeface="+mj-cs"/>
                          </a:rPr>
                          <m:t>𝐵</m:t>
                        </m:r>
                      </m:e>
                    </m:d>
                  </m:oMath>
                </a14:m>
                <a:r>
                  <a:rPr lang="en-US" sz="2400" b="0" dirty="0">
                    <a:solidFill>
                      <a:srgbClr val="FF0000"/>
                    </a:solidFill>
                    <a:cs typeface="+mj-cs"/>
                  </a:rPr>
                  <a:t> * </a:t>
                </a:r>
                <a14:m>
                  <m:oMath xmlns:m="http://schemas.openxmlformats.org/officeDocument/2006/math">
                    <m:r>
                      <a:rPr lang="ar-EG" sz="2400" i="1">
                        <a:solidFill>
                          <a:srgbClr val="FF0000"/>
                        </a:solidFill>
                        <a:latin typeface="Cambria Math" panose="02040503050406030204" pitchFamily="18" charset="0"/>
                        <a:cs typeface="+mj-cs"/>
                      </a:rPr>
                      <m:t>𝑃</m:t>
                    </m:r>
                    <m:r>
                      <a:rPr lang="ar-EG" sz="2400" i="1">
                        <a:solidFill>
                          <a:srgbClr val="FF0000"/>
                        </a:solidFill>
                        <a:latin typeface="Cambria Math" panose="02040503050406030204" pitchFamily="18" charset="0"/>
                        <a:cs typeface="+mj-cs"/>
                      </a:rPr>
                      <m:t>(</m:t>
                    </m:r>
                    <m:r>
                      <a:rPr lang="ar-EG" sz="2400" i="1">
                        <a:solidFill>
                          <a:srgbClr val="FF0000"/>
                        </a:solidFill>
                        <a:latin typeface="Cambria Math" panose="02040503050406030204" pitchFamily="18" charset="0"/>
                        <a:cs typeface="+mj-cs"/>
                      </a:rPr>
                      <m:t>𝐵</m:t>
                    </m:r>
                    <m:r>
                      <a:rPr lang="ar-EG" sz="2400" i="1">
                        <a:solidFill>
                          <a:srgbClr val="FF0000"/>
                        </a:solidFill>
                        <a:latin typeface="Cambria Math" panose="02040503050406030204" pitchFamily="18" charset="0"/>
                        <a:cs typeface="+mj-cs"/>
                      </a:rPr>
                      <m:t>)</m:t>
                    </m:r>
                  </m:oMath>
                </a14:m>
                <a:endParaRPr lang="en-US" sz="2400" dirty="0">
                  <a:solidFill>
                    <a:srgbClr val="FF0000"/>
                  </a:solidFill>
                  <a:cs typeface="+mj-cs"/>
                </a:endParaRPr>
              </a:p>
              <a:p>
                <a:pPr>
                  <a:lnSpc>
                    <a:spcPct val="150000"/>
                  </a:lnSpc>
                </a:pPr>
                <a14:m>
                  <m:oMath xmlns:m="http://schemas.openxmlformats.org/officeDocument/2006/math">
                    <m:r>
                      <a:rPr lang="ar-EG" sz="2400" i="1" smtClean="0">
                        <a:solidFill>
                          <a:schemeClr val="accent1"/>
                        </a:solidFill>
                        <a:latin typeface="Cambria Math" panose="02040503050406030204" pitchFamily="18" charset="0"/>
                        <a:cs typeface="+mj-cs"/>
                      </a:rPr>
                      <m:t>𝑃</m:t>
                    </m:r>
                    <m:d>
                      <m:dPr>
                        <m:ctrlPr>
                          <a:rPr lang="ar-EG" sz="2400" i="1">
                            <a:solidFill>
                              <a:schemeClr val="accent1"/>
                            </a:solidFill>
                            <a:latin typeface="Cambria Math" panose="02040503050406030204" pitchFamily="18" charset="0"/>
                            <a:cs typeface="+mj-cs"/>
                          </a:rPr>
                        </m:ctrlPr>
                      </m:dPr>
                      <m:e>
                        <m:r>
                          <m:rPr>
                            <m:nor/>
                          </m:rPr>
                          <a:rPr lang="en-US" sz="2400" b="0" i="0" smtClean="0">
                            <a:solidFill>
                              <a:schemeClr val="accent1"/>
                            </a:solidFill>
                            <a:latin typeface="Cambria Math" panose="02040503050406030204" pitchFamily="18" charset="0"/>
                            <a:cs typeface="+mj-cs"/>
                          </a:rPr>
                          <m:t>B</m:t>
                        </m:r>
                        <m:r>
                          <m:rPr>
                            <m:nor/>
                          </m:rPr>
                          <a:rPr lang="ar-EG" sz="2400">
                            <a:solidFill>
                              <a:schemeClr val="accent1"/>
                            </a:solidFill>
                            <a:cs typeface="+mj-cs"/>
                          </a:rPr>
                          <m:t>∩</m:t>
                        </m:r>
                        <m:r>
                          <m:rPr>
                            <m:nor/>
                          </m:rPr>
                          <a:rPr lang="en-US" sz="2400" b="0" i="0" smtClean="0">
                            <a:solidFill>
                              <a:schemeClr val="accent1"/>
                            </a:solidFill>
                            <a:cs typeface="+mj-cs"/>
                          </a:rPr>
                          <m:t>A</m:t>
                        </m:r>
                      </m:e>
                    </m:d>
                    <m:r>
                      <a:rPr lang="en-US" sz="2400" b="0" i="1" smtClean="0">
                        <a:solidFill>
                          <a:schemeClr val="accent1"/>
                        </a:solidFill>
                        <a:latin typeface="Cambria Math" panose="02040503050406030204" pitchFamily="18" charset="0"/>
                        <a:cs typeface="+mj-cs"/>
                      </a:rPr>
                      <m:t>=</m:t>
                    </m:r>
                    <m:r>
                      <a:rPr lang="en-GB" sz="2400" i="1" smtClean="0">
                        <a:solidFill>
                          <a:schemeClr val="accent1"/>
                        </a:solidFill>
                        <a:latin typeface="Cambria Math" panose="02040503050406030204" pitchFamily="18" charset="0"/>
                        <a:cs typeface="+mj-cs"/>
                      </a:rPr>
                      <m:t>𝑃</m:t>
                    </m:r>
                    <m:d>
                      <m:dPr>
                        <m:ctrlPr>
                          <a:rPr lang="ar-EG" sz="2400" i="1">
                            <a:solidFill>
                              <a:schemeClr val="accent1"/>
                            </a:solidFill>
                            <a:latin typeface="Cambria Math" panose="02040503050406030204" pitchFamily="18" charset="0"/>
                            <a:cs typeface="+mj-cs"/>
                          </a:rPr>
                        </m:ctrlPr>
                      </m:dPr>
                      <m:e>
                        <m:r>
                          <a:rPr lang="ar-EG" sz="2400" i="1">
                            <a:solidFill>
                              <a:schemeClr val="accent1"/>
                            </a:solidFill>
                            <a:latin typeface="Cambria Math" panose="02040503050406030204" pitchFamily="18" charset="0"/>
                            <a:cs typeface="+mj-cs"/>
                          </a:rPr>
                          <m:t>𝐵</m:t>
                        </m:r>
                      </m:e>
                      <m:e>
                        <m:r>
                          <a:rPr lang="ar-EG" sz="2400" i="1">
                            <a:solidFill>
                              <a:schemeClr val="accent1"/>
                            </a:solidFill>
                            <a:latin typeface="Cambria Math" panose="02040503050406030204" pitchFamily="18" charset="0"/>
                            <a:cs typeface="+mj-cs"/>
                          </a:rPr>
                          <m:t>𝐴</m:t>
                        </m:r>
                      </m:e>
                    </m:d>
                  </m:oMath>
                </a14:m>
                <a:r>
                  <a:rPr lang="en-US" sz="2400" b="0" dirty="0">
                    <a:solidFill>
                      <a:schemeClr val="accent1"/>
                    </a:solidFill>
                    <a:cs typeface="+mj-cs"/>
                  </a:rPr>
                  <a:t> * </a:t>
                </a:r>
                <a14:m>
                  <m:oMath xmlns:m="http://schemas.openxmlformats.org/officeDocument/2006/math">
                    <m:r>
                      <a:rPr lang="ar-EG" sz="2400" i="1">
                        <a:solidFill>
                          <a:schemeClr val="accent1"/>
                        </a:solidFill>
                        <a:latin typeface="Cambria Math" panose="02040503050406030204" pitchFamily="18" charset="0"/>
                        <a:cs typeface="+mj-cs"/>
                      </a:rPr>
                      <m:t>𝑃</m:t>
                    </m:r>
                    <m:d>
                      <m:dPr>
                        <m:ctrlPr>
                          <a:rPr lang="ar-EG" sz="2400" i="1">
                            <a:solidFill>
                              <a:schemeClr val="accent1"/>
                            </a:solidFill>
                            <a:latin typeface="Cambria Math" panose="02040503050406030204" pitchFamily="18" charset="0"/>
                            <a:cs typeface="+mj-cs"/>
                          </a:rPr>
                        </m:ctrlPr>
                      </m:dPr>
                      <m:e>
                        <m:r>
                          <a:rPr lang="ar-EG" sz="2400" i="1">
                            <a:solidFill>
                              <a:schemeClr val="accent1"/>
                            </a:solidFill>
                            <a:latin typeface="Cambria Math" panose="02040503050406030204" pitchFamily="18" charset="0"/>
                            <a:cs typeface="+mj-cs"/>
                          </a:rPr>
                          <m:t>𝐴</m:t>
                        </m:r>
                      </m:e>
                    </m:d>
                  </m:oMath>
                </a14:m>
                <a:endParaRPr lang="en-US" sz="2400" dirty="0">
                  <a:cs typeface="+mj-cs"/>
                </a:endParaRPr>
              </a:p>
              <a:p>
                <a:pPr>
                  <a:lnSpc>
                    <a:spcPct val="150000"/>
                  </a:lnSpc>
                </a:pPr>
                <a:endParaRPr lang="en-US" sz="2400" dirty="0">
                  <a:cs typeface="+mj-cs"/>
                </a:endParaRPr>
              </a:p>
              <a:p>
                <a:pPr algn="ctr"/>
                <a:endParaRPr lang="ar-EG" b="0" dirty="0">
                  <a:cs typeface="+mj-cs"/>
                </a:endParaRPr>
              </a:p>
              <a:p>
                <a:endParaRPr lang="ar-EG" b="0" dirty="0"/>
              </a:p>
              <a:p>
                <a:pPr marL="0" indent="0">
                  <a:spcBef>
                    <a:spcPts val="1600"/>
                  </a:spcBef>
                  <a:spcAft>
                    <a:spcPts val="1600"/>
                  </a:spcAft>
                  <a:buNone/>
                </a:pPr>
                <a:endParaRPr dirty="0"/>
              </a:p>
            </p:txBody>
          </p:sp>
        </mc:Choice>
        <mc:Fallback xmlns="">
          <p:sp>
            <p:nvSpPr>
              <p:cNvPr id="291" name="Google Shape;291;p49"/>
              <p:cNvSpPr txBox="1">
                <a:spLocks noGrp="1" noRot="1" noChangeAspect="1" noMove="1" noResize="1" noEditPoints="1" noAdjustHandles="1" noChangeArrowheads="1" noChangeShapeType="1" noTextEdit="1"/>
              </p:cNvSpPr>
              <p:nvPr>
                <p:ph type="body" idx="1"/>
              </p:nvPr>
            </p:nvSpPr>
            <p:spPr>
              <a:xfrm>
                <a:off x="415600" y="2115753"/>
                <a:ext cx="11360800" cy="4555200"/>
              </a:xfrm>
              <a:prstGeom prst="rect">
                <a:avLst/>
              </a:prstGeom>
              <a:blipFill>
                <a:blip r:embed="rId3"/>
                <a:stretch>
                  <a:fillRect l="-697" t="-402"/>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0FF21186-5E01-7E16-1A75-70985B8B1B99}"/>
              </a:ext>
            </a:extLst>
          </p:cNvPr>
          <p:cNvSpPr>
            <a:spLocks noGrp="1"/>
          </p:cNvSpPr>
          <p:nvPr>
            <p:ph type="sldNum" idx="12"/>
          </p:nvPr>
        </p:nvSpPr>
        <p:spPr>
          <a:xfrm>
            <a:off x="10778451" y="6217623"/>
            <a:ext cx="731600" cy="524800"/>
          </a:xfrm>
        </p:spPr>
        <p:txBody>
          <a:bodyPr/>
          <a:lstStyle/>
          <a:p>
            <a:fld id="{00000000-1234-1234-1234-123412341234}" type="slidenum">
              <a:rPr lang="en-GB" smtClean="0"/>
              <a:pPr/>
              <a:t>42</a:t>
            </a:fld>
            <a:endParaRPr lang="en-GB"/>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627C873-D8A8-497E-8141-E19FAB7FC4A9}"/>
                  </a:ext>
                </a:extLst>
              </p:cNvPr>
              <p:cNvSpPr txBox="1"/>
              <p:nvPr/>
            </p:nvSpPr>
            <p:spPr>
              <a:xfrm>
                <a:off x="6096000" y="3314865"/>
                <a:ext cx="5189461" cy="2031325"/>
              </a:xfrm>
              <a:prstGeom prst="rect">
                <a:avLst/>
              </a:prstGeom>
              <a:noFill/>
            </p:spPr>
            <p:txBody>
              <a:bodyPr wrap="square" rtlCol="0">
                <a:spAutoFit/>
              </a:bodyPr>
              <a:lstStyle/>
              <a:p>
                <a:pPr algn="ctr">
                  <a:lnSpc>
                    <a:spcPct val="150000"/>
                  </a:lnSpc>
                </a:pPr>
                <a14:m>
                  <m:oMath xmlns:m="http://schemas.openxmlformats.org/officeDocument/2006/math">
                    <m:r>
                      <a:rPr lang="en-GB" sz="2400" i="1" smtClean="0">
                        <a:solidFill>
                          <a:srgbClr val="FF0000"/>
                        </a:solidFill>
                        <a:latin typeface="Cambria Math" panose="02040503050406030204" pitchFamily="18" charset="0"/>
                        <a:cs typeface="+mj-cs"/>
                      </a:rPr>
                      <m:t>𝑃</m:t>
                    </m:r>
                    <m:d>
                      <m:dPr>
                        <m:ctrlPr>
                          <a:rPr lang="ar-EG" sz="2400" i="1">
                            <a:solidFill>
                              <a:srgbClr val="FF0000"/>
                            </a:solidFill>
                            <a:latin typeface="Cambria Math" panose="02040503050406030204" pitchFamily="18" charset="0"/>
                            <a:cs typeface="+mj-cs"/>
                          </a:rPr>
                        </m:ctrlPr>
                      </m:dPr>
                      <m:e>
                        <m:r>
                          <a:rPr lang="ar-EG" sz="2400" i="1">
                            <a:solidFill>
                              <a:srgbClr val="FF0000"/>
                            </a:solidFill>
                            <a:latin typeface="Cambria Math" panose="02040503050406030204" pitchFamily="18" charset="0"/>
                            <a:cs typeface="+mj-cs"/>
                          </a:rPr>
                          <m:t>𝐴</m:t>
                        </m:r>
                      </m:e>
                      <m:e>
                        <m:r>
                          <a:rPr lang="ar-EG" sz="2400" i="1">
                            <a:solidFill>
                              <a:srgbClr val="FF0000"/>
                            </a:solidFill>
                            <a:latin typeface="Cambria Math" panose="02040503050406030204" pitchFamily="18" charset="0"/>
                            <a:cs typeface="+mj-cs"/>
                          </a:rPr>
                          <m:t>𝐵</m:t>
                        </m:r>
                      </m:e>
                    </m:d>
                  </m:oMath>
                </a14:m>
                <a:r>
                  <a:rPr lang="en-US" sz="2400" b="0" dirty="0">
                    <a:solidFill>
                      <a:srgbClr val="FF0000"/>
                    </a:solidFill>
                    <a:cs typeface="+mj-cs"/>
                  </a:rPr>
                  <a:t> * </a:t>
                </a:r>
                <a14:m>
                  <m:oMath xmlns:m="http://schemas.openxmlformats.org/officeDocument/2006/math">
                    <m:r>
                      <a:rPr lang="ar-EG" sz="2400" i="1">
                        <a:solidFill>
                          <a:srgbClr val="FF0000"/>
                        </a:solidFill>
                        <a:latin typeface="Cambria Math" panose="02040503050406030204" pitchFamily="18" charset="0"/>
                        <a:cs typeface="+mj-cs"/>
                      </a:rPr>
                      <m:t>𝑃</m:t>
                    </m:r>
                    <m:r>
                      <a:rPr lang="ar-EG" sz="2400" i="1">
                        <a:solidFill>
                          <a:srgbClr val="FF0000"/>
                        </a:solidFill>
                        <a:latin typeface="Cambria Math" panose="02040503050406030204" pitchFamily="18" charset="0"/>
                        <a:cs typeface="+mj-cs"/>
                      </a:rPr>
                      <m:t>(</m:t>
                    </m:r>
                    <m:r>
                      <a:rPr lang="ar-EG" sz="2400" i="1">
                        <a:solidFill>
                          <a:srgbClr val="FF0000"/>
                        </a:solidFill>
                        <a:latin typeface="Cambria Math" panose="02040503050406030204" pitchFamily="18" charset="0"/>
                        <a:cs typeface="+mj-cs"/>
                      </a:rPr>
                      <m:t>𝐵</m:t>
                    </m:r>
                    <m:r>
                      <a:rPr lang="ar-EG" sz="2400" i="1">
                        <a:solidFill>
                          <a:srgbClr val="FF0000"/>
                        </a:solidFill>
                        <a:latin typeface="Cambria Math" panose="02040503050406030204" pitchFamily="18" charset="0"/>
                        <a:cs typeface="+mj-cs"/>
                      </a:rPr>
                      <m:t>)</m:t>
                    </m:r>
                  </m:oMath>
                </a14:m>
                <a:r>
                  <a:rPr lang="en-US" sz="2400" b="0" dirty="0">
                    <a:solidFill>
                      <a:srgbClr val="FF0000"/>
                    </a:solidFill>
                    <a:cs typeface="+mj-cs"/>
                  </a:rPr>
                  <a:t> </a:t>
                </a:r>
                <a:r>
                  <a:rPr lang="en-US" sz="2400" b="0" dirty="0">
                    <a:cs typeface="+mj-cs"/>
                  </a:rPr>
                  <a:t>= </a:t>
                </a:r>
                <a14:m>
                  <m:oMath xmlns:m="http://schemas.openxmlformats.org/officeDocument/2006/math">
                    <m:r>
                      <a:rPr lang="en-GB" sz="2400" i="1" smtClean="0">
                        <a:solidFill>
                          <a:schemeClr val="accent1"/>
                        </a:solidFill>
                        <a:latin typeface="Cambria Math" panose="02040503050406030204" pitchFamily="18" charset="0"/>
                      </a:rPr>
                      <m:t>𝑃</m:t>
                    </m:r>
                    <m:d>
                      <m:dPr>
                        <m:ctrlPr>
                          <a:rPr lang="ar-EG" sz="2400" i="1">
                            <a:solidFill>
                              <a:schemeClr val="accent1"/>
                            </a:solidFill>
                            <a:latin typeface="Cambria Math" panose="02040503050406030204" pitchFamily="18" charset="0"/>
                          </a:rPr>
                        </m:ctrlPr>
                      </m:dPr>
                      <m:e>
                        <m:r>
                          <a:rPr lang="ar-EG" sz="2400" i="1">
                            <a:solidFill>
                              <a:schemeClr val="accent1"/>
                            </a:solidFill>
                            <a:latin typeface="Cambria Math" panose="02040503050406030204" pitchFamily="18" charset="0"/>
                          </a:rPr>
                          <m:t>𝐵</m:t>
                        </m:r>
                      </m:e>
                      <m:e>
                        <m:r>
                          <a:rPr lang="ar-EG" sz="2400" i="1">
                            <a:solidFill>
                              <a:schemeClr val="accent1"/>
                            </a:solidFill>
                            <a:latin typeface="Cambria Math" panose="02040503050406030204" pitchFamily="18" charset="0"/>
                          </a:rPr>
                          <m:t>𝐴</m:t>
                        </m:r>
                      </m:e>
                    </m:d>
                  </m:oMath>
                </a14:m>
                <a:r>
                  <a:rPr lang="en-US" sz="2400" dirty="0">
                    <a:solidFill>
                      <a:schemeClr val="accent1"/>
                    </a:solidFill>
                  </a:rPr>
                  <a:t> * </a:t>
                </a:r>
                <a14:m>
                  <m:oMath xmlns:m="http://schemas.openxmlformats.org/officeDocument/2006/math">
                    <m:r>
                      <a:rPr lang="ar-EG" sz="2400" i="1">
                        <a:solidFill>
                          <a:schemeClr val="accent1"/>
                        </a:solidFill>
                        <a:latin typeface="Cambria Math" panose="02040503050406030204" pitchFamily="18" charset="0"/>
                      </a:rPr>
                      <m:t>𝑃</m:t>
                    </m:r>
                    <m:d>
                      <m:dPr>
                        <m:ctrlPr>
                          <a:rPr lang="ar-EG" sz="2400" i="1">
                            <a:solidFill>
                              <a:schemeClr val="accent1"/>
                            </a:solidFill>
                            <a:latin typeface="Cambria Math" panose="02040503050406030204" pitchFamily="18" charset="0"/>
                          </a:rPr>
                        </m:ctrlPr>
                      </m:dPr>
                      <m:e>
                        <m:r>
                          <a:rPr lang="ar-EG" sz="2400" i="1">
                            <a:solidFill>
                              <a:schemeClr val="accent1"/>
                            </a:solidFill>
                            <a:latin typeface="Cambria Math" panose="02040503050406030204" pitchFamily="18" charset="0"/>
                          </a:rPr>
                          <m:t>𝐴</m:t>
                        </m:r>
                      </m:e>
                    </m:d>
                  </m:oMath>
                </a14:m>
                <a:endParaRPr lang="en-US" sz="2400" b="0" dirty="0">
                  <a:cs typeface="+mj-cs"/>
                </a:endParaRPr>
              </a:p>
              <a:p>
                <a:pPr algn="ctr">
                  <a:lnSpc>
                    <a:spcPct val="150000"/>
                  </a:lnSpc>
                </a:pPr>
                <a14:m>
                  <m:oMath xmlns:m="http://schemas.openxmlformats.org/officeDocument/2006/math">
                    <m:r>
                      <a:rPr lang="en-GB" sz="2400" b="0" i="1" smtClean="0">
                        <a:latin typeface="Cambria Math" panose="02040503050406030204" pitchFamily="18" charset="0"/>
                        <a:cs typeface="+mj-cs"/>
                      </a:rPr>
                      <m:t>𝑃</m:t>
                    </m:r>
                    <m:d>
                      <m:dPr>
                        <m:ctrlPr>
                          <a:rPr lang="ar-EG" sz="2400" b="0" i="1" smtClean="0">
                            <a:latin typeface="Cambria Math" panose="02040503050406030204" pitchFamily="18" charset="0"/>
                            <a:cs typeface="+mj-cs"/>
                          </a:rPr>
                        </m:ctrlPr>
                      </m:dPr>
                      <m:e>
                        <m:r>
                          <a:rPr lang="ar-EG" sz="2400" b="0" i="1" smtClean="0">
                            <a:latin typeface="Cambria Math" panose="02040503050406030204" pitchFamily="18" charset="0"/>
                            <a:cs typeface="+mj-cs"/>
                          </a:rPr>
                          <m:t>𝐴</m:t>
                        </m:r>
                      </m:e>
                      <m:e>
                        <m:r>
                          <a:rPr lang="ar-EG" sz="2400" b="0" i="1" smtClean="0">
                            <a:latin typeface="Cambria Math" panose="02040503050406030204" pitchFamily="18" charset="0"/>
                            <a:cs typeface="+mj-cs"/>
                          </a:rPr>
                          <m:t>𝐵</m:t>
                        </m:r>
                      </m:e>
                    </m:d>
                    <m:r>
                      <a:rPr lang="ar-EG" sz="2400" b="0" i="1" smtClean="0">
                        <a:latin typeface="Cambria Math" panose="02040503050406030204" pitchFamily="18" charset="0"/>
                        <a:cs typeface="+mj-cs"/>
                      </a:rPr>
                      <m:t>=</m:t>
                    </m:r>
                  </m:oMath>
                </a14:m>
                <a:r>
                  <a:rPr lang="en-US" sz="2400" b="0" dirty="0">
                    <a:cs typeface="+mj-cs"/>
                  </a:rPr>
                  <a:t> </a:t>
                </a:r>
                <a14:m>
                  <m:oMath xmlns:m="http://schemas.openxmlformats.org/officeDocument/2006/math">
                    <m:r>
                      <a:rPr lang="en-GB" sz="2400" i="1">
                        <a:latin typeface="Cambria Math" panose="02040503050406030204" pitchFamily="18" charset="0"/>
                      </a:rPr>
                      <m:t>𝑃</m:t>
                    </m:r>
                    <m:d>
                      <m:dPr>
                        <m:ctrlPr>
                          <a:rPr lang="ar-EG" sz="2400" i="1">
                            <a:latin typeface="Cambria Math" panose="02040503050406030204" pitchFamily="18" charset="0"/>
                          </a:rPr>
                        </m:ctrlPr>
                      </m:dPr>
                      <m:e>
                        <m:r>
                          <a:rPr lang="en-US" sz="2400" b="0" i="1" smtClean="0">
                            <a:latin typeface="Cambria Math" panose="02040503050406030204" pitchFamily="18" charset="0"/>
                          </a:rPr>
                          <m:t>𝐵</m:t>
                        </m:r>
                      </m:e>
                      <m:e>
                        <m:r>
                          <a:rPr lang="en-US" sz="2400" b="0" i="1" smtClean="0">
                            <a:latin typeface="Cambria Math" panose="02040503050406030204" pitchFamily="18" charset="0"/>
                          </a:rPr>
                          <m:t>𝐴</m:t>
                        </m:r>
                      </m:e>
                    </m:d>
                    <m:r>
                      <a:rPr lang="en-US" sz="2400" b="0" i="0" smtClean="0">
                        <a:latin typeface="Cambria Math" panose="02040503050406030204" pitchFamily="18" charset="0"/>
                      </a:rPr>
                      <m:t>∗</m:t>
                    </m:r>
                    <m:r>
                      <a:rPr lang="ar-EG" sz="2400" i="1">
                        <a:latin typeface="Cambria Math" panose="02040503050406030204" pitchFamily="18" charset="0"/>
                      </a:rPr>
                      <m:t>𝑃</m:t>
                    </m:r>
                    <m:d>
                      <m:dPr>
                        <m:ctrlPr>
                          <a:rPr lang="ar-EG" sz="2400" i="1">
                            <a:latin typeface="Cambria Math" panose="02040503050406030204" pitchFamily="18" charset="0"/>
                          </a:rPr>
                        </m:ctrlPr>
                      </m:dPr>
                      <m:e>
                        <m:r>
                          <a:rPr lang="en-US" sz="2400" b="0" i="1" smtClean="0">
                            <a:latin typeface="Cambria Math" panose="02040503050406030204" pitchFamily="18" charset="0"/>
                          </a:rPr>
                          <m:t>𝐴</m:t>
                        </m:r>
                      </m:e>
                    </m:d>
                  </m:oMath>
                </a14:m>
                <a:r>
                  <a:rPr lang="en-US" sz="2400" dirty="0"/>
                  <a:t>/P(B)</a:t>
                </a:r>
              </a:p>
              <a:p>
                <a:pPr algn="ctr">
                  <a:lnSpc>
                    <a:spcPct val="150000"/>
                  </a:lnSpc>
                </a:pPr>
                <a:r>
                  <a:rPr lang="en-US" sz="2400" dirty="0"/>
                  <a:t>P(B|A) = </a:t>
                </a:r>
                <a14:m>
                  <m:oMath xmlns:m="http://schemas.openxmlformats.org/officeDocument/2006/math">
                    <m:r>
                      <a:rPr lang="en-GB" sz="2400" i="1" smtClean="0">
                        <a:latin typeface="Cambria Math" panose="02040503050406030204" pitchFamily="18" charset="0"/>
                        <a:cs typeface="+mj-cs"/>
                      </a:rPr>
                      <m:t>𝑃</m:t>
                    </m:r>
                    <m:d>
                      <m:dPr>
                        <m:ctrlPr>
                          <a:rPr lang="ar-EG" sz="2400" i="1">
                            <a:latin typeface="Cambria Math" panose="02040503050406030204" pitchFamily="18" charset="0"/>
                            <a:cs typeface="+mj-cs"/>
                          </a:rPr>
                        </m:ctrlPr>
                      </m:dPr>
                      <m:e>
                        <m:r>
                          <a:rPr lang="ar-EG" sz="2400" i="1">
                            <a:latin typeface="Cambria Math" panose="02040503050406030204" pitchFamily="18" charset="0"/>
                            <a:cs typeface="+mj-cs"/>
                          </a:rPr>
                          <m:t>𝐴</m:t>
                        </m:r>
                      </m:e>
                      <m:e>
                        <m:r>
                          <a:rPr lang="ar-EG" sz="2400" i="1">
                            <a:latin typeface="Cambria Math" panose="02040503050406030204" pitchFamily="18" charset="0"/>
                            <a:cs typeface="+mj-cs"/>
                          </a:rPr>
                          <m:t>𝐵</m:t>
                        </m:r>
                      </m:e>
                    </m:d>
                  </m:oMath>
                </a14:m>
                <a:r>
                  <a:rPr lang="en-US" sz="2400" b="0" dirty="0">
                    <a:cs typeface="+mj-cs"/>
                  </a:rPr>
                  <a:t> * </a:t>
                </a:r>
                <a14:m>
                  <m:oMath xmlns:m="http://schemas.openxmlformats.org/officeDocument/2006/math">
                    <m:r>
                      <a:rPr lang="ar-EG" sz="2400" i="1">
                        <a:latin typeface="Cambria Math" panose="02040503050406030204" pitchFamily="18" charset="0"/>
                        <a:cs typeface="+mj-cs"/>
                      </a:rPr>
                      <m:t>𝑃</m:t>
                    </m:r>
                    <m:r>
                      <a:rPr lang="ar-EG" sz="2400" i="1">
                        <a:latin typeface="Cambria Math" panose="02040503050406030204" pitchFamily="18" charset="0"/>
                        <a:cs typeface="+mj-cs"/>
                      </a:rPr>
                      <m:t>(</m:t>
                    </m:r>
                    <m:r>
                      <a:rPr lang="ar-EG" sz="2400" i="1">
                        <a:latin typeface="Cambria Math" panose="02040503050406030204" pitchFamily="18" charset="0"/>
                        <a:cs typeface="+mj-cs"/>
                      </a:rPr>
                      <m:t>𝐵</m:t>
                    </m:r>
                    <m:r>
                      <a:rPr lang="ar-EG" sz="2400" i="1">
                        <a:latin typeface="Cambria Math" panose="02040503050406030204" pitchFamily="18" charset="0"/>
                        <a:cs typeface="+mj-cs"/>
                      </a:rPr>
                      <m:t>)</m:t>
                    </m:r>
                  </m:oMath>
                </a14:m>
                <a:r>
                  <a:rPr lang="en-US" sz="2400" b="0" dirty="0">
                    <a:cs typeface="+mj-cs"/>
                  </a:rPr>
                  <a:t> /P(A)</a:t>
                </a:r>
                <a:endParaRPr lang="en-US" sz="2400" dirty="0"/>
              </a:p>
              <a:p>
                <a:endParaRPr lang="en-US" dirty="0"/>
              </a:p>
            </p:txBody>
          </p:sp>
        </mc:Choice>
        <mc:Fallback xmlns="">
          <p:sp>
            <p:nvSpPr>
              <p:cNvPr id="3" name="TextBox 2">
                <a:extLst>
                  <a:ext uri="{FF2B5EF4-FFF2-40B4-BE49-F238E27FC236}">
                    <a16:creationId xmlns:a16="http://schemas.microsoft.com/office/drawing/2014/main" id="{A627C873-D8A8-497E-8141-E19FAB7FC4A9}"/>
                  </a:ext>
                </a:extLst>
              </p:cNvPr>
              <p:cNvSpPr txBox="1">
                <a:spLocks noRot="1" noChangeAspect="1" noMove="1" noResize="1" noEditPoints="1" noAdjustHandles="1" noChangeArrowheads="1" noChangeShapeType="1" noTextEdit="1"/>
              </p:cNvSpPr>
              <p:nvPr/>
            </p:nvSpPr>
            <p:spPr>
              <a:xfrm>
                <a:off x="6096000" y="3314865"/>
                <a:ext cx="5189461" cy="2031325"/>
              </a:xfrm>
              <a:prstGeom prst="rect">
                <a:avLst/>
              </a:prstGeom>
              <a:blipFill>
                <a:blip r:embed="rId4"/>
                <a:stretch>
                  <a:fillRect/>
                </a:stretch>
              </a:blipFill>
            </p:spPr>
            <p:txBody>
              <a:bodyPr/>
              <a:lstStyle/>
              <a:p>
                <a:r>
                  <a:rPr lang="en-US">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50"/>
          <p:cNvSpPr txBox="1">
            <a:spLocks noGrp="1"/>
          </p:cNvSpPr>
          <p:nvPr>
            <p:ph type="title"/>
          </p:nvPr>
        </p:nvSpPr>
        <p:spPr>
          <a:xfrm>
            <a:off x="368752" y="933041"/>
            <a:ext cx="11360800" cy="763600"/>
          </a:xfrm>
          <a:prstGeom prst="rect">
            <a:avLst/>
          </a:prstGeom>
        </p:spPr>
        <p:txBody>
          <a:bodyPr spcFirstLastPara="1" vert="horz" wrap="square" lIns="121900" tIns="121900" rIns="121900" bIns="121900" rtlCol="0" anchor="t" anchorCtr="0">
            <a:normAutofit fontScale="90000"/>
          </a:bodyPr>
          <a:lstStyle/>
          <a:p>
            <a:r>
              <a:rPr lang="en-GB" dirty="0"/>
              <a:t>Bayes Theorem</a:t>
            </a:r>
            <a:endParaRPr dirty="0"/>
          </a:p>
        </p:txBody>
      </p:sp>
      <p:sp>
        <p:nvSpPr>
          <p:cNvPr id="298" name="Google Shape;298;p50"/>
          <p:cNvSpPr txBox="1">
            <a:spLocks noGrp="1"/>
          </p:cNvSpPr>
          <p:nvPr>
            <p:ph type="body" idx="1"/>
          </p:nvPr>
        </p:nvSpPr>
        <p:spPr>
          <a:xfrm>
            <a:off x="462448" y="1597593"/>
            <a:ext cx="10719760" cy="4142807"/>
          </a:xfrm>
          <a:prstGeom prst="rect">
            <a:avLst/>
          </a:prstGeom>
        </p:spPr>
        <p:txBody>
          <a:bodyPr spcFirstLastPara="1" vert="horz" wrap="square" lIns="121900" tIns="121900" rIns="121900" bIns="121900" rtlCol="0" anchor="t" anchorCtr="0">
            <a:normAutofit/>
          </a:bodyPr>
          <a:lstStyle/>
          <a:p>
            <a:pPr marL="0" indent="0">
              <a:spcBef>
                <a:spcPts val="1600"/>
              </a:spcBef>
              <a:buNone/>
            </a:pPr>
            <a:endParaRPr dirty="0"/>
          </a:p>
          <a:p>
            <a:pPr marL="0" indent="0">
              <a:spcBef>
                <a:spcPts val="1600"/>
              </a:spcBef>
              <a:spcAft>
                <a:spcPts val="1600"/>
              </a:spcAft>
              <a:buNone/>
            </a:pPr>
            <a:endParaRPr dirty="0"/>
          </a:p>
        </p:txBody>
      </p:sp>
      <p:sp>
        <p:nvSpPr>
          <p:cNvPr id="2" name="Slide Number Placeholder 1">
            <a:extLst>
              <a:ext uri="{FF2B5EF4-FFF2-40B4-BE49-F238E27FC236}">
                <a16:creationId xmlns:a16="http://schemas.microsoft.com/office/drawing/2014/main" id="{B63005A5-A395-C04E-1FF7-7B283270A496}"/>
              </a:ext>
            </a:extLst>
          </p:cNvPr>
          <p:cNvSpPr>
            <a:spLocks noGrp="1"/>
          </p:cNvSpPr>
          <p:nvPr>
            <p:ph type="sldNum" idx="12"/>
          </p:nvPr>
        </p:nvSpPr>
        <p:spPr>
          <a:xfrm>
            <a:off x="10697171" y="6404952"/>
            <a:ext cx="731600" cy="524800"/>
          </a:xfrm>
        </p:spPr>
        <p:txBody>
          <a:bodyPr/>
          <a:lstStyle/>
          <a:p>
            <a:fld id="{00000000-1234-1234-1234-123412341234}" type="slidenum">
              <a:rPr lang="en-GB" smtClean="0"/>
              <a:pPr/>
              <a:t>43</a:t>
            </a:fld>
            <a:endParaRPr lang="en-GB"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FBD4BB8-E818-473F-836D-5E5AEF2A9976}"/>
                  </a:ext>
                </a:extLst>
              </p:cNvPr>
              <p:cNvSpPr txBox="1"/>
              <p:nvPr/>
            </p:nvSpPr>
            <p:spPr>
              <a:xfrm>
                <a:off x="747024" y="602982"/>
                <a:ext cx="10982528" cy="7181581"/>
              </a:xfrm>
              <a:prstGeom prst="rect">
                <a:avLst/>
              </a:prstGeom>
              <a:noFill/>
            </p:spPr>
            <p:txBody>
              <a:bodyPr wrap="square" rtlCol="0">
                <a:spAutoFit/>
              </a:bodyPr>
              <a:lstStyle/>
              <a:p>
                <a:endParaRPr lang="en-US" dirty="0"/>
              </a:p>
              <a:p>
                <a:endParaRPr lang="en-US" dirty="0"/>
              </a:p>
              <a:p>
                <a:endParaRPr lang="en-US" dirty="0"/>
              </a:p>
              <a:p>
                <a:endParaRPr lang="en-US" dirty="0"/>
              </a:p>
              <a:p>
                <a:pPr algn="ctr">
                  <a:lnSpc>
                    <a:spcPct val="150000"/>
                  </a:lnSpc>
                </a:pPr>
                <a14:m>
                  <m:oMathPara xmlns:m="http://schemas.openxmlformats.org/officeDocument/2006/math">
                    <m:oMathParaPr>
                      <m:jc m:val="centerGroup"/>
                    </m:oMathParaPr>
                    <m:oMath xmlns:m="http://schemas.openxmlformats.org/officeDocument/2006/math">
                      <m:r>
                        <a:rPr lang="en-US" sz="3200" i="1" dirty="0" smtClean="0">
                          <a:latin typeface="Cambria Math" panose="02040503050406030204" pitchFamily="18" charset="0"/>
                        </a:rPr>
                        <m:t>𝐸𝑣𝑒𝑛𝑡</m:t>
                      </m:r>
                      <m:r>
                        <a:rPr lang="en-US" sz="3200" i="1" dirty="0" smtClean="0">
                          <a:latin typeface="Cambria Math" panose="02040503050406030204" pitchFamily="18" charset="0"/>
                        </a:rPr>
                        <m:t> </m:t>
                      </m:r>
                      <m:r>
                        <a:rPr lang="en-US" sz="3200" i="1" dirty="0" smtClean="0">
                          <a:latin typeface="Cambria Math" panose="02040503050406030204" pitchFamily="18" charset="0"/>
                        </a:rPr>
                        <m:t>𝐴</m:t>
                      </m:r>
                      <m:r>
                        <a:rPr lang="en-US" sz="3200" i="1" dirty="0" smtClean="0">
                          <a:latin typeface="Cambria Math" panose="02040503050406030204" pitchFamily="18" charset="0"/>
                        </a:rPr>
                        <m:t> = </m:t>
                      </m:r>
                      <m:r>
                        <a:rPr lang="en-US" sz="3200" i="1" dirty="0" smtClean="0">
                          <a:latin typeface="Cambria Math" panose="02040503050406030204" pitchFamily="18" charset="0"/>
                        </a:rPr>
                        <m:t>𝑃</m:t>
                      </m:r>
                      <m:r>
                        <a:rPr lang="en-US" sz="3200" i="1" dirty="0" smtClean="0">
                          <a:latin typeface="Cambria Math" panose="02040503050406030204" pitchFamily="18" charset="0"/>
                        </a:rPr>
                        <m:t>(</m:t>
                      </m:r>
                      <m:r>
                        <a:rPr lang="en-US" sz="3200" i="1" dirty="0" smtClean="0">
                          <a:latin typeface="Cambria Math" panose="02040503050406030204" pitchFamily="18" charset="0"/>
                        </a:rPr>
                        <m:t>𝐴</m:t>
                      </m:r>
                      <m:r>
                        <a:rPr lang="en-US" sz="3200" i="1" dirty="0" smtClean="0">
                          <a:latin typeface="Cambria Math" panose="02040503050406030204" pitchFamily="18" charset="0"/>
                        </a:rPr>
                        <m:t>) = </m:t>
                      </m:r>
                      <m:r>
                        <a:rPr lang="en-US" sz="3200" i="1" dirty="0" smtClean="0">
                          <a:latin typeface="Cambria Math" panose="02040503050406030204" pitchFamily="18" charset="0"/>
                        </a:rPr>
                        <m:t>2</m:t>
                      </m:r>
                      <m:r>
                        <a:rPr lang="en-US" sz="3200" i="1" dirty="0" smtClean="0">
                          <a:latin typeface="Cambria Math" panose="02040503050406030204" pitchFamily="18" charset="0"/>
                        </a:rPr>
                        <m:t>/</m:t>
                      </m:r>
                      <m:r>
                        <a:rPr lang="en-US" sz="3200" i="1" dirty="0" smtClean="0">
                          <a:latin typeface="Cambria Math" panose="02040503050406030204" pitchFamily="18" charset="0"/>
                        </a:rPr>
                        <m:t>5</m:t>
                      </m:r>
                      <m:r>
                        <a:rPr lang="en-US" sz="3200" i="1" dirty="0" smtClean="0">
                          <a:latin typeface="Cambria Math" panose="02040503050406030204" pitchFamily="18" charset="0"/>
                        </a:rPr>
                        <m:t>   </m:t>
                      </m:r>
                    </m:oMath>
                  </m:oMathPara>
                </a14:m>
                <a:endParaRPr lang="en-US" sz="3200" dirty="0"/>
              </a:p>
              <a:p>
                <a:pPr algn="ctr">
                  <a:lnSpc>
                    <a:spcPct val="150000"/>
                  </a:lnSpc>
                </a:pPr>
                <a14:m>
                  <m:oMathPara xmlns:m="http://schemas.openxmlformats.org/officeDocument/2006/math">
                    <m:oMathParaPr>
                      <m:jc m:val="centerGroup"/>
                    </m:oMathParaPr>
                    <m:oMath xmlns:m="http://schemas.openxmlformats.org/officeDocument/2006/math">
                      <m:r>
                        <a:rPr lang="en-US" sz="3200" b="0" i="1" dirty="0" smtClean="0">
                          <a:latin typeface="Cambria Math" panose="02040503050406030204" pitchFamily="18" charset="0"/>
                        </a:rPr>
                        <m:t>𝐸𝑣𝑒𝑛𝑡</m:t>
                      </m:r>
                      <m:r>
                        <a:rPr lang="en-US" sz="3200" b="0" i="1" dirty="0" smtClean="0">
                          <a:latin typeface="Cambria Math" panose="02040503050406030204" pitchFamily="18" charset="0"/>
                        </a:rPr>
                        <m:t> </m:t>
                      </m:r>
                      <m:r>
                        <a:rPr lang="en-US" sz="3200" b="0" i="1" dirty="0" smtClean="0">
                          <a:latin typeface="Cambria Math" panose="02040503050406030204" pitchFamily="18" charset="0"/>
                        </a:rPr>
                        <m:t>𝐵</m:t>
                      </m:r>
                      <m:r>
                        <a:rPr lang="en-US" sz="3200" b="0" i="1" dirty="0" smtClean="0">
                          <a:latin typeface="Cambria Math" panose="02040503050406030204" pitchFamily="18" charset="0"/>
                        </a:rPr>
                        <m:t> = </m:t>
                      </m:r>
                      <m:r>
                        <a:rPr lang="en-US" sz="3200" b="0" i="1" dirty="0" smtClean="0">
                          <a:latin typeface="Cambria Math" panose="02040503050406030204" pitchFamily="18" charset="0"/>
                        </a:rPr>
                        <m:t>𝑃</m:t>
                      </m:r>
                      <m:r>
                        <a:rPr lang="en-US" sz="3200" b="0" i="1" dirty="0" smtClean="0">
                          <a:latin typeface="Cambria Math" panose="02040503050406030204" pitchFamily="18" charset="0"/>
                        </a:rPr>
                        <m:t>(</m:t>
                      </m:r>
                      <m:r>
                        <a:rPr lang="en-US" sz="3200" b="0" i="1" dirty="0" smtClean="0">
                          <a:latin typeface="Cambria Math" panose="02040503050406030204" pitchFamily="18" charset="0"/>
                        </a:rPr>
                        <m:t>𝐵</m:t>
                      </m:r>
                      <m:r>
                        <a:rPr lang="en-US" sz="3200" b="0" i="1" dirty="0" smtClean="0">
                          <a:latin typeface="Cambria Math" panose="02040503050406030204" pitchFamily="18" charset="0"/>
                        </a:rPr>
                        <m:t>/</m:t>
                      </m:r>
                      <m:r>
                        <a:rPr lang="en-US" sz="3200" b="0" i="1" dirty="0" smtClean="0">
                          <a:latin typeface="Cambria Math" panose="02040503050406030204" pitchFamily="18" charset="0"/>
                        </a:rPr>
                        <m:t>𝐴</m:t>
                      </m:r>
                      <m:r>
                        <a:rPr lang="en-US" sz="3200" b="0" i="1" dirty="0" smtClean="0">
                          <a:latin typeface="Cambria Math" panose="02040503050406030204" pitchFamily="18" charset="0"/>
                        </a:rPr>
                        <m:t>)=</m:t>
                      </m:r>
                      <m:r>
                        <a:rPr lang="en-US" sz="3200" b="0" i="1" dirty="0" smtClean="0">
                          <a:latin typeface="Cambria Math" panose="02040503050406030204" pitchFamily="18" charset="0"/>
                        </a:rPr>
                        <m:t>1</m:t>
                      </m:r>
                      <m:r>
                        <a:rPr lang="en-US" sz="3200" b="0" i="1" dirty="0" smtClean="0">
                          <a:latin typeface="Cambria Math" panose="02040503050406030204" pitchFamily="18" charset="0"/>
                        </a:rPr>
                        <m:t>/</m:t>
                      </m:r>
                      <m:r>
                        <a:rPr lang="en-US" sz="3200" b="0" i="1" dirty="0" smtClean="0">
                          <a:latin typeface="Cambria Math" panose="02040503050406030204" pitchFamily="18" charset="0"/>
                        </a:rPr>
                        <m:t>4</m:t>
                      </m:r>
                    </m:oMath>
                  </m:oMathPara>
                </a14:m>
                <a:endParaRPr lang="en-US" sz="3200" b="0" dirty="0"/>
              </a:p>
              <a:p>
                <a:pPr algn="ctr">
                  <a:lnSpc>
                    <a:spcPct val="150000"/>
                  </a:lnSpc>
                </a:pPr>
                <a14:m>
                  <m:oMathPara xmlns:m="http://schemas.openxmlformats.org/officeDocument/2006/math">
                    <m:oMathParaPr>
                      <m:jc m:val="centerGroup"/>
                    </m:oMathParaPr>
                    <m:oMath xmlns:m="http://schemas.openxmlformats.org/officeDocument/2006/math">
                      <m:r>
                        <a:rPr lang="en-US" sz="3200" b="0" i="1" dirty="0" smtClean="0">
                          <a:latin typeface="Cambria Math" panose="02040503050406030204" pitchFamily="18" charset="0"/>
                        </a:rPr>
                        <m:t>𝑃</m:t>
                      </m:r>
                      <m:r>
                        <a:rPr lang="en-US" sz="3200" b="0" i="1" dirty="0" smtClean="0">
                          <a:latin typeface="Cambria Math" panose="02040503050406030204" pitchFamily="18" charset="0"/>
                        </a:rPr>
                        <m:t>(</m:t>
                      </m:r>
                      <m:r>
                        <a:rPr lang="en-US" sz="3200" b="0" i="1" dirty="0" smtClean="0">
                          <a:latin typeface="Cambria Math" panose="02040503050406030204" pitchFamily="18" charset="0"/>
                        </a:rPr>
                        <m:t>𝐴</m:t>
                      </m:r>
                      <m:r>
                        <a:rPr lang="en-US" sz="3200" b="0" i="1" dirty="0" smtClean="0">
                          <a:latin typeface="Cambria Math" panose="02040503050406030204" pitchFamily="18" charset="0"/>
                        </a:rPr>
                        <m:t> </m:t>
                      </m:r>
                      <m:r>
                        <a:rPr lang="en-US" sz="3200" smtClean="0">
                          <a:latin typeface="Cambria Math" panose="02040503050406030204" pitchFamily="18" charset="0"/>
                        </a:rPr>
                        <m:t>∩</m:t>
                      </m:r>
                      <m:r>
                        <a:rPr lang="en-US" sz="3200" b="0" i="1" dirty="0" smtClean="0">
                          <a:latin typeface="Cambria Math" panose="02040503050406030204" pitchFamily="18" charset="0"/>
                        </a:rPr>
                        <m:t> </m:t>
                      </m:r>
                      <m:r>
                        <a:rPr lang="en-US" sz="3200" b="0" i="1" dirty="0" smtClean="0">
                          <a:latin typeface="Cambria Math" panose="02040503050406030204" pitchFamily="18" charset="0"/>
                        </a:rPr>
                        <m:t>𝐵</m:t>
                      </m:r>
                      <m:r>
                        <a:rPr lang="en-US" sz="3200" b="0" i="1" dirty="0" smtClean="0">
                          <a:latin typeface="Cambria Math" panose="02040503050406030204" pitchFamily="18" charset="0"/>
                        </a:rPr>
                        <m:t>) = </m:t>
                      </m:r>
                      <m:r>
                        <a:rPr lang="en-US" sz="3200" b="0" i="1" dirty="0" smtClean="0">
                          <a:latin typeface="Cambria Math" panose="02040503050406030204" pitchFamily="18" charset="0"/>
                        </a:rPr>
                        <m:t>2</m:t>
                      </m:r>
                      <m:r>
                        <a:rPr lang="en-US" sz="3200" b="0" i="1" dirty="0" smtClean="0">
                          <a:latin typeface="Cambria Math" panose="02040503050406030204" pitchFamily="18" charset="0"/>
                        </a:rPr>
                        <m:t>/</m:t>
                      </m:r>
                      <m:r>
                        <a:rPr lang="en-US" sz="3200" b="0" i="1" dirty="0" smtClean="0">
                          <a:latin typeface="Cambria Math" panose="02040503050406030204" pitchFamily="18" charset="0"/>
                        </a:rPr>
                        <m:t>5</m:t>
                      </m:r>
                      <m:r>
                        <a:rPr lang="en-US" sz="3200" b="0" i="1" dirty="0" smtClean="0">
                          <a:latin typeface="Cambria Math" panose="02040503050406030204" pitchFamily="18" charset="0"/>
                        </a:rPr>
                        <m:t> ∗ ¼ = </m:t>
                      </m:r>
                      <m:r>
                        <a:rPr lang="en-US" sz="3200" b="0" i="1" dirty="0" smtClean="0">
                          <a:latin typeface="Cambria Math" panose="02040503050406030204" pitchFamily="18" charset="0"/>
                        </a:rPr>
                        <m:t>1</m:t>
                      </m:r>
                      <m:r>
                        <a:rPr lang="en-US" sz="3200" b="0" i="1" dirty="0" smtClean="0">
                          <a:latin typeface="Cambria Math" panose="02040503050406030204" pitchFamily="18" charset="0"/>
                        </a:rPr>
                        <m:t>/</m:t>
                      </m:r>
                      <m:r>
                        <a:rPr lang="en-US" sz="3200" b="0" i="1" dirty="0" smtClean="0">
                          <a:latin typeface="Cambria Math" panose="02040503050406030204" pitchFamily="18" charset="0"/>
                        </a:rPr>
                        <m:t>10</m:t>
                      </m:r>
                    </m:oMath>
                  </m:oMathPara>
                </a14:m>
                <a:endParaRPr lang="en-US" sz="3200" dirty="0"/>
              </a:p>
              <a:p>
                <a:pPr algn="ctr">
                  <a:lnSpc>
                    <a:spcPct val="150000"/>
                  </a:lnSpc>
                </a:pPr>
                <a14:m>
                  <m:oMathPara xmlns:m="http://schemas.openxmlformats.org/officeDocument/2006/math">
                    <m:oMathParaPr>
                      <m:jc m:val="centerGroup"/>
                    </m:oMathParaPr>
                    <m:oMath xmlns:m="http://schemas.openxmlformats.org/officeDocument/2006/math">
                      <m:r>
                        <a:rPr lang="en-US" sz="3200" b="0" i="1" dirty="0" smtClean="0">
                          <a:latin typeface="Cambria Math" panose="02040503050406030204" pitchFamily="18" charset="0"/>
                        </a:rPr>
                        <m:t>𝑃</m:t>
                      </m:r>
                      <m:d>
                        <m:dPr>
                          <m:ctrlPr>
                            <a:rPr lang="en-US" sz="3200" b="0" i="1" dirty="0" smtClean="0">
                              <a:latin typeface="Cambria Math" panose="02040503050406030204" pitchFamily="18" charset="0"/>
                            </a:rPr>
                          </m:ctrlPr>
                        </m:dPr>
                        <m:e>
                          <m:r>
                            <a:rPr lang="en-US" sz="3200" b="0" i="1" dirty="0" smtClean="0">
                              <a:latin typeface="Cambria Math" panose="02040503050406030204" pitchFamily="18" charset="0"/>
                            </a:rPr>
                            <m:t>𝐵</m:t>
                          </m:r>
                          <m:r>
                            <a:rPr lang="en-US" sz="3200" b="0" i="1" dirty="0" smtClean="0">
                              <a:latin typeface="Cambria Math" panose="02040503050406030204" pitchFamily="18" charset="0"/>
                            </a:rPr>
                            <m:t> </m:t>
                          </m:r>
                          <m:r>
                            <a:rPr lang="en-US" sz="3200" b="0" i="0" dirty="0" smtClean="0">
                              <a:latin typeface="Cambria Math" panose="02040503050406030204" pitchFamily="18" charset="0"/>
                            </a:rPr>
                            <m:t>|</m:t>
                          </m:r>
                          <m:r>
                            <a:rPr lang="en-US" sz="3200" b="0" i="0" smtClean="0">
                              <a:latin typeface="Cambria Math" panose="02040503050406030204" pitchFamily="18" charset="0"/>
                            </a:rPr>
                            <m:t> </m:t>
                          </m:r>
                          <m:r>
                            <a:rPr lang="en-US" sz="3200" b="0" i="1" dirty="0" smtClean="0">
                              <a:latin typeface="Cambria Math" panose="02040503050406030204" pitchFamily="18" charset="0"/>
                            </a:rPr>
                            <m:t> </m:t>
                          </m:r>
                          <m:r>
                            <a:rPr lang="en-US" sz="3200" b="0" i="1" dirty="0" smtClean="0">
                              <a:latin typeface="Cambria Math" panose="02040503050406030204" pitchFamily="18" charset="0"/>
                            </a:rPr>
                            <m:t>𝐴</m:t>
                          </m:r>
                        </m:e>
                      </m:d>
                      <m:r>
                        <a:rPr lang="en-US" sz="3200" b="0" i="1" dirty="0" smtClean="0">
                          <a:latin typeface="Cambria Math" panose="02040503050406030204" pitchFamily="18" charset="0"/>
                        </a:rPr>
                        <m:t>= </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𝐵</m:t>
                              </m:r>
                              <m:r>
                                <a:rPr lang="en-US" sz="3200">
                                  <a:latin typeface="Cambria Math" panose="02040503050406030204" pitchFamily="18" charset="0"/>
                                </a:rPr>
                                <m:t>∩</m:t>
                              </m:r>
                              <m:r>
                                <a:rPr lang="en-US" sz="3200" b="0" i="1" smtClean="0">
                                  <a:latin typeface="Cambria Math" panose="02040503050406030204" pitchFamily="18" charset="0"/>
                                </a:rPr>
                                <m:t>𝐴</m:t>
                              </m:r>
                            </m:e>
                          </m:d>
                        </m:num>
                        <m:den>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𝐴</m:t>
                              </m:r>
                            </m:e>
                          </m:d>
                        </m:den>
                      </m:f>
                      <m:r>
                        <a:rPr lang="en-US" sz="3200" b="0" i="1" dirty="0" smtClean="0">
                          <a:latin typeface="Cambria Math" panose="02040503050406030204" pitchFamily="18" charset="0"/>
                        </a:rPr>
                        <m:t> =</m:t>
                      </m:r>
                      <m:f>
                        <m:fPr>
                          <m:ctrlPr>
                            <a:rPr lang="en-US" sz="3200" b="0" i="1" dirty="0" smtClean="0">
                              <a:latin typeface="Cambria Math" panose="02040503050406030204" pitchFamily="18" charset="0"/>
                            </a:rPr>
                          </m:ctrlPr>
                        </m:fPr>
                        <m:num>
                          <m:d>
                            <m:dPr>
                              <m:ctrlPr>
                                <a:rPr lang="en-US" sz="3200" b="0" i="1" dirty="0" smtClean="0">
                                  <a:latin typeface="Cambria Math" panose="02040503050406030204" pitchFamily="18" charset="0"/>
                                </a:rPr>
                              </m:ctrlPr>
                            </m:dPr>
                            <m:e>
                              <m:f>
                                <m:fPr>
                                  <m:ctrlPr>
                                    <a:rPr lang="en-US" sz="3200" b="0" i="1" dirty="0" smtClean="0">
                                      <a:latin typeface="Cambria Math" panose="02040503050406030204" pitchFamily="18" charset="0"/>
                                    </a:rPr>
                                  </m:ctrlPr>
                                </m:fPr>
                                <m:num>
                                  <m:r>
                                    <a:rPr lang="en-US" sz="3200" b="0" i="1" dirty="0" smtClean="0">
                                      <a:latin typeface="Cambria Math" panose="02040503050406030204" pitchFamily="18" charset="0"/>
                                    </a:rPr>
                                    <m:t>1</m:t>
                                  </m:r>
                                </m:num>
                                <m:den>
                                  <m:r>
                                    <a:rPr lang="en-US" sz="3200" b="0" i="1" dirty="0" smtClean="0">
                                      <a:latin typeface="Cambria Math" panose="02040503050406030204" pitchFamily="18" charset="0"/>
                                    </a:rPr>
                                    <m:t>10</m:t>
                                  </m:r>
                                </m:den>
                              </m:f>
                            </m:e>
                          </m:d>
                        </m:num>
                        <m:den>
                          <m:d>
                            <m:dPr>
                              <m:ctrlPr>
                                <a:rPr lang="en-US" sz="3200" i="1" dirty="0">
                                  <a:latin typeface="Cambria Math" panose="02040503050406030204" pitchFamily="18" charset="0"/>
                                </a:rPr>
                              </m:ctrlPr>
                            </m:dPr>
                            <m:e>
                              <m:f>
                                <m:fPr>
                                  <m:ctrlPr>
                                    <a:rPr lang="en-US" sz="3200" i="1" dirty="0">
                                      <a:latin typeface="Cambria Math" panose="02040503050406030204" pitchFamily="18" charset="0"/>
                                    </a:rPr>
                                  </m:ctrlPr>
                                </m:fPr>
                                <m:num>
                                  <m:r>
                                    <a:rPr lang="en-US" sz="3200" b="0" i="1" dirty="0" smtClean="0">
                                      <a:latin typeface="Cambria Math" panose="02040503050406030204" pitchFamily="18" charset="0"/>
                                    </a:rPr>
                                    <m:t>2</m:t>
                                  </m:r>
                                </m:num>
                                <m:den>
                                  <m:r>
                                    <a:rPr lang="en-US" sz="3200" b="0" i="1" dirty="0" smtClean="0">
                                      <a:latin typeface="Cambria Math" panose="02040503050406030204" pitchFamily="18" charset="0"/>
                                    </a:rPr>
                                    <m:t>5</m:t>
                                  </m:r>
                                </m:den>
                              </m:f>
                            </m:e>
                          </m:d>
                        </m:den>
                      </m:f>
                      <m:r>
                        <a:rPr lang="en-US" sz="3200" b="0" i="1" dirty="0" smtClean="0">
                          <a:latin typeface="Cambria Math" panose="02040503050406030204" pitchFamily="18" charset="0"/>
                        </a:rPr>
                        <m:t>=</m:t>
                      </m:r>
                      <m:f>
                        <m:fPr>
                          <m:ctrlPr>
                            <a:rPr lang="en-US" sz="3200" b="0" i="1" dirty="0" smtClean="0">
                              <a:latin typeface="Cambria Math" panose="02040503050406030204" pitchFamily="18" charset="0"/>
                            </a:rPr>
                          </m:ctrlPr>
                        </m:fPr>
                        <m:num>
                          <m:r>
                            <a:rPr lang="en-US" sz="3200" b="0" i="1" dirty="0" smtClean="0">
                              <a:latin typeface="Cambria Math" panose="02040503050406030204" pitchFamily="18" charset="0"/>
                            </a:rPr>
                            <m:t>1</m:t>
                          </m:r>
                        </m:num>
                        <m:den>
                          <m:r>
                            <a:rPr lang="en-US" sz="3200" b="0" i="1" dirty="0" smtClean="0">
                              <a:latin typeface="Cambria Math" panose="02040503050406030204" pitchFamily="18" charset="0"/>
                            </a:rPr>
                            <m:t>4</m:t>
                          </m:r>
                        </m:den>
                      </m:f>
                    </m:oMath>
                  </m:oMathPara>
                </a14:m>
                <a:endParaRPr lang="en-US" sz="3200" b="0" i="1" dirty="0">
                  <a:latin typeface="Cambria Math" panose="02040503050406030204" pitchFamily="18" charset="0"/>
                </a:endParaRPr>
              </a:p>
              <a:p>
                <a:pPr algn="ctr"/>
                <a:endParaRPr lang="en-US" sz="3200" b="0" i="1" dirty="0">
                  <a:latin typeface="Cambria Math" panose="02040503050406030204" pitchFamily="18" charset="0"/>
                </a:endParaRPr>
              </a:p>
              <a:p>
                <a:endParaRPr lang="en-US" dirty="0"/>
              </a:p>
              <a:p>
                <a:endParaRPr lang="en-US" dirty="0"/>
              </a:p>
            </p:txBody>
          </p:sp>
        </mc:Choice>
        <mc:Fallback xmlns="">
          <p:sp>
            <p:nvSpPr>
              <p:cNvPr id="3" name="TextBox 2">
                <a:extLst>
                  <a:ext uri="{FF2B5EF4-FFF2-40B4-BE49-F238E27FC236}">
                    <a16:creationId xmlns:a16="http://schemas.microsoft.com/office/drawing/2014/main" id="{5FBD4BB8-E818-473F-836D-5E5AEF2A9976}"/>
                  </a:ext>
                </a:extLst>
              </p:cNvPr>
              <p:cNvSpPr txBox="1">
                <a:spLocks noRot="1" noChangeAspect="1" noMove="1" noResize="1" noEditPoints="1" noAdjustHandles="1" noChangeArrowheads="1" noChangeShapeType="1" noTextEdit="1"/>
              </p:cNvSpPr>
              <p:nvPr/>
            </p:nvSpPr>
            <p:spPr>
              <a:xfrm>
                <a:off x="747024" y="602982"/>
                <a:ext cx="10982528" cy="7181581"/>
              </a:xfrm>
              <a:prstGeom prst="rect">
                <a:avLst/>
              </a:prstGeom>
              <a:blipFill>
                <a:blip r:embed="rId3"/>
                <a:stretch>
                  <a:fillRect/>
                </a:stretch>
              </a:blipFill>
            </p:spPr>
            <p:txBody>
              <a:bodyPr/>
              <a:lstStyle/>
              <a:p>
                <a:r>
                  <a:rPr lang="en-US">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51"/>
          <p:cNvSpPr txBox="1">
            <a:spLocks noGrp="1"/>
          </p:cNvSpPr>
          <p:nvPr>
            <p:ph type="title"/>
          </p:nvPr>
        </p:nvSpPr>
        <p:spPr>
          <a:xfrm>
            <a:off x="222560" y="1142007"/>
            <a:ext cx="11360800" cy="763600"/>
          </a:xfrm>
          <a:prstGeom prst="rect">
            <a:avLst/>
          </a:prstGeom>
        </p:spPr>
        <p:txBody>
          <a:bodyPr spcFirstLastPara="1" vert="horz" wrap="square" lIns="121900" tIns="121900" rIns="121900" bIns="121900" rtlCol="0" anchor="t" anchorCtr="0">
            <a:normAutofit fontScale="90000"/>
          </a:bodyPr>
          <a:lstStyle/>
          <a:p>
            <a:r>
              <a:rPr lang="en-GB" dirty="0"/>
              <a:t>Bayes Theorem</a:t>
            </a:r>
            <a:endParaRPr dirty="0"/>
          </a:p>
        </p:txBody>
      </p:sp>
      <p:pic>
        <p:nvPicPr>
          <p:cNvPr id="308" name="Google Shape;308;p51"/>
          <p:cNvPicPr preferRelativeResize="0"/>
          <p:nvPr/>
        </p:nvPicPr>
        <p:blipFill>
          <a:blip r:embed="rId3">
            <a:alphaModFix/>
          </a:blip>
          <a:stretch>
            <a:fillRect/>
          </a:stretch>
        </p:blipFill>
        <p:spPr>
          <a:xfrm>
            <a:off x="1129194" y="2697091"/>
            <a:ext cx="9750735" cy="2865900"/>
          </a:xfrm>
          <a:prstGeom prst="rect">
            <a:avLst/>
          </a:prstGeom>
          <a:noFill/>
          <a:ln>
            <a:noFill/>
          </a:ln>
        </p:spPr>
      </p:pic>
      <p:sp>
        <p:nvSpPr>
          <p:cNvPr id="2" name="Slide Number Placeholder 1">
            <a:extLst>
              <a:ext uri="{FF2B5EF4-FFF2-40B4-BE49-F238E27FC236}">
                <a16:creationId xmlns:a16="http://schemas.microsoft.com/office/drawing/2014/main" id="{EF288061-E669-A3FD-8813-022D9D750DCA}"/>
              </a:ext>
            </a:extLst>
          </p:cNvPr>
          <p:cNvSpPr>
            <a:spLocks noGrp="1"/>
          </p:cNvSpPr>
          <p:nvPr>
            <p:ph type="sldNum" idx="12"/>
          </p:nvPr>
        </p:nvSpPr>
        <p:spPr>
          <a:xfrm>
            <a:off x="10707331" y="6217623"/>
            <a:ext cx="731600" cy="524800"/>
          </a:xfrm>
        </p:spPr>
        <p:txBody>
          <a:bodyPr/>
          <a:lstStyle/>
          <a:p>
            <a:fld id="{00000000-1234-1234-1234-123412341234}" type="slidenum">
              <a:rPr lang="en-GB" smtClean="0"/>
              <a:pPr/>
              <a:t>44</a:t>
            </a:fld>
            <a:endParaRPr lang="en-GB"/>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53"/>
          <p:cNvSpPr txBox="1">
            <a:spLocks noGrp="1"/>
          </p:cNvSpPr>
          <p:nvPr>
            <p:ph type="title"/>
          </p:nvPr>
        </p:nvSpPr>
        <p:spPr>
          <a:xfrm>
            <a:off x="293680" y="1172487"/>
            <a:ext cx="11360800" cy="763600"/>
          </a:xfrm>
          <a:prstGeom prst="rect">
            <a:avLst/>
          </a:prstGeom>
        </p:spPr>
        <p:txBody>
          <a:bodyPr spcFirstLastPara="1" vert="horz" wrap="square" lIns="121900" tIns="121900" rIns="121900" bIns="121900" rtlCol="0" anchor="t" anchorCtr="0">
            <a:normAutofit fontScale="90000"/>
          </a:bodyPr>
          <a:lstStyle/>
          <a:p>
            <a:r>
              <a:rPr lang="en-GB" dirty="0"/>
              <a:t>Vectors vs Matrices</a:t>
            </a:r>
            <a:endParaRPr dirty="0"/>
          </a:p>
        </p:txBody>
      </p:sp>
      <p:sp>
        <p:nvSpPr>
          <p:cNvPr id="322" name="Google Shape;322;p53"/>
          <p:cNvSpPr txBox="1">
            <a:spLocks noGrp="1"/>
          </p:cNvSpPr>
          <p:nvPr>
            <p:ph type="body" idx="1"/>
          </p:nvPr>
        </p:nvSpPr>
        <p:spPr>
          <a:xfrm>
            <a:off x="415600" y="2125913"/>
            <a:ext cx="11360800" cy="4555200"/>
          </a:xfrm>
          <a:prstGeom prst="rect">
            <a:avLst/>
          </a:prstGeom>
        </p:spPr>
        <p:txBody>
          <a:bodyPr spcFirstLastPara="1" vert="horz" wrap="square" lIns="121900" tIns="121900" rIns="121900" bIns="121900" rtlCol="0" anchor="t" anchorCtr="0">
            <a:normAutofit/>
          </a:bodyPr>
          <a:lstStyle/>
          <a:p>
            <a:pPr marL="0" indent="0">
              <a:buClr>
                <a:schemeClr val="dk1"/>
              </a:buClr>
              <a:buSzPts val="1100"/>
              <a:buNone/>
            </a:pPr>
            <a:r>
              <a:rPr lang="en-GB" b="1" dirty="0"/>
              <a:t>Vectors</a:t>
            </a:r>
            <a:endParaRPr b="1" dirty="0"/>
          </a:p>
          <a:p>
            <a:pPr marL="0" indent="0">
              <a:spcBef>
                <a:spcPts val="1600"/>
              </a:spcBef>
              <a:buClr>
                <a:schemeClr val="dk1"/>
              </a:buClr>
              <a:buSzPts val="1100"/>
              <a:buNone/>
            </a:pPr>
            <a:r>
              <a:rPr lang="en-GB" dirty="0"/>
              <a:t>We begin by defining vectors, relations among vectors, and elementary vector operations.</a:t>
            </a:r>
            <a:endParaRPr dirty="0"/>
          </a:p>
          <a:p>
            <a:pPr marL="0" indent="0">
              <a:spcBef>
                <a:spcPts val="1600"/>
              </a:spcBef>
              <a:buClr>
                <a:schemeClr val="dk1"/>
              </a:buClr>
              <a:buSzPts val="1100"/>
              <a:buNone/>
            </a:pPr>
            <a:r>
              <a:rPr lang="en-GB" dirty="0"/>
              <a:t>Definition. A k-dimensional vector y is an ordered collection of k real numbers y1, y2, . . . , </a:t>
            </a:r>
            <a:r>
              <a:rPr lang="en-GB" dirty="0" err="1"/>
              <a:t>yk</a:t>
            </a:r>
            <a:r>
              <a:rPr lang="en-GB" dirty="0"/>
              <a:t> , and is</a:t>
            </a:r>
            <a:endParaRPr dirty="0"/>
          </a:p>
          <a:p>
            <a:pPr marL="0" indent="0">
              <a:spcBef>
                <a:spcPts val="1600"/>
              </a:spcBef>
              <a:buClr>
                <a:schemeClr val="dk1"/>
              </a:buClr>
              <a:buSzPts val="1100"/>
              <a:buNone/>
            </a:pPr>
            <a:r>
              <a:rPr lang="en-GB" dirty="0"/>
              <a:t>written as y = (y1, y2, . . . , </a:t>
            </a:r>
            <a:r>
              <a:rPr lang="en-GB" dirty="0" err="1"/>
              <a:t>yk</a:t>
            </a:r>
            <a:r>
              <a:rPr lang="en-GB" dirty="0"/>
              <a:t> ). The numbers y j (j = 1, 2, . . . , k) are called the components of the vector y.</a:t>
            </a:r>
            <a:endParaRPr dirty="0"/>
          </a:p>
          <a:p>
            <a:pPr marL="0" indent="0">
              <a:spcBef>
                <a:spcPts val="1600"/>
              </a:spcBef>
              <a:buClr>
                <a:schemeClr val="dk1"/>
              </a:buClr>
              <a:buSzPts val="1100"/>
              <a:buNone/>
            </a:pPr>
            <a:endParaRPr dirty="0"/>
          </a:p>
          <a:p>
            <a:pPr marL="0" indent="0">
              <a:spcBef>
                <a:spcPts val="1600"/>
              </a:spcBef>
              <a:spcAft>
                <a:spcPts val="1600"/>
              </a:spcAft>
              <a:buNone/>
            </a:pPr>
            <a:endParaRPr dirty="0"/>
          </a:p>
        </p:txBody>
      </p:sp>
      <p:sp>
        <p:nvSpPr>
          <p:cNvPr id="2" name="Slide Number Placeholder 1">
            <a:extLst>
              <a:ext uri="{FF2B5EF4-FFF2-40B4-BE49-F238E27FC236}">
                <a16:creationId xmlns:a16="http://schemas.microsoft.com/office/drawing/2014/main" id="{3D275E61-32DD-3778-8442-F2EA91520506}"/>
              </a:ext>
            </a:extLst>
          </p:cNvPr>
          <p:cNvSpPr>
            <a:spLocks noGrp="1"/>
          </p:cNvSpPr>
          <p:nvPr>
            <p:ph type="sldNum" idx="12"/>
          </p:nvPr>
        </p:nvSpPr>
        <p:spPr>
          <a:xfrm>
            <a:off x="10717491" y="6333200"/>
            <a:ext cx="731600" cy="524800"/>
          </a:xfrm>
        </p:spPr>
        <p:txBody>
          <a:bodyPr/>
          <a:lstStyle/>
          <a:p>
            <a:fld id="{00000000-1234-1234-1234-123412341234}" type="slidenum">
              <a:rPr lang="en-GB" smtClean="0"/>
              <a:pPr/>
              <a:t>45</a:t>
            </a:fld>
            <a:endParaRPr lang="en-GB"/>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54"/>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GB"/>
              <a:t>Vectors</a:t>
            </a:r>
            <a:endParaRPr/>
          </a:p>
        </p:txBody>
      </p:sp>
      <p:sp>
        <p:nvSpPr>
          <p:cNvPr id="328" name="Google Shape;328;p54"/>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fontScale="92500" lnSpcReduction="10000"/>
          </a:bodyPr>
          <a:lstStyle/>
          <a:p>
            <a:pPr marL="0" indent="0">
              <a:buClr>
                <a:schemeClr val="dk1"/>
              </a:buClr>
              <a:buSzPct val="61111"/>
              <a:buNone/>
            </a:pPr>
            <a:r>
              <a:rPr lang="en-GB" dirty="0" err="1"/>
              <a:t>i</a:t>
            </a:r>
            <a:r>
              <a:rPr lang="en-GB" dirty="0"/>
              <a:t>) (1, −3, 0, 5) is a four-dimensional vector. Its first component is 1, its second component is −3, and its third and fourth components are 0 and 5, respectively.</a:t>
            </a:r>
            <a:endParaRPr dirty="0"/>
          </a:p>
          <a:p>
            <a:pPr marL="0" indent="0">
              <a:spcBef>
                <a:spcPts val="1600"/>
              </a:spcBef>
              <a:buClr>
                <a:schemeClr val="dk1"/>
              </a:buClr>
              <a:buSzPct val="61111"/>
              <a:buNone/>
            </a:pPr>
            <a:r>
              <a:rPr lang="en-GB" dirty="0"/>
              <a:t>ii) The coefficients c1, c2, . . . , </a:t>
            </a:r>
            <a:r>
              <a:rPr lang="en-GB" dirty="0" err="1"/>
              <a:t>cn</a:t>
            </a:r>
            <a:r>
              <a:rPr lang="en-GB" dirty="0"/>
              <a:t> of the linear-programming objective function determine the n-dimensional</a:t>
            </a:r>
            <a:endParaRPr dirty="0"/>
          </a:p>
          <a:p>
            <a:pPr marL="0" indent="0">
              <a:spcBef>
                <a:spcPts val="1600"/>
              </a:spcBef>
              <a:buClr>
                <a:schemeClr val="dk1"/>
              </a:buClr>
              <a:buSzPct val="61111"/>
              <a:buNone/>
            </a:pPr>
            <a:r>
              <a:rPr lang="en-GB" dirty="0"/>
              <a:t>vector c = (c1, c2, . . . , </a:t>
            </a:r>
            <a:r>
              <a:rPr lang="en-GB" dirty="0" err="1"/>
              <a:t>cn</a:t>
            </a:r>
            <a:r>
              <a:rPr lang="en-GB" dirty="0"/>
              <a:t>).</a:t>
            </a:r>
            <a:endParaRPr dirty="0"/>
          </a:p>
          <a:p>
            <a:pPr marL="0" indent="0">
              <a:spcBef>
                <a:spcPts val="1600"/>
              </a:spcBef>
              <a:buClr>
                <a:schemeClr val="dk1"/>
              </a:buClr>
              <a:buSzPct val="61111"/>
              <a:buNone/>
            </a:pPr>
            <a:r>
              <a:rPr lang="en-GB" dirty="0"/>
              <a:t>iii) The activity levels x1, x2, . . . , </a:t>
            </a:r>
            <a:r>
              <a:rPr lang="en-GB" dirty="0" err="1"/>
              <a:t>xn</a:t>
            </a:r>
            <a:r>
              <a:rPr lang="en-GB" dirty="0"/>
              <a:t> of a linear program define the n-dimensional vector x = (x1, x2, . . . , </a:t>
            </a:r>
            <a:r>
              <a:rPr lang="en-GB" dirty="0" err="1"/>
              <a:t>xn</a:t>
            </a:r>
            <a:r>
              <a:rPr lang="en-GB" dirty="0"/>
              <a:t>).</a:t>
            </a:r>
            <a:endParaRPr dirty="0"/>
          </a:p>
          <a:p>
            <a:pPr marL="0" indent="0">
              <a:spcBef>
                <a:spcPts val="1600"/>
              </a:spcBef>
              <a:buClr>
                <a:schemeClr val="dk1"/>
              </a:buClr>
              <a:buSzPct val="61111"/>
              <a:buNone/>
            </a:pPr>
            <a:r>
              <a:rPr lang="en-GB" dirty="0"/>
              <a:t>iv) The coefficients ai1, ai2, . . . , ain of the decision variables in the </a:t>
            </a:r>
            <a:r>
              <a:rPr lang="en-GB" dirty="0" err="1"/>
              <a:t>ith</a:t>
            </a:r>
            <a:r>
              <a:rPr lang="en-GB" dirty="0"/>
              <a:t> equation of a linear program determine an n-dimensional vector A</a:t>
            </a:r>
            <a:endParaRPr dirty="0"/>
          </a:p>
          <a:p>
            <a:pPr marL="0" indent="0">
              <a:spcBef>
                <a:spcPts val="1600"/>
              </a:spcBef>
              <a:buClr>
                <a:schemeClr val="dk1"/>
              </a:buClr>
              <a:buSzPct val="61111"/>
              <a:buNone/>
            </a:pPr>
            <a:r>
              <a:rPr lang="en-GB" dirty="0" err="1"/>
              <a:t>i</a:t>
            </a:r>
            <a:r>
              <a:rPr lang="en-GB" dirty="0"/>
              <a:t> = (ai1, ai2, . . . , ain).</a:t>
            </a:r>
            <a:endParaRPr dirty="0"/>
          </a:p>
          <a:p>
            <a:pPr marL="0" indent="0">
              <a:spcBef>
                <a:spcPts val="1600"/>
              </a:spcBef>
              <a:buClr>
                <a:schemeClr val="dk1"/>
              </a:buClr>
              <a:buSzPct val="61111"/>
              <a:buNone/>
            </a:pPr>
            <a:endParaRPr dirty="0"/>
          </a:p>
          <a:p>
            <a:pPr marL="0" indent="0">
              <a:spcBef>
                <a:spcPts val="1600"/>
              </a:spcBef>
              <a:spcAft>
                <a:spcPts val="1600"/>
              </a:spcAft>
              <a:buNone/>
            </a:pPr>
            <a:endParaRPr dirty="0"/>
          </a:p>
        </p:txBody>
      </p:sp>
      <p:sp>
        <p:nvSpPr>
          <p:cNvPr id="2" name="Slide Number Placeholder 1">
            <a:extLst>
              <a:ext uri="{FF2B5EF4-FFF2-40B4-BE49-F238E27FC236}">
                <a16:creationId xmlns:a16="http://schemas.microsoft.com/office/drawing/2014/main" id="{68B48B01-C969-EF25-52E8-0A8D2AB4DB57}"/>
              </a:ext>
            </a:extLst>
          </p:cNvPr>
          <p:cNvSpPr>
            <a:spLocks noGrp="1"/>
          </p:cNvSpPr>
          <p:nvPr>
            <p:ph type="sldNum" idx="12"/>
          </p:nvPr>
        </p:nvSpPr>
        <p:spPr>
          <a:xfrm>
            <a:off x="10758131" y="6321506"/>
            <a:ext cx="731600" cy="524800"/>
          </a:xfrm>
        </p:spPr>
        <p:txBody>
          <a:bodyPr/>
          <a:lstStyle/>
          <a:p>
            <a:fld id="{00000000-1234-1234-1234-123412341234}" type="slidenum">
              <a:rPr lang="en-GB" smtClean="0"/>
              <a:pPr/>
              <a:t>46</a:t>
            </a:fld>
            <a:endParaRPr lang="en-GB"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5"/>
          <p:cNvSpPr txBox="1">
            <a:spLocks noGrp="1"/>
          </p:cNvSpPr>
          <p:nvPr>
            <p:ph type="title"/>
          </p:nvPr>
        </p:nvSpPr>
        <p:spPr>
          <a:xfrm>
            <a:off x="314000" y="1010813"/>
            <a:ext cx="11360800" cy="763600"/>
          </a:xfrm>
          <a:prstGeom prst="rect">
            <a:avLst/>
          </a:prstGeom>
        </p:spPr>
        <p:txBody>
          <a:bodyPr spcFirstLastPara="1" vert="horz" wrap="square" lIns="121900" tIns="121900" rIns="121900" bIns="121900" rtlCol="0" anchor="t" anchorCtr="0">
            <a:normAutofit fontScale="90000"/>
          </a:bodyPr>
          <a:lstStyle/>
          <a:p>
            <a:r>
              <a:rPr lang="en-GB" dirty="0"/>
              <a:t>Matrices</a:t>
            </a:r>
            <a:endParaRPr dirty="0"/>
          </a:p>
        </p:txBody>
      </p:sp>
      <p:pic>
        <p:nvPicPr>
          <p:cNvPr id="334" name="Google Shape;334;p55"/>
          <p:cNvPicPr preferRelativeResize="0"/>
          <p:nvPr/>
        </p:nvPicPr>
        <p:blipFill>
          <a:blip r:embed="rId3">
            <a:alphaModFix/>
          </a:blip>
          <a:stretch>
            <a:fillRect/>
          </a:stretch>
        </p:blipFill>
        <p:spPr>
          <a:xfrm>
            <a:off x="203201" y="2158967"/>
            <a:ext cx="11785601" cy="3306420"/>
          </a:xfrm>
          <a:prstGeom prst="rect">
            <a:avLst/>
          </a:prstGeom>
          <a:noFill/>
          <a:ln>
            <a:noFill/>
          </a:ln>
        </p:spPr>
      </p:pic>
      <p:sp>
        <p:nvSpPr>
          <p:cNvPr id="2" name="Slide Number Placeholder 1">
            <a:extLst>
              <a:ext uri="{FF2B5EF4-FFF2-40B4-BE49-F238E27FC236}">
                <a16:creationId xmlns:a16="http://schemas.microsoft.com/office/drawing/2014/main" id="{7513F672-8427-EB6C-3855-800433A01170}"/>
              </a:ext>
            </a:extLst>
          </p:cNvPr>
          <p:cNvSpPr>
            <a:spLocks noGrp="1"/>
          </p:cNvSpPr>
          <p:nvPr>
            <p:ph type="sldNum" idx="12"/>
          </p:nvPr>
        </p:nvSpPr>
        <p:spPr>
          <a:xfrm>
            <a:off x="10737811" y="6207463"/>
            <a:ext cx="731600" cy="524800"/>
          </a:xfrm>
        </p:spPr>
        <p:txBody>
          <a:bodyPr/>
          <a:lstStyle/>
          <a:p>
            <a:fld id="{00000000-1234-1234-1234-123412341234}" type="slidenum">
              <a:rPr lang="en-GB" smtClean="0"/>
              <a:pPr/>
              <a:t>47</a:t>
            </a:fld>
            <a:endParaRPr lang="en-GB"/>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56"/>
          <p:cNvSpPr txBox="1">
            <a:spLocks noGrp="1"/>
          </p:cNvSpPr>
          <p:nvPr>
            <p:ph type="title"/>
          </p:nvPr>
        </p:nvSpPr>
        <p:spPr>
          <a:xfrm>
            <a:off x="334320" y="1281746"/>
            <a:ext cx="11360800" cy="763600"/>
          </a:xfrm>
          <a:prstGeom prst="rect">
            <a:avLst/>
          </a:prstGeom>
        </p:spPr>
        <p:txBody>
          <a:bodyPr spcFirstLastPara="1" vert="horz" wrap="square" lIns="121900" tIns="121900" rIns="121900" bIns="121900" rtlCol="0" anchor="t" anchorCtr="0">
            <a:normAutofit fontScale="90000"/>
          </a:bodyPr>
          <a:lstStyle/>
          <a:p>
            <a:r>
              <a:rPr lang="en-GB"/>
              <a:t>Matrices</a:t>
            </a:r>
            <a:endParaRPr/>
          </a:p>
        </p:txBody>
      </p:sp>
      <p:pic>
        <p:nvPicPr>
          <p:cNvPr id="340" name="Google Shape;340;p56"/>
          <p:cNvPicPr preferRelativeResize="0"/>
          <p:nvPr/>
        </p:nvPicPr>
        <p:blipFill>
          <a:blip r:embed="rId3">
            <a:alphaModFix/>
          </a:blip>
          <a:stretch>
            <a:fillRect/>
          </a:stretch>
        </p:blipFill>
        <p:spPr>
          <a:xfrm>
            <a:off x="788499" y="2338387"/>
            <a:ext cx="10987901" cy="3237867"/>
          </a:xfrm>
          <a:prstGeom prst="rect">
            <a:avLst/>
          </a:prstGeom>
          <a:noFill/>
          <a:ln>
            <a:noFill/>
          </a:ln>
        </p:spPr>
      </p:pic>
      <p:sp>
        <p:nvSpPr>
          <p:cNvPr id="2" name="Slide Number Placeholder 1">
            <a:extLst>
              <a:ext uri="{FF2B5EF4-FFF2-40B4-BE49-F238E27FC236}">
                <a16:creationId xmlns:a16="http://schemas.microsoft.com/office/drawing/2014/main" id="{18138698-0F1D-72F9-95AA-0401256E69EA}"/>
              </a:ext>
            </a:extLst>
          </p:cNvPr>
          <p:cNvSpPr>
            <a:spLocks noGrp="1"/>
          </p:cNvSpPr>
          <p:nvPr>
            <p:ph type="sldNum" idx="12"/>
          </p:nvPr>
        </p:nvSpPr>
        <p:spPr>
          <a:xfrm>
            <a:off x="10747971" y="6217623"/>
            <a:ext cx="731600" cy="524800"/>
          </a:xfrm>
        </p:spPr>
        <p:txBody>
          <a:bodyPr/>
          <a:lstStyle/>
          <a:p>
            <a:fld id="{00000000-1234-1234-1234-123412341234}" type="slidenum">
              <a:rPr lang="en-GB" smtClean="0"/>
              <a:pPr/>
              <a:t>48</a:t>
            </a:fld>
            <a:endParaRPr lang="en-GB"/>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57"/>
          <p:cNvSpPr txBox="1">
            <a:spLocks noGrp="1"/>
          </p:cNvSpPr>
          <p:nvPr>
            <p:ph type="title"/>
          </p:nvPr>
        </p:nvSpPr>
        <p:spPr>
          <a:xfrm>
            <a:off x="415600" y="1091207"/>
            <a:ext cx="11360800" cy="763600"/>
          </a:xfrm>
          <a:prstGeom prst="rect">
            <a:avLst/>
          </a:prstGeom>
        </p:spPr>
        <p:txBody>
          <a:bodyPr spcFirstLastPara="1" vert="horz" wrap="square" lIns="121900" tIns="121900" rIns="121900" bIns="121900" rtlCol="0" anchor="t" anchorCtr="0">
            <a:normAutofit fontScale="90000"/>
          </a:bodyPr>
          <a:lstStyle/>
          <a:p>
            <a:r>
              <a:rPr lang="en-GB" dirty="0"/>
              <a:t>Matrices</a:t>
            </a:r>
            <a:endParaRPr dirty="0"/>
          </a:p>
          <a:p>
            <a:endParaRPr dirty="0"/>
          </a:p>
        </p:txBody>
      </p:sp>
      <p:pic>
        <p:nvPicPr>
          <p:cNvPr id="346" name="Google Shape;346;p57"/>
          <p:cNvPicPr preferRelativeResize="0"/>
          <p:nvPr/>
        </p:nvPicPr>
        <p:blipFill>
          <a:blip r:embed="rId3">
            <a:alphaModFix/>
          </a:blip>
          <a:stretch>
            <a:fillRect/>
          </a:stretch>
        </p:blipFill>
        <p:spPr>
          <a:xfrm>
            <a:off x="1341120" y="2082893"/>
            <a:ext cx="9078968" cy="4181740"/>
          </a:xfrm>
          <a:prstGeom prst="rect">
            <a:avLst/>
          </a:prstGeom>
          <a:noFill/>
          <a:ln>
            <a:noFill/>
          </a:ln>
        </p:spPr>
      </p:pic>
      <p:sp>
        <p:nvSpPr>
          <p:cNvPr id="2" name="Slide Number Placeholder 1">
            <a:extLst>
              <a:ext uri="{FF2B5EF4-FFF2-40B4-BE49-F238E27FC236}">
                <a16:creationId xmlns:a16="http://schemas.microsoft.com/office/drawing/2014/main" id="{41C20812-79EB-1E12-E36F-AA18A3554573}"/>
              </a:ext>
            </a:extLst>
          </p:cNvPr>
          <p:cNvSpPr>
            <a:spLocks noGrp="1"/>
          </p:cNvSpPr>
          <p:nvPr>
            <p:ph type="sldNum" idx="12"/>
          </p:nvPr>
        </p:nvSpPr>
        <p:spPr>
          <a:xfrm>
            <a:off x="10585411" y="6264633"/>
            <a:ext cx="731600" cy="524800"/>
          </a:xfrm>
        </p:spPr>
        <p:txBody>
          <a:bodyPr/>
          <a:lstStyle/>
          <a:p>
            <a:fld id="{00000000-1234-1234-1234-123412341234}" type="slidenum">
              <a:rPr lang="en-GB" smtClean="0"/>
              <a:pPr/>
              <a:t>49</a:t>
            </a:fld>
            <a:endParaRPr lang="en-GB"/>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58"/>
          <p:cNvSpPr txBox="1">
            <a:spLocks noGrp="1"/>
          </p:cNvSpPr>
          <p:nvPr>
            <p:ph type="title"/>
          </p:nvPr>
        </p:nvSpPr>
        <p:spPr>
          <a:xfrm>
            <a:off x="0" y="1232258"/>
            <a:ext cx="11360800" cy="763600"/>
          </a:xfrm>
          <a:prstGeom prst="rect">
            <a:avLst/>
          </a:prstGeom>
        </p:spPr>
        <p:txBody>
          <a:bodyPr spcFirstLastPara="1" vert="horz" wrap="square" lIns="121900" tIns="121900" rIns="121900" bIns="121900" rtlCol="0" anchor="t" anchorCtr="0">
            <a:normAutofit fontScale="90000"/>
          </a:bodyPr>
          <a:lstStyle/>
          <a:p>
            <a:r>
              <a:rPr lang="en-GB" dirty="0"/>
              <a:t>Vectors Magnitude</a:t>
            </a:r>
            <a:endParaRPr dirty="0"/>
          </a:p>
        </p:txBody>
      </p:sp>
      <p:sp>
        <p:nvSpPr>
          <p:cNvPr id="352" name="Google Shape;352;p58"/>
          <p:cNvSpPr txBox="1">
            <a:spLocks noGrp="1"/>
          </p:cNvSpPr>
          <p:nvPr>
            <p:ph type="body" idx="1"/>
          </p:nvPr>
        </p:nvSpPr>
        <p:spPr>
          <a:xfrm>
            <a:off x="415600" y="2145900"/>
            <a:ext cx="11360800" cy="4555200"/>
          </a:xfrm>
          <a:prstGeom prst="rect">
            <a:avLst/>
          </a:prstGeom>
        </p:spPr>
        <p:txBody>
          <a:bodyPr spcFirstLastPara="1" vert="horz" wrap="square" lIns="121900" tIns="121900" rIns="121900" bIns="121900" rtlCol="0" anchor="t" anchorCtr="0">
            <a:normAutofit/>
          </a:bodyPr>
          <a:lstStyle/>
          <a:p>
            <a:pPr marL="0" indent="0">
              <a:buClr>
                <a:schemeClr val="dk1"/>
              </a:buClr>
              <a:buSzPts val="1100"/>
              <a:buNone/>
            </a:pPr>
            <a:r>
              <a:rPr lang="en-GB" dirty="0">
                <a:solidFill>
                  <a:srgbClr val="FF0000"/>
                </a:solidFill>
              </a:rPr>
              <a:t>The magnitude of a vector </a:t>
            </a:r>
            <a:r>
              <a:rPr lang="en-GB" dirty="0"/>
              <a:t>is the distance between the initial point and the end point. in symbols the magnitude of   </a:t>
            </a:r>
            <a:r>
              <a:rPr lang="en-US" dirty="0"/>
              <a:t>Q</a:t>
            </a:r>
            <a:r>
              <a:rPr lang="en-GB" dirty="0"/>
              <a:t>  is written as</a:t>
            </a:r>
            <a:endParaRPr dirty="0"/>
          </a:p>
          <a:p>
            <a:pPr marL="0" indent="0">
              <a:spcBef>
                <a:spcPts val="1600"/>
              </a:spcBef>
              <a:buClr>
                <a:schemeClr val="dk1"/>
              </a:buClr>
              <a:buSzPts val="1100"/>
              <a:buNone/>
            </a:pPr>
            <a:r>
              <a:rPr lang="en-GB" dirty="0"/>
              <a:t>If the coordinates of the initial point and the end point of a vector is given, the Distance Formula can be used to find its magnitude.</a:t>
            </a:r>
            <a:endParaRPr dirty="0"/>
          </a:p>
          <a:p>
            <a:pPr marL="0" indent="0">
              <a:spcBef>
                <a:spcPts val="1600"/>
              </a:spcBef>
              <a:spcAft>
                <a:spcPts val="1600"/>
              </a:spcAft>
              <a:buNone/>
            </a:pPr>
            <a:endParaRPr dirty="0"/>
          </a:p>
        </p:txBody>
      </p:sp>
      <p:pic>
        <p:nvPicPr>
          <p:cNvPr id="354" name="Google Shape;354;p58"/>
          <p:cNvPicPr preferRelativeResize="0"/>
          <p:nvPr/>
        </p:nvPicPr>
        <p:blipFill>
          <a:blip r:embed="rId3">
            <a:alphaModFix/>
          </a:blip>
          <a:stretch>
            <a:fillRect/>
          </a:stretch>
        </p:blipFill>
        <p:spPr>
          <a:xfrm>
            <a:off x="8437786" y="2663770"/>
            <a:ext cx="315600" cy="382276"/>
          </a:xfrm>
          <a:prstGeom prst="rect">
            <a:avLst/>
          </a:prstGeom>
          <a:noFill/>
          <a:ln>
            <a:noFill/>
          </a:ln>
        </p:spPr>
      </p:pic>
      <p:pic>
        <p:nvPicPr>
          <p:cNvPr id="355" name="Google Shape;355;p58"/>
          <p:cNvPicPr preferRelativeResize="0"/>
          <p:nvPr/>
        </p:nvPicPr>
        <p:blipFill>
          <a:blip r:embed="rId4">
            <a:alphaModFix/>
          </a:blip>
          <a:stretch>
            <a:fillRect/>
          </a:stretch>
        </p:blipFill>
        <p:spPr>
          <a:xfrm>
            <a:off x="3916042" y="3964602"/>
            <a:ext cx="2927367" cy="2713529"/>
          </a:xfrm>
          <a:prstGeom prst="rect">
            <a:avLst/>
          </a:prstGeom>
          <a:noFill/>
          <a:ln>
            <a:noFill/>
          </a:ln>
        </p:spPr>
      </p:pic>
      <p:sp>
        <p:nvSpPr>
          <p:cNvPr id="2" name="Slide Number Placeholder 1">
            <a:extLst>
              <a:ext uri="{FF2B5EF4-FFF2-40B4-BE49-F238E27FC236}">
                <a16:creationId xmlns:a16="http://schemas.microsoft.com/office/drawing/2014/main" id="{B8921F06-00B8-973D-8764-E9420BE62DC8}"/>
              </a:ext>
            </a:extLst>
          </p:cNvPr>
          <p:cNvSpPr>
            <a:spLocks noGrp="1"/>
          </p:cNvSpPr>
          <p:nvPr>
            <p:ph type="sldNum" idx="12"/>
          </p:nvPr>
        </p:nvSpPr>
        <p:spPr>
          <a:xfrm>
            <a:off x="10717491" y="6176300"/>
            <a:ext cx="731600" cy="524800"/>
          </a:xfrm>
        </p:spPr>
        <p:txBody>
          <a:bodyPr/>
          <a:lstStyle/>
          <a:p>
            <a:fld id="{00000000-1234-1234-1234-123412341234}" type="slidenum">
              <a:rPr lang="en-GB" smtClean="0"/>
              <a:pPr/>
              <a:t>50</a:t>
            </a:fld>
            <a:endParaRPr lang="en-GB"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59"/>
          <p:cNvSpPr txBox="1">
            <a:spLocks noGrp="1"/>
          </p:cNvSpPr>
          <p:nvPr>
            <p:ph type="title"/>
          </p:nvPr>
        </p:nvSpPr>
        <p:spPr>
          <a:xfrm>
            <a:off x="242880" y="1091207"/>
            <a:ext cx="11360800" cy="763600"/>
          </a:xfrm>
          <a:prstGeom prst="rect">
            <a:avLst/>
          </a:prstGeom>
        </p:spPr>
        <p:txBody>
          <a:bodyPr spcFirstLastPara="1" vert="horz" wrap="square" lIns="121900" tIns="121900" rIns="121900" bIns="121900" rtlCol="0" anchor="t" anchorCtr="0">
            <a:normAutofit fontScale="90000"/>
          </a:bodyPr>
          <a:lstStyle/>
          <a:p>
            <a:r>
              <a:rPr lang="en-GB" dirty="0"/>
              <a:t>Vector Direction</a:t>
            </a:r>
            <a:endParaRPr dirty="0"/>
          </a:p>
        </p:txBody>
      </p:sp>
      <p:pic>
        <p:nvPicPr>
          <p:cNvPr id="361" name="Google Shape;361;p59"/>
          <p:cNvPicPr preferRelativeResize="0"/>
          <p:nvPr/>
        </p:nvPicPr>
        <p:blipFill>
          <a:blip r:embed="rId3">
            <a:alphaModFix/>
          </a:blip>
          <a:stretch>
            <a:fillRect/>
          </a:stretch>
        </p:blipFill>
        <p:spPr>
          <a:xfrm>
            <a:off x="1412240" y="2408387"/>
            <a:ext cx="9794240" cy="3159293"/>
          </a:xfrm>
          <a:prstGeom prst="rect">
            <a:avLst/>
          </a:prstGeom>
          <a:noFill/>
          <a:ln>
            <a:noFill/>
          </a:ln>
        </p:spPr>
      </p:pic>
      <p:sp>
        <p:nvSpPr>
          <p:cNvPr id="2" name="Slide Number Placeholder 1">
            <a:extLst>
              <a:ext uri="{FF2B5EF4-FFF2-40B4-BE49-F238E27FC236}">
                <a16:creationId xmlns:a16="http://schemas.microsoft.com/office/drawing/2014/main" id="{E6CAC263-A53A-59C8-61FC-E6FE55F67F10}"/>
              </a:ext>
            </a:extLst>
          </p:cNvPr>
          <p:cNvSpPr>
            <a:spLocks noGrp="1"/>
          </p:cNvSpPr>
          <p:nvPr>
            <p:ph type="sldNum" idx="12"/>
          </p:nvPr>
        </p:nvSpPr>
        <p:spPr>
          <a:xfrm>
            <a:off x="10656531" y="6333200"/>
            <a:ext cx="731600" cy="524800"/>
          </a:xfrm>
        </p:spPr>
        <p:txBody>
          <a:bodyPr/>
          <a:lstStyle/>
          <a:p>
            <a:fld id="{00000000-1234-1234-1234-123412341234}" type="slidenum">
              <a:rPr lang="en-GB" smtClean="0"/>
              <a:pPr/>
              <a:t>51</a:t>
            </a:fld>
            <a:endParaRPr lang="en-GB"/>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60"/>
          <p:cNvSpPr txBox="1">
            <a:spLocks noGrp="1"/>
          </p:cNvSpPr>
          <p:nvPr>
            <p:ph type="title"/>
          </p:nvPr>
        </p:nvSpPr>
        <p:spPr>
          <a:xfrm>
            <a:off x="415600" y="1121687"/>
            <a:ext cx="11360800" cy="763600"/>
          </a:xfrm>
          <a:prstGeom prst="rect">
            <a:avLst/>
          </a:prstGeom>
        </p:spPr>
        <p:txBody>
          <a:bodyPr spcFirstLastPara="1" vert="horz" wrap="square" lIns="121900" tIns="121900" rIns="121900" bIns="121900" rtlCol="0" anchor="t" anchorCtr="0">
            <a:normAutofit fontScale="90000"/>
          </a:bodyPr>
          <a:lstStyle/>
          <a:p>
            <a:r>
              <a:rPr lang="en-GB" dirty="0"/>
              <a:t>Cosine Similarity</a:t>
            </a:r>
            <a:endParaRPr dirty="0"/>
          </a:p>
        </p:txBody>
      </p:sp>
      <p:sp>
        <p:nvSpPr>
          <p:cNvPr id="367" name="Google Shape;367;p60"/>
          <p:cNvSpPr txBox="1">
            <a:spLocks noGrp="1"/>
          </p:cNvSpPr>
          <p:nvPr>
            <p:ph type="body" idx="1"/>
          </p:nvPr>
        </p:nvSpPr>
        <p:spPr>
          <a:xfrm>
            <a:off x="163790" y="2197033"/>
            <a:ext cx="4979710" cy="4555200"/>
          </a:xfrm>
          <a:prstGeom prst="rect">
            <a:avLst/>
          </a:prstGeom>
        </p:spPr>
        <p:txBody>
          <a:bodyPr spcFirstLastPara="1" vert="horz" wrap="square" lIns="121900" tIns="121900" rIns="121900" bIns="121900" rtlCol="0" anchor="t" anchorCtr="0">
            <a:normAutofit/>
          </a:bodyPr>
          <a:lstStyle/>
          <a:p>
            <a:pPr marL="342900" indent="-342900" algn="just">
              <a:spcAft>
                <a:spcPts val="1600"/>
              </a:spcAft>
            </a:pPr>
            <a:r>
              <a:rPr lang="en-GB" sz="2400" dirty="0"/>
              <a:t>Cosine similarity measures the </a:t>
            </a:r>
            <a:r>
              <a:rPr lang="en-GB" sz="2400" dirty="0">
                <a:solidFill>
                  <a:srgbClr val="FF0000"/>
                </a:solidFill>
              </a:rPr>
              <a:t>similarity between two vectors of an inner product space</a:t>
            </a:r>
            <a:r>
              <a:rPr lang="en-GB" sz="2400" dirty="0"/>
              <a:t>. </a:t>
            </a:r>
          </a:p>
          <a:p>
            <a:pPr marL="342900" indent="-342900" algn="just">
              <a:spcAft>
                <a:spcPts val="1600"/>
              </a:spcAft>
            </a:pPr>
            <a:r>
              <a:rPr lang="en-GB" sz="2400" dirty="0"/>
              <a:t>It is measured by the cosine of the angle between two vectors and determines whether two vectors are pointing in roughly the same direction. </a:t>
            </a:r>
          </a:p>
          <a:p>
            <a:pPr marL="342900" indent="-342900" algn="just">
              <a:spcAft>
                <a:spcPts val="1600"/>
              </a:spcAft>
            </a:pPr>
            <a:r>
              <a:rPr lang="en-GB" sz="2400" dirty="0"/>
              <a:t>It is often used to measure document similarity in text analysis.</a:t>
            </a:r>
            <a:endParaRPr sz="2400" dirty="0"/>
          </a:p>
        </p:txBody>
      </p:sp>
      <p:sp>
        <p:nvSpPr>
          <p:cNvPr id="2" name="Slide Number Placeholder 1">
            <a:extLst>
              <a:ext uri="{FF2B5EF4-FFF2-40B4-BE49-F238E27FC236}">
                <a16:creationId xmlns:a16="http://schemas.microsoft.com/office/drawing/2014/main" id="{E0C5FFFE-1213-1E9A-15D7-6577DB466296}"/>
              </a:ext>
            </a:extLst>
          </p:cNvPr>
          <p:cNvSpPr>
            <a:spLocks noGrp="1"/>
          </p:cNvSpPr>
          <p:nvPr>
            <p:ph type="sldNum" idx="12"/>
          </p:nvPr>
        </p:nvSpPr>
        <p:spPr/>
        <p:txBody>
          <a:bodyPr/>
          <a:lstStyle/>
          <a:p>
            <a:fld id="{00000000-1234-1234-1234-123412341234}" type="slidenum">
              <a:rPr lang="en-GB" smtClean="0"/>
              <a:pPr/>
              <a:t>52</a:t>
            </a:fld>
            <a:endParaRPr lang="en-GB"/>
          </a:p>
        </p:txBody>
      </p:sp>
      <p:pic>
        <p:nvPicPr>
          <p:cNvPr id="4" name="Picture 3">
            <a:extLst>
              <a:ext uri="{FF2B5EF4-FFF2-40B4-BE49-F238E27FC236}">
                <a16:creationId xmlns:a16="http://schemas.microsoft.com/office/drawing/2014/main" id="{0472EB15-8836-4637-81EE-DCEC15E5519D}"/>
              </a:ext>
            </a:extLst>
          </p:cNvPr>
          <p:cNvPicPr>
            <a:picLocks noChangeAspect="1"/>
          </p:cNvPicPr>
          <p:nvPr/>
        </p:nvPicPr>
        <p:blipFill rotWithShape="1">
          <a:blip r:embed="rId3"/>
          <a:srcRect l="9107" r="6074"/>
          <a:stretch/>
        </p:blipFill>
        <p:spPr>
          <a:xfrm>
            <a:off x="5267324" y="2059150"/>
            <a:ext cx="6924676" cy="3677163"/>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72"/>
        <p:cNvGrpSpPr/>
        <p:nvPr/>
      </p:nvGrpSpPr>
      <p:grpSpPr>
        <a:xfrm>
          <a:off x="0" y="0"/>
          <a:ext cx="0" cy="0"/>
          <a:chOff x="0" y="0"/>
          <a:chExt cx="0" cy="0"/>
        </a:xfrm>
      </p:grpSpPr>
      <p:sp useBgFill="1">
        <p:nvSpPr>
          <p:cNvPr id="378" name="Rectangle 377">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Google Shape;373;p61"/>
          <p:cNvSpPr txBox="1">
            <a:spLocks noGrp="1"/>
          </p:cNvSpPr>
          <p:nvPr>
            <p:ph type="title"/>
          </p:nvPr>
        </p:nvSpPr>
        <p:spPr>
          <a:xfrm>
            <a:off x="838200" y="184805"/>
            <a:ext cx="10515600" cy="1505883"/>
          </a:xfrm>
          <a:prstGeom prst="rect">
            <a:avLst/>
          </a:prstGeom>
        </p:spPr>
        <p:txBody>
          <a:bodyPr spcFirstLastPara="1" vert="horz" lIns="91440" tIns="45720" rIns="91440" bIns="45720" rtlCol="0" anchor="ctr" anchorCtr="0">
            <a:normAutofit/>
          </a:bodyPr>
          <a:lstStyle/>
          <a:p>
            <a:pPr>
              <a:spcBef>
                <a:spcPct val="0"/>
              </a:spcBef>
            </a:pPr>
            <a:r>
              <a:rPr lang="en-US" sz="5200" kern="1200">
                <a:solidFill>
                  <a:schemeClr val="tx1"/>
                </a:solidFill>
                <a:latin typeface="+mj-lt"/>
                <a:ea typeface="+mj-ea"/>
                <a:cs typeface="+mj-cs"/>
              </a:rPr>
              <a:t>Cosine Similarity</a:t>
            </a:r>
          </a:p>
        </p:txBody>
      </p:sp>
      <p:pic>
        <p:nvPicPr>
          <p:cNvPr id="4" name="Picture 3">
            <a:extLst>
              <a:ext uri="{FF2B5EF4-FFF2-40B4-BE49-F238E27FC236}">
                <a16:creationId xmlns:a16="http://schemas.microsoft.com/office/drawing/2014/main" id="{042217B5-144A-4CC7-9233-C4E9411612BB}"/>
              </a:ext>
            </a:extLst>
          </p:cNvPr>
          <p:cNvPicPr>
            <a:picLocks noChangeAspect="1"/>
          </p:cNvPicPr>
          <p:nvPr/>
        </p:nvPicPr>
        <p:blipFill>
          <a:blip r:embed="rId3"/>
          <a:stretch>
            <a:fillRect/>
          </a:stretch>
        </p:blipFill>
        <p:spPr>
          <a:xfrm>
            <a:off x="2524504" y="1404642"/>
            <a:ext cx="8117555" cy="4951708"/>
          </a:xfrm>
          <a:prstGeom prst="rect">
            <a:avLst/>
          </a:prstGeom>
        </p:spPr>
      </p:pic>
      <p:sp>
        <p:nvSpPr>
          <p:cNvPr id="2" name="Slide Number Placeholder 1">
            <a:extLst>
              <a:ext uri="{FF2B5EF4-FFF2-40B4-BE49-F238E27FC236}">
                <a16:creationId xmlns:a16="http://schemas.microsoft.com/office/drawing/2014/main" id="{A1812FA0-71AE-1909-1612-5B175412BD11}"/>
              </a:ext>
            </a:extLst>
          </p:cNvPr>
          <p:cNvSpPr>
            <a:spLocks noGrp="1"/>
          </p:cNvSpPr>
          <p:nvPr>
            <p:ph type="sldNum" idx="12"/>
          </p:nvPr>
        </p:nvSpPr>
        <p:spPr>
          <a:xfrm>
            <a:off x="8610600" y="6356350"/>
            <a:ext cx="2743200" cy="365125"/>
          </a:xfrm>
        </p:spPr>
        <p:txBody>
          <a:bodyPr vert="horz" lIns="91440" tIns="45720" rIns="91440" bIns="45720" rtlCol="0" anchor="ctr">
            <a:normAutofit/>
          </a:bodyPr>
          <a:lstStyle/>
          <a:p>
            <a:pPr>
              <a:spcAft>
                <a:spcPts val="600"/>
              </a:spcAft>
            </a:pPr>
            <a:fld id="{00000000-1234-1234-1234-123412341234}" type="slidenum">
              <a:rPr lang="en-US" smtClean="0">
                <a:solidFill>
                  <a:schemeClr val="tx1">
                    <a:tint val="75000"/>
                  </a:schemeClr>
                </a:solidFill>
              </a:rPr>
              <a:pPr>
                <a:spcAft>
                  <a:spcPts val="600"/>
                </a:spcAft>
              </a:pPr>
              <a:t>53</a:t>
            </a:fld>
            <a:endParaRPr lang="en-US">
              <a:solidFill>
                <a:schemeClr val="tx1">
                  <a:tint val="75000"/>
                </a:schemeClr>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62"/>
          <p:cNvSpPr txBox="1">
            <a:spLocks noGrp="1"/>
          </p:cNvSpPr>
          <p:nvPr>
            <p:ph type="title"/>
          </p:nvPr>
        </p:nvSpPr>
        <p:spPr>
          <a:xfrm>
            <a:off x="415600" y="1060727"/>
            <a:ext cx="11360800" cy="763600"/>
          </a:xfrm>
          <a:prstGeom prst="rect">
            <a:avLst/>
          </a:prstGeom>
        </p:spPr>
        <p:txBody>
          <a:bodyPr spcFirstLastPara="1" vert="horz" wrap="square" lIns="121900" tIns="121900" rIns="121900" bIns="121900" rtlCol="0" anchor="t" anchorCtr="0">
            <a:normAutofit fontScale="90000"/>
          </a:bodyPr>
          <a:lstStyle/>
          <a:p>
            <a:r>
              <a:rPr lang="en-GB" dirty="0"/>
              <a:t>Matrices Operation</a:t>
            </a:r>
            <a:endParaRPr dirty="0"/>
          </a:p>
        </p:txBody>
      </p:sp>
      <p:sp>
        <p:nvSpPr>
          <p:cNvPr id="380" name="Google Shape;380;p62"/>
          <p:cNvSpPr txBox="1"/>
          <p:nvPr/>
        </p:nvSpPr>
        <p:spPr>
          <a:xfrm>
            <a:off x="2514000" y="5472188"/>
            <a:ext cx="6960800" cy="984845"/>
          </a:xfrm>
          <a:prstGeom prst="rect">
            <a:avLst/>
          </a:prstGeom>
          <a:noFill/>
          <a:ln>
            <a:noFill/>
          </a:ln>
        </p:spPr>
        <p:txBody>
          <a:bodyPr spcFirstLastPara="1" wrap="square" lIns="121900" tIns="121900" rIns="121900" bIns="121900" anchor="t" anchorCtr="0">
            <a:spAutoFit/>
          </a:bodyPr>
          <a:lstStyle/>
          <a:p>
            <a:r>
              <a:rPr lang="en-GB" sz="2400" u="sng" dirty="0">
                <a:solidFill>
                  <a:schemeClr val="hlink"/>
                </a:solidFill>
                <a:hlinkClick r:id="rId3"/>
              </a:rPr>
              <a:t>https://www.uio.no/studier/emner/matnat/ifi/IN5550/v22/la.pdf</a:t>
            </a:r>
            <a:endParaRPr sz="2400" dirty="0"/>
          </a:p>
        </p:txBody>
      </p:sp>
      <p:pic>
        <p:nvPicPr>
          <p:cNvPr id="381" name="Google Shape;381;p62"/>
          <p:cNvPicPr preferRelativeResize="0"/>
          <p:nvPr/>
        </p:nvPicPr>
        <p:blipFill>
          <a:blip r:embed="rId4">
            <a:alphaModFix/>
          </a:blip>
          <a:stretch>
            <a:fillRect/>
          </a:stretch>
        </p:blipFill>
        <p:spPr>
          <a:xfrm>
            <a:off x="4904775" y="400967"/>
            <a:ext cx="5665756" cy="4750220"/>
          </a:xfrm>
          <a:prstGeom prst="rect">
            <a:avLst/>
          </a:prstGeom>
          <a:noFill/>
          <a:ln>
            <a:noFill/>
          </a:ln>
        </p:spPr>
      </p:pic>
      <p:sp>
        <p:nvSpPr>
          <p:cNvPr id="2" name="Slide Number Placeholder 1">
            <a:extLst>
              <a:ext uri="{FF2B5EF4-FFF2-40B4-BE49-F238E27FC236}">
                <a16:creationId xmlns:a16="http://schemas.microsoft.com/office/drawing/2014/main" id="{C4898379-4431-75FB-B6AB-B16EBAD210DB}"/>
              </a:ext>
            </a:extLst>
          </p:cNvPr>
          <p:cNvSpPr>
            <a:spLocks noGrp="1"/>
          </p:cNvSpPr>
          <p:nvPr>
            <p:ph type="sldNum" idx="12"/>
          </p:nvPr>
        </p:nvSpPr>
        <p:spPr>
          <a:xfrm>
            <a:off x="10717491" y="6333200"/>
            <a:ext cx="731600" cy="524800"/>
          </a:xfrm>
        </p:spPr>
        <p:txBody>
          <a:bodyPr/>
          <a:lstStyle/>
          <a:p>
            <a:fld id="{00000000-1234-1234-1234-123412341234}" type="slidenum">
              <a:rPr lang="en-GB" smtClean="0"/>
              <a:pPr/>
              <a:t>54</a:t>
            </a:fld>
            <a:endParaRPr lang="en-GB"/>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750995-BF8C-34DD-375D-A9C4861E27E5}"/>
              </a:ext>
            </a:extLst>
          </p:cNvPr>
          <p:cNvSpPr>
            <a:spLocks noGrp="1"/>
          </p:cNvSpPr>
          <p:nvPr>
            <p:ph idx="1"/>
          </p:nvPr>
        </p:nvSpPr>
        <p:spPr>
          <a:xfrm>
            <a:off x="736600" y="1409065"/>
            <a:ext cx="10515600" cy="4351338"/>
          </a:xfrm>
        </p:spPr>
        <p:txBody>
          <a:bodyPr/>
          <a:lstStyle/>
          <a:p>
            <a:pPr marL="0" indent="0">
              <a:buNone/>
            </a:pPr>
            <a:endParaRPr lang="ar-EG" dirty="0"/>
          </a:p>
          <a:p>
            <a:pPr marL="0" indent="0" algn="ctr">
              <a:buNone/>
            </a:pPr>
            <a:r>
              <a:rPr lang="en-GB" sz="3200" dirty="0"/>
              <a:t>Q&amp;A </a:t>
            </a:r>
          </a:p>
          <a:p>
            <a:pPr marL="0" indent="0" algn="ctr">
              <a:buNone/>
            </a:pPr>
            <a:endParaRPr lang="ar-EG" sz="3200" dirty="0"/>
          </a:p>
          <a:p>
            <a:pPr marL="0" indent="0" algn="ctr">
              <a:buNone/>
            </a:pPr>
            <a:r>
              <a:rPr lang="en-GB" sz="3200" dirty="0"/>
              <a:t>Questions and answers </a:t>
            </a:r>
          </a:p>
        </p:txBody>
      </p:sp>
      <p:sp>
        <p:nvSpPr>
          <p:cNvPr id="6" name="Slide Number Placeholder 5">
            <a:extLst>
              <a:ext uri="{FF2B5EF4-FFF2-40B4-BE49-F238E27FC236}">
                <a16:creationId xmlns:a16="http://schemas.microsoft.com/office/drawing/2014/main" id="{917FFD91-BE00-70FF-455F-7C9075615CF4}"/>
              </a:ext>
            </a:extLst>
          </p:cNvPr>
          <p:cNvSpPr>
            <a:spLocks noGrp="1"/>
          </p:cNvSpPr>
          <p:nvPr>
            <p:ph type="sldNum" sz="quarter" idx="12"/>
          </p:nvPr>
        </p:nvSpPr>
        <p:spPr/>
        <p:txBody>
          <a:bodyPr/>
          <a:lstStyle/>
          <a:p>
            <a:fld id="{5EE24C92-1265-4741-8F9F-404A15D9386E}" type="slidenum">
              <a:rPr lang="en-US" smtClean="0"/>
              <a:t>55</a:t>
            </a:fld>
            <a:endParaRPr lang="en-US"/>
          </a:p>
        </p:txBody>
      </p:sp>
    </p:spTree>
    <p:extLst>
      <p:ext uri="{BB962C8B-B14F-4D97-AF65-F5344CB8AC3E}">
        <p14:creationId xmlns:p14="http://schemas.microsoft.com/office/powerpoint/2010/main" val="36371868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4034368" y="2432493"/>
            <a:ext cx="3941233" cy="1371315"/>
          </a:xfrm>
          <a:prstGeom prst="rect">
            <a:avLst/>
          </a:prstGeom>
        </p:spPr>
        <p:txBody>
          <a:bodyPr vert="horz" wrap="square" lIns="0" tIns="16933" rIns="0" bIns="0" rtlCol="0" anchor="ctr">
            <a:spAutoFit/>
          </a:bodyPr>
          <a:lstStyle/>
          <a:p>
            <a:pPr marL="16933">
              <a:lnSpc>
                <a:spcPct val="100000"/>
              </a:lnSpc>
              <a:spcBef>
                <a:spcPts val="133"/>
              </a:spcBef>
            </a:pPr>
            <a:r>
              <a:rPr sz="8800" spc="-13" dirty="0">
                <a:solidFill>
                  <a:srgbClr val="21C3AB"/>
                </a:solidFill>
              </a:rPr>
              <a:t>Thanks</a:t>
            </a:r>
            <a:endParaRPr sz="8800"/>
          </a:p>
        </p:txBody>
      </p:sp>
      <p:sp>
        <p:nvSpPr>
          <p:cNvPr id="2" name="Slide Number Placeholder 1">
            <a:extLst>
              <a:ext uri="{FF2B5EF4-FFF2-40B4-BE49-F238E27FC236}">
                <a16:creationId xmlns:a16="http://schemas.microsoft.com/office/drawing/2014/main" id="{DE2A0A5F-D044-5A81-F876-6B0305C4A3B2}"/>
              </a:ext>
            </a:extLst>
          </p:cNvPr>
          <p:cNvSpPr>
            <a:spLocks noGrp="1"/>
          </p:cNvSpPr>
          <p:nvPr>
            <p:ph type="sldNum" sz="quarter" idx="12"/>
          </p:nvPr>
        </p:nvSpPr>
        <p:spPr/>
        <p:txBody>
          <a:bodyPr/>
          <a:lstStyle/>
          <a:p>
            <a:fld id="{5EE24C92-1265-4741-8F9F-404A15D9386E}" type="slidenum">
              <a:rPr lang="en-US" smtClean="0"/>
              <a:t>56</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8655</TotalTime>
  <Words>3781</Words>
  <Application>Microsoft Office PowerPoint</Application>
  <PresentationFormat>Widescreen</PresentationFormat>
  <Paragraphs>312</Paragraphs>
  <Slides>56</Slides>
  <Notes>48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56</vt:i4>
      </vt:variant>
    </vt:vector>
  </HeadingPairs>
  <TitlesOfParts>
    <vt:vector size="66" baseType="lpstr">
      <vt:lpstr>Aptos</vt:lpstr>
      <vt:lpstr>Arial</vt:lpstr>
      <vt:lpstr>Calibri</vt:lpstr>
      <vt:lpstr>Calibri Light</vt:lpstr>
      <vt:lpstr>Cambria Math</vt:lpstr>
      <vt:lpstr>Montserrat</vt:lpstr>
      <vt:lpstr>Söhne</vt:lpstr>
      <vt:lpstr>Times New Roman</vt:lpstr>
      <vt:lpstr>Trebuchet MS</vt:lpstr>
      <vt:lpstr>Office Theme</vt:lpstr>
      <vt:lpstr>Statistics for Data Science</vt:lpstr>
      <vt:lpstr>Course Overview </vt:lpstr>
      <vt:lpstr>Topics </vt:lpstr>
      <vt:lpstr>What is Statistics ?</vt:lpstr>
      <vt:lpstr>Statistics In Data Science</vt:lpstr>
      <vt:lpstr>Statistics In Data Science</vt:lpstr>
      <vt:lpstr>Skills Needed ?</vt:lpstr>
      <vt:lpstr>Variables</vt:lpstr>
      <vt:lpstr>PowerPoint Presentation</vt:lpstr>
      <vt:lpstr>Types of Variables</vt:lpstr>
      <vt:lpstr>Types of Variables</vt:lpstr>
      <vt:lpstr>Working with Matrices</vt:lpstr>
      <vt:lpstr>Working with Matrices</vt:lpstr>
      <vt:lpstr>Matrices Addition / Subtraction</vt:lpstr>
      <vt:lpstr>Matrices Multiplication</vt:lpstr>
      <vt:lpstr>PowerPoint Presentation</vt:lpstr>
      <vt:lpstr>Frequency Table</vt:lpstr>
      <vt:lpstr>Frequency Table</vt:lpstr>
      <vt:lpstr>Mean, Median and Mode</vt:lpstr>
      <vt:lpstr>Mean, Median and Mode</vt:lpstr>
      <vt:lpstr>Variance</vt:lpstr>
      <vt:lpstr>Standard Deviation</vt:lpstr>
      <vt:lpstr>Range and Interquartile Range</vt:lpstr>
      <vt:lpstr>1st quartile and 3rd quartile</vt:lpstr>
      <vt:lpstr>Quartile Calculations</vt:lpstr>
      <vt:lpstr>Box Plot</vt:lpstr>
      <vt:lpstr>Box Plot</vt:lpstr>
      <vt:lpstr>Box Plot</vt:lpstr>
      <vt:lpstr>Normal Distribution</vt:lpstr>
      <vt:lpstr>Skewed Distribution</vt:lpstr>
      <vt:lpstr>Bimodal/Multimodal Distribution</vt:lpstr>
      <vt:lpstr>Logarithmic Distribution</vt:lpstr>
      <vt:lpstr>Triangular Distribution</vt:lpstr>
      <vt:lpstr>PowerPoint Presentation</vt:lpstr>
      <vt:lpstr>Regression </vt:lpstr>
      <vt:lpstr>Regression Analysis</vt:lpstr>
      <vt:lpstr>Regression types</vt:lpstr>
      <vt:lpstr>Elementary Probability</vt:lpstr>
      <vt:lpstr>Probability Rules</vt:lpstr>
      <vt:lpstr>Probability Rules</vt:lpstr>
      <vt:lpstr>Example</vt:lpstr>
      <vt:lpstr>Bayes Theorem</vt:lpstr>
      <vt:lpstr>Bayes Theorem</vt:lpstr>
      <vt:lpstr>Bayes Theorem</vt:lpstr>
      <vt:lpstr>Vectors vs Matrices</vt:lpstr>
      <vt:lpstr>Vectors</vt:lpstr>
      <vt:lpstr>Matrices</vt:lpstr>
      <vt:lpstr>Matrices</vt:lpstr>
      <vt:lpstr>Matrices </vt:lpstr>
      <vt:lpstr>Vectors Magnitude</vt:lpstr>
      <vt:lpstr>Vector Direction</vt:lpstr>
      <vt:lpstr>Cosine Similarity</vt:lpstr>
      <vt:lpstr>Cosine Similarity</vt:lpstr>
      <vt:lpstr>Matrices Operation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SAMA</dc:creator>
  <cp:lastModifiedBy>ahmed.abdelsatar@fci.bu.edu.eg</cp:lastModifiedBy>
  <cp:revision>53</cp:revision>
  <dcterms:created xsi:type="dcterms:W3CDTF">2024-03-14T10:03:54Z</dcterms:created>
  <dcterms:modified xsi:type="dcterms:W3CDTF">2024-07-19T08:07:39Z</dcterms:modified>
</cp:coreProperties>
</file>