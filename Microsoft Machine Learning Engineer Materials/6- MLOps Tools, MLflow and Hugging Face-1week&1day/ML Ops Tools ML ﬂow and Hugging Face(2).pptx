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2000" cy="6858000"/>
  <p:notesSz cx="6858000" cy="9144000"/>
  <p:embeddedFontLst>
    <p:embeddedFont>
      <p:font typeface="Tahoma" panose="020B0604030504040204" pitchFamily="34" charset="0"/>
      <p:regular r:id="rId83"/>
      <p:bold r:id="rId84"/>
    </p:embeddedFont>
    <p:embeddedFont>
      <p:font typeface="Trebuchet MS" panose="020B0603020202020204" pitchFamily="34"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9" roundtripDataSignature="AMtx7mi4jn1Aiy78LlNnQcWGzAhN6Hkr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customschemas.google.com/relationships/presentationmetadata" Target="meta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cbf3e4b21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cbf3e4b21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2cbf3e4b21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cbf3e4b21d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cbf3e4b21d_0_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2cbf3e4b21d_0_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cbf3e4b21d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cbf3e4b21d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2cbf3e4b21d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cbf3e4b21d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cbf3e4b21d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2cbf3e4b21d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cbf3e4b21d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cbf3e4b21d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g2cbf3e4b21d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cbf3e4b21d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cbf3e4b21d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2cbf3e4b21d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cbf3e4b21d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cbf3e4b21d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2cbf3e4b21d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cbf3e4b21d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cbf3e4b21d_0_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2cbf3e4b21d_0_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cbf3e4b21d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cbf3e4b21d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g2cbf3e4b21d_0_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cbf3e4b21d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cbf3e4b21d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g2cbf3e4b21d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cbf3e4b21d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cbf3e4b21d_0_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g2cbf3e4b21d_0_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cbf3e4b21d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cbf3e4b21d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g2cbf3e4b21d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cbf3e4b21d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cbf3e4b21d_0_1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2cbf3e4b21d_0_1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cbf3e4b21d_0_1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2cbf3e4b21d_0_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cbf3e4b21d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cbf3e4b21d_0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cbf3e4b21d_0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cbf3e4b21d_0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cbf3e4b21d_0_1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2cbf3e4b21d_0_1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cbf3e4b21d_0_1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cbf3e4b21d_0_1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2cbf3e4b21d_0_1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cbf3e4b21d_0_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cbf3e4b21d_0_1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2cbf3e4b21d_0_15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cbf3e4b21d_0_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cbf3e4b21d_0_1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2cbf3e4b21d_0_1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cbf3e4b21d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cbf3e4b21d_0_1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2cbf3e4b21d_0_1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cbf3e4b21d_0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cbf3e4b21d_0_1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g2cbf3e4b21d_0_1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cbf3e4b21d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2cbf3e4b21d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g2cbf3e4b21d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cbf3e4b21d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cbf3e4b21d_0_1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g2cbf3e4b21d_0_1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cbf3e4b21d_0_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cbf3e4b21d_0_2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g2cbf3e4b21d_0_2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cbf3e4b21d_0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cbf3e4b21d_0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g2cbf3e4b21d_0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7" name="Google Shape;56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8" name="Google Shape;58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5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5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8" name="Google Shape;28;p58"/>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29" name="Google Shape;29;p58"/>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30" name="Google Shape;30;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
        <p:cNvGrpSpPr/>
        <p:nvPr/>
      </p:nvGrpSpPr>
      <p:grpSpPr>
        <a:xfrm>
          <a:off x="0" y="0"/>
          <a:ext cx="0" cy="0"/>
          <a:chOff x="0" y="0"/>
          <a:chExt cx="0" cy="0"/>
        </a:xfrm>
      </p:grpSpPr>
      <p:sp>
        <p:nvSpPr>
          <p:cNvPr id="32" name="Google Shape;3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35"/>
        <p:cNvGrpSpPr/>
        <p:nvPr/>
      </p:nvGrpSpPr>
      <p:grpSpPr>
        <a:xfrm>
          <a:off x="0" y="0"/>
          <a:ext cx="0" cy="0"/>
          <a:chOff x="0" y="0"/>
          <a:chExt cx="0" cy="0"/>
        </a:xfrm>
      </p:grpSpPr>
      <p:sp>
        <p:nvSpPr>
          <p:cNvPr id="36" name="Google Shape;36;p60"/>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1A1A1A"/>
              </a:buClr>
              <a:buSzPts val="3067"/>
              <a:buFont typeface="Trebuchet MS"/>
              <a:buNone/>
              <a:defRPr sz="3067" b="1" i="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0"/>
          <p:cNvSpPr txBox="1">
            <a:spLocks noGrp="1"/>
          </p:cNvSpPr>
          <p:nvPr>
            <p:ph type="body" idx="1"/>
          </p:nvPr>
        </p:nvSpPr>
        <p:spPr>
          <a:xfrm>
            <a:off x="609600" y="1577340"/>
            <a:ext cx="5303520" cy="387798"/>
          </a:xfrm>
          <a:prstGeom prst="rect">
            <a:avLst/>
          </a:prstGeom>
          <a:noFill/>
          <a:ln>
            <a:noFill/>
          </a:ln>
        </p:spPr>
        <p:txBody>
          <a:bodyPr spcFirstLastPara="1" wrap="square" lIns="0" tIns="0" rIns="0" bIns="0" anchor="t" anchorCtr="0">
            <a:spAutoFit/>
          </a:bodyPr>
          <a:lstStyle>
            <a:lvl1pPr marL="457200" lvl="0" indent="-406400" algn="l">
              <a:lnSpc>
                <a:spcPct val="9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0"/>
          <p:cNvSpPr txBox="1">
            <a:spLocks noGrp="1"/>
          </p:cNvSpPr>
          <p:nvPr>
            <p:ph type="body" idx="2"/>
          </p:nvPr>
        </p:nvSpPr>
        <p:spPr>
          <a:xfrm>
            <a:off x="6278880" y="1577340"/>
            <a:ext cx="5303520" cy="387798"/>
          </a:xfrm>
          <a:prstGeom prst="rect">
            <a:avLst/>
          </a:prstGeom>
          <a:noFill/>
          <a:ln>
            <a:noFill/>
          </a:ln>
        </p:spPr>
        <p:txBody>
          <a:bodyPr spcFirstLastPara="1" wrap="square" lIns="0" tIns="0" rIns="0" bIns="0" anchor="t" anchorCtr="0">
            <a:spAutoFit/>
          </a:bodyPr>
          <a:lstStyle>
            <a:lvl1pPr marL="457200" lvl="0" indent="-406400" algn="l">
              <a:lnSpc>
                <a:spcPct val="9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0"/>
          <p:cNvSpPr txBox="1">
            <a:spLocks noGrp="1"/>
          </p:cNvSpPr>
          <p:nvPr>
            <p:ph type="ftr" idx="11"/>
          </p:nvPr>
        </p:nvSpPr>
        <p:spPr>
          <a:xfrm>
            <a:off x="3880338" y="6356350"/>
            <a:ext cx="4273062"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0"/>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0"/>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2"/>
        <p:cNvGrpSpPr/>
        <p:nvPr/>
      </p:nvGrpSpPr>
      <p:grpSpPr>
        <a:xfrm>
          <a:off x="0" y="0"/>
          <a:ext cx="0" cy="0"/>
          <a:chOff x="0" y="0"/>
          <a:chExt cx="0" cy="0"/>
        </a:xfrm>
      </p:grpSpPr>
      <p:sp>
        <p:nvSpPr>
          <p:cNvPr id="43" name="Google Shape;43;p61"/>
          <p:cNvSpPr txBox="1">
            <a:spLocks noGrp="1"/>
          </p:cNvSpPr>
          <p:nvPr>
            <p:ph type="ctrTitle"/>
          </p:nvPr>
        </p:nvSpPr>
        <p:spPr>
          <a:xfrm>
            <a:off x="4721883" y="551651"/>
            <a:ext cx="2748232" cy="8125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1A1A1A"/>
              </a:buClr>
              <a:buSzPts val="5867"/>
              <a:buFont typeface="Trebuchet MS"/>
              <a:buNone/>
              <a:defRPr sz="5867" b="1" i="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1"/>
          <p:cNvSpPr txBox="1">
            <a:spLocks noGrp="1"/>
          </p:cNvSpPr>
          <p:nvPr>
            <p:ph type="subTitle" idx="1"/>
          </p:nvPr>
        </p:nvSpPr>
        <p:spPr>
          <a:xfrm>
            <a:off x="1828800" y="3840481"/>
            <a:ext cx="8534400" cy="387798"/>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5" name="Google Shape;45;p61"/>
          <p:cNvSpPr txBox="1">
            <a:spLocks noGrp="1"/>
          </p:cNvSpPr>
          <p:nvPr>
            <p:ph type="ftr" idx="11"/>
          </p:nvPr>
        </p:nvSpPr>
        <p:spPr>
          <a:xfrm>
            <a:off x="3880338" y="6356350"/>
            <a:ext cx="4273062"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1"/>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1"/>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8"/>
        <p:cNvGrpSpPr/>
        <p:nvPr/>
      </p:nvGrpSpPr>
      <p:grpSpPr>
        <a:xfrm>
          <a:off x="0" y="0"/>
          <a:ext cx="0" cy="0"/>
          <a:chOff x="0" y="0"/>
          <a:chExt cx="0" cy="0"/>
        </a:xfrm>
      </p:grpSpPr>
      <p:pic>
        <p:nvPicPr>
          <p:cNvPr id="49" name="Google Shape;49;p62"/>
          <p:cNvPicPr preferRelativeResize="0"/>
          <p:nvPr/>
        </p:nvPicPr>
        <p:blipFill rotWithShape="1">
          <a:blip r:embed="rId2">
            <a:alphaModFix/>
          </a:blip>
          <a:srcRect/>
          <a:stretch/>
        </p:blipFill>
        <p:spPr>
          <a:xfrm>
            <a:off x="10711512" y="330213"/>
            <a:ext cx="1284576" cy="637759"/>
          </a:xfrm>
          <a:prstGeom prst="rect">
            <a:avLst/>
          </a:prstGeom>
          <a:noFill/>
          <a:ln>
            <a:noFill/>
          </a:ln>
        </p:spPr>
      </p:pic>
      <p:sp>
        <p:nvSpPr>
          <p:cNvPr id="50" name="Google Shape;50;p6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6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3" name="Google Shape;53;p62"/>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54" name="Google Shape;54;p62"/>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5" name="Google Shape;55;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9" name="Google Shape;59;p6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6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6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6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6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6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3" name="Google Shape;73;p6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6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
        <p:cNvGrpSpPr/>
        <p:nvPr/>
      </p:nvGrpSpPr>
      <p:grpSpPr>
        <a:xfrm>
          <a:off x="0" y="0"/>
          <a:ext cx="0" cy="0"/>
          <a:chOff x="0" y="0"/>
          <a:chExt cx="0" cy="0"/>
        </a:xfrm>
      </p:grpSpPr>
      <p:sp>
        <p:nvSpPr>
          <p:cNvPr id="78" name="Google Shape;78;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0" name="Google Shape;80;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6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7"/>
          <p:cNvSpPr>
            <a:spLocks noGrp="1"/>
          </p:cNvSpPr>
          <p:nvPr>
            <p:ph type="pic" idx="2"/>
          </p:nvPr>
        </p:nvSpPr>
        <p:spPr>
          <a:xfrm>
            <a:off x="5183188" y="987425"/>
            <a:ext cx="6172200" cy="4873625"/>
          </a:xfrm>
          <a:prstGeom prst="rect">
            <a:avLst/>
          </a:prstGeom>
          <a:noFill/>
          <a:ln>
            <a:noFill/>
          </a:ln>
        </p:spPr>
      </p:sp>
      <p:sp>
        <p:nvSpPr>
          <p:cNvPr id="87" name="Google Shape;87;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8" name="Google Shape;8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6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6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6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6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3"/>
        <p:cNvGrpSpPr/>
        <p:nvPr/>
      </p:nvGrpSpPr>
      <p:grpSpPr>
        <a:xfrm>
          <a:off x="0" y="0"/>
          <a:ext cx="0" cy="0"/>
          <a:chOff x="0" y="0"/>
          <a:chExt cx="0" cy="0"/>
        </a:xfrm>
      </p:grpSpPr>
      <p:sp>
        <p:nvSpPr>
          <p:cNvPr id="104" name="Google Shape;104;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7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56"/>
          <p:cNvPicPr preferRelativeResize="0"/>
          <p:nvPr/>
        </p:nvPicPr>
        <p:blipFill rotWithShape="1">
          <a:blip r:embed="rId16">
            <a:alphaModFix/>
          </a:blip>
          <a:srcRect/>
          <a:stretch/>
        </p:blipFill>
        <p:spPr>
          <a:xfrm>
            <a:off x="0" y="0"/>
            <a:ext cx="12192000" cy="6858000"/>
          </a:xfrm>
          <a:prstGeom prst="rect">
            <a:avLst/>
          </a:prstGeom>
          <a:noFill/>
          <a:ln>
            <a:noFill/>
          </a:ln>
        </p:spPr>
      </p:pic>
      <p:pic>
        <p:nvPicPr>
          <p:cNvPr id="11" name="Google Shape;11;p56"/>
          <p:cNvPicPr preferRelativeResize="0"/>
          <p:nvPr/>
        </p:nvPicPr>
        <p:blipFill rotWithShape="1">
          <a:blip r:embed="rId17">
            <a:alphaModFix/>
          </a:blip>
          <a:srcRect/>
          <a:stretch/>
        </p:blipFill>
        <p:spPr>
          <a:xfrm>
            <a:off x="10711512" y="330213"/>
            <a:ext cx="1284576" cy="637759"/>
          </a:xfrm>
          <a:prstGeom prst="rect">
            <a:avLst/>
          </a:prstGeom>
          <a:noFill/>
          <a:ln>
            <a:noFill/>
          </a:ln>
        </p:spPr>
      </p:pic>
      <p:pic>
        <p:nvPicPr>
          <p:cNvPr id="12" name="Google Shape;12;p56"/>
          <p:cNvPicPr preferRelativeResize="0"/>
          <p:nvPr/>
        </p:nvPicPr>
        <p:blipFill rotWithShape="1">
          <a:blip r:embed="rId18">
            <a:alphaModFix/>
          </a:blip>
          <a:srcRect/>
          <a:stretch/>
        </p:blipFill>
        <p:spPr>
          <a:xfrm>
            <a:off x="93317" y="0"/>
            <a:ext cx="1489765" cy="1386637"/>
          </a:xfrm>
          <a:prstGeom prst="rect">
            <a:avLst/>
          </a:prstGeom>
          <a:noFill/>
          <a:ln>
            <a:noFill/>
          </a:ln>
        </p:spPr>
      </p:pic>
      <p:sp>
        <p:nvSpPr>
          <p:cNvPr id="13" name="Google Shape;13;p56"/>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14" name="Google Shape;1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5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40.jpg"/><Relationship Id="rId4" Type="http://schemas.openxmlformats.org/officeDocument/2006/relationships/image" Target="../media/image39.jpg"/></Relationships>
</file>

<file path=ppt/slides/_rels/slide5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48.jpg"/></Relationships>
</file>

<file path=ppt/slides/_rels/slide6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51.jpg"/></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hyperlink" Target="https://kirenz.github.io/"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66.xml"/><Relationship Id="rId1" Type="http://schemas.openxmlformats.org/officeDocument/2006/relationships/slideLayout" Target="../slideLayouts/slideLayout3.xml"/><Relationship Id="rId5" Type="http://schemas.openxmlformats.org/officeDocument/2006/relationships/image" Target="../media/image56.jpg"/><Relationship Id="rId4" Type="http://schemas.openxmlformats.org/officeDocument/2006/relationships/image" Target="../media/image55.jpg"/></Relationships>
</file>

<file path=ppt/slides/_rels/slide6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67.xml"/><Relationship Id="rId1" Type="http://schemas.openxmlformats.org/officeDocument/2006/relationships/slideLayout" Target="../slideLayouts/slideLayout3.xml"/><Relationship Id="rId6" Type="http://schemas.openxmlformats.org/officeDocument/2006/relationships/image" Target="../media/image60.jpg"/><Relationship Id="rId5" Type="http://schemas.openxmlformats.org/officeDocument/2006/relationships/image" Target="../media/image59.jpg"/><Relationship Id="rId4" Type="http://schemas.openxmlformats.org/officeDocument/2006/relationships/image" Target="../media/image58.jpg"/></Relationships>
</file>

<file path=ppt/slides/_rels/slide68.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hyperlink" Target="https://github.com/Microsoft/MLOpsPython"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
          <p:cNvSpPr txBox="1">
            <a:spLocks noGrp="1"/>
          </p:cNvSpPr>
          <p:nvPr>
            <p:ph type="title"/>
          </p:nvPr>
        </p:nvSpPr>
        <p:spPr>
          <a:xfrm>
            <a:off x="1487559" y="2657506"/>
            <a:ext cx="9942441" cy="632651"/>
          </a:xfrm>
          <a:prstGeom prst="rect">
            <a:avLst/>
          </a:prstGeom>
          <a:noFill/>
          <a:ln>
            <a:noFill/>
          </a:ln>
        </p:spPr>
        <p:txBody>
          <a:bodyPr spcFirstLastPara="1" wrap="square" lIns="0" tIns="16925" rIns="0" bIns="0" anchor="ctr" anchorCtr="0">
            <a:spAutoFit/>
          </a:bodyPr>
          <a:lstStyle/>
          <a:p>
            <a:pPr marL="16933" lvl="0" indent="0" algn="l" rtl="0">
              <a:lnSpc>
                <a:spcPct val="100000"/>
              </a:lnSpc>
              <a:spcBef>
                <a:spcPts val="0"/>
              </a:spcBef>
              <a:spcAft>
                <a:spcPts val="0"/>
              </a:spcAft>
              <a:buClr>
                <a:schemeClr val="dk1"/>
              </a:buClr>
              <a:buSzPts val="4000"/>
              <a:buFont typeface="Trebuchet MS"/>
              <a:buNone/>
            </a:pPr>
            <a:r>
              <a:rPr lang="en-US" sz="4000">
                <a:latin typeface="Trebuchet MS"/>
                <a:ea typeface="Trebuchet MS"/>
                <a:cs typeface="Trebuchet MS"/>
                <a:sym typeface="Trebuchet MS"/>
              </a:rPr>
              <a:t>ML Ops Tools: ML ﬂow and  Hugging Face</a:t>
            </a:r>
            <a:endParaRPr sz="4000">
              <a:latin typeface="Trebuchet MS"/>
              <a:ea typeface="Trebuchet MS"/>
              <a:cs typeface="Trebuchet MS"/>
              <a:sym typeface="Trebuchet MS"/>
            </a:endParaRPr>
          </a:p>
        </p:txBody>
      </p:sp>
      <p:sp>
        <p:nvSpPr>
          <p:cNvPr id="113" name="Google Shape;113;p1"/>
          <p:cNvSpPr txBox="1"/>
          <p:nvPr/>
        </p:nvSpPr>
        <p:spPr>
          <a:xfrm>
            <a:off x="1487559" y="6322814"/>
            <a:ext cx="2576441" cy="369332"/>
          </a:xfrm>
          <a:prstGeom prst="rect">
            <a:avLst/>
          </a:prstGeom>
          <a:solidFill>
            <a:srgbClr val="2F5496"/>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FFF9E7"/>
                </a:solidFill>
                <a:latin typeface="Calibri"/>
                <a:ea typeface="Calibri"/>
                <a:cs typeface="Calibri"/>
                <a:sym typeface="Calibri"/>
              </a:rPr>
              <a:t>17/04/2024</a:t>
            </a:r>
            <a:endParaRPr dirty="0"/>
          </a:p>
        </p:txBody>
      </p:sp>
      <p:sp>
        <p:nvSpPr>
          <p:cNvPr id="2" name="Slide Number Placeholder 1">
            <a:extLst>
              <a:ext uri="{FF2B5EF4-FFF2-40B4-BE49-F238E27FC236}">
                <a16:creationId xmlns:a16="http://schemas.microsoft.com/office/drawing/2014/main" id="{46976D1A-D15A-CE29-E085-4838707B63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title"/>
          </p:nvPr>
        </p:nvSpPr>
        <p:spPr>
          <a:xfrm>
            <a:off x="685800" y="13608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Course Overview</a:t>
            </a:r>
            <a:br>
              <a:rPr lang="en-US"/>
            </a:br>
            <a:endParaRPr/>
          </a:p>
        </p:txBody>
      </p:sp>
      <p:sp>
        <p:nvSpPr>
          <p:cNvPr id="119" name="Google Shape;1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20" name="Google Shape;120;p2"/>
          <p:cNvSpPr txBox="1"/>
          <p:nvPr/>
        </p:nvSpPr>
        <p:spPr>
          <a:xfrm>
            <a:off x="1368669" y="2493328"/>
            <a:ext cx="9296400"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343A49"/>
                </a:solidFill>
                <a:latin typeface="Calibri"/>
                <a:ea typeface="Calibri"/>
                <a:cs typeface="Calibri"/>
                <a:sym typeface="Calibri"/>
              </a:rPr>
              <a:t>This course covers two of the most popular open-source platforms for MLOps (Machine Learning Operations): ML flow and Hugging Face. We’ll go through the foundations on what it takes to get started in these platforms with basic model and dataset operations. You will start with ML flow using projects and models with its powerful tracking system and you will learn how to interact with these registered models from ML flow with full lifecycle examples. Then, you will explore Hugging Face repositories so that you can store datasets, models, and create live interactive demos.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182320" y="1420915"/>
            <a:ext cx="5561753"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The Proof of Concept Factory</a:t>
            </a:r>
            <a:endParaRPr/>
          </a:p>
        </p:txBody>
      </p:sp>
      <p:sp>
        <p:nvSpPr>
          <p:cNvPr id="126" name="Google Shape;126;p3"/>
          <p:cNvSpPr txBox="1"/>
          <p:nvPr/>
        </p:nvSpPr>
        <p:spPr>
          <a:xfrm>
            <a:off x="702174" y="3155712"/>
            <a:ext cx="4522047" cy="2281373"/>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3200" b="0" i="0" u="none" strike="noStrike" cap="none">
                <a:solidFill>
                  <a:srgbClr val="595959"/>
                </a:solidFill>
                <a:latin typeface="Tahoma"/>
                <a:ea typeface="Tahoma"/>
                <a:cs typeface="Tahoma"/>
                <a:sym typeface="Tahoma"/>
              </a:rPr>
              <a:t>Most companies...</a:t>
            </a:r>
            <a:endParaRPr sz="3200" b="0" i="0" u="none" strike="noStrike" cap="none">
              <a:solidFill>
                <a:schemeClr val="dk1"/>
              </a:solidFill>
              <a:latin typeface="Tahoma"/>
              <a:ea typeface="Tahoma"/>
              <a:cs typeface="Tahoma"/>
              <a:sym typeface="Tahoma"/>
            </a:endParaRPr>
          </a:p>
          <a:p>
            <a:pPr marL="16933" marR="23706" lvl="0" indent="-135445" algn="l" rtl="0">
              <a:lnSpc>
                <a:spcPct val="105000"/>
              </a:lnSpc>
              <a:spcBef>
                <a:spcPts val="1707"/>
              </a:spcBef>
              <a:spcAft>
                <a:spcPts val="0"/>
              </a:spcAft>
              <a:buClr>
                <a:srgbClr val="595959"/>
              </a:buClr>
              <a:buSzPts val="2133"/>
              <a:buFont typeface="Arial"/>
              <a:buChar char="●"/>
            </a:pPr>
            <a:r>
              <a:rPr lang="en-US" sz="2133" b="0" i="0" u="none" strike="noStrike" cap="none">
                <a:solidFill>
                  <a:srgbClr val="595959"/>
                </a:solidFill>
                <a:latin typeface="Tahoma"/>
                <a:ea typeface="Tahoma"/>
                <a:cs typeface="Tahoma"/>
                <a:sym typeface="Tahoma"/>
              </a:rPr>
              <a:t>… conduct AI experiments and pilots  but achieve a low scaling success rate</a:t>
            </a:r>
            <a:endParaRPr sz="2133" b="0" i="0" u="none" strike="noStrike" cap="none">
              <a:solidFill>
                <a:schemeClr val="dk1"/>
              </a:solidFill>
              <a:latin typeface="Tahoma"/>
              <a:ea typeface="Tahoma"/>
              <a:cs typeface="Tahoma"/>
              <a:sym typeface="Tahoma"/>
            </a:endParaRPr>
          </a:p>
          <a:p>
            <a:pPr marL="16933" marR="6773" lvl="0" indent="-135445" algn="l" rtl="0">
              <a:lnSpc>
                <a:spcPct val="105000"/>
              </a:lnSpc>
              <a:spcBef>
                <a:spcPts val="1600"/>
              </a:spcBef>
              <a:spcAft>
                <a:spcPts val="0"/>
              </a:spcAft>
              <a:buClr>
                <a:srgbClr val="595959"/>
              </a:buClr>
              <a:buSzPts val="2133"/>
              <a:buFont typeface="Arial"/>
              <a:buChar char="●"/>
            </a:pPr>
            <a:r>
              <a:rPr lang="en-US" sz="2133" b="0" i="0" u="none" strike="noStrike" cap="none">
                <a:solidFill>
                  <a:srgbClr val="595959"/>
                </a:solidFill>
                <a:latin typeface="Tahoma"/>
                <a:ea typeface="Tahoma"/>
                <a:cs typeface="Tahoma"/>
                <a:sym typeface="Tahoma"/>
              </a:rPr>
              <a:t>… have signiﬁcant under investment,  yielding low returns</a:t>
            </a:r>
            <a:endParaRPr sz="2133" b="0" i="0" u="none" strike="noStrike" cap="none">
              <a:solidFill>
                <a:schemeClr val="dk1"/>
              </a:solidFill>
              <a:latin typeface="Tahoma"/>
              <a:ea typeface="Tahoma"/>
              <a:cs typeface="Tahoma"/>
              <a:sym typeface="Tahoma"/>
            </a:endParaRPr>
          </a:p>
        </p:txBody>
      </p:sp>
      <p:pic>
        <p:nvPicPr>
          <p:cNvPr id="127" name="Google Shape;127;p3"/>
          <p:cNvPicPr preferRelativeResize="0"/>
          <p:nvPr/>
        </p:nvPicPr>
        <p:blipFill rotWithShape="1">
          <a:blip r:embed="rId3">
            <a:alphaModFix/>
          </a:blip>
          <a:srcRect/>
          <a:stretch/>
        </p:blipFill>
        <p:spPr>
          <a:xfrm>
            <a:off x="5884765" y="1875894"/>
            <a:ext cx="5921380" cy="4229557"/>
          </a:xfrm>
          <a:prstGeom prst="rect">
            <a:avLst/>
          </a:prstGeom>
          <a:noFill/>
          <a:ln>
            <a:noFill/>
          </a:ln>
        </p:spPr>
      </p:pic>
      <p:sp>
        <p:nvSpPr>
          <p:cNvPr id="2" name="Slide Number Placeholder 1">
            <a:extLst>
              <a:ext uri="{FF2B5EF4-FFF2-40B4-BE49-F238E27FC236}">
                <a16:creationId xmlns:a16="http://schemas.microsoft.com/office/drawing/2014/main" id="{3CDD882B-1E17-B669-AD0D-AF5C9E0424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537583" y="1145391"/>
            <a:ext cx="7800340"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Gartner Top 10 Data and Analytics Trends</a:t>
            </a:r>
            <a:endParaRPr/>
          </a:p>
        </p:txBody>
      </p:sp>
      <p:grpSp>
        <p:nvGrpSpPr>
          <p:cNvPr id="133" name="Google Shape;133;p4"/>
          <p:cNvGrpSpPr/>
          <p:nvPr/>
        </p:nvGrpSpPr>
        <p:grpSpPr>
          <a:xfrm>
            <a:off x="3548550" y="1945027"/>
            <a:ext cx="7799787" cy="4040096"/>
            <a:chOff x="1719072" y="1076421"/>
            <a:chExt cx="7180706" cy="3952197"/>
          </a:xfrm>
        </p:grpSpPr>
        <p:pic>
          <p:nvPicPr>
            <p:cNvPr id="134" name="Google Shape;134;p4"/>
            <p:cNvPicPr preferRelativeResize="0"/>
            <p:nvPr/>
          </p:nvPicPr>
          <p:blipFill rotWithShape="1">
            <a:blip r:embed="rId3">
              <a:alphaModFix/>
            </a:blip>
            <a:srcRect/>
            <a:stretch/>
          </p:blipFill>
          <p:spPr>
            <a:xfrm>
              <a:off x="1719072" y="1076421"/>
              <a:ext cx="6664959" cy="3338783"/>
            </a:xfrm>
            <a:prstGeom prst="rect">
              <a:avLst/>
            </a:prstGeom>
            <a:noFill/>
            <a:ln>
              <a:noFill/>
            </a:ln>
          </p:spPr>
        </p:pic>
        <p:pic>
          <p:nvPicPr>
            <p:cNvPr id="135" name="Google Shape;135;p4"/>
            <p:cNvPicPr preferRelativeResize="0"/>
            <p:nvPr/>
          </p:nvPicPr>
          <p:blipFill rotWithShape="1">
            <a:blip r:embed="rId4">
              <a:alphaModFix/>
            </a:blip>
            <a:srcRect/>
            <a:stretch/>
          </p:blipFill>
          <p:spPr>
            <a:xfrm>
              <a:off x="7671054" y="4352344"/>
              <a:ext cx="1228724" cy="676274"/>
            </a:xfrm>
            <a:prstGeom prst="rect">
              <a:avLst/>
            </a:prstGeom>
            <a:noFill/>
            <a:ln>
              <a:noFill/>
            </a:ln>
          </p:spPr>
        </p:pic>
      </p:grpSp>
      <p:sp>
        <p:nvSpPr>
          <p:cNvPr id="136" name="Google Shape;136;p4"/>
          <p:cNvSpPr txBox="1"/>
          <p:nvPr/>
        </p:nvSpPr>
        <p:spPr>
          <a:xfrm>
            <a:off x="4206072" y="5985167"/>
            <a:ext cx="4240953" cy="345330"/>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2133" b="1" i="0" u="none" strike="noStrike" cap="none">
                <a:solidFill>
                  <a:schemeClr val="dk1"/>
                </a:solidFill>
                <a:latin typeface="Arial"/>
                <a:ea typeface="Arial"/>
                <a:cs typeface="Arial"/>
                <a:sym typeface="Arial"/>
              </a:rPr>
              <a:t>gartner.com/SmarterWithGartner</a:t>
            </a:r>
            <a:endParaRPr sz="2133"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C623AA82-7896-F101-4DFD-1629BD3673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title"/>
          </p:nvPr>
        </p:nvSpPr>
        <p:spPr>
          <a:xfrm>
            <a:off x="687950" y="1253189"/>
            <a:ext cx="8273170" cy="701047"/>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The problem with scaling AI</a:t>
            </a:r>
            <a:endParaRPr/>
          </a:p>
        </p:txBody>
      </p:sp>
      <p:sp>
        <p:nvSpPr>
          <p:cNvPr id="142" name="Google Shape;142;p5"/>
          <p:cNvSpPr txBox="1"/>
          <p:nvPr/>
        </p:nvSpPr>
        <p:spPr>
          <a:xfrm>
            <a:off x="1170724" y="2292790"/>
            <a:ext cx="9152467" cy="913306"/>
          </a:xfrm>
          <a:prstGeom prst="rect">
            <a:avLst/>
          </a:prstGeom>
          <a:noFill/>
          <a:ln>
            <a:noFill/>
          </a:ln>
        </p:spPr>
        <p:txBody>
          <a:bodyPr spcFirstLastPara="1" wrap="square" lIns="0" tIns="16925" rIns="0" bIns="0" anchor="t" anchorCtr="0">
            <a:spAutoFit/>
          </a:bodyPr>
          <a:lstStyle/>
          <a:p>
            <a:pPr marL="453802" marR="6773" lvl="0" indent="-437716" algn="l" rtl="0">
              <a:lnSpc>
                <a:spcPct val="114999"/>
              </a:lnSpc>
              <a:spcBef>
                <a:spcPts val="0"/>
              </a:spcBef>
              <a:spcAft>
                <a:spcPts val="0"/>
              </a:spcAft>
              <a:buClr>
                <a:srgbClr val="595959"/>
              </a:buClr>
              <a:buSzPts val="1734"/>
              <a:buFont typeface="Arial"/>
              <a:buChar char="●"/>
            </a:pPr>
            <a:r>
              <a:rPr lang="en-US" sz="2667" b="0" i="0" u="none" strike="noStrike" cap="none">
                <a:solidFill>
                  <a:srgbClr val="595959"/>
                </a:solidFill>
                <a:latin typeface="Tahoma"/>
                <a:ea typeface="Tahoma"/>
                <a:cs typeface="Tahoma"/>
                <a:sym typeface="Tahoma"/>
              </a:rPr>
              <a:t>ML code is only a fraction of a production-ready ML project  code</a:t>
            </a:r>
            <a:endParaRPr sz="2667" b="0" i="0" u="none" strike="noStrike" cap="none">
              <a:solidFill>
                <a:schemeClr val="dk1"/>
              </a:solidFill>
              <a:latin typeface="Tahoma"/>
              <a:ea typeface="Tahoma"/>
              <a:cs typeface="Tahoma"/>
              <a:sym typeface="Tahoma"/>
            </a:endParaRPr>
          </a:p>
        </p:txBody>
      </p:sp>
      <p:pic>
        <p:nvPicPr>
          <p:cNvPr id="143" name="Google Shape;143;p5"/>
          <p:cNvPicPr preferRelativeResize="0"/>
          <p:nvPr/>
        </p:nvPicPr>
        <p:blipFill rotWithShape="1">
          <a:blip r:embed="rId3">
            <a:alphaModFix/>
          </a:blip>
          <a:srcRect/>
          <a:stretch/>
        </p:blipFill>
        <p:spPr>
          <a:xfrm>
            <a:off x="4297680" y="3206096"/>
            <a:ext cx="5740762" cy="2320470"/>
          </a:xfrm>
          <a:prstGeom prst="rect">
            <a:avLst/>
          </a:prstGeom>
          <a:noFill/>
          <a:ln>
            <a:noFill/>
          </a:ln>
        </p:spPr>
      </p:pic>
      <p:sp>
        <p:nvSpPr>
          <p:cNvPr id="2" name="Slide Number Placeholder 1">
            <a:extLst>
              <a:ext uri="{FF2B5EF4-FFF2-40B4-BE49-F238E27FC236}">
                <a16:creationId xmlns:a16="http://schemas.microsoft.com/office/drawing/2014/main" id="{F76EA665-E6BB-1DAD-0040-E33BB3FABF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6"/>
          <p:cNvPicPr preferRelativeResize="0"/>
          <p:nvPr/>
        </p:nvPicPr>
        <p:blipFill rotWithShape="1">
          <a:blip r:embed="rId3">
            <a:alphaModFix/>
          </a:blip>
          <a:srcRect/>
          <a:stretch/>
        </p:blipFill>
        <p:spPr>
          <a:xfrm>
            <a:off x="1264700" y="1511809"/>
            <a:ext cx="8343275" cy="3547871"/>
          </a:xfrm>
          <a:prstGeom prst="rect">
            <a:avLst/>
          </a:prstGeom>
          <a:noFill/>
          <a:ln>
            <a:noFill/>
          </a:ln>
        </p:spPr>
      </p:pic>
      <p:sp>
        <p:nvSpPr>
          <p:cNvPr id="149" name="Google Shape;149;p6"/>
          <p:cNvSpPr txBox="1"/>
          <p:nvPr/>
        </p:nvSpPr>
        <p:spPr>
          <a:xfrm>
            <a:off x="563660" y="5441529"/>
            <a:ext cx="8952653" cy="509541"/>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3200" b="0" i="0" u="none" strike="noStrike" cap="none">
                <a:solidFill>
                  <a:srgbClr val="595959"/>
                </a:solidFill>
                <a:latin typeface="Tahoma"/>
                <a:ea typeface="Tahoma"/>
                <a:cs typeface="Tahoma"/>
                <a:sym typeface="Tahoma"/>
              </a:rPr>
              <a:t>Hidden technical debt in machine learning systems</a:t>
            </a:r>
            <a:endParaRPr sz="3200"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4EFF4FCD-5041-0031-0A30-8ACED15855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234816" y="1303887"/>
            <a:ext cx="7095913"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Machine learning operations (MLOps)</a:t>
            </a:r>
            <a:endParaRPr/>
          </a:p>
        </p:txBody>
      </p:sp>
      <p:sp>
        <p:nvSpPr>
          <p:cNvPr id="155" name="Google Shape;155;p7"/>
          <p:cNvSpPr txBox="1"/>
          <p:nvPr/>
        </p:nvSpPr>
        <p:spPr>
          <a:xfrm>
            <a:off x="158788" y="3298046"/>
            <a:ext cx="5144347" cy="1896203"/>
          </a:xfrm>
          <a:prstGeom prst="rect">
            <a:avLst/>
          </a:prstGeom>
          <a:noFill/>
          <a:ln>
            <a:noFill/>
          </a:ln>
        </p:spPr>
        <p:txBody>
          <a:bodyPr spcFirstLastPara="1" wrap="square" lIns="0" tIns="16925" rIns="0" bIns="0" anchor="t" anchorCtr="0">
            <a:spAutoFit/>
          </a:bodyPr>
          <a:lstStyle/>
          <a:p>
            <a:pPr marL="453802" marR="66885"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ML Engineering culture and  practice that aims at unifying ML  System development (Dev) and ML  system operations (Ops)</a:t>
            </a:r>
            <a:endParaRPr sz="1800" b="0" i="0" u="none" strike="noStrike" cap="none">
              <a:solidFill>
                <a:schemeClr val="dk1"/>
              </a:solidFill>
              <a:latin typeface="Tahoma"/>
              <a:ea typeface="Tahoma"/>
              <a:cs typeface="Tahoma"/>
              <a:sym typeface="Tahoma"/>
            </a:endParaRPr>
          </a:p>
          <a:p>
            <a:pPr marL="453802" marR="6773"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Tools and principles to support  workﬂow standardization and  automation through the ML system  lifecycle (e.g. with pipelines)</a:t>
            </a:r>
            <a:endParaRPr sz="1800" b="0" i="0" u="none" strike="noStrike" cap="none">
              <a:solidFill>
                <a:schemeClr val="dk1"/>
              </a:solidFill>
              <a:latin typeface="Tahoma"/>
              <a:ea typeface="Tahoma"/>
              <a:cs typeface="Tahoma"/>
              <a:sym typeface="Tahoma"/>
            </a:endParaRPr>
          </a:p>
        </p:txBody>
      </p:sp>
      <p:pic>
        <p:nvPicPr>
          <p:cNvPr id="156" name="Google Shape;156;p7"/>
          <p:cNvPicPr preferRelativeResize="0"/>
          <p:nvPr/>
        </p:nvPicPr>
        <p:blipFill rotWithShape="1">
          <a:blip r:embed="rId3">
            <a:alphaModFix/>
          </a:blip>
          <a:srcRect/>
          <a:stretch/>
        </p:blipFill>
        <p:spPr>
          <a:xfrm>
            <a:off x="5480987" y="2838424"/>
            <a:ext cx="6552225" cy="3016225"/>
          </a:xfrm>
          <a:prstGeom prst="rect">
            <a:avLst/>
          </a:prstGeom>
          <a:noFill/>
          <a:ln>
            <a:noFill/>
          </a:ln>
        </p:spPr>
      </p:pic>
      <p:sp>
        <p:nvSpPr>
          <p:cNvPr id="2" name="Slide Number Placeholder 1">
            <a:extLst>
              <a:ext uri="{FF2B5EF4-FFF2-40B4-BE49-F238E27FC236}">
                <a16:creationId xmlns:a16="http://schemas.microsoft.com/office/drawing/2014/main" id="{BFCD146E-AD3F-BCA2-2426-DE7B75C844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txBox="1">
            <a:spLocks noGrp="1"/>
          </p:cNvSpPr>
          <p:nvPr>
            <p:ph type="title"/>
          </p:nvPr>
        </p:nvSpPr>
        <p:spPr>
          <a:xfrm>
            <a:off x="266024" y="1181856"/>
            <a:ext cx="5033433"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Machine learning lifecycle</a:t>
            </a:r>
            <a:endParaRPr/>
          </a:p>
        </p:txBody>
      </p:sp>
      <p:sp>
        <p:nvSpPr>
          <p:cNvPr id="162" name="Google Shape;162;p8"/>
          <p:cNvSpPr txBox="1"/>
          <p:nvPr/>
        </p:nvSpPr>
        <p:spPr>
          <a:xfrm>
            <a:off x="387216" y="3429000"/>
            <a:ext cx="4410287" cy="1282402"/>
          </a:xfrm>
          <a:prstGeom prst="rect">
            <a:avLst/>
          </a:prstGeom>
          <a:noFill/>
          <a:ln>
            <a:noFill/>
          </a:ln>
        </p:spPr>
        <p:txBody>
          <a:bodyPr spcFirstLastPara="1" wrap="square" lIns="0" tIns="71100" rIns="0" bIns="0" anchor="t" anchorCtr="0">
            <a:spAutoFit/>
          </a:bodyPr>
          <a:lstStyle/>
          <a:p>
            <a:pPr marL="16933" marR="0" lvl="0" indent="0" algn="l" rtl="0">
              <a:spcBef>
                <a:spcPts val="0"/>
              </a:spcBef>
              <a:spcAft>
                <a:spcPts val="0"/>
              </a:spcAft>
              <a:buNone/>
            </a:pPr>
            <a:r>
              <a:rPr lang="en-US" sz="2400" b="1" i="0" u="none" strike="noStrike" cap="none">
                <a:solidFill>
                  <a:srgbClr val="1A1A1A"/>
                </a:solidFill>
                <a:latin typeface="Tahoma"/>
                <a:ea typeface="Tahoma"/>
                <a:cs typeface="Tahoma"/>
                <a:sym typeface="Tahoma"/>
              </a:rPr>
              <a:t>Lifecycle</a:t>
            </a:r>
            <a:endParaRPr sz="2400" b="0" i="0" u="none" strike="noStrike" cap="none">
              <a:solidFill>
                <a:schemeClr val="dk1"/>
              </a:solidFill>
              <a:latin typeface="Tahoma"/>
              <a:ea typeface="Tahoma"/>
              <a:cs typeface="Tahoma"/>
              <a:sym typeface="Tahoma"/>
            </a:endParaRPr>
          </a:p>
          <a:p>
            <a:pPr marL="16933" marR="0" lvl="0" indent="0" algn="l" rtl="0">
              <a:spcBef>
                <a:spcPts val="433"/>
              </a:spcBef>
              <a:spcAft>
                <a:spcPts val="0"/>
              </a:spcAft>
              <a:buNone/>
            </a:pPr>
            <a:r>
              <a:rPr lang="en-US" sz="2400" b="0" i="0" u="none" strike="noStrike" cap="none">
                <a:solidFill>
                  <a:srgbClr val="595959"/>
                </a:solidFill>
                <a:latin typeface="Tahoma"/>
                <a:ea typeface="Tahoma"/>
                <a:cs typeface="Tahoma"/>
                <a:sym typeface="Tahoma"/>
              </a:rPr>
              <a:t>of an ML System</a:t>
            </a:r>
            <a:endParaRPr sz="2400" b="0" i="0" u="none" strike="noStrike" cap="none">
              <a:solidFill>
                <a:schemeClr val="dk1"/>
              </a:solidFill>
              <a:latin typeface="Tahoma"/>
              <a:ea typeface="Tahoma"/>
              <a:cs typeface="Tahoma"/>
              <a:sym typeface="Tahoma"/>
            </a:endParaRPr>
          </a:p>
          <a:p>
            <a:pPr marL="16933" marR="0" lvl="0" indent="0" algn="l" rtl="0">
              <a:spcBef>
                <a:spcPts val="433"/>
              </a:spcBef>
              <a:spcAft>
                <a:spcPts val="0"/>
              </a:spcAft>
              <a:buNone/>
            </a:pPr>
            <a:r>
              <a:rPr lang="en-US" sz="2400" b="0" i="0" u="none" strike="noStrike" cap="none">
                <a:solidFill>
                  <a:srgbClr val="595959"/>
                </a:solidFill>
                <a:latin typeface="Tahoma"/>
                <a:ea typeface="Tahoma"/>
                <a:cs typeface="Tahoma"/>
                <a:sym typeface="Tahoma"/>
              </a:rPr>
              <a:t>Plan | Data | Model | Deployment</a:t>
            </a:r>
            <a:endParaRPr sz="2400" b="0" i="0" u="none" strike="noStrike" cap="none">
              <a:solidFill>
                <a:schemeClr val="dk1"/>
              </a:solidFill>
              <a:latin typeface="Tahoma"/>
              <a:ea typeface="Tahoma"/>
              <a:cs typeface="Tahoma"/>
              <a:sym typeface="Tahoma"/>
            </a:endParaRPr>
          </a:p>
        </p:txBody>
      </p:sp>
      <p:pic>
        <p:nvPicPr>
          <p:cNvPr id="163" name="Google Shape;163;p8"/>
          <p:cNvPicPr preferRelativeResize="0"/>
          <p:nvPr/>
        </p:nvPicPr>
        <p:blipFill rotWithShape="1">
          <a:blip r:embed="rId3">
            <a:alphaModFix/>
          </a:blip>
          <a:srcRect/>
          <a:stretch/>
        </p:blipFill>
        <p:spPr>
          <a:xfrm>
            <a:off x="5299457" y="1520741"/>
            <a:ext cx="6552751" cy="4155403"/>
          </a:xfrm>
          <a:prstGeom prst="rect">
            <a:avLst/>
          </a:prstGeom>
          <a:noFill/>
          <a:ln>
            <a:noFill/>
          </a:ln>
        </p:spPr>
      </p:pic>
      <p:sp>
        <p:nvSpPr>
          <p:cNvPr id="2" name="Slide Number Placeholder 1">
            <a:extLst>
              <a:ext uri="{FF2B5EF4-FFF2-40B4-BE49-F238E27FC236}">
                <a16:creationId xmlns:a16="http://schemas.microsoft.com/office/drawing/2014/main" id="{00F1D07C-7E02-096F-C6A7-10A129A4C6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9"/>
          <p:cNvPicPr preferRelativeResize="0"/>
          <p:nvPr/>
        </p:nvPicPr>
        <p:blipFill rotWithShape="1">
          <a:blip r:embed="rId3">
            <a:alphaModFix/>
          </a:blip>
          <a:srcRect/>
          <a:stretch/>
        </p:blipFill>
        <p:spPr>
          <a:xfrm>
            <a:off x="3413516" y="871603"/>
            <a:ext cx="7685488" cy="5489635"/>
          </a:xfrm>
          <a:prstGeom prst="rect">
            <a:avLst/>
          </a:prstGeom>
          <a:noFill/>
          <a:ln>
            <a:noFill/>
          </a:ln>
        </p:spPr>
      </p:pic>
      <p:sp>
        <p:nvSpPr>
          <p:cNvPr id="169" name="Google Shape;169;p9"/>
          <p:cNvSpPr txBox="1"/>
          <p:nvPr/>
        </p:nvSpPr>
        <p:spPr>
          <a:xfrm>
            <a:off x="378747" y="1554480"/>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222AFB23-1E75-31A8-4ECC-6EDB8DCFDE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0"/>
          <p:cNvPicPr preferRelativeResize="0"/>
          <p:nvPr/>
        </p:nvPicPr>
        <p:blipFill rotWithShape="1">
          <a:blip r:embed="rId3">
            <a:alphaModFix/>
          </a:blip>
          <a:srcRect/>
          <a:stretch/>
        </p:blipFill>
        <p:spPr>
          <a:xfrm>
            <a:off x="3069945" y="714755"/>
            <a:ext cx="8056423" cy="5754588"/>
          </a:xfrm>
          <a:prstGeom prst="rect">
            <a:avLst/>
          </a:prstGeom>
          <a:noFill/>
          <a:ln>
            <a:noFill/>
          </a:ln>
        </p:spPr>
      </p:pic>
      <p:sp>
        <p:nvSpPr>
          <p:cNvPr id="175" name="Google Shape;175;p10"/>
          <p:cNvSpPr txBox="1"/>
          <p:nvPr/>
        </p:nvSpPr>
        <p:spPr>
          <a:xfrm>
            <a:off x="378747" y="2418080"/>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3E01ED09-4006-B9E7-5BF0-2AF4351087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1"/>
          <p:cNvPicPr preferRelativeResize="0"/>
          <p:nvPr/>
        </p:nvPicPr>
        <p:blipFill rotWithShape="1">
          <a:blip r:embed="rId3">
            <a:alphaModFix/>
          </a:blip>
          <a:srcRect/>
          <a:stretch/>
        </p:blipFill>
        <p:spPr>
          <a:xfrm>
            <a:off x="2942143" y="796415"/>
            <a:ext cx="8280701" cy="5705103"/>
          </a:xfrm>
          <a:prstGeom prst="rect">
            <a:avLst/>
          </a:prstGeom>
          <a:noFill/>
          <a:ln>
            <a:noFill/>
          </a:ln>
        </p:spPr>
      </p:pic>
      <p:sp>
        <p:nvSpPr>
          <p:cNvPr id="181" name="Google Shape;181;p11"/>
          <p:cNvSpPr txBox="1"/>
          <p:nvPr/>
        </p:nvSpPr>
        <p:spPr>
          <a:xfrm>
            <a:off x="429547" y="2611120"/>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54C96C34-4CA9-4B07-F8D2-3AA1F32EA8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12"/>
          <p:cNvPicPr preferRelativeResize="0"/>
          <p:nvPr/>
        </p:nvPicPr>
        <p:blipFill rotWithShape="1">
          <a:blip r:embed="rId3">
            <a:alphaModFix/>
          </a:blip>
          <a:srcRect/>
          <a:stretch/>
        </p:blipFill>
        <p:spPr>
          <a:xfrm>
            <a:off x="2698496" y="599944"/>
            <a:ext cx="7754112" cy="5881089"/>
          </a:xfrm>
          <a:prstGeom prst="rect">
            <a:avLst/>
          </a:prstGeom>
          <a:noFill/>
          <a:ln>
            <a:noFill/>
          </a:ln>
        </p:spPr>
      </p:pic>
      <p:sp>
        <p:nvSpPr>
          <p:cNvPr id="187" name="Google Shape;187;p12"/>
          <p:cNvSpPr txBox="1"/>
          <p:nvPr/>
        </p:nvSpPr>
        <p:spPr>
          <a:xfrm>
            <a:off x="293963" y="2684832"/>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20EFB93E-1E91-E364-28A8-FD64B7A2B0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13"/>
          <p:cNvPicPr preferRelativeResize="0"/>
          <p:nvPr/>
        </p:nvPicPr>
        <p:blipFill rotWithShape="1">
          <a:blip r:embed="rId3">
            <a:alphaModFix/>
          </a:blip>
          <a:srcRect/>
          <a:stretch/>
        </p:blipFill>
        <p:spPr>
          <a:xfrm>
            <a:off x="4974337" y="1078414"/>
            <a:ext cx="7035412" cy="5313703"/>
          </a:xfrm>
          <a:prstGeom prst="rect">
            <a:avLst/>
          </a:prstGeom>
          <a:noFill/>
          <a:ln>
            <a:noFill/>
          </a:ln>
        </p:spPr>
      </p:pic>
      <p:sp>
        <p:nvSpPr>
          <p:cNvPr id="193" name="Google Shape;193;p13"/>
          <p:cNvSpPr txBox="1"/>
          <p:nvPr/>
        </p:nvSpPr>
        <p:spPr>
          <a:xfrm>
            <a:off x="355040" y="3504352"/>
            <a:ext cx="4612639" cy="2247902"/>
          </a:xfrm>
          <a:prstGeom prst="rect">
            <a:avLst/>
          </a:prstGeom>
          <a:noFill/>
          <a:ln>
            <a:noFill/>
          </a:ln>
        </p:spPr>
        <p:txBody>
          <a:bodyPr spcFirstLastPara="1" wrap="square" lIns="0" tIns="16925" rIns="0" bIns="0" anchor="t" anchorCtr="0">
            <a:spAutoFit/>
          </a:bodyPr>
          <a:lstStyle/>
          <a:p>
            <a:pPr marL="16933" marR="304792" lvl="0" indent="0" algn="l" rtl="0">
              <a:lnSpc>
                <a:spcPct val="114999"/>
              </a:lnSpc>
              <a:spcBef>
                <a:spcPts val="0"/>
              </a:spcBef>
              <a:spcAft>
                <a:spcPts val="0"/>
              </a:spcAft>
              <a:buNone/>
            </a:pPr>
            <a:r>
              <a:rPr lang="en-US" sz="2133" b="1" i="0" u="none" strike="noStrike" cap="none">
                <a:solidFill>
                  <a:srgbClr val="1A1A1A"/>
                </a:solidFill>
                <a:latin typeface="Tahoma"/>
                <a:ea typeface="Tahoma"/>
                <a:cs typeface="Tahoma"/>
                <a:sym typeface="Tahoma"/>
              </a:rPr>
              <a:t>Common issues which lead to a PoC  to production gap</a:t>
            </a:r>
            <a:endParaRPr sz="2133" b="0" i="0" u="none" strike="noStrike" cap="none">
              <a:solidFill>
                <a:schemeClr val="dk1"/>
              </a:solidFill>
              <a:latin typeface="Tahoma"/>
              <a:ea typeface="Tahoma"/>
              <a:cs typeface="Tahoma"/>
              <a:sym typeface="Tahoma"/>
            </a:endParaRPr>
          </a:p>
          <a:p>
            <a:pPr marL="232827" marR="0" lvl="0" indent="-215894" algn="l" rtl="0">
              <a:spcBef>
                <a:spcPts val="380"/>
              </a:spcBef>
              <a:spcAft>
                <a:spcPts val="0"/>
              </a:spcAft>
              <a:buClr>
                <a:srgbClr val="595959"/>
              </a:buClr>
              <a:buSzPts val="2133"/>
              <a:buFont typeface="Arial"/>
              <a:buChar char="●"/>
            </a:pPr>
            <a:r>
              <a:rPr lang="en-US" sz="2133" b="0" i="0" u="none" strike="noStrike" cap="none">
                <a:solidFill>
                  <a:srgbClr val="595959"/>
                </a:solidFill>
                <a:latin typeface="Tahoma"/>
                <a:ea typeface="Tahoma"/>
                <a:cs typeface="Tahoma"/>
                <a:sym typeface="Tahoma"/>
              </a:rPr>
              <a:t>Lack of reuse and duplication</a:t>
            </a:r>
            <a:endParaRPr sz="2133" b="0" i="0" u="none" strike="noStrike" cap="none">
              <a:solidFill>
                <a:schemeClr val="dk1"/>
              </a:solidFill>
              <a:latin typeface="Tahoma"/>
              <a:ea typeface="Tahoma"/>
              <a:cs typeface="Tahoma"/>
              <a:sym typeface="Tahoma"/>
            </a:endParaRPr>
          </a:p>
          <a:p>
            <a:pPr marL="232827" marR="0" lvl="0" indent="-215894" algn="l" rtl="0">
              <a:spcBef>
                <a:spcPts val="387"/>
              </a:spcBef>
              <a:spcAft>
                <a:spcPts val="0"/>
              </a:spcAft>
              <a:buClr>
                <a:srgbClr val="595959"/>
              </a:buClr>
              <a:buSzPts val="2133"/>
              <a:buFont typeface="Arial"/>
              <a:buChar char="●"/>
            </a:pPr>
            <a:r>
              <a:rPr lang="en-US" sz="2133" b="0" i="0" u="none" strike="noStrike" cap="none">
                <a:solidFill>
                  <a:srgbClr val="595959"/>
                </a:solidFill>
                <a:latin typeface="Tahoma"/>
                <a:ea typeface="Tahoma"/>
                <a:cs typeface="Tahoma"/>
                <a:sym typeface="Tahoma"/>
              </a:rPr>
              <a:t>Inconsistency (data, code, models)</a:t>
            </a:r>
            <a:endParaRPr sz="2133" b="0" i="0" u="none" strike="noStrike" cap="none">
              <a:solidFill>
                <a:schemeClr val="dk1"/>
              </a:solidFill>
              <a:latin typeface="Tahoma"/>
              <a:ea typeface="Tahoma"/>
              <a:cs typeface="Tahoma"/>
              <a:sym typeface="Tahoma"/>
            </a:endParaRPr>
          </a:p>
          <a:p>
            <a:pPr marL="16933" marR="6773" lvl="0" indent="-135445" algn="l" rtl="0">
              <a:lnSpc>
                <a:spcPct val="114999"/>
              </a:lnSpc>
              <a:spcBef>
                <a:spcPts val="0"/>
              </a:spcBef>
              <a:spcAft>
                <a:spcPts val="0"/>
              </a:spcAft>
              <a:buClr>
                <a:srgbClr val="595959"/>
              </a:buClr>
              <a:buSzPts val="2133"/>
              <a:buFont typeface="Arial"/>
              <a:buChar char="●"/>
            </a:pPr>
            <a:r>
              <a:rPr lang="en-US" sz="2133" b="0" i="0" u="none" strike="noStrike" cap="none">
                <a:solidFill>
                  <a:srgbClr val="595959"/>
                </a:solidFill>
                <a:latin typeface="Tahoma"/>
                <a:ea typeface="Tahoma"/>
                <a:cs typeface="Tahoma"/>
                <a:sym typeface="Tahoma"/>
              </a:rPr>
              <a:t>Manual and slow transition from PoC  to production</a:t>
            </a:r>
            <a:endParaRPr sz="2133" b="0" i="0" u="none" strike="noStrike" cap="none">
              <a:solidFill>
                <a:schemeClr val="dk1"/>
              </a:solidFill>
              <a:latin typeface="Tahoma"/>
              <a:ea typeface="Tahoma"/>
              <a:cs typeface="Tahoma"/>
              <a:sym typeface="Tahoma"/>
            </a:endParaRPr>
          </a:p>
        </p:txBody>
      </p:sp>
      <p:sp>
        <p:nvSpPr>
          <p:cNvPr id="194" name="Google Shape;194;p13"/>
          <p:cNvSpPr txBox="1"/>
          <p:nvPr/>
        </p:nvSpPr>
        <p:spPr>
          <a:xfrm>
            <a:off x="531147" y="1105746"/>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 name="Slide Number Placeholder 1">
            <a:extLst>
              <a:ext uri="{FF2B5EF4-FFF2-40B4-BE49-F238E27FC236}">
                <a16:creationId xmlns:a16="http://schemas.microsoft.com/office/drawing/2014/main" id="{993BAD02-43FC-3563-19B9-6985B6D77C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4"/>
          <p:cNvPicPr preferRelativeResize="0"/>
          <p:nvPr/>
        </p:nvPicPr>
        <p:blipFill rotWithShape="1">
          <a:blip r:embed="rId3">
            <a:alphaModFix/>
          </a:blip>
          <a:srcRect/>
          <a:stretch/>
        </p:blipFill>
        <p:spPr>
          <a:xfrm>
            <a:off x="4917666" y="1152522"/>
            <a:ext cx="6977951" cy="4074753"/>
          </a:xfrm>
          <a:prstGeom prst="rect">
            <a:avLst/>
          </a:prstGeom>
          <a:noFill/>
          <a:ln>
            <a:noFill/>
          </a:ln>
        </p:spPr>
      </p:pic>
      <p:pic>
        <p:nvPicPr>
          <p:cNvPr id="200" name="Google Shape;200;p14"/>
          <p:cNvPicPr preferRelativeResize="0"/>
          <p:nvPr/>
        </p:nvPicPr>
        <p:blipFill rotWithShape="1">
          <a:blip r:embed="rId4">
            <a:alphaModFix/>
          </a:blip>
          <a:srcRect/>
          <a:stretch/>
        </p:blipFill>
        <p:spPr>
          <a:xfrm>
            <a:off x="4744535" y="5425017"/>
            <a:ext cx="7378699" cy="1130299"/>
          </a:xfrm>
          <a:prstGeom prst="rect">
            <a:avLst/>
          </a:prstGeom>
          <a:noFill/>
          <a:ln>
            <a:noFill/>
          </a:ln>
        </p:spPr>
      </p:pic>
      <p:sp>
        <p:nvSpPr>
          <p:cNvPr id="201" name="Google Shape;201;p14"/>
          <p:cNvSpPr txBox="1"/>
          <p:nvPr/>
        </p:nvSpPr>
        <p:spPr>
          <a:xfrm>
            <a:off x="764827" y="2164080"/>
            <a:ext cx="2404533" cy="1488335"/>
          </a:xfrm>
          <a:prstGeom prst="rect">
            <a:avLst/>
          </a:prstGeom>
          <a:noFill/>
          <a:ln>
            <a:noFill/>
          </a:ln>
        </p:spPr>
        <p:txBody>
          <a:bodyPr spcFirstLastPara="1" wrap="square" lIns="0" tIns="65175" rIns="0" bIns="0" anchor="t" anchorCtr="0">
            <a:spAutoFit/>
          </a:bodyPr>
          <a:lstStyle/>
          <a:p>
            <a:pPr marL="16933" marR="0" lvl="0" indent="0" algn="l" rtl="0">
              <a:spcBef>
                <a:spcPts val="0"/>
              </a:spcBef>
              <a:spcAft>
                <a:spcPts val="0"/>
              </a:spcAft>
              <a:buNone/>
            </a:pPr>
            <a:r>
              <a:rPr lang="en-US" sz="2133" b="1" i="0" u="none" strike="noStrike" cap="none">
                <a:solidFill>
                  <a:srgbClr val="1A1A1A"/>
                </a:solidFill>
                <a:latin typeface="Tahoma"/>
                <a:ea typeface="Tahoma"/>
                <a:cs typeface="Tahoma"/>
                <a:sym typeface="Tahoma"/>
              </a:rPr>
              <a:t>Lifecycle</a:t>
            </a:r>
            <a:endParaRPr sz="2133" b="0" i="0" u="none" strike="noStrike" cap="none">
              <a:solidFill>
                <a:schemeClr val="dk1"/>
              </a:solidFill>
              <a:latin typeface="Tahoma"/>
              <a:ea typeface="Tahoma"/>
              <a:cs typeface="Tahoma"/>
              <a:sym typeface="Tahoma"/>
            </a:endParaRPr>
          </a:p>
          <a:p>
            <a:pPr marL="16933" marR="6773" lvl="0" indent="0" algn="l" rtl="0">
              <a:lnSpc>
                <a:spcPct val="114999"/>
              </a:lnSpc>
              <a:spcBef>
                <a:spcPts val="0"/>
              </a:spcBef>
              <a:spcAft>
                <a:spcPts val="0"/>
              </a:spcAft>
              <a:buNone/>
            </a:pPr>
            <a:r>
              <a:rPr lang="en-US" sz="2133" b="0" i="0" u="none" strike="noStrike" cap="none">
                <a:solidFill>
                  <a:srgbClr val="595959"/>
                </a:solidFill>
                <a:latin typeface="Tahoma"/>
                <a:ea typeface="Tahoma"/>
                <a:cs typeface="Tahoma"/>
                <a:sym typeface="Tahoma"/>
              </a:rPr>
              <a:t>of an ML System  Plan | Data | Model |  Deployment</a:t>
            </a:r>
            <a:endParaRPr sz="2133" b="0" i="0" u="none" strike="noStrike" cap="none">
              <a:solidFill>
                <a:schemeClr val="dk1"/>
              </a:solidFill>
              <a:latin typeface="Tahoma"/>
              <a:ea typeface="Tahoma"/>
              <a:cs typeface="Tahoma"/>
              <a:sym typeface="Tahoma"/>
            </a:endParaRPr>
          </a:p>
        </p:txBody>
      </p:sp>
      <p:sp>
        <p:nvSpPr>
          <p:cNvPr id="202" name="Google Shape;202;p14"/>
          <p:cNvSpPr txBox="1"/>
          <p:nvPr/>
        </p:nvSpPr>
        <p:spPr>
          <a:xfrm>
            <a:off x="373719" y="4932340"/>
            <a:ext cx="2637367" cy="345330"/>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2133" b="1" i="0" u="none" strike="noStrike" cap="none">
                <a:solidFill>
                  <a:schemeClr val="dk1"/>
                </a:solidFill>
                <a:latin typeface="Arial"/>
                <a:ea typeface="Arial"/>
                <a:cs typeface="Arial"/>
                <a:sym typeface="Arial"/>
              </a:rPr>
              <a:t>MLOps components</a:t>
            </a:r>
            <a:endParaRPr sz="2133"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CACDF5F5-AD0B-A3B9-7A9E-B47C24B519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08" name="Google Shape;208;p15"/>
          <p:cNvSpPr txBox="1"/>
          <p:nvPr/>
        </p:nvSpPr>
        <p:spPr>
          <a:xfrm>
            <a:off x="736600" y="1409065"/>
            <a:ext cx="10515600" cy="435133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Q&amp;A </a:t>
            </a:r>
            <a:endParaRPr/>
          </a:p>
          <a:p>
            <a:pPr marL="0" marR="0" lvl="0" indent="0" algn="ctr"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Questions and answers </a:t>
            </a: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2cbf3e4b21d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215" name="Google Shape;215;g2cbf3e4b21d_0_0"/>
          <p:cNvSpPr txBox="1"/>
          <p:nvPr/>
        </p:nvSpPr>
        <p:spPr>
          <a:xfrm>
            <a:off x="1096800" y="2528550"/>
            <a:ext cx="8041500" cy="244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t>An open platform for the machine learning lifecycle</a:t>
            </a:r>
            <a:endParaRPr sz="2100"/>
          </a:p>
          <a:p>
            <a:pPr marL="0" lvl="0" indent="0" algn="l" rtl="0">
              <a:spcBef>
                <a:spcPts val="0"/>
              </a:spcBef>
              <a:spcAft>
                <a:spcPts val="0"/>
              </a:spcAft>
              <a:buNone/>
            </a:pPr>
            <a:r>
              <a:rPr lang="en-US" sz="2100"/>
              <a:t>• Python Library; runs locally and on the cloud</a:t>
            </a:r>
            <a:endParaRPr sz="2100"/>
          </a:p>
          <a:p>
            <a:pPr marL="0" lvl="0" indent="0" algn="l" rtl="0">
              <a:spcBef>
                <a:spcPts val="0"/>
              </a:spcBef>
              <a:spcAft>
                <a:spcPts val="0"/>
              </a:spcAft>
              <a:buNone/>
            </a:pPr>
            <a:r>
              <a:rPr lang="en-US" sz="2100"/>
              <a:t>• Built-in UI for experiment visualization</a:t>
            </a:r>
            <a:endParaRPr sz="2100"/>
          </a:p>
          <a:p>
            <a:pPr marL="0" lvl="0" indent="0" algn="l" rtl="0">
              <a:spcBef>
                <a:spcPts val="0"/>
              </a:spcBef>
              <a:spcAft>
                <a:spcPts val="0"/>
              </a:spcAft>
              <a:buNone/>
            </a:pPr>
            <a:r>
              <a:rPr lang="en-US" sz="2100"/>
              <a:t>• Logging integrations for major frameworks: scikit-learn,</a:t>
            </a:r>
            <a:endParaRPr sz="2100"/>
          </a:p>
          <a:p>
            <a:pPr marL="0" lvl="0" indent="0" algn="l" rtl="0">
              <a:spcBef>
                <a:spcPts val="0"/>
              </a:spcBef>
              <a:spcAft>
                <a:spcPts val="0"/>
              </a:spcAft>
              <a:buNone/>
            </a:pPr>
            <a:r>
              <a:rPr lang="en-US" sz="2100"/>
              <a:t>PyTorch, TF,..</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https://github.com/mlflow</a:t>
            </a:r>
            <a:endParaRPr sz="2100"/>
          </a:p>
        </p:txBody>
      </p:sp>
      <p:pic>
        <p:nvPicPr>
          <p:cNvPr id="216" name="Google Shape;216;g2cbf3e4b21d_0_0"/>
          <p:cNvPicPr preferRelativeResize="0"/>
          <p:nvPr/>
        </p:nvPicPr>
        <p:blipFill>
          <a:blip r:embed="rId3">
            <a:alphaModFix/>
          </a:blip>
          <a:stretch>
            <a:fillRect/>
          </a:stretch>
        </p:blipFill>
        <p:spPr>
          <a:xfrm>
            <a:off x="7608451" y="1946050"/>
            <a:ext cx="3438225" cy="1324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2cbf3e4b21d_0_7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pic>
        <p:nvPicPr>
          <p:cNvPr id="223" name="Google Shape;223;g2cbf3e4b21d_0_77"/>
          <p:cNvPicPr preferRelativeResize="0"/>
          <p:nvPr/>
        </p:nvPicPr>
        <p:blipFill rotWithShape="1">
          <a:blip r:embed="rId3">
            <a:alphaModFix/>
          </a:blip>
          <a:srcRect l="2992" t="5030" r="2916" b="32403"/>
          <a:stretch/>
        </p:blipFill>
        <p:spPr>
          <a:xfrm>
            <a:off x="477400" y="1667150"/>
            <a:ext cx="11184648" cy="3737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2cbf3e4b21d_0_1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
        <p:nvSpPr>
          <p:cNvPr id="230" name="Google Shape;230;g2cbf3e4b21d_0_11"/>
          <p:cNvSpPr txBox="1"/>
          <p:nvPr/>
        </p:nvSpPr>
        <p:spPr>
          <a:xfrm>
            <a:off x="1189800" y="1832825"/>
            <a:ext cx="74208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Getting Started with MLflow</a:t>
            </a:r>
            <a:endParaRPr sz="2000" b="1"/>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sz="2000"/>
              <a:t>Install with pip install mlflow</a:t>
            </a:r>
            <a:endParaRPr sz="2000"/>
          </a:p>
          <a:p>
            <a:pPr marL="0" lvl="0" indent="0" algn="l" rtl="0">
              <a:spcBef>
                <a:spcPts val="0"/>
              </a:spcBef>
              <a:spcAft>
                <a:spcPts val="0"/>
              </a:spcAft>
              <a:buClr>
                <a:schemeClr val="dk1"/>
              </a:buClr>
              <a:buSzPts val="1100"/>
              <a:buFont typeface="Arial"/>
              <a:buNone/>
            </a:pPr>
            <a:r>
              <a:rPr lang="en-US" sz="2000"/>
              <a:t>• Find detailed tutorials at mlflow.org</a:t>
            </a:r>
            <a:endParaRPr sz="2000"/>
          </a:p>
          <a:p>
            <a:pPr marL="0" lvl="0" indent="0" algn="l" rtl="0">
              <a:spcBef>
                <a:spcPts val="0"/>
              </a:spcBef>
              <a:spcAft>
                <a:spcPts val="0"/>
              </a:spcAft>
              <a:buClr>
                <a:schemeClr val="dk1"/>
              </a:buClr>
              <a:buSzPts val="1100"/>
              <a:buFont typeface="Arial"/>
              <a:buNone/>
            </a:pPr>
            <a:r>
              <a:rPr lang="en-US" sz="2000"/>
              <a:t>• Repo: https://github.com/mlflow</a:t>
            </a:r>
            <a:endParaRPr sz="2000"/>
          </a:p>
          <a:p>
            <a:pPr marL="0" lvl="0" indent="0" algn="l" rtl="0">
              <a:spcBef>
                <a:spcPts val="0"/>
              </a:spcBef>
              <a:spcAft>
                <a:spcPts val="0"/>
              </a:spcAft>
              <a:buClr>
                <a:schemeClr val="dk1"/>
              </a:buClr>
              <a:buSzPts val="1100"/>
              <a:buFont typeface="Arial"/>
              <a:buNone/>
            </a:pPr>
            <a:r>
              <a:rPr lang="en-US" sz="2000"/>
              <a:t>• Main contributor and maintainer:</a:t>
            </a:r>
            <a:endParaRPr sz="2000"/>
          </a:p>
          <a:p>
            <a:pPr marL="0" lvl="0" indent="0" algn="l" rtl="0">
              <a:spcBef>
                <a:spcPts val="0"/>
              </a:spcBef>
              <a:spcAft>
                <a:spcPts val="0"/>
              </a:spcAft>
              <a:buClr>
                <a:schemeClr val="dk1"/>
              </a:buClr>
              <a:buSzPts val="1100"/>
              <a:buFont typeface="Arial"/>
              <a:buNone/>
            </a:pPr>
            <a:r>
              <a:rPr lang="en-US" sz="2000"/>
              <a:t>• Managed MLflow services offered by Databricks and Azure</a:t>
            </a:r>
            <a:endParaRPr sz="2000"/>
          </a:p>
          <a:p>
            <a:pPr marL="0" lvl="0" indent="0" algn="l" rtl="0">
              <a:spcBef>
                <a:spcPts val="0"/>
              </a:spcBef>
              <a:spcAft>
                <a:spcPts val="0"/>
              </a:spcAft>
              <a:buClr>
                <a:schemeClr val="dk1"/>
              </a:buClr>
              <a:buSzPts val="1100"/>
              <a:buFont typeface="Arial"/>
              <a:buNone/>
            </a:pPr>
            <a:r>
              <a:rPr lang="en-US" sz="2000"/>
              <a:t>ML </a:t>
            </a:r>
            <a:endParaRPr sz="2000"/>
          </a:p>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cbf3e4b21d_0_3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
        <p:nvSpPr>
          <p:cNvPr id="237" name="Google Shape;237;g2cbf3e4b21d_0_30"/>
          <p:cNvSpPr txBox="1"/>
          <p:nvPr/>
        </p:nvSpPr>
        <p:spPr>
          <a:xfrm>
            <a:off x="1702975" y="1982925"/>
            <a:ext cx="67425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Hyper Parameters: key-value inputs </a:t>
            </a:r>
            <a:endParaRPr sz="1800"/>
          </a:p>
          <a:p>
            <a:pPr marL="0" lvl="0" indent="0" algn="l" rtl="0">
              <a:spcBef>
                <a:spcPts val="0"/>
              </a:spcBef>
              <a:spcAft>
                <a:spcPts val="0"/>
              </a:spcAft>
              <a:buNone/>
            </a:pPr>
            <a:r>
              <a:rPr lang="en-US" sz="1800"/>
              <a:t>• Metrics: numeric values (i.e. perf metrics)</a:t>
            </a:r>
            <a:endParaRPr sz="1800"/>
          </a:p>
          <a:p>
            <a:pPr marL="0" lvl="0" indent="0" algn="l" rtl="0">
              <a:spcBef>
                <a:spcPts val="0"/>
              </a:spcBef>
              <a:spcAft>
                <a:spcPts val="0"/>
              </a:spcAft>
              <a:buNone/>
            </a:pPr>
            <a:r>
              <a:rPr lang="en-US" sz="1800"/>
              <a:t>• Artifacts: files, including data and models </a:t>
            </a:r>
            <a:endParaRPr sz="1800"/>
          </a:p>
          <a:p>
            <a:pPr marL="0" lvl="0" indent="0" algn="l" rtl="0">
              <a:spcBef>
                <a:spcPts val="0"/>
              </a:spcBef>
              <a:spcAft>
                <a:spcPts val="0"/>
              </a:spcAft>
              <a:buNone/>
            </a:pPr>
            <a:r>
              <a:rPr lang="en-US" sz="1800"/>
              <a:t>• Source: training code any additional information</a:t>
            </a:r>
            <a:endParaRPr sz="1800"/>
          </a:p>
        </p:txBody>
      </p:sp>
      <p:sp>
        <p:nvSpPr>
          <p:cNvPr id="238" name="Google Shape;238;g2cbf3e4b21d_0_30"/>
          <p:cNvSpPr txBox="1"/>
          <p:nvPr/>
        </p:nvSpPr>
        <p:spPr>
          <a:xfrm>
            <a:off x="1558650" y="851475"/>
            <a:ext cx="63963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a:t>MLflow Components</a:t>
            </a:r>
            <a:endParaRPr sz="2500"/>
          </a:p>
          <a:p>
            <a:pPr marL="0" lvl="0" indent="0" algn="l" rtl="0">
              <a:spcBef>
                <a:spcPts val="0"/>
              </a:spcBef>
              <a:spcAft>
                <a:spcPts val="0"/>
              </a:spcAft>
              <a:buNone/>
            </a:pPr>
            <a:r>
              <a:rPr lang="en-US" sz="2500"/>
              <a:t> Experiment tracking</a:t>
            </a:r>
            <a:endParaRPr sz="2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cbf3e4b21d_0_4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pic>
        <p:nvPicPr>
          <p:cNvPr id="245" name="Google Shape;245;g2cbf3e4b21d_0_42"/>
          <p:cNvPicPr preferRelativeResize="0"/>
          <p:nvPr/>
        </p:nvPicPr>
        <p:blipFill>
          <a:blip r:embed="rId3">
            <a:alphaModFix/>
          </a:blip>
          <a:stretch>
            <a:fillRect/>
          </a:stretch>
        </p:blipFill>
        <p:spPr>
          <a:xfrm>
            <a:off x="1552275" y="942975"/>
            <a:ext cx="9344025" cy="4972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2cbf3e4b21d_0_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
        <p:nvSpPr>
          <p:cNvPr id="252" name="Google Shape;252;g2cbf3e4b21d_0_23"/>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Tracking</a:t>
            </a:r>
            <a:endParaRPr sz="2800" b="1">
              <a:solidFill>
                <a:schemeClr val="dk1"/>
              </a:solidFill>
              <a:latin typeface="Calibri"/>
              <a:ea typeface="Calibri"/>
              <a:cs typeface="Calibri"/>
              <a:sym typeface="Calibri"/>
            </a:endParaRPr>
          </a:p>
        </p:txBody>
      </p:sp>
      <p:pic>
        <p:nvPicPr>
          <p:cNvPr id="253" name="Google Shape;253;g2cbf3e4b21d_0_23"/>
          <p:cNvPicPr preferRelativeResize="0"/>
          <p:nvPr/>
        </p:nvPicPr>
        <p:blipFill>
          <a:blip r:embed="rId3">
            <a:alphaModFix/>
          </a:blip>
          <a:stretch>
            <a:fillRect/>
          </a:stretch>
        </p:blipFill>
        <p:spPr>
          <a:xfrm>
            <a:off x="2730500" y="1509800"/>
            <a:ext cx="8212502" cy="50902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2cbf3e4b21d_0_5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60" name="Google Shape;260;g2cbf3e4b21d_0_53"/>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Tracking - UI</a:t>
            </a:r>
            <a:endParaRPr sz="2800" b="1">
              <a:solidFill>
                <a:schemeClr val="dk1"/>
              </a:solidFill>
              <a:latin typeface="Calibri"/>
              <a:ea typeface="Calibri"/>
              <a:cs typeface="Calibri"/>
              <a:sym typeface="Calibri"/>
            </a:endParaRPr>
          </a:p>
        </p:txBody>
      </p:sp>
      <p:pic>
        <p:nvPicPr>
          <p:cNvPr id="261" name="Google Shape;261;g2cbf3e4b21d_0_53"/>
          <p:cNvPicPr preferRelativeResize="0"/>
          <p:nvPr/>
        </p:nvPicPr>
        <p:blipFill>
          <a:blip r:embed="rId3">
            <a:alphaModFix/>
          </a:blip>
          <a:stretch>
            <a:fillRect/>
          </a:stretch>
        </p:blipFill>
        <p:spPr>
          <a:xfrm>
            <a:off x="2432625" y="1662200"/>
            <a:ext cx="8216765" cy="46941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2cbf3e4b21d_0_6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268" name="Google Shape;268;g2cbf3e4b21d_0_61"/>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Tracking - UI</a:t>
            </a:r>
            <a:endParaRPr sz="2800" b="1">
              <a:solidFill>
                <a:schemeClr val="dk1"/>
              </a:solidFill>
              <a:latin typeface="Calibri"/>
              <a:ea typeface="Calibri"/>
              <a:cs typeface="Calibri"/>
              <a:sym typeface="Calibri"/>
            </a:endParaRPr>
          </a:p>
        </p:txBody>
      </p:sp>
      <p:pic>
        <p:nvPicPr>
          <p:cNvPr id="269" name="Google Shape;269;g2cbf3e4b21d_0_61"/>
          <p:cNvPicPr preferRelativeResize="0"/>
          <p:nvPr/>
        </p:nvPicPr>
        <p:blipFill>
          <a:blip r:embed="rId3">
            <a:alphaModFix/>
          </a:blip>
          <a:stretch>
            <a:fillRect/>
          </a:stretch>
        </p:blipFill>
        <p:spPr>
          <a:xfrm>
            <a:off x="3529450" y="1357400"/>
            <a:ext cx="6940515" cy="5195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2cbf3e4b21d_0_6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76" name="Google Shape;276;g2cbf3e4b21d_0_69"/>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Tracking - UI</a:t>
            </a:r>
            <a:endParaRPr sz="2800" b="1">
              <a:solidFill>
                <a:schemeClr val="dk1"/>
              </a:solidFill>
              <a:latin typeface="Calibri"/>
              <a:ea typeface="Calibri"/>
              <a:cs typeface="Calibri"/>
              <a:sym typeface="Calibri"/>
            </a:endParaRPr>
          </a:p>
        </p:txBody>
      </p:sp>
      <p:pic>
        <p:nvPicPr>
          <p:cNvPr id="277" name="Google Shape;277;g2cbf3e4b21d_0_69"/>
          <p:cNvPicPr preferRelativeResize="0"/>
          <p:nvPr/>
        </p:nvPicPr>
        <p:blipFill>
          <a:blip r:embed="rId3">
            <a:alphaModFix/>
          </a:blip>
          <a:stretch>
            <a:fillRect/>
          </a:stretch>
        </p:blipFill>
        <p:spPr>
          <a:xfrm>
            <a:off x="1417175" y="1509800"/>
            <a:ext cx="9529832" cy="4694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cbf3e4b21d_0_8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284" name="Google Shape;284;g2cbf3e4b21d_0_83"/>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Projects</a:t>
            </a:r>
            <a:endParaRPr sz="2800" b="1">
              <a:solidFill>
                <a:schemeClr val="dk1"/>
              </a:solidFill>
              <a:latin typeface="Calibri"/>
              <a:ea typeface="Calibri"/>
              <a:cs typeface="Calibri"/>
              <a:sym typeface="Calibri"/>
            </a:endParaRPr>
          </a:p>
        </p:txBody>
      </p:sp>
      <p:sp>
        <p:nvSpPr>
          <p:cNvPr id="285" name="Google Shape;285;g2cbf3e4b21d_0_83"/>
          <p:cNvSpPr txBox="1"/>
          <p:nvPr/>
        </p:nvSpPr>
        <p:spPr>
          <a:xfrm>
            <a:off x="1832850" y="1919425"/>
            <a:ext cx="97155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a format for packaging data science code in a reusable and reproducible way, based primarily on conventions. </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 In addition, the Projects component includes an API and command-line tools for running projects, making it possible to chain together projects into workflows.</a:t>
            </a:r>
            <a:endParaRPr sz="1800"/>
          </a:p>
        </p:txBody>
      </p:sp>
      <p:sp>
        <p:nvSpPr>
          <p:cNvPr id="286" name="Google Shape;286;g2cbf3e4b21d_0_83"/>
          <p:cNvSpPr txBox="1"/>
          <p:nvPr/>
        </p:nvSpPr>
        <p:spPr>
          <a:xfrm>
            <a:off x="6710775" y="3656775"/>
            <a:ext cx="4462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https://www.mlflow.org/docs/latest/projects.html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2cbf3e4b21d_0_9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pic>
        <p:nvPicPr>
          <p:cNvPr id="293" name="Google Shape;293;g2cbf3e4b21d_0_96"/>
          <p:cNvPicPr preferRelativeResize="0"/>
          <p:nvPr/>
        </p:nvPicPr>
        <p:blipFill>
          <a:blip r:embed="rId3">
            <a:alphaModFix/>
          </a:blip>
          <a:stretch>
            <a:fillRect/>
          </a:stretch>
        </p:blipFill>
        <p:spPr>
          <a:xfrm>
            <a:off x="2189025" y="1541200"/>
            <a:ext cx="9164774" cy="3892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2cbf3e4b21d_0_10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300" name="Google Shape;300;g2cbf3e4b21d_0_107"/>
          <p:cNvSpPr txBox="1"/>
          <p:nvPr/>
        </p:nvSpPr>
        <p:spPr>
          <a:xfrm>
            <a:off x="1417175" y="741800"/>
            <a:ext cx="8212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ML Flow - Models</a:t>
            </a:r>
            <a:endParaRPr sz="2800" b="1">
              <a:solidFill>
                <a:schemeClr val="dk1"/>
              </a:solidFill>
              <a:latin typeface="Calibri"/>
              <a:ea typeface="Calibri"/>
              <a:cs typeface="Calibri"/>
              <a:sym typeface="Calibri"/>
            </a:endParaRPr>
          </a:p>
        </p:txBody>
      </p:sp>
      <p:sp>
        <p:nvSpPr>
          <p:cNvPr id="301" name="Google Shape;301;g2cbf3e4b21d_0_107"/>
          <p:cNvSpPr txBox="1"/>
          <p:nvPr/>
        </p:nvSpPr>
        <p:spPr>
          <a:xfrm>
            <a:off x="1589375" y="1544200"/>
            <a:ext cx="78681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a standard format for packaging machine learning models</a:t>
            </a:r>
            <a:endParaRPr sz="1800"/>
          </a:p>
          <a:p>
            <a:pPr marL="0" lvl="0" indent="0" algn="l" rtl="0">
              <a:spcBef>
                <a:spcPts val="0"/>
              </a:spcBef>
              <a:spcAft>
                <a:spcPts val="0"/>
              </a:spcAft>
              <a:buNone/>
            </a:pPr>
            <a:r>
              <a:rPr lang="en-US" sz="1800"/>
              <a:t>that can be used in a variety of downstream tools—for</a:t>
            </a:r>
            <a:endParaRPr sz="1800"/>
          </a:p>
          <a:p>
            <a:pPr marL="0" lvl="0" indent="0" algn="l" rtl="0">
              <a:spcBef>
                <a:spcPts val="0"/>
              </a:spcBef>
              <a:spcAft>
                <a:spcPts val="0"/>
              </a:spcAft>
              <a:buNone/>
            </a:pPr>
            <a:r>
              <a:rPr lang="en-US" sz="1800"/>
              <a:t>example, real-time serving through a REST API or batch</a:t>
            </a:r>
            <a:endParaRPr sz="1800"/>
          </a:p>
          <a:p>
            <a:pPr marL="0" lvl="0" indent="0" algn="l" rtl="0">
              <a:spcBef>
                <a:spcPts val="0"/>
              </a:spcBef>
              <a:spcAft>
                <a:spcPts val="0"/>
              </a:spcAft>
              <a:buNone/>
            </a:pPr>
            <a:r>
              <a:rPr lang="en-US" sz="1800"/>
              <a:t>inference.</a:t>
            </a:r>
            <a:endParaRPr sz="1800"/>
          </a:p>
        </p:txBody>
      </p:sp>
      <p:sp>
        <p:nvSpPr>
          <p:cNvPr id="302" name="Google Shape;302;g2cbf3e4b21d_0_107"/>
          <p:cNvSpPr txBox="1"/>
          <p:nvPr/>
        </p:nvSpPr>
        <p:spPr>
          <a:xfrm>
            <a:off x="5917050" y="3024000"/>
            <a:ext cx="420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https://www.mlflow.org/docs/latest/models.html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2cbf3e4b21d_0_12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pic>
        <p:nvPicPr>
          <p:cNvPr id="309" name="Google Shape;309;g2cbf3e4b21d_0_120"/>
          <p:cNvPicPr preferRelativeResize="0"/>
          <p:nvPr/>
        </p:nvPicPr>
        <p:blipFill>
          <a:blip r:embed="rId3">
            <a:alphaModFix/>
          </a:blip>
          <a:stretch>
            <a:fillRect/>
          </a:stretch>
        </p:blipFill>
        <p:spPr>
          <a:xfrm>
            <a:off x="2369703" y="821675"/>
            <a:ext cx="8405076" cy="4444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cbf3e4b21d_0_1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315" name="Google Shape;315;g2cbf3e4b21d_0_126"/>
          <p:cNvSpPr txBox="1"/>
          <p:nvPr/>
        </p:nvSpPr>
        <p:spPr>
          <a:xfrm>
            <a:off x="736600" y="1409065"/>
            <a:ext cx="105156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Q&amp;A </a:t>
            </a:r>
            <a:endParaRPr/>
          </a:p>
          <a:p>
            <a:pPr marL="0" marR="0" lvl="0" indent="0" algn="ctr"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Questions and answers </a:t>
            </a: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2cbf3e4b21d_0_13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
        <p:nvSpPr>
          <p:cNvPr id="322" name="Google Shape;322;g2cbf3e4b21d_0_131"/>
          <p:cNvSpPr txBox="1"/>
          <p:nvPr/>
        </p:nvSpPr>
        <p:spPr>
          <a:xfrm>
            <a:off x="1544225" y="1371025"/>
            <a:ext cx="77817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What is Hugging Face?</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An open-source platform for machine learning</a:t>
            </a:r>
            <a:endParaRPr/>
          </a:p>
          <a:p>
            <a:pPr marL="0" lvl="0" indent="0" algn="l" rtl="0">
              <a:spcBef>
                <a:spcPts val="0"/>
              </a:spcBef>
              <a:spcAft>
                <a:spcPts val="0"/>
              </a:spcAft>
              <a:buNone/>
            </a:pPr>
            <a:r>
              <a:rPr lang="en-US"/>
              <a:t>Fosters collaboration and innovation in the ML community</a:t>
            </a:r>
            <a:endParaRPr/>
          </a:p>
          <a:p>
            <a:pPr marL="0" lvl="0" indent="0" algn="l" rtl="0">
              <a:spcBef>
                <a:spcPts val="0"/>
              </a:spcBef>
              <a:spcAft>
                <a:spcPts val="0"/>
              </a:spcAft>
              <a:buNone/>
            </a:pPr>
            <a:r>
              <a:rPr lang="en-US"/>
              <a:t>Provides a central hub for sharing, exploring, and deploying models and datasets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2cbf3e4b21d_0_14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
        <p:nvSpPr>
          <p:cNvPr id="329" name="Google Shape;329;g2cbf3e4b21d_0_142"/>
          <p:cNvSpPr txBox="1"/>
          <p:nvPr/>
        </p:nvSpPr>
        <p:spPr>
          <a:xfrm>
            <a:off x="1991600" y="865900"/>
            <a:ext cx="83877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Overview of the Hugging Face Hub</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A treasure trove of machine learning resources</a:t>
            </a:r>
            <a:endParaRPr/>
          </a:p>
          <a:p>
            <a:pPr marL="0" lvl="0" indent="0" algn="l" rtl="0">
              <a:spcBef>
                <a:spcPts val="0"/>
              </a:spcBef>
              <a:spcAft>
                <a:spcPts val="0"/>
              </a:spcAft>
              <a:buNone/>
            </a:pPr>
            <a:r>
              <a:rPr lang="en-US"/>
              <a:t>Houses a vast collection of pre-trained models across various NLP and computer vision tasks</a:t>
            </a:r>
            <a:endParaRPr/>
          </a:p>
          <a:p>
            <a:pPr marL="0" lvl="0" indent="0" algn="l" rtl="0">
              <a:spcBef>
                <a:spcPts val="0"/>
              </a:spcBef>
              <a:spcAft>
                <a:spcPts val="0"/>
              </a:spcAft>
              <a:buNone/>
            </a:pPr>
            <a:r>
              <a:rPr lang="en-US"/>
              <a:t>Offers a plethora of high-quality datasets spanning diverse domains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2cbf3e4b21d_0_15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
        <p:nvSpPr>
          <p:cNvPr id="336" name="Google Shape;336;g2cbf3e4b21d_0_150"/>
          <p:cNvSpPr txBox="1"/>
          <p:nvPr/>
        </p:nvSpPr>
        <p:spPr>
          <a:xfrm>
            <a:off x="1832850" y="952500"/>
            <a:ext cx="70746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Introduction to the Hugging Face Hub</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Access the Hub at https://huggingface.co/</a:t>
            </a:r>
            <a:endParaRPr/>
          </a:p>
          <a:p>
            <a:pPr marL="0" lvl="0" indent="0" algn="l" rtl="0">
              <a:spcBef>
                <a:spcPts val="0"/>
              </a:spcBef>
              <a:spcAft>
                <a:spcPts val="0"/>
              </a:spcAft>
              <a:buNone/>
            </a:pPr>
            <a:r>
              <a:rPr lang="en-US"/>
              <a:t>Explore different categories like Models, Datasets, and Spaces</a:t>
            </a:r>
            <a:endParaRPr/>
          </a:p>
          <a:p>
            <a:pPr marL="0" lvl="0" indent="0" algn="l" rtl="0">
              <a:spcBef>
                <a:spcPts val="0"/>
              </a:spcBef>
              <a:spcAft>
                <a:spcPts val="0"/>
              </a:spcAft>
              <a:buNone/>
            </a:pPr>
            <a:r>
              <a:rPr lang="en-US"/>
              <a:t>Leverage the search bar to find specific resources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2cbf3e4b21d_0_15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
        <p:nvSpPr>
          <p:cNvPr id="343" name="Google Shape;343;g2cbf3e4b21d_0_158"/>
          <p:cNvSpPr txBox="1"/>
          <p:nvPr/>
        </p:nvSpPr>
        <p:spPr>
          <a:xfrm>
            <a:off x="1385450" y="1226725"/>
            <a:ext cx="87918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Using Hugging Face Repositories</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Repositories store code for models and datasets</a:t>
            </a:r>
            <a:endParaRPr/>
          </a:p>
          <a:p>
            <a:pPr marL="0" lvl="0" indent="0" algn="l" rtl="0">
              <a:spcBef>
                <a:spcPts val="0"/>
              </a:spcBef>
              <a:spcAft>
                <a:spcPts val="0"/>
              </a:spcAft>
              <a:buNone/>
            </a:pPr>
            <a:r>
              <a:rPr lang="en-US"/>
              <a:t>Explore code structure and implementation details</a:t>
            </a:r>
            <a:endParaRPr/>
          </a:p>
          <a:p>
            <a:pPr marL="0" lvl="0" indent="0" algn="l" rtl="0">
              <a:spcBef>
                <a:spcPts val="0"/>
              </a:spcBef>
              <a:spcAft>
                <a:spcPts val="0"/>
              </a:spcAft>
              <a:buNone/>
            </a:pPr>
            <a:r>
              <a:rPr lang="en-US"/>
              <a:t>Gain insights into model training and fine-tuning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cbf3e4b21d_0_16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
        <p:nvSpPr>
          <p:cNvPr id="350" name="Google Shape;350;g2cbf3e4b21d_0_166"/>
          <p:cNvSpPr txBox="1"/>
          <p:nvPr/>
        </p:nvSpPr>
        <p:spPr>
          <a:xfrm>
            <a:off x="1399875" y="1305000"/>
            <a:ext cx="70167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Using Hugging Face Spaces</a:t>
            </a:r>
            <a:endParaRPr sz="1800"/>
          </a:p>
          <a:p>
            <a:pPr marL="0" lvl="0" indent="0" algn="l" rtl="0">
              <a:spcBef>
                <a:spcPts val="0"/>
              </a:spcBef>
              <a:spcAft>
                <a:spcPts val="0"/>
              </a:spcAft>
              <a:buNone/>
            </a:pPr>
            <a:endParaRPr/>
          </a:p>
          <a:p>
            <a:pPr marL="0" lvl="0" indent="0" algn="l" rtl="0">
              <a:spcBef>
                <a:spcPts val="0"/>
              </a:spcBef>
              <a:spcAft>
                <a:spcPts val="0"/>
              </a:spcAft>
              <a:buNone/>
            </a:pPr>
            <a:r>
              <a:rPr lang="en-US"/>
              <a:t>Interactive playgrounds for exploring models and datasets</a:t>
            </a:r>
            <a:endParaRPr/>
          </a:p>
          <a:p>
            <a:pPr marL="0" lvl="0" indent="0" algn="l" rtl="0">
              <a:spcBef>
                <a:spcPts val="0"/>
              </a:spcBef>
              <a:spcAft>
                <a:spcPts val="0"/>
              </a:spcAft>
              <a:buNone/>
            </a:pPr>
            <a:r>
              <a:rPr lang="en-US"/>
              <a:t>Experiment with models directly on the Hub without coding</a:t>
            </a:r>
            <a:endParaRPr/>
          </a:p>
          <a:p>
            <a:pPr marL="0" lvl="0" indent="0" algn="l" rtl="0">
              <a:spcBef>
                <a:spcPts val="0"/>
              </a:spcBef>
              <a:spcAft>
                <a:spcPts val="0"/>
              </a:spcAft>
              <a:buNone/>
            </a:pPr>
            <a:r>
              <a:rPr lang="en-US"/>
              <a:t>Share your Spaces with collaborators for easy access and demonstration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2cbf3e4b21d_0_17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
        <p:nvSpPr>
          <p:cNvPr id="357" name="Google Shape;357;g2cbf3e4b21d_0_174"/>
          <p:cNvSpPr txBox="1"/>
          <p:nvPr/>
        </p:nvSpPr>
        <p:spPr>
          <a:xfrm>
            <a:off x="1443200" y="1183400"/>
            <a:ext cx="60786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 Introduction to Applied Hugging Face</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Leverage pre-trained models to accelerate your projects</a:t>
            </a:r>
            <a:endParaRPr/>
          </a:p>
          <a:p>
            <a:pPr marL="0" lvl="0" indent="0" algn="l" rtl="0">
              <a:spcBef>
                <a:spcPts val="0"/>
              </a:spcBef>
              <a:spcAft>
                <a:spcPts val="0"/>
              </a:spcAft>
              <a:buNone/>
            </a:pPr>
            <a:r>
              <a:rPr lang="en-US"/>
              <a:t>Fine-tune models to adapt them to your specific data and task</a:t>
            </a:r>
            <a:endParaRPr/>
          </a:p>
          <a:p>
            <a:pPr marL="0" lvl="0" indent="0" algn="l" rtl="0">
              <a:spcBef>
                <a:spcPts val="0"/>
              </a:spcBef>
              <a:spcAft>
                <a:spcPts val="0"/>
              </a:spcAft>
              <a:buNone/>
            </a:pPr>
            <a:r>
              <a:rPr lang="en-US"/>
              <a:t>Build and deploy machine learning applications seamlessly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2cbf3e4b21d_0_18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
        <p:nvSpPr>
          <p:cNvPr id="364" name="Google Shape;364;g2cbf3e4b21d_0_182"/>
          <p:cNvSpPr txBox="1"/>
          <p:nvPr/>
        </p:nvSpPr>
        <p:spPr>
          <a:xfrm>
            <a:off x="1558650" y="1385450"/>
            <a:ext cx="73632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Using GPU Enabled Code Spaces</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Access powerful GPUs for faster training and inference</a:t>
            </a:r>
            <a:endParaRPr/>
          </a:p>
          <a:p>
            <a:pPr marL="0" lvl="0" indent="0" algn="l" rtl="0">
              <a:spcBef>
                <a:spcPts val="0"/>
              </a:spcBef>
              <a:spcAft>
                <a:spcPts val="0"/>
              </a:spcAft>
              <a:buNone/>
            </a:pPr>
            <a:r>
              <a:rPr lang="en-US"/>
              <a:t>Collaborate on code in real-time with teammates</a:t>
            </a:r>
            <a:endParaRPr/>
          </a:p>
          <a:p>
            <a:pPr marL="0" lvl="0" indent="0" algn="l" rtl="0">
              <a:spcBef>
                <a:spcPts val="0"/>
              </a:spcBef>
              <a:spcAft>
                <a:spcPts val="0"/>
              </a:spcAft>
              <a:buNone/>
            </a:pPr>
            <a:r>
              <a:rPr lang="en-US"/>
              <a:t>Experiment with code without managing local infrastructure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2cbf3e4b21d_0_19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
        <p:nvSpPr>
          <p:cNvPr id="371" name="Google Shape;371;g2cbf3e4b21d_0_190"/>
          <p:cNvSpPr txBox="1"/>
          <p:nvPr/>
        </p:nvSpPr>
        <p:spPr>
          <a:xfrm>
            <a:off x="1259850" y="1212250"/>
            <a:ext cx="96723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t>Using the Hugging Face CLI</a:t>
            </a:r>
            <a:endParaRPr sz="1800"/>
          </a:p>
          <a:p>
            <a:pPr marL="0" lvl="0" indent="0" algn="l" rtl="0">
              <a:spcBef>
                <a:spcPts val="0"/>
              </a:spcBef>
              <a:spcAft>
                <a:spcPts val="0"/>
              </a:spcAft>
              <a:buNone/>
            </a:pPr>
            <a:endParaRPr/>
          </a:p>
          <a:p>
            <a:pPr marL="0" lvl="0" indent="0" algn="l" rtl="0">
              <a:spcBef>
                <a:spcPts val="0"/>
              </a:spcBef>
              <a:spcAft>
                <a:spcPts val="0"/>
              </a:spcAft>
              <a:buNone/>
            </a:pPr>
            <a:r>
              <a:rPr lang="en-US"/>
              <a:t>Hugging Face CLI (Command Line Interface) for interacting with the Hub</a:t>
            </a:r>
            <a:endParaRPr/>
          </a:p>
          <a:p>
            <a:pPr marL="0" lvl="0" indent="0" algn="l" rtl="0">
              <a:spcBef>
                <a:spcPts val="0"/>
              </a:spcBef>
              <a:spcAft>
                <a:spcPts val="0"/>
              </a:spcAft>
              <a:buNone/>
            </a:pPr>
            <a:r>
              <a:rPr lang="en-US"/>
              <a:t>Install models and datasets from the command line</a:t>
            </a:r>
            <a:endParaRPr/>
          </a:p>
          <a:p>
            <a:pPr marL="0" lvl="0" indent="0" algn="l" rtl="0">
              <a:spcBef>
                <a:spcPts val="0"/>
              </a:spcBef>
              <a:spcAft>
                <a:spcPts val="0"/>
              </a:spcAft>
              <a:buNone/>
            </a:pPr>
            <a:r>
              <a:rPr lang="en-US"/>
              <a:t>Manage your Hub account and activities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2cbf3e4b21d_0_19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
        <p:nvSpPr>
          <p:cNvPr id="378" name="Google Shape;378;g2cbf3e4b21d_0_198"/>
          <p:cNvSpPr txBox="1"/>
          <p:nvPr/>
        </p:nvSpPr>
        <p:spPr>
          <a:xfrm>
            <a:off x="1573075" y="1183375"/>
            <a:ext cx="68868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Using the Model Hub</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Search for models by name, task, or author</a:t>
            </a:r>
            <a:endParaRPr/>
          </a:p>
          <a:p>
            <a:pPr marL="0" lvl="0" indent="0" algn="l" rtl="0">
              <a:spcBef>
                <a:spcPts val="0"/>
              </a:spcBef>
              <a:spcAft>
                <a:spcPts val="0"/>
              </a:spcAft>
              <a:buNone/>
            </a:pPr>
            <a:r>
              <a:rPr lang="en-US"/>
              <a:t>Explore model details like description, metrics, and code</a:t>
            </a:r>
            <a:endParaRPr/>
          </a:p>
          <a:p>
            <a:pPr marL="0" lvl="0" indent="0" algn="l" rtl="0">
              <a:spcBef>
                <a:spcPts val="0"/>
              </a:spcBef>
              <a:spcAft>
                <a:spcPts val="0"/>
              </a:spcAft>
              <a:buNone/>
            </a:pPr>
            <a:r>
              <a:rPr lang="en-US"/>
              <a:t>Download models for local use or experimentation in Spaces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2cbf3e4b21d_0_20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39</a:t>
            </a:fld>
            <a:endParaRPr/>
          </a:p>
        </p:txBody>
      </p:sp>
      <p:sp>
        <p:nvSpPr>
          <p:cNvPr id="385" name="Google Shape;385;g2cbf3e4b21d_0_206"/>
          <p:cNvSpPr txBox="1"/>
          <p:nvPr/>
        </p:nvSpPr>
        <p:spPr>
          <a:xfrm>
            <a:off x="1818425" y="1039100"/>
            <a:ext cx="62808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Downloading Models</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Download models from the Hub using the user interface or CLI</a:t>
            </a:r>
            <a:endParaRPr/>
          </a:p>
          <a:p>
            <a:pPr marL="0" lvl="0" indent="0" algn="l" rtl="0">
              <a:spcBef>
                <a:spcPts val="0"/>
              </a:spcBef>
              <a:spcAft>
                <a:spcPts val="0"/>
              </a:spcAft>
              <a:buNone/>
            </a:pPr>
            <a:r>
              <a:rPr lang="en-US"/>
              <a:t>Choose the appropriate format for your project (e.g., PyTorch, TensorFlow)</a:t>
            </a:r>
            <a:endParaRPr/>
          </a:p>
          <a:p>
            <a:pPr marL="0" lvl="0" indent="0" algn="l" rtl="0">
              <a:spcBef>
                <a:spcPts val="0"/>
              </a:spcBef>
              <a:spcAft>
                <a:spcPts val="0"/>
              </a:spcAft>
              <a:buNone/>
            </a:pPr>
            <a:r>
              <a:rPr lang="en-US"/>
              <a:t>Unzip the downloaded file for local use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2cbf3e4b21d_0_2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
        <p:nvSpPr>
          <p:cNvPr id="392" name="Google Shape;392;g2cbf3e4b21d_0_214"/>
          <p:cNvSpPr txBox="1"/>
          <p:nvPr/>
        </p:nvSpPr>
        <p:spPr>
          <a:xfrm>
            <a:off x="1731825" y="1111250"/>
            <a:ext cx="7276500" cy="132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t> Working with Models</a:t>
            </a:r>
            <a:endParaRPr sz="1800" b="1"/>
          </a:p>
          <a:p>
            <a:pPr marL="0" lvl="0" indent="0" algn="l" rtl="0">
              <a:spcBef>
                <a:spcPts val="0"/>
              </a:spcBef>
              <a:spcAft>
                <a:spcPts val="0"/>
              </a:spcAft>
              <a:buNone/>
            </a:pPr>
            <a:endParaRPr/>
          </a:p>
          <a:p>
            <a:pPr marL="0" lvl="0" indent="0" algn="l" rtl="0">
              <a:spcBef>
                <a:spcPts val="0"/>
              </a:spcBef>
              <a:spcAft>
                <a:spcPts val="0"/>
              </a:spcAft>
              <a:buNone/>
            </a:pPr>
            <a:r>
              <a:rPr lang="en-US"/>
              <a:t>Load downloaded models using libraries like transformers</a:t>
            </a:r>
            <a:endParaRPr/>
          </a:p>
          <a:p>
            <a:pPr marL="0" lvl="0" indent="0" algn="l" rtl="0">
              <a:spcBef>
                <a:spcPts val="0"/>
              </a:spcBef>
              <a:spcAft>
                <a:spcPts val="0"/>
              </a:spcAft>
              <a:buNone/>
            </a:pPr>
            <a:r>
              <a:rPr lang="en-US"/>
              <a:t>Use models for inference tasks like text classification or question answering</a:t>
            </a:r>
            <a:endParaRPr/>
          </a:p>
          <a:p>
            <a:pPr marL="0" lvl="0" indent="0" algn="l" rtl="0">
              <a:spcBef>
                <a:spcPts val="0"/>
              </a:spcBef>
              <a:spcAft>
                <a:spcPts val="0"/>
              </a:spcAft>
              <a:buNone/>
            </a:pPr>
            <a:r>
              <a:rPr lang="en-US"/>
              <a:t>Fine-tune models on your custom data for improved performance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6"/>
          <p:cNvSpPr txBox="1">
            <a:spLocks noGrp="1"/>
          </p:cNvSpPr>
          <p:nvPr>
            <p:ph type="title"/>
          </p:nvPr>
        </p:nvSpPr>
        <p:spPr>
          <a:xfrm>
            <a:off x="1319903" y="1071367"/>
            <a:ext cx="3628018"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What is a pipeline?</a:t>
            </a:r>
            <a:endParaRPr/>
          </a:p>
        </p:txBody>
      </p:sp>
      <p:sp>
        <p:nvSpPr>
          <p:cNvPr id="398" name="Google Shape;398;p16"/>
          <p:cNvSpPr txBox="1"/>
          <p:nvPr/>
        </p:nvSpPr>
        <p:spPr>
          <a:xfrm>
            <a:off x="353861" y="3102693"/>
            <a:ext cx="4698153" cy="2030854"/>
          </a:xfrm>
          <a:prstGeom prst="rect">
            <a:avLst/>
          </a:prstGeom>
          <a:noFill/>
          <a:ln>
            <a:noFill/>
          </a:ln>
        </p:spPr>
        <p:txBody>
          <a:bodyPr spcFirstLastPara="1" wrap="square" lIns="0" tIns="34700" rIns="0" bIns="0" anchor="t" anchorCtr="0">
            <a:spAutoFit/>
          </a:bodyPr>
          <a:lstStyle/>
          <a:p>
            <a:pPr marL="454649" marR="0" lvl="0" indent="-437716" algn="l" rtl="0">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Description of an ML workﬂow</a:t>
            </a:r>
            <a:endParaRPr sz="1800" b="0" i="0" u="none" strike="noStrike" cap="none">
              <a:solidFill>
                <a:schemeClr val="dk1"/>
              </a:solidFill>
              <a:latin typeface="Tahoma"/>
              <a:ea typeface="Tahoma"/>
              <a:cs typeface="Tahoma"/>
              <a:sym typeface="Tahoma"/>
            </a:endParaRPr>
          </a:p>
          <a:p>
            <a:pPr marL="454649" marR="0" lvl="0" indent="-437716" algn="l" rtl="0">
              <a:spcBef>
                <a:spcPts val="147"/>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A pipeline component is a</a:t>
            </a:r>
            <a:endParaRPr sz="1800" b="0" i="0" u="none" strike="noStrike" cap="none">
              <a:solidFill>
                <a:schemeClr val="dk1"/>
              </a:solidFill>
              <a:latin typeface="Tahoma"/>
              <a:ea typeface="Tahoma"/>
              <a:cs typeface="Tahoma"/>
              <a:sym typeface="Tahoma"/>
            </a:endParaRPr>
          </a:p>
          <a:p>
            <a:pPr marL="453802" marR="187109" lvl="0" indent="0" algn="l" rtl="0">
              <a:lnSpc>
                <a:spcPct val="105000"/>
              </a:lnSpc>
              <a:spcBef>
                <a:spcPts val="0"/>
              </a:spcBef>
              <a:spcAft>
                <a:spcPts val="0"/>
              </a:spcAft>
              <a:buNone/>
            </a:pPr>
            <a:r>
              <a:rPr lang="en-US" sz="1800" b="0" i="0" u="none" strike="noStrike" cap="none">
                <a:solidFill>
                  <a:srgbClr val="595959"/>
                </a:solidFill>
                <a:latin typeface="Tahoma"/>
                <a:ea typeface="Tahoma"/>
                <a:cs typeface="Tahoma"/>
                <a:sym typeface="Tahoma"/>
              </a:rPr>
              <a:t>self-contained set of user code  that performs one step in the  pipeline</a:t>
            </a:r>
            <a:endParaRPr sz="1800" b="0" i="0" u="none" strike="noStrike" cap="none">
              <a:solidFill>
                <a:schemeClr val="dk1"/>
              </a:solidFill>
              <a:latin typeface="Tahoma"/>
              <a:ea typeface="Tahoma"/>
              <a:cs typeface="Tahoma"/>
              <a:sym typeface="Tahoma"/>
            </a:endParaRPr>
          </a:p>
          <a:p>
            <a:pPr marL="453802" marR="6773" lvl="0" indent="-437716" algn="l" rtl="0">
              <a:lnSpc>
                <a:spcPct val="105000"/>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Includes the deﬁnition of the  conﬁguration and inputs  required to run the pipeline (e.g.  model hyperparameters)</a:t>
            </a:r>
            <a:endParaRPr sz="1800" b="0" i="0" u="none" strike="noStrike" cap="none">
              <a:solidFill>
                <a:schemeClr val="dk1"/>
              </a:solidFill>
              <a:latin typeface="Tahoma"/>
              <a:ea typeface="Tahoma"/>
              <a:cs typeface="Tahoma"/>
              <a:sym typeface="Tahoma"/>
            </a:endParaRPr>
          </a:p>
        </p:txBody>
      </p:sp>
      <p:pic>
        <p:nvPicPr>
          <p:cNvPr id="399" name="Google Shape;399;p16"/>
          <p:cNvPicPr preferRelativeResize="0"/>
          <p:nvPr/>
        </p:nvPicPr>
        <p:blipFill rotWithShape="1">
          <a:blip r:embed="rId3">
            <a:alphaModFix/>
          </a:blip>
          <a:srcRect/>
          <a:stretch/>
        </p:blipFill>
        <p:spPr>
          <a:xfrm>
            <a:off x="5545697" y="1071367"/>
            <a:ext cx="6445116" cy="5203397"/>
          </a:xfrm>
          <a:prstGeom prst="rect">
            <a:avLst/>
          </a:prstGeom>
          <a:noFill/>
          <a:ln>
            <a:noFill/>
          </a:ln>
        </p:spPr>
      </p:pic>
      <p:sp>
        <p:nvSpPr>
          <p:cNvPr id="2" name="Slide Number Placeholder 1">
            <a:extLst>
              <a:ext uri="{FF2B5EF4-FFF2-40B4-BE49-F238E27FC236}">
                <a16:creationId xmlns:a16="http://schemas.microsoft.com/office/drawing/2014/main" id="{00150639-B0CE-CE5A-BA1A-D73103BDCC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pic>
        <p:nvPicPr>
          <p:cNvPr id="404" name="Google Shape;404;p17"/>
          <p:cNvPicPr preferRelativeResize="0"/>
          <p:nvPr/>
        </p:nvPicPr>
        <p:blipFill rotWithShape="1">
          <a:blip r:embed="rId3">
            <a:alphaModFix/>
          </a:blip>
          <a:srcRect/>
          <a:stretch/>
        </p:blipFill>
        <p:spPr>
          <a:xfrm>
            <a:off x="1185299" y="1261929"/>
            <a:ext cx="9543662" cy="4783271"/>
          </a:xfrm>
          <a:prstGeom prst="rect">
            <a:avLst/>
          </a:prstGeom>
          <a:noFill/>
          <a:ln>
            <a:noFill/>
          </a:ln>
        </p:spPr>
      </p:pic>
      <p:sp>
        <p:nvSpPr>
          <p:cNvPr id="2" name="Slide Number Placeholder 1">
            <a:extLst>
              <a:ext uri="{FF2B5EF4-FFF2-40B4-BE49-F238E27FC236}">
                <a16:creationId xmlns:a16="http://schemas.microsoft.com/office/drawing/2014/main" id="{7A2004B1-12DF-1E37-F2EA-5457523445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18"/>
          <p:cNvSpPr txBox="1">
            <a:spLocks noGrp="1"/>
          </p:cNvSpPr>
          <p:nvPr>
            <p:ph type="title"/>
          </p:nvPr>
        </p:nvSpPr>
        <p:spPr>
          <a:xfrm>
            <a:off x="277487" y="1186031"/>
            <a:ext cx="5209539"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TensorFlow Extended (TFX)</a:t>
            </a:r>
            <a:endParaRPr/>
          </a:p>
        </p:txBody>
      </p:sp>
      <p:sp>
        <p:nvSpPr>
          <p:cNvPr id="410" name="Google Shape;410;p18"/>
          <p:cNvSpPr txBox="1"/>
          <p:nvPr/>
        </p:nvSpPr>
        <p:spPr>
          <a:xfrm>
            <a:off x="728222" y="2938771"/>
            <a:ext cx="6828367" cy="2214751"/>
          </a:xfrm>
          <a:prstGeom prst="rect">
            <a:avLst/>
          </a:prstGeom>
          <a:noFill/>
          <a:ln>
            <a:noFill/>
          </a:ln>
        </p:spPr>
        <p:txBody>
          <a:bodyPr spcFirstLastPara="1" wrap="square" lIns="0" tIns="16925" rIns="0" bIns="0" anchor="t" anchorCtr="0">
            <a:spAutoFit/>
          </a:bodyPr>
          <a:lstStyle/>
          <a:p>
            <a:pPr marL="453802" marR="46566"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Google-production-scale machine learning (ML)  platform based on TensorFlow</a:t>
            </a:r>
            <a:endParaRPr sz="1800" b="0" i="0" u="none" strike="noStrike" cap="none">
              <a:solidFill>
                <a:schemeClr val="dk1"/>
              </a:solidFill>
              <a:latin typeface="Tahoma"/>
              <a:ea typeface="Tahoma"/>
              <a:cs typeface="Tahoma"/>
              <a:sym typeface="Tahoma"/>
            </a:endParaRPr>
          </a:p>
          <a:p>
            <a:pPr marL="453802" marR="6773"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Portable to multiple environments (Azure, AWS,  Google Cloud, IBM, ...)</a:t>
            </a:r>
            <a:endParaRPr sz="1800" b="0" i="0" u="none" strike="noStrike" cap="none">
              <a:solidFill>
                <a:schemeClr val="dk1"/>
              </a:solidFill>
              <a:latin typeface="Tahoma"/>
              <a:ea typeface="Tahoma"/>
              <a:cs typeface="Tahoma"/>
              <a:sym typeface="Tahoma"/>
            </a:endParaRPr>
          </a:p>
          <a:p>
            <a:pPr marL="453802" marR="1275893"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Python based toolkit; can be used with  notebooks</a:t>
            </a:r>
            <a:endParaRPr sz="1800" b="0" i="0" u="none" strike="noStrike" cap="none">
              <a:solidFill>
                <a:schemeClr val="dk1"/>
              </a:solidFill>
              <a:latin typeface="Tahoma"/>
              <a:ea typeface="Tahoma"/>
              <a:cs typeface="Tahoma"/>
              <a:sym typeface="Tahoma"/>
            </a:endParaRPr>
          </a:p>
          <a:p>
            <a:pPr marL="453802" marR="38099" lvl="0" indent="-437716" algn="l" rtl="0">
              <a:lnSpc>
                <a:spcPct val="114999"/>
              </a:lnSpc>
              <a:spcBef>
                <a:spcPts val="0"/>
              </a:spcBef>
              <a:spcAft>
                <a:spcPts val="0"/>
              </a:spcAft>
              <a:buClr>
                <a:srgbClr val="595959"/>
              </a:buClr>
              <a:buSzPts val="1300"/>
              <a:buFont typeface="Arial"/>
              <a:buChar char="●"/>
            </a:pPr>
            <a:r>
              <a:rPr lang="en-US" sz="1800" b="0" i="0" u="none" strike="noStrike" cap="none">
                <a:solidFill>
                  <a:srgbClr val="595959"/>
                </a:solidFill>
                <a:latin typeface="Tahoma"/>
                <a:ea typeface="Tahoma"/>
                <a:cs typeface="Tahoma"/>
                <a:sym typeface="Tahoma"/>
              </a:rPr>
              <a:t>Helps you orchestrate your ML process: Apache  Airﬂow, Apache Beam or Kubeﬂow pipelines</a:t>
            </a:r>
            <a:endParaRPr sz="1800" b="0" i="0" u="none" strike="noStrike" cap="none">
              <a:solidFill>
                <a:schemeClr val="dk1"/>
              </a:solidFill>
              <a:latin typeface="Tahoma"/>
              <a:ea typeface="Tahoma"/>
              <a:cs typeface="Tahoma"/>
              <a:sym typeface="Tahoma"/>
            </a:endParaRPr>
          </a:p>
        </p:txBody>
      </p:sp>
      <p:pic>
        <p:nvPicPr>
          <p:cNvPr id="411" name="Google Shape;411;p18"/>
          <p:cNvPicPr preferRelativeResize="0"/>
          <p:nvPr/>
        </p:nvPicPr>
        <p:blipFill rotWithShape="1">
          <a:blip r:embed="rId3">
            <a:alphaModFix/>
          </a:blip>
          <a:srcRect/>
          <a:stretch/>
        </p:blipFill>
        <p:spPr>
          <a:xfrm>
            <a:off x="7920482" y="3121523"/>
            <a:ext cx="3657599" cy="2031999"/>
          </a:xfrm>
          <a:prstGeom prst="rect">
            <a:avLst/>
          </a:prstGeom>
          <a:noFill/>
          <a:ln>
            <a:noFill/>
          </a:ln>
        </p:spPr>
      </p:pic>
      <p:sp>
        <p:nvSpPr>
          <p:cNvPr id="2" name="Slide Number Placeholder 1">
            <a:extLst>
              <a:ext uri="{FF2B5EF4-FFF2-40B4-BE49-F238E27FC236}">
                <a16:creationId xmlns:a16="http://schemas.microsoft.com/office/drawing/2014/main" id="{7C61736D-18FF-54BA-7B95-28E120480E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19"/>
          <p:cNvSpPr txBox="1">
            <a:spLocks noGrp="1"/>
          </p:cNvSpPr>
          <p:nvPr>
            <p:ph type="title"/>
          </p:nvPr>
        </p:nvSpPr>
        <p:spPr>
          <a:xfrm>
            <a:off x="433108" y="1186031"/>
            <a:ext cx="3211407"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TFX 1.0 (19.05.21)</a:t>
            </a:r>
            <a:endParaRPr/>
          </a:p>
        </p:txBody>
      </p:sp>
      <p:sp>
        <p:nvSpPr>
          <p:cNvPr id="417" name="Google Shape;417;p19"/>
          <p:cNvSpPr txBox="1"/>
          <p:nvPr/>
        </p:nvSpPr>
        <p:spPr>
          <a:xfrm>
            <a:off x="433108" y="3148720"/>
            <a:ext cx="5344160" cy="2097904"/>
          </a:xfrm>
          <a:prstGeom prst="rect">
            <a:avLst/>
          </a:prstGeom>
          <a:noFill/>
          <a:ln>
            <a:noFill/>
          </a:ln>
        </p:spPr>
        <p:txBody>
          <a:bodyPr spcFirstLastPara="1" wrap="square" lIns="0" tIns="71950" rIns="0" bIns="0" anchor="t" anchorCtr="0">
            <a:spAutoFit/>
          </a:bodyPr>
          <a:lstStyle/>
          <a:p>
            <a:pPr marL="454649" marR="0" lvl="0" indent="-437716" algn="l" rtl="0">
              <a:spcBef>
                <a:spcPts val="0"/>
              </a:spcBef>
              <a:spcAft>
                <a:spcPts val="0"/>
              </a:spcAft>
              <a:buClr>
                <a:srgbClr val="595959"/>
              </a:buClr>
              <a:buSzPts val="1733"/>
              <a:buFont typeface="Arial"/>
              <a:buChar char="●"/>
            </a:pPr>
            <a:r>
              <a:rPr lang="en-US" sz="2400" b="0" i="0" u="none" strike="noStrike" cap="none">
                <a:solidFill>
                  <a:srgbClr val="595959"/>
                </a:solidFill>
                <a:latin typeface="Tahoma"/>
                <a:ea typeface="Tahoma"/>
                <a:cs typeface="Tahoma"/>
                <a:sym typeface="Tahoma"/>
              </a:rPr>
              <a:t>Enterprise-grade support</a:t>
            </a:r>
            <a:endParaRPr sz="2400" b="0" i="0" u="none" strike="noStrike" cap="none">
              <a:solidFill>
                <a:schemeClr val="dk1"/>
              </a:solidFill>
              <a:latin typeface="Tahoma"/>
              <a:ea typeface="Tahoma"/>
              <a:cs typeface="Tahoma"/>
              <a:sym typeface="Tahoma"/>
            </a:endParaRPr>
          </a:p>
          <a:p>
            <a:pPr marL="453802" marR="54185" lvl="0" indent="-437716" algn="l" rtl="0">
              <a:lnSpc>
                <a:spcPct val="114999"/>
              </a:lnSpc>
              <a:spcBef>
                <a:spcPts val="0"/>
              </a:spcBef>
              <a:spcAft>
                <a:spcPts val="0"/>
              </a:spcAft>
              <a:buClr>
                <a:srgbClr val="595959"/>
              </a:buClr>
              <a:buSzPts val="1733"/>
              <a:buFont typeface="Arial"/>
              <a:buChar char="●"/>
            </a:pPr>
            <a:r>
              <a:rPr lang="en-US" sz="2400" b="0" i="0" u="none" strike="noStrike" cap="none">
                <a:solidFill>
                  <a:srgbClr val="595959"/>
                </a:solidFill>
                <a:latin typeface="Tahoma"/>
                <a:ea typeface="Tahoma"/>
                <a:cs typeface="Tahoma"/>
                <a:sym typeface="Tahoma"/>
              </a:rPr>
              <a:t>Security patches and select bug ﬁxes  for up to three years</a:t>
            </a:r>
            <a:endParaRPr sz="2400" b="0" i="0" u="none" strike="noStrike" cap="none">
              <a:solidFill>
                <a:schemeClr val="dk1"/>
              </a:solidFill>
              <a:latin typeface="Tahoma"/>
              <a:ea typeface="Tahoma"/>
              <a:cs typeface="Tahoma"/>
              <a:sym typeface="Tahoma"/>
            </a:endParaRPr>
          </a:p>
          <a:p>
            <a:pPr marL="453802" marR="6773" lvl="0" indent="-437716" algn="l" rtl="0">
              <a:lnSpc>
                <a:spcPct val="114999"/>
              </a:lnSpc>
              <a:spcBef>
                <a:spcPts val="0"/>
              </a:spcBef>
              <a:spcAft>
                <a:spcPts val="0"/>
              </a:spcAft>
              <a:buClr>
                <a:srgbClr val="595959"/>
              </a:buClr>
              <a:buSzPts val="1733"/>
              <a:buFont typeface="Arial"/>
              <a:buChar char="●"/>
            </a:pPr>
            <a:r>
              <a:rPr lang="en-US" sz="2400" b="0" i="0" u="none" strike="noStrike" cap="none">
                <a:solidFill>
                  <a:srgbClr val="595959"/>
                </a:solidFill>
                <a:latin typeface="Tahoma"/>
                <a:ea typeface="Tahoma"/>
                <a:cs typeface="Tahoma"/>
                <a:sym typeface="Tahoma"/>
              </a:rPr>
              <a:t>Guaranteed API &amp; Artifact backward  compatibility</a:t>
            </a:r>
            <a:endParaRPr sz="2400" b="0" i="0" u="none" strike="noStrike" cap="none">
              <a:solidFill>
                <a:schemeClr val="dk1"/>
              </a:solidFill>
              <a:latin typeface="Tahoma"/>
              <a:ea typeface="Tahoma"/>
              <a:cs typeface="Tahoma"/>
              <a:sym typeface="Tahoma"/>
            </a:endParaRPr>
          </a:p>
        </p:txBody>
      </p:sp>
      <p:pic>
        <p:nvPicPr>
          <p:cNvPr id="418" name="Google Shape;418;p19"/>
          <p:cNvPicPr preferRelativeResize="0"/>
          <p:nvPr/>
        </p:nvPicPr>
        <p:blipFill rotWithShape="1">
          <a:blip r:embed="rId3">
            <a:alphaModFix/>
          </a:blip>
          <a:srcRect/>
          <a:stretch/>
        </p:blipFill>
        <p:spPr>
          <a:xfrm>
            <a:off x="6177281" y="1741425"/>
            <a:ext cx="5791199" cy="3505199"/>
          </a:xfrm>
          <a:prstGeom prst="rect">
            <a:avLst/>
          </a:prstGeom>
          <a:noFill/>
          <a:ln>
            <a:noFill/>
          </a:ln>
        </p:spPr>
      </p:pic>
      <p:sp>
        <p:nvSpPr>
          <p:cNvPr id="2" name="Slide Number Placeholder 1">
            <a:extLst>
              <a:ext uri="{FF2B5EF4-FFF2-40B4-BE49-F238E27FC236}">
                <a16:creationId xmlns:a16="http://schemas.microsoft.com/office/drawing/2014/main" id="{3C59D1F2-F6BB-5840-EDFC-061C869777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423" name="Google Shape;423;p20"/>
          <p:cNvPicPr preferRelativeResize="0"/>
          <p:nvPr/>
        </p:nvPicPr>
        <p:blipFill rotWithShape="1">
          <a:blip r:embed="rId3">
            <a:alphaModFix/>
          </a:blip>
          <a:srcRect/>
          <a:stretch/>
        </p:blipFill>
        <p:spPr>
          <a:xfrm>
            <a:off x="1056640" y="1123695"/>
            <a:ext cx="9708893" cy="5084065"/>
          </a:xfrm>
          <a:prstGeom prst="rect">
            <a:avLst/>
          </a:prstGeom>
          <a:noFill/>
          <a:ln>
            <a:noFill/>
          </a:ln>
        </p:spPr>
      </p:pic>
      <p:sp>
        <p:nvSpPr>
          <p:cNvPr id="2" name="Slide Number Placeholder 1">
            <a:extLst>
              <a:ext uri="{FF2B5EF4-FFF2-40B4-BE49-F238E27FC236}">
                <a16:creationId xmlns:a16="http://schemas.microsoft.com/office/drawing/2014/main" id="{097A74BD-40EB-BE4C-77A9-E600F898E2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21"/>
          <p:cNvPicPr preferRelativeResize="0"/>
          <p:nvPr/>
        </p:nvPicPr>
        <p:blipFill rotWithShape="1">
          <a:blip r:embed="rId3">
            <a:alphaModFix/>
          </a:blip>
          <a:srcRect/>
          <a:stretch/>
        </p:blipFill>
        <p:spPr>
          <a:xfrm>
            <a:off x="1229360" y="1456945"/>
            <a:ext cx="8909222" cy="4842255"/>
          </a:xfrm>
          <a:prstGeom prst="rect">
            <a:avLst/>
          </a:prstGeom>
          <a:noFill/>
          <a:ln>
            <a:noFill/>
          </a:ln>
        </p:spPr>
      </p:pic>
      <p:sp>
        <p:nvSpPr>
          <p:cNvPr id="2" name="Slide Number Placeholder 1">
            <a:extLst>
              <a:ext uri="{FF2B5EF4-FFF2-40B4-BE49-F238E27FC236}">
                <a16:creationId xmlns:a16="http://schemas.microsoft.com/office/drawing/2014/main" id="{4407F674-072A-7DBC-FE77-82B0E038F1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22"/>
          <p:cNvPicPr preferRelativeResize="0"/>
          <p:nvPr/>
        </p:nvPicPr>
        <p:blipFill rotWithShape="1">
          <a:blip r:embed="rId3">
            <a:alphaModFix/>
          </a:blip>
          <a:srcRect/>
          <a:stretch/>
        </p:blipFill>
        <p:spPr>
          <a:xfrm>
            <a:off x="1154177" y="722788"/>
            <a:ext cx="10566399" cy="5958857"/>
          </a:xfrm>
          <a:prstGeom prst="rect">
            <a:avLst/>
          </a:prstGeom>
          <a:noFill/>
          <a:ln>
            <a:noFill/>
          </a:ln>
        </p:spPr>
      </p:pic>
      <p:sp>
        <p:nvSpPr>
          <p:cNvPr id="2" name="Slide Number Placeholder 1">
            <a:extLst>
              <a:ext uri="{FF2B5EF4-FFF2-40B4-BE49-F238E27FC236}">
                <a16:creationId xmlns:a16="http://schemas.microsoft.com/office/drawing/2014/main" id="{E06ECCC2-4EBC-104D-0251-3ECF39ADC6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38" name="Google Shape;438;p23"/>
          <p:cNvPicPr preferRelativeResize="0"/>
          <p:nvPr/>
        </p:nvPicPr>
        <p:blipFill rotWithShape="1">
          <a:blip r:embed="rId3">
            <a:alphaModFix/>
          </a:blip>
          <a:srcRect/>
          <a:stretch/>
        </p:blipFill>
        <p:spPr>
          <a:xfrm>
            <a:off x="1610360" y="1211279"/>
            <a:ext cx="8971280" cy="4691681"/>
          </a:xfrm>
          <a:prstGeom prst="rect">
            <a:avLst/>
          </a:prstGeom>
          <a:noFill/>
          <a:ln>
            <a:noFill/>
          </a:ln>
        </p:spPr>
      </p:pic>
      <p:sp>
        <p:nvSpPr>
          <p:cNvPr id="2" name="Slide Number Placeholder 1">
            <a:extLst>
              <a:ext uri="{FF2B5EF4-FFF2-40B4-BE49-F238E27FC236}">
                <a16:creationId xmlns:a16="http://schemas.microsoft.com/office/drawing/2014/main" id="{993110E1-E47F-50A0-8379-24335D681D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24"/>
          <p:cNvPicPr preferRelativeResize="0"/>
          <p:nvPr/>
        </p:nvPicPr>
        <p:blipFill rotWithShape="1">
          <a:blip r:embed="rId3">
            <a:alphaModFix/>
          </a:blip>
          <a:srcRect/>
          <a:stretch/>
        </p:blipFill>
        <p:spPr>
          <a:xfrm>
            <a:off x="1774951" y="1460586"/>
            <a:ext cx="8642097" cy="4635414"/>
          </a:xfrm>
          <a:prstGeom prst="rect">
            <a:avLst/>
          </a:prstGeom>
          <a:noFill/>
          <a:ln>
            <a:noFill/>
          </a:ln>
        </p:spPr>
      </p:pic>
      <p:sp>
        <p:nvSpPr>
          <p:cNvPr id="2" name="Slide Number Placeholder 1">
            <a:extLst>
              <a:ext uri="{FF2B5EF4-FFF2-40B4-BE49-F238E27FC236}">
                <a16:creationId xmlns:a16="http://schemas.microsoft.com/office/drawing/2014/main" id="{EB193677-B218-E966-F19B-F4D0DCC9AD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25"/>
          <p:cNvPicPr preferRelativeResize="0"/>
          <p:nvPr/>
        </p:nvPicPr>
        <p:blipFill rotWithShape="1">
          <a:blip r:embed="rId3">
            <a:alphaModFix/>
          </a:blip>
          <a:srcRect/>
          <a:stretch/>
        </p:blipFill>
        <p:spPr>
          <a:xfrm>
            <a:off x="1043920" y="926593"/>
            <a:ext cx="10953005" cy="5733399"/>
          </a:xfrm>
          <a:prstGeom prst="rect">
            <a:avLst/>
          </a:prstGeom>
          <a:noFill/>
          <a:ln>
            <a:noFill/>
          </a:ln>
        </p:spPr>
      </p:pic>
      <p:sp>
        <p:nvSpPr>
          <p:cNvPr id="2" name="Slide Number Placeholder 1">
            <a:extLst>
              <a:ext uri="{FF2B5EF4-FFF2-40B4-BE49-F238E27FC236}">
                <a16:creationId xmlns:a16="http://schemas.microsoft.com/office/drawing/2014/main" id="{B1A32569-B837-280A-5C90-F32904348F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26"/>
          <p:cNvPicPr preferRelativeResize="0"/>
          <p:nvPr/>
        </p:nvPicPr>
        <p:blipFill rotWithShape="1">
          <a:blip r:embed="rId3">
            <a:alphaModFix/>
          </a:blip>
          <a:srcRect/>
          <a:stretch/>
        </p:blipFill>
        <p:spPr>
          <a:xfrm>
            <a:off x="1716024" y="1253716"/>
            <a:ext cx="8759951" cy="5025164"/>
          </a:xfrm>
          <a:prstGeom prst="rect">
            <a:avLst/>
          </a:prstGeom>
          <a:noFill/>
          <a:ln>
            <a:noFill/>
          </a:ln>
        </p:spPr>
      </p:pic>
      <p:sp>
        <p:nvSpPr>
          <p:cNvPr id="2" name="Slide Number Placeholder 1">
            <a:extLst>
              <a:ext uri="{FF2B5EF4-FFF2-40B4-BE49-F238E27FC236}">
                <a16:creationId xmlns:a16="http://schemas.microsoft.com/office/drawing/2014/main" id="{0732D40C-3ACB-EC1E-300B-CB95DDBBCA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27"/>
          <p:cNvPicPr preferRelativeResize="0"/>
          <p:nvPr/>
        </p:nvPicPr>
        <p:blipFill rotWithShape="1">
          <a:blip r:embed="rId3">
            <a:alphaModFix/>
          </a:blip>
          <a:srcRect/>
          <a:stretch/>
        </p:blipFill>
        <p:spPr>
          <a:xfrm>
            <a:off x="1330960" y="1250975"/>
            <a:ext cx="9342032" cy="4895825"/>
          </a:xfrm>
          <a:prstGeom prst="rect">
            <a:avLst/>
          </a:prstGeom>
          <a:noFill/>
          <a:ln>
            <a:noFill/>
          </a:ln>
        </p:spPr>
      </p:pic>
      <p:sp>
        <p:nvSpPr>
          <p:cNvPr id="2" name="Slide Number Placeholder 1">
            <a:extLst>
              <a:ext uri="{FF2B5EF4-FFF2-40B4-BE49-F238E27FC236}">
                <a16:creationId xmlns:a16="http://schemas.microsoft.com/office/drawing/2014/main" id="{EB646A8F-8107-C2A0-2871-A743EF321E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pic>
        <p:nvPicPr>
          <p:cNvPr id="463" name="Google Shape;463;p28"/>
          <p:cNvPicPr preferRelativeResize="0"/>
          <p:nvPr/>
        </p:nvPicPr>
        <p:blipFill rotWithShape="1">
          <a:blip r:embed="rId3">
            <a:alphaModFix/>
          </a:blip>
          <a:srcRect/>
          <a:stretch/>
        </p:blipFill>
        <p:spPr>
          <a:xfrm>
            <a:off x="940088" y="925575"/>
            <a:ext cx="1816099" cy="1625599"/>
          </a:xfrm>
          <a:prstGeom prst="rect">
            <a:avLst/>
          </a:prstGeom>
          <a:noFill/>
          <a:ln>
            <a:noFill/>
          </a:ln>
        </p:spPr>
      </p:pic>
      <p:sp>
        <p:nvSpPr>
          <p:cNvPr id="464" name="Google Shape;464;p28"/>
          <p:cNvSpPr txBox="1">
            <a:spLocks noGrp="1"/>
          </p:cNvSpPr>
          <p:nvPr>
            <p:ph type="title"/>
          </p:nvPr>
        </p:nvSpPr>
        <p:spPr>
          <a:xfrm>
            <a:off x="2117195" y="3211511"/>
            <a:ext cx="7901093" cy="919974"/>
          </a:xfrm>
          <a:prstGeom prst="rect">
            <a:avLst/>
          </a:prstGeom>
          <a:noFill/>
          <a:ln>
            <a:noFill/>
          </a:ln>
        </p:spPr>
        <p:txBody>
          <a:bodyPr spcFirstLastPara="1" wrap="square" lIns="0" tIns="16925" rIns="0" bIns="0" anchor="ctr" anchorCtr="0">
            <a:spAutoFit/>
          </a:bodyPr>
          <a:lstStyle/>
          <a:p>
            <a:pPr marL="16933" lvl="0" indent="0" algn="l" rtl="0">
              <a:lnSpc>
                <a:spcPct val="100000"/>
              </a:lnSpc>
              <a:spcBef>
                <a:spcPts val="0"/>
              </a:spcBef>
              <a:spcAft>
                <a:spcPts val="0"/>
              </a:spcAft>
              <a:buClr>
                <a:schemeClr val="dk1"/>
              </a:buClr>
              <a:buSzPts val="5867"/>
              <a:buFont typeface="Calibri"/>
              <a:buNone/>
            </a:pPr>
            <a:r>
              <a:rPr lang="en-US" sz="5867"/>
              <a:t>Pipeline orchestration</a:t>
            </a:r>
            <a:endParaRPr sz="5867"/>
          </a:p>
        </p:txBody>
      </p:sp>
      <p:pic>
        <p:nvPicPr>
          <p:cNvPr id="465" name="Google Shape;465;p28"/>
          <p:cNvPicPr preferRelativeResize="0"/>
          <p:nvPr/>
        </p:nvPicPr>
        <p:blipFill rotWithShape="1">
          <a:blip r:embed="rId4">
            <a:alphaModFix/>
          </a:blip>
          <a:srcRect/>
          <a:stretch/>
        </p:blipFill>
        <p:spPr>
          <a:xfrm>
            <a:off x="4160521" y="1344674"/>
            <a:ext cx="2743199" cy="1219199"/>
          </a:xfrm>
          <a:prstGeom prst="rect">
            <a:avLst/>
          </a:prstGeom>
          <a:noFill/>
          <a:ln>
            <a:noFill/>
          </a:ln>
        </p:spPr>
      </p:pic>
      <p:pic>
        <p:nvPicPr>
          <p:cNvPr id="466" name="Google Shape;466;p28"/>
          <p:cNvPicPr preferRelativeResize="0"/>
          <p:nvPr/>
        </p:nvPicPr>
        <p:blipFill rotWithShape="1">
          <a:blip r:embed="rId5">
            <a:alphaModFix/>
          </a:blip>
          <a:srcRect/>
          <a:stretch/>
        </p:blipFill>
        <p:spPr>
          <a:xfrm>
            <a:off x="8460453" y="1370076"/>
            <a:ext cx="2641599" cy="1181099"/>
          </a:xfrm>
          <a:prstGeom prst="rect">
            <a:avLst/>
          </a:prstGeom>
          <a:noFill/>
          <a:ln>
            <a:noFill/>
          </a:ln>
        </p:spPr>
      </p:pic>
      <p:sp>
        <p:nvSpPr>
          <p:cNvPr id="2" name="Slide Number Placeholder 1">
            <a:extLst>
              <a:ext uri="{FF2B5EF4-FFF2-40B4-BE49-F238E27FC236}">
                <a16:creationId xmlns:a16="http://schemas.microsoft.com/office/drawing/2014/main" id="{1E2241B3-6EA2-F6D4-C373-7E00832CA9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29"/>
          <p:cNvSpPr txBox="1">
            <a:spLocks noGrp="1"/>
          </p:cNvSpPr>
          <p:nvPr>
            <p:ph type="title"/>
          </p:nvPr>
        </p:nvSpPr>
        <p:spPr>
          <a:xfrm>
            <a:off x="210592" y="1208382"/>
            <a:ext cx="4093633"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TFX &amp; Apache Airﬂow</a:t>
            </a:r>
            <a:endParaRPr/>
          </a:p>
        </p:txBody>
      </p:sp>
      <p:sp>
        <p:nvSpPr>
          <p:cNvPr id="472" name="Google Shape;472;p29"/>
          <p:cNvSpPr txBox="1"/>
          <p:nvPr/>
        </p:nvSpPr>
        <p:spPr>
          <a:xfrm>
            <a:off x="0" y="3115072"/>
            <a:ext cx="5076613" cy="2947196"/>
          </a:xfrm>
          <a:prstGeom prst="rect">
            <a:avLst/>
          </a:prstGeom>
          <a:noFill/>
          <a:ln>
            <a:noFill/>
          </a:ln>
        </p:spPr>
        <p:txBody>
          <a:bodyPr spcFirstLastPara="1" wrap="square" lIns="0" tIns="16925" rIns="0" bIns="0" anchor="t" anchorCtr="0">
            <a:spAutoFit/>
          </a:bodyPr>
          <a:lstStyle/>
          <a:p>
            <a:pPr marL="453802" marR="6773" lvl="0" indent="-437716" algn="l" rtl="0">
              <a:lnSpc>
                <a:spcPct val="114999"/>
              </a:lnSpc>
              <a:spcBef>
                <a:spcPts val="0"/>
              </a:spcBef>
              <a:spcAft>
                <a:spcPts val="0"/>
              </a:spcAft>
              <a:buClr>
                <a:srgbClr val="595959"/>
              </a:buClr>
              <a:buSzPts val="1733"/>
              <a:buFont typeface="Arial"/>
              <a:buChar char="●"/>
            </a:pPr>
            <a:r>
              <a:rPr lang="en-US" sz="2400" b="0" i="0" u="none" strike="noStrike" cap="none">
                <a:solidFill>
                  <a:srgbClr val="595959"/>
                </a:solidFill>
                <a:latin typeface="Tahoma"/>
                <a:ea typeface="Tahoma"/>
                <a:cs typeface="Tahoma"/>
                <a:sym typeface="Tahoma"/>
              </a:rPr>
              <a:t>Programmatically author, schedule  and monitor workﬂows with  Python code</a:t>
            </a:r>
            <a:endParaRPr sz="2400" b="0" i="0" u="none" strike="noStrike" cap="none">
              <a:solidFill>
                <a:schemeClr val="dk1"/>
              </a:solidFill>
              <a:latin typeface="Tahoma"/>
              <a:ea typeface="Tahoma"/>
              <a:cs typeface="Tahoma"/>
              <a:sym typeface="Tahoma"/>
            </a:endParaRPr>
          </a:p>
          <a:p>
            <a:pPr marL="453802" marR="422476" lvl="0" indent="-437716" algn="l" rtl="0">
              <a:lnSpc>
                <a:spcPct val="114999"/>
              </a:lnSpc>
              <a:spcBef>
                <a:spcPts val="0"/>
              </a:spcBef>
              <a:spcAft>
                <a:spcPts val="0"/>
              </a:spcAft>
              <a:buClr>
                <a:srgbClr val="595959"/>
              </a:buClr>
              <a:buSzPts val="1733"/>
              <a:buFont typeface="Arial"/>
              <a:buChar char="●"/>
            </a:pPr>
            <a:r>
              <a:rPr lang="en-US" sz="2400" b="0" i="0" u="none" strike="noStrike" cap="none">
                <a:solidFill>
                  <a:srgbClr val="595959"/>
                </a:solidFill>
                <a:latin typeface="Tahoma"/>
                <a:ea typeface="Tahoma"/>
                <a:cs typeface="Tahoma"/>
                <a:sym typeface="Tahoma"/>
              </a:rPr>
              <a:t>User interface to visualize  pipelines running in production,  monitor progress, and  troubleshoot issues</a:t>
            </a:r>
            <a:endParaRPr sz="2400" b="0" i="0" u="none" strike="noStrike" cap="none">
              <a:solidFill>
                <a:schemeClr val="dk1"/>
              </a:solidFill>
              <a:latin typeface="Tahoma"/>
              <a:ea typeface="Tahoma"/>
              <a:cs typeface="Tahoma"/>
              <a:sym typeface="Tahoma"/>
            </a:endParaRPr>
          </a:p>
        </p:txBody>
      </p:sp>
      <p:pic>
        <p:nvPicPr>
          <p:cNvPr id="473" name="Google Shape;473;p29"/>
          <p:cNvPicPr preferRelativeResize="0"/>
          <p:nvPr/>
        </p:nvPicPr>
        <p:blipFill rotWithShape="1">
          <a:blip r:embed="rId3">
            <a:alphaModFix/>
          </a:blip>
          <a:srcRect/>
          <a:stretch/>
        </p:blipFill>
        <p:spPr>
          <a:xfrm>
            <a:off x="5243587" y="1536375"/>
            <a:ext cx="6737821" cy="4441248"/>
          </a:xfrm>
          <a:prstGeom prst="rect">
            <a:avLst/>
          </a:prstGeom>
          <a:noFill/>
          <a:ln>
            <a:noFill/>
          </a:ln>
        </p:spPr>
      </p:pic>
      <p:sp>
        <p:nvSpPr>
          <p:cNvPr id="2" name="Slide Number Placeholder 1">
            <a:extLst>
              <a:ext uri="{FF2B5EF4-FFF2-40B4-BE49-F238E27FC236}">
                <a16:creationId xmlns:a16="http://schemas.microsoft.com/office/drawing/2014/main" id="{4597CC64-B19A-D90E-1998-B70C1C66A7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30"/>
          <p:cNvSpPr txBox="1">
            <a:spLocks noGrp="1"/>
          </p:cNvSpPr>
          <p:nvPr>
            <p:ph type="title"/>
          </p:nvPr>
        </p:nvSpPr>
        <p:spPr>
          <a:xfrm>
            <a:off x="141342" y="1211044"/>
            <a:ext cx="4093633"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TFX &amp; Apache Airﬂow</a:t>
            </a:r>
            <a:endParaRPr/>
          </a:p>
        </p:txBody>
      </p:sp>
      <p:sp>
        <p:nvSpPr>
          <p:cNvPr id="479" name="Google Shape;479;p30"/>
          <p:cNvSpPr txBox="1"/>
          <p:nvPr/>
        </p:nvSpPr>
        <p:spPr>
          <a:xfrm>
            <a:off x="258181" y="3071721"/>
            <a:ext cx="4774353" cy="2575235"/>
          </a:xfrm>
          <a:prstGeom prst="rect">
            <a:avLst/>
          </a:prstGeom>
          <a:noFill/>
          <a:ln>
            <a:noFill/>
          </a:ln>
        </p:spPr>
        <p:txBody>
          <a:bodyPr spcFirstLastPara="1" wrap="square" lIns="0" tIns="16925" rIns="0" bIns="0" anchor="t" anchorCtr="0">
            <a:spAutoFit/>
          </a:bodyPr>
          <a:lstStyle/>
          <a:p>
            <a:pPr marL="453802" marR="6773" lvl="0" indent="-437716" algn="l" rtl="0">
              <a:lnSpc>
                <a:spcPct val="114999"/>
              </a:lnSpc>
              <a:spcBef>
                <a:spcPts val="0"/>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Provides a framework for running  batch and streaming data processing  jobs that run on a variety of runners  (Spark, Flink, ...).</a:t>
            </a:r>
            <a:endParaRPr sz="1800" b="0" i="0" u="none" strike="noStrike" cap="none">
              <a:solidFill>
                <a:schemeClr val="dk1"/>
              </a:solidFill>
              <a:latin typeface="Tahoma"/>
              <a:ea typeface="Tahoma"/>
              <a:cs typeface="Tahoma"/>
              <a:sym typeface="Tahoma"/>
            </a:endParaRPr>
          </a:p>
          <a:p>
            <a:pPr marL="453802" marR="173562" lvl="0" indent="-437716" algn="l" rtl="0">
              <a:lnSpc>
                <a:spcPct val="114999"/>
              </a:lnSpc>
              <a:spcBef>
                <a:spcPts val="0"/>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Beam provides an abstraction layer  which enables TFX to run on any  supported runner without code  modiﬁcations</a:t>
            </a:r>
            <a:endParaRPr sz="1800" b="0" i="0" u="none" strike="noStrike" cap="none">
              <a:solidFill>
                <a:schemeClr val="dk1"/>
              </a:solidFill>
              <a:latin typeface="Tahoma"/>
              <a:ea typeface="Tahoma"/>
              <a:cs typeface="Tahoma"/>
              <a:sym typeface="Tahoma"/>
            </a:endParaRPr>
          </a:p>
          <a:p>
            <a:pPr marL="454649" marR="0" lvl="0" indent="-437716" algn="l" rtl="0">
              <a:spcBef>
                <a:spcPts val="380"/>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TFX only uses the Beam Python API</a:t>
            </a:r>
            <a:endParaRPr sz="1800" b="0" i="0" u="none" strike="noStrike" cap="none">
              <a:solidFill>
                <a:schemeClr val="dk1"/>
              </a:solidFill>
              <a:latin typeface="Tahoma"/>
              <a:ea typeface="Tahoma"/>
              <a:cs typeface="Tahoma"/>
              <a:sym typeface="Tahoma"/>
            </a:endParaRPr>
          </a:p>
        </p:txBody>
      </p:sp>
      <p:pic>
        <p:nvPicPr>
          <p:cNvPr id="480" name="Google Shape;480;p30"/>
          <p:cNvPicPr preferRelativeResize="0"/>
          <p:nvPr/>
        </p:nvPicPr>
        <p:blipFill rotWithShape="1">
          <a:blip r:embed="rId3">
            <a:alphaModFix/>
          </a:blip>
          <a:srcRect/>
          <a:stretch/>
        </p:blipFill>
        <p:spPr>
          <a:xfrm>
            <a:off x="5190259" y="1005843"/>
            <a:ext cx="6607308" cy="4865396"/>
          </a:xfrm>
          <a:prstGeom prst="rect">
            <a:avLst/>
          </a:prstGeom>
          <a:noFill/>
          <a:ln>
            <a:noFill/>
          </a:ln>
        </p:spPr>
      </p:pic>
      <p:sp>
        <p:nvSpPr>
          <p:cNvPr id="2" name="Slide Number Placeholder 1">
            <a:extLst>
              <a:ext uri="{FF2B5EF4-FFF2-40B4-BE49-F238E27FC236}">
                <a16:creationId xmlns:a16="http://schemas.microsoft.com/office/drawing/2014/main" id="{DB861442-7505-DC32-BECB-964B04BE53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31"/>
          <p:cNvSpPr txBox="1">
            <a:spLocks noGrp="1"/>
          </p:cNvSpPr>
          <p:nvPr>
            <p:ph type="title"/>
          </p:nvPr>
        </p:nvSpPr>
        <p:spPr>
          <a:xfrm>
            <a:off x="139310" y="1036920"/>
            <a:ext cx="4872567" cy="1378155"/>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TFX &amp; Kubeﬂow pipelines</a:t>
            </a:r>
            <a:endParaRPr/>
          </a:p>
        </p:txBody>
      </p:sp>
      <p:sp>
        <p:nvSpPr>
          <p:cNvPr id="486" name="Google Shape;486;p31"/>
          <p:cNvSpPr txBox="1"/>
          <p:nvPr/>
        </p:nvSpPr>
        <p:spPr>
          <a:xfrm>
            <a:off x="179950" y="2750355"/>
            <a:ext cx="5770033" cy="2812735"/>
          </a:xfrm>
          <a:prstGeom prst="rect">
            <a:avLst/>
          </a:prstGeom>
          <a:noFill/>
          <a:ln>
            <a:noFill/>
          </a:ln>
        </p:spPr>
        <p:txBody>
          <a:bodyPr spcFirstLastPara="1" wrap="square" lIns="0" tIns="16925" rIns="0" bIns="0" anchor="t" anchorCtr="0">
            <a:spAutoFit/>
          </a:bodyPr>
          <a:lstStyle/>
          <a:p>
            <a:pPr marL="38944" marR="0" lvl="0" indent="0" algn="l" rtl="0">
              <a:lnSpc>
                <a:spcPct val="138500"/>
              </a:lnSpc>
              <a:spcBef>
                <a:spcPts val="0"/>
              </a:spcBef>
              <a:spcAft>
                <a:spcPts val="0"/>
              </a:spcAft>
              <a:buNone/>
            </a:pPr>
            <a:r>
              <a:rPr lang="en-US" sz="1800" b="0" i="0" u="none" strike="noStrike" cap="none">
                <a:solidFill>
                  <a:srgbClr val="595959"/>
                </a:solidFill>
                <a:latin typeface="Tahoma"/>
                <a:ea typeface="Tahoma"/>
                <a:cs typeface="Tahoma"/>
                <a:sym typeface="Tahoma"/>
              </a:rPr>
              <a:t>The Kubeﬂow Pipelines platform consists of:</a:t>
            </a:r>
            <a:endParaRPr sz="1800" b="0" i="0" u="none" strike="noStrike" cap="none">
              <a:solidFill>
                <a:schemeClr val="dk1"/>
              </a:solidFill>
              <a:latin typeface="Tahoma"/>
              <a:ea typeface="Tahoma"/>
              <a:cs typeface="Tahoma"/>
              <a:sym typeface="Tahoma"/>
            </a:endParaRPr>
          </a:p>
          <a:p>
            <a:pPr marL="453802" marR="691709" lvl="0" indent="-437716" algn="l" rtl="0">
              <a:lnSpc>
                <a:spcPct val="134833"/>
              </a:lnSpc>
              <a:spcBef>
                <a:spcPts val="127"/>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An engine for scheduling multi-step ML  workﬂows (using Kubernetes).</a:t>
            </a:r>
            <a:endParaRPr sz="1800" b="0" i="0" u="none" strike="noStrike" cap="none">
              <a:solidFill>
                <a:schemeClr val="dk1"/>
              </a:solidFill>
              <a:latin typeface="Tahoma"/>
              <a:ea typeface="Tahoma"/>
              <a:cs typeface="Tahoma"/>
              <a:sym typeface="Tahoma"/>
            </a:endParaRPr>
          </a:p>
          <a:p>
            <a:pPr marL="453802" marR="6773" lvl="0" indent="-437716" algn="l" rtl="0">
              <a:lnSpc>
                <a:spcPct val="134833"/>
              </a:lnSpc>
              <a:spcBef>
                <a:spcPts val="7"/>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User interface (UI) for managing and tracking  experiments, jobs, and runs.</a:t>
            </a:r>
            <a:endParaRPr sz="1800" b="0" i="0" u="none" strike="noStrike" cap="none">
              <a:solidFill>
                <a:schemeClr val="dk1"/>
              </a:solidFill>
              <a:latin typeface="Tahoma"/>
              <a:ea typeface="Tahoma"/>
              <a:cs typeface="Tahoma"/>
              <a:sym typeface="Tahoma"/>
            </a:endParaRPr>
          </a:p>
          <a:p>
            <a:pPr marL="453802" marR="359824" lvl="0" indent="-437716" algn="l" rtl="0">
              <a:lnSpc>
                <a:spcPct val="134833"/>
              </a:lnSpc>
              <a:spcBef>
                <a:spcPts val="13"/>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Python SDK for deﬁning and manipulating  pipelines and components.</a:t>
            </a:r>
            <a:endParaRPr sz="1800" b="0" i="0" u="none" strike="noStrike" cap="none">
              <a:solidFill>
                <a:schemeClr val="dk1"/>
              </a:solidFill>
              <a:latin typeface="Tahoma"/>
              <a:ea typeface="Tahoma"/>
              <a:cs typeface="Tahoma"/>
              <a:sym typeface="Tahoma"/>
            </a:endParaRPr>
          </a:p>
          <a:p>
            <a:pPr marL="453802" marR="328497" lvl="0" indent="-437716" algn="l" rtl="0">
              <a:lnSpc>
                <a:spcPct val="134833"/>
              </a:lnSpc>
              <a:spcBef>
                <a:spcPts val="13"/>
              </a:spcBef>
              <a:spcAft>
                <a:spcPts val="0"/>
              </a:spcAft>
              <a:buClr>
                <a:srgbClr val="595959"/>
              </a:buClr>
              <a:buSzPts val="1463"/>
              <a:buFont typeface="Arial"/>
              <a:buChar char="●"/>
            </a:pPr>
            <a:r>
              <a:rPr lang="en-US" sz="1800" b="0" i="0" u="none" strike="noStrike" cap="none">
                <a:solidFill>
                  <a:srgbClr val="595959"/>
                </a:solidFill>
                <a:latin typeface="Tahoma"/>
                <a:ea typeface="Tahoma"/>
                <a:cs typeface="Tahoma"/>
                <a:sym typeface="Tahoma"/>
              </a:rPr>
              <a:t>Notebooks for interacting with the system  using the SDK</a:t>
            </a:r>
            <a:endParaRPr sz="1800" b="0" i="0" u="none" strike="noStrike" cap="none">
              <a:solidFill>
                <a:schemeClr val="dk1"/>
              </a:solidFill>
              <a:latin typeface="Tahoma"/>
              <a:ea typeface="Tahoma"/>
              <a:cs typeface="Tahoma"/>
              <a:sym typeface="Tahoma"/>
            </a:endParaRPr>
          </a:p>
        </p:txBody>
      </p:sp>
      <p:pic>
        <p:nvPicPr>
          <p:cNvPr id="487" name="Google Shape;487;p31"/>
          <p:cNvPicPr preferRelativeResize="0"/>
          <p:nvPr/>
        </p:nvPicPr>
        <p:blipFill rotWithShape="1">
          <a:blip r:embed="rId3">
            <a:alphaModFix/>
          </a:blip>
          <a:srcRect/>
          <a:stretch/>
        </p:blipFill>
        <p:spPr>
          <a:xfrm>
            <a:off x="6957568" y="815353"/>
            <a:ext cx="4741731" cy="6012180"/>
          </a:xfrm>
          <a:prstGeom prst="rect">
            <a:avLst/>
          </a:prstGeom>
          <a:noFill/>
          <a:ln>
            <a:noFill/>
          </a:ln>
        </p:spPr>
      </p:pic>
      <p:sp>
        <p:nvSpPr>
          <p:cNvPr id="488" name="Google Shape;488;p31"/>
          <p:cNvSpPr txBox="1"/>
          <p:nvPr/>
        </p:nvSpPr>
        <p:spPr>
          <a:xfrm>
            <a:off x="1206839" y="5718219"/>
            <a:ext cx="4522893" cy="879066"/>
          </a:xfrm>
          <a:prstGeom prst="rect">
            <a:avLst/>
          </a:prstGeom>
          <a:noFill/>
          <a:ln>
            <a:noFill/>
          </a:ln>
        </p:spPr>
        <p:txBody>
          <a:bodyPr spcFirstLastPara="1" wrap="square" lIns="0" tIns="16925" rIns="0" bIns="0" anchor="t" anchorCtr="0">
            <a:spAutoFit/>
          </a:bodyPr>
          <a:lstStyle/>
          <a:p>
            <a:pPr marL="16933" marR="6773" lvl="0" indent="0" algn="l" rtl="0">
              <a:spcBef>
                <a:spcPts val="0"/>
              </a:spcBef>
              <a:spcAft>
                <a:spcPts val="0"/>
              </a:spcAft>
              <a:buNone/>
            </a:pPr>
            <a:r>
              <a:rPr lang="en-US" sz="1867" b="0" i="1" u="none" strike="noStrike" cap="none">
                <a:solidFill>
                  <a:srgbClr val="595959"/>
                </a:solidFill>
                <a:latin typeface="Arial"/>
                <a:ea typeface="Arial"/>
                <a:cs typeface="Arial"/>
                <a:sym typeface="Arial"/>
              </a:rPr>
              <a:t>Kubeflow Pipelines is available as a core  component of Kubeflow or as a standalone  installation.</a:t>
            </a:r>
            <a:endParaRPr sz="1867"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347318CB-0478-950D-32AB-B170DB080C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32"/>
          <p:cNvPicPr preferRelativeResize="0"/>
          <p:nvPr/>
        </p:nvPicPr>
        <p:blipFill rotWithShape="1">
          <a:blip r:embed="rId3">
            <a:alphaModFix/>
          </a:blip>
          <a:srcRect/>
          <a:stretch/>
        </p:blipFill>
        <p:spPr>
          <a:xfrm>
            <a:off x="2062481" y="1395575"/>
            <a:ext cx="6675120" cy="4294026"/>
          </a:xfrm>
          <a:prstGeom prst="rect">
            <a:avLst/>
          </a:prstGeom>
          <a:noFill/>
          <a:ln>
            <a:noFill/>
          </a:ln>
        </p:spPr>
      </p:pic>
      <p:sp>
        <p:nvSpPr>
          <p:cNvPr id="2" name="Slide Number Placeholder 1">
            <a:extLst>
              <a:ext uri="{FF2B5EF4-FFF2-40B4-BE49-F238E27FC236}">
                <a16:creationId xmlns:a16="http://schemas.microsoft.com/office/drawing/2014/main" id="{0CE048C5-F3C5-E50A-218F-7C1C529D02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pic>
        <p:nvPicPr>
          <p:cNvPr id="498" name="Google Shape;498;p33"/>
          <p:cNvPicPr preferRelativeResize="0"/>
          <p:nvPr/>
        </p:nvPicPr>
        <p:blipFill rotWithShape="1">
          <a:blip r:embed="rId3">
            <a:alphaModFix/>
          </a:blip>
          <a:srcRect/>
          <a:stretch/>
        </p:blipFill>
        <p:spPr>
          <a:xfrm>
            <a:off x="1981199" y="809293"/>
            <a:ext cx="7082621" cy="5418787"/>
          </a:xfrm>
          <a:prstGeom prst="rect">
            <a:avLst/>
          </a:prstGeom>
          <a:noFill/>
          <a:ln>
            <a:noFill/>
          </a:ln>
        </p:spPr>
      </p:pic>
      <p:sp>
        <p:nvSpPr>
          <p:cNvPr id="2" name="Slide Number Placeholder 1">
            <a:extLst>
              <a:ext uri="{FF2B5EF4-FFF2-40B4-BE49-F238E27FC236}">
                <a16:creationId xmlns:a16="http://schemas.microsoft.com/office/drawing/2014/main" id="{FEDDE725-C180-3284-E712-1AAF6E534A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pic>
        <p:nvPicPr>
          <p:cNvPr id="503" name="Google Shape;503;p34"/>
          <p:cNvPicPr preferRelativeResize="0"/>
          <p:nvPr/>
        </p:nvPicPr>
        <p:blipFill rotWithShape="1">
          <a:blip r:embed="rId3">
            <a:alphaModFix/>
          </a:blip>
          <a:srcRect/>
          <a:stretch/>
        </p:blipFill>
        <p:spPr>
          <a:xfrm>
            <a:off x="2560320" y="666067"/>
            <a:ext cx="6573520" cy="5247053"/>
          </a:xfrm>
          <a:prstGeom prst="rect">
            <a:avLst/>
          </a:prstGeom>
          <a:noFill/>
          <a:ln>
            <a:noFill/>
          </a:ln>
        </p:spPr>
      </p:pic>
      <p:sp>
        <p:nvSpPr>
          <p:cNvPr id="2" name="Slide Number Placeholder 1">
            <a:extLst>
              <a:ext uri="{FF2B5EF4-FFF2-40B4-BE49-F238E27FC236}">
                <a16:creationId xmlns:a16="http://schemas.microsoft.com/office/drawing/2014/main" id="{8B17C506-3223-6E0B-5739-733FEFD69A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35"/>
          <p:cNvPicPr preferRelativeResize="0"/>
          <p:nvPr/>
        </p:nvPicPr>
        <p:blipFill rotWithShape="1">
          <a:blip r:embed="rId3">
            <a:alphaModFix/>
          </a:blip>
          <a:srcRect/>
          <a:stretch/>
        </p:blipFill>
        <p:spPr>
          <a:xfrm>
            <a:off x="2839283" y="1032625"/>
            <a:ext cx="6153084" cy="4055972"/>
          </a:xfrm>
          <a:prstGeom prst="rect">
            <a:avLst/>
          </a:prstGeom>
          <a:noFill/>
          <a:ln>
            <a:noFill/>
          </a:ln>
        </p:spPr>
      </p:pic>
      <p:pic>
        <p:nvPicPr>
          <p:cNvPr id="509" name="Google Shape;509;p35"/>
          <p:cNvPicPr preferRelativeResize="0"/>
          <p:nvPr/>
        </p:nvPicPr>
        <p:blipFill rotWithShape="1">
          <a:blip r:embed="rId4">
            <a:alphaModFix/>
          </a:blip>
          <a:srcRect/>
          <a:stretch/>
        </p:blipFill>
        <p:spPr>
          <a:xfrm>
            <a:off x="1891284" y="5624577"/>
            <a:ext cx="8737600" cy="812799"/>
          </a:xfrm>
          <a:prstGeom prst="rect">
            <a:avLst/>
          </a:prstGeom>
          <a:noFill/>
          <a:ln>
            <a:noFill/>
          </a:ln>
        </p:spPr>
      </p:pic>
      <p:sp>
        <p:nvSpPr>
          <p:cNvPr id="2" name="Slide Number Placeholder 1">
            <a:extLst>
              <a:ext uri="{FF2B5EF4-FFF2-40B4-BE49-F238E27FC236}">
                <a16:creationId xmlns:a16="http://schemas.microsoft.com/office/drawing/2014/main" id="{8229013D-CFC9-5A3B-290D-2AB8073ED4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6"/>
          <p:cNvSpPr txBox="1">
            <a:spLocks noGrp="1"/>
          </p:cNvSpPr>
          <p:nvPr>
            <p:ph type="title"/>
          </p:nvPr>
        </p:nvSpPr>
        <p:spPr>
          <a:xfrm>
            <a:off x="545710" y="1477849"/>
            <a:ext cx="6413889" cy="701047"/>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chemeClr val="dk1"/>
              </a:buClr>
              <a:buSzPts val="4400"/>
              <a:buFont typeface="Calibri"/>
              <a:buNone/>
            </a:pPr>
            <a:r>
              <a:rPr lang="en-US"/>
              <a:t>ML toolkit for Kubernetes</a:t>
            </a:r>
            <a:endParaRPr/>
          </a:p>
        </p:txBody>
      </p:sp>
      <p:pic>
        <p:nvPicPr>
          <p:cNvPr id="515" name="Google Shape;515;p36"/>
          <p:cNvPicPr preferRelativeResize="0"/>
          <p:nvPr/>
        </p:nvPicPr>
        <p:blipFill rotWithShape="1">
          <a:blip r:embed="rId3">
            <a:alphaModFix/>
          </a:blip>
          <a:srcRect/>
          <a:stretch/>
        </p:blipFill>
        <p:spPr>
          <a:xfrm>
            <a:off x="101601" y="2993429"/>
            <a:ext cx="11836399" cy="2574251"/>
          </a:xfrm>
          <a:prstGeom prst="rect">
            <a:avLst/>
          </a:prstGeom>
          <a:noFill/>
          <a:ln>
            <a:noFill/>
          </a:ln>
        </p:spPr>
      </p:pic>
      <p:sp>
        <p:nvSpPr>
          <p:cNvPr id="2" name="Slide Number Placeholder 1">
            <a:extLst>
              <a:ext uri="{FF2B5EF4-FFF2-40B4-BE49-F238E27FC236}">
                <a16:creationId xmlns:a16="http://schemas.microsoft.com/office/drawing/2014/main" id="{0CF17C51-2E1D-493C-6EAC-0CF2D60FFC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37"/>
          <p:cNvSpPr txBox="1">
            <a:spLocks noGrp="1"/>
          </p:cNvSpPr>
          <p:nvPr>
            <p:ph type="title"/>
          </p:nvPr>
        </p:nvSpPr>
        <p:spPr>
          <a:xfrm>
            <a:off x="118990" y="1233103"/>
            <a:ext cx="9614289" cy="682366"/>
          </a:xfrm>
          <a:prstGeom prst="rect">
            <a:avLst/>
          </a:prstGeom>
          <a:noFill/>
          <a:ln>
            <a:noFill/>
          </a:ln>
        </p:spPr>
        <p:txBody>
          <a:bodyPr spcFirstLastPara="1" wrap="square" lIns="0" tIns="15225" rIns="0" bIns="0" anchor="ctr" anchorCtr="0">
            <a:spAutoFit/>
          </a:bodyPr>
          <a:lstStyle/>
          <a:p>
            <a:pPr marL="16933" marR="6773" lvl="0" indent="0" algn="just" rtl="0">
              <a:lnSpc>
                <a:spcPct val="101699"/>
              </a:lnSpc>
              <a:spcBef>
                <a:spcPts val="0"/>
              </a:spcBef>
              <a:spcAft>
                <a:spcPts val="0"/>
              </a:spcAft>
              <a:buClr>
                <a:schemeClr val="dk1"/>
              </a:buClr>
              <a:buSzPts val="4400"/>
              <a:buFont typeface="Calibri"/>
              <a:buNone/>
            </a:pPr>
            <a:r>
              <a:rPr lang="en-US"/>
              <a:t>Google’s Vertex  AI Launched in  May 2021</a:t>
            </a:r>
            <a:endParaRPr/>
          </a:p>
        </p:txBody>
      </p:sp>
      <p:grpSp>
        <p:nvGrpSpPr>
          <p:cNvPr id="521" name="Google Shape;521;p37"/>
          <p:cNvGrpSpPr/>
          <p:nvPr/>
        </p:nvGrpSpPr>
        <p:grpSpPr>
          <a:xfrm>
            <a:off x="2509520" y="2324609"/>
            <a:ext cx="7680834" cy="3943845"/>
            <a:chOff x="300499" y="768096"/>
            <a:chExt cx="8843500" cy="4366601"/>
          </a:xfrm>
        </p:grpSpPr>
        <p:pic>
          <p:nvPicPr>
            <p:cNvPr id="522" name="Google Shape;522;p37"/>
            <p:cNvPicPr preferRelativeResize="0"/>
            <p:nvPr/>
          </p:nvPicPr>
          <p:blipFill rotWithShape="1">
            <a:blip r:embed="rId3">
              <a:alphaModFix/>
            </a:blip>
            <a:srcRect/>
            <a:stretch/>
          </p:blipFill>
          <p:spPr>
            <a:xfrm>
              <a:off x="1615482" y="768096"/>
              <a:ext cx="7528517" cy="4366601"/>
            </a:xfrm>
            <a:prstGeom prst="rect">
              <a:avLst/>
            </a:prstGeom>
            <a:noFill/>
            <a:ln>
              <a:noFill/>
            </a:ln>
          </p:spPr>
        </p:pic>
        <p:pic>
          <p:nvPicPr>
            <p:cNvPr id="523" name="Google Shape;523;p37"/>
            <p:cNvPicPr preferRelativeResize="0"/>
            <p:nvPr/>
          </p:nvPicPr>
          <p:blipFill rotWithShape="1">
            <a:blip r:embed="rId4">
              <a:alphaModFix/>
            </a:blip>
            <a:srcRect/>
            <a:stretch/>
          </p:blipFill>
          <p:spPr>
            <a:xfrm>
              <a:off x="300499" y="2194373"/>
              <a:ext cx="1244953" cy="809219"/>
            </a:xfrm>
            <a:prstGeom prst="rect">
              <a:avLst/>
            </a:prstGeom>
            <a:noFill/>
            <a:ln>
              <a:noFill/>
            </a:ln>
          </p:spPr>
        </p:pic>
      </p:grpSp>
      <p:sp>
        <p:nvSpPr>
          <p:cNvPr id="2" name="Slide Number Placeholder 1">
            <a:extLst>
              <a:ext uri="{FF2B5EF4-FFF2-40B4-BE49-F238E27FC236}">
                <a16:creationId xmlns:a16="http://schemas.microsoft.com/office/drawing/2014/main" id="{EB839529-77C0-F0AF-7883-6440B5BE3E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8"/>
          <p:cNvSpPr txBox="1">
            <a:spLocks noGrp="1"/>
          </p:cNvSpPr>
          <p:nvPr>
            <p:ph type="title"/>
          </p:nvPr>
        </p:nvSpPr>
        <p:spPr>
          <a:xfrm>
            <a:off x="224518" y="1182323"/>
            <a:ext cx="5632572" cy="577936"/>
          </a:xfrm>
          <a:prstGeom prst="rect">
            <a:avLst/>
          </a:prstGeom>
          <a:noFill/>
          <a:ln>
            <a:noFill/>
          </a:ln>
        </p:spPr>
        <p:txBody>
          <a:bodyPr spcFirstLastPara="1" wrap="square" lIns="0" tIns="23700" rIns="0" bIns="0" anchor="ctr" anchorCtr="0">
            <a:spAutoFit/>
          </a:bodyPr>
          <a:lstStyle/>
          <a:p>
            <a:pPr marL="16933" lvl="0" indent="0" algn="l" rtl="0">
              <a:lnSpc>
                <a:spcPct val="100000"/>
              </a:lnSpc>
              <a:spcBef>
                <a:spcPts val="0"/>
              </a:spcBef>
              <a:spcAft>
                <a:spcPts val="0"/>
              </a:spcAft>
              <a:buClr>
                <a:srgbClr val="1A1A1A"/>
              </a:buClr>
              <a:buSzPts val="3600"/>
              <a:buFont typeface="Trebuchet MS"/>
              <a:buNone/>
            </a:pPr>
            <a:r>
              <a:rPr lang="en-US" sz="3600"/>
              <a:t>ML Pipelines | wrap-up</a:t>
            </a:r>
            <a:endParaRPr/>
          </a:p>
        </p:txBody>
      </p:sp>
      <p:sp>
        <p:nvSpPr>
          <p:cNvPr id="529" name="Google Shape;529;p38"/>
          <p:cNvSpPr txBox="1"/>
          <p:nvPr/>
        </p:nvSpPr>
        <p:spPr>
          <a:xfrm>
            <a:off x="78741" y="2740505"/>
            <a:ext cx="5924127" cy="2540481"/>
          </a:xfrm>
          <a:prstGeom prst="rect">
            <a:avLst/>
          </a:prstGeom>
          <a:noFill/>
          <a:ln>
            <a:noFill/>
          </a:ln>
        </p:spPr>
        <p:txBody>
          <a:bodyPr spcFirstLastPara="1" wrap="square" lIns="0" tIns="65175" rIns="0" bIns="0" anchor="t" anchorCtr="0">
            <a:spAutoFit/>
          </a:bodyPr>
          <a:lstStyle/>
          <a:p>
            <a:pPr marL="16933" marR="0" lvl="0" indent="0" algn="just" rtl="0">
              <a:spcBef>
                <a:spcPts val="0"/>
              </a:spcBef>
              <a:spcAft>
                <a:spcPts val="0"/>
              </a:spcAft>
              <a:buNone/>
            </a:pPr>
            <a:r>
              <a:rPr lang="en-US" sz="1800" b="0" i="0" u="none" strike="noStrike" cap="none">
                <a:solidFill>
                  <a:srgbClr val="595959"/>
                </a:solidFill>
                <a:latin typeface="Tahoma"/>
                <a:ea typeface="Tahoma"/>
                <a:cs typeface="Tahoma"/>
                <a:sym typeface="Tahoma"/>
              </a:rPr>
              <a:t>By using a ML pipeline, you can:</a:t>
            </a:r>
            <a:endParaRPr sz="1800" b="0" i="0" u="none" strike="noStrike" cap="none">
              <a:solidFill>
                <a:schemeClr val="dk1"/>
              </a:solidFill>
              <a:latin typeface="Tahoma"/>
              <a:ea typeface="Tahoma"/>
              <a:cs typeface="Tahoma"/>
              <a:sym typeface="Tahoma"/>
            </a:endParaRPr>
          </a:p>
          <a:p>
            <a:pPr marL="855111" marR="6773" lvl="0" indent="-200654" algn="just" rtl="0">
              <a:lnSpc>
                <a:spcPct val="114999"/>
              </a:lnSpc>
              <a:spcBef>
                <a:spcPts val="0"/>
              </a:spcBef>
              <a:spcAft>
                <a:spcPts val="0"/>
              </a:spcAft>
              <a:buClr>
                <a:srgbClr val="595959"/>
              </a:buClr>
              <a:buSzPts val="1238"/>
              <a:buFont typeface="Arial"/>
              <a:buChar char="•"/>
            </a:pPr>
            <a:r>
              <a:rPr lang="en-US" sz="1800" b="0" i="0" u="none" strike="noStrike" cap="none">
                <a:solidFill>
                  <a:srgbClr val="595959"/>
                </a:solidFill>
                <a:latin typeface="Tahoma"/>
                <a:ea typeface="Tahoma"/>
                <a:cs typeface="Tahoma"/>
                <a:sym typeface="Tahoma"/>
              </a:rPr>
              <a:t>Automate your ML process, which lets you  regularly retrain, evaluate, and deploy your  model.</a:t>
            </a:r>
            <a:endParaRPr sz="1800" b="0" i="0" u="none" strike="noStrike" cap="none">
              <a:solidFill>
                <a:schemeClr val="dk1"/>
              </a:solidFill>
              <a:latin typeface="Tahoma"/>
              <a:ea typeface="Tahoma"/>
              <a:cs typeface="Tahoma"/>
              <a:sym typeface="Tahoma"/>
            </a:endParaRPr>
          </a:p>
          <a:p>
            <a:pPr marL="855111" marR="200655" lvl="0" indent="-200654" algn="l" rtl="0">
              <a:lnSpc>
                <a:spcPct val="114999"/>
              </a:lnSpc>
              <a:spcBef>
                <a:spcPts val="0"/>
              </a:spcBef>
              <a:spcAft>
                <a:spcPts val="0"/>
              </a:spcAft>
              <a:buClr>
                <a:srgbClr val="595959"/>
              </a:buClr>
              <a:buSzPts val="1238"/>
              <a:buFont typeface="Arial"/>
              <a:buChar char="•"/>
            </a:pPr>
            <a:r>
              <a:rPr lang="en-US" sz="1800" b="0" i="0" u="none" strike="noStrike" cap="none">
                <a:solidFill>
                  <a:srgbClr val="595959"/>
                </a:solidFill>
                <a:latin typeface="Tahoma"/>
                <a:ea typeface="Tahoma"/>
                <a:cs typeface="Tahoma"/>
                <a:sym typeface="Tahoma"/>
              </a:rPr>
              <a:t>Utilize distributed compute resources for  processing large datasets and workloads.</a:t>
            </a:r>
            <a:endParaRPr sz="1800" b="0" i="0" u="none" strike="noStrike" cap="none">
              <a:solidFill>
                <a:schemeClr val="dk1"/>
              </a:solidFill>
              <a:latin typeface="Tahoma"/>
              <a:ea typeface="Tahoma"/>
              <a:cs typeface="Tahoma"/>
              <a:sym typeface="Tahoma"/>
            </a:endParaRPr>
          </a:p>
          <a:p>
            <a:pPr marL="855111" marR="109217" lvl="0" indent="-200654" algn="l" rtl="0">
              <a:lnSpc>
                <a:spcPct val="114999"/>
              </a:lnSpc>
              <a:spcBef>
                <a:spcPts val="0"/>
              </a:spcBef>
              <a:spcAft>
                <a:spcPts val="0"/>
              </a:spcAft>
              <a:buClr>
                <a:srgbClr val="595959"/>
              </a:buClr>
              <a:buSzPts val="1238"/>
              <a:buFont typeface="Arial"/>
              <a:buChar char="•"/>
            </a:pPr>
            <a:r>
              <a:rPr lang="en-US" sz="1800" b="0" i="0" u="none" strike="noStrike" cap="none">
                <a:solidFill>
                  <a:srgbClr val="595959"/>
                </a:solidFill>
                <a:latin typeface="Tahoma"/>
                <a:ea typeface="Tahoma"/>
                <a:cs typeface="Tahoma"/>
                <a:sym typeface="Tahoma"/>
              </a:rPr>
              <a:t>Increase the velocity of experimentation  by running a pipeline with different sets of  hyperparameters.</a:t>
            </a:r>
            <a:endParaRPr sz="1800" b="0" i="0" u="none" strike="noStrike" cap="none">
              <a:solidFill>
                <a:schemeClr val="dk1"/>
              </a:solidFill>
              <a:latin typeface="Tahoma"/>
              <a:ea typeface="Tahoma"/>
              <a:cs typeface="Tahoma"/>
              <a:sym typeface="Tahoma"/>
            </a:endParaRPr>
          </a:p>
        </p:txBody>
      </p:sp>
      <p:pic>
        <p:nvPicPr>
          <p:cNvPr id="530" name="Google Shape;530;p38"/>
          <p:cNvPicPr preferRelativeResize="0"/>
          <p:nvPr/>
        </p:nvPicPr>
        <p:blipFill rotWithShape="1">
          <a:blip r:embed="rId3">
            <a:alphaModFix/>
          </a:blip>
          <a:srcRect/>
          <a:stretch/>
        </p:blipFill>
        <p:spPr>
          <a:xfrm>
            <a:off x="6697473" y="1613531"/>
            <a:ext cx="5124231" cy="68323"/>
          </a:xfrm>
          <a:prstGeom prst="rect">
            <a:avLst/>
          </a:prstGeom>
          <a:noFill/>
          <a:ln>
            <a:noFill/>
          </a:ln>
        </p:spPr>
      </p:pic>
      <p:pic>
        <p:nvPicPr>
          <p:cNvPr id="531" name="Google Shape;531;p38"/>
          <p:cNvPicPr preferRelativeResize="0"/>
          <p:nvPr/>
        </p:nvPicPr>
        <p:blipFill rotWithShape="1">
          <a:blip r:embed="rId3">
            <a:alphaModFix/>
          </a:blip>
          <a:srcRect/>
          <a:stretch/>
        </p:blipFill>
        <p:spPr>
          <a:xfrm>
            <a:off x="6673089" y="5367777"/>
            <a:ext cx="5124231" cy="68323"/>
          </a:xfrm>
          <a:prstGeom prst="rect">
            <a:avLst/>
          </a:prstGeom>
          <a:noFill/>
          <a:ln>
            <a:noFill/>
          </a:ln>
        </p:spPr>
      </p:pic>
      <p:sp>
        <p:nvSpPr>
          <p:cNvPr id="532" name="Google Shape;532;p38"/>
          <p:cNvSpPr txBox="1"/>
          <p:nvPr/>
        </p:nvSpPr>
        <p:spPr>
          <a:xfrm>
            <a:off x="6778583" y="2144622"/>
            <a:ext cx="5251872" cy="2648140"/>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2133" b="0" i="0" u="none" strike="noStrike" cap="none">
                <a:solidFill>
                  <a:schemeClr val="dk1"/>
                </a:solidFill>
                <a:latin typeface="Arial"/>
                <a:ea typeface="Arial"/>
                <a:cs typeface="Arial"/>
                <a:sym typeface="Arial"/>
              </a:rPr>
              <a:t>To learn more visit the following tutorials @:</a:t>
            </a:r>
            <a:endParaRPr sz="2133" b="0" i="0" u="none" strike="noStrike" cap="none">
              <a:solidFill>
                <a:schemeClr val="dk1"/>
              </a:solidFill>
              <a:latin typeface="Arial"/>
              <a:ea typeface="Arial"/>
              <a:cs typeface="Arial"/>
              <a:sym typeface="Arial"/>
            </a:endParaRPr>
          </a:p>
          <a:p>
            <a:pPr marL="16933" marR="0" lvl="0" indent="0" algn="l" rtl="0">
              <a:spcBef>
                <a:spcPts val="0"/>
              </a:spcBef>
              <a:spcAft>
                <a:spcPts val="0"/>
              </a:spcAft>
              <a:buNone/>
            </a:pPr>
            <a:r>
              <a:rPr lang="en-US" sz="2133" b="1" i="0" u="sng" strike="noStrike" cap="none">
                <a:solidFill>
                  <a:srgbClr val="1B3678"/>
                </a:solidFill>
                <a:latin typeface="Tahoma"/>
                <a:ea typeface="Tahoma"/>
                <a:cs typeface="Tahoma"/>
                <a:sym typeface="Tahoma"/>
                <a:hlinkClick r:id="rId4">
                  <a:extLst>
                    <a:ext uri="{A12FA001-AC4F-418D-AE19-62706E023703}">
                      <ahyp:hlinkClr xmlns:ahyp="http://schemas.microsoft.com/office/drawing/2018/hyperlinkcolor" val="tx"/>
                    </a:ext>
                  </a:extLst>
                </a:hlinkClick>
              </a:rPr>
              <a:t>Data Science &amp; Data Engineering</a:t>
            </a:r>
            <a:endParaRPr sz="2133" b="0" i="0" u="none" strike="noStrike" cap="none">
              <a:solidFill>
                <a:schemeClr val="dk1"/>
              </a:solidFill>
              <a:latin typeface="Tahoma"/>
              <a:ea typeface="Tahoma"/>
              <a:cs typeface="Tahoma"/>
              <a:sym typeface="Tahoma"/>
            </a:endParaRPr>
          </a:p>
          <a:p>
            <a:pPr marL="16933" marR="0" lvl="0" indent="0" algn="l" rtl="0">
              <a:spcBef>
                <a:spcPts val="2560"/>
              </a:spcBef>
              <a:spcAft>
                <a:spcPts val="0"/>
              </a:spcAft>
              <a:buNone/>
            </a:pPr>
            <a:r>
              <a:rPr lang="en-US" sz="2133" b="0" i="0" u="none" strike="noStrike" cap="none">
                <a:solidFill>
                  <a:schemeClr val="dk1"/>
                </a:solidFill>
                <a:latin typeface="Arial"/>
                <a:ea typeface="Arial"/>
                <a:cs typeface="Arial"/>
                <a:sym typeface="Arial"/>
              </a:rPr>
              <a:t>MLOps tutorials on how to:</a:t>
            </a:r>
            <a:endParaRPr sz="2133" b="0" i="0" u="none" strike="noStrike" cap="none">
              <a:solidFill>
                <a:schemeClr val="dk1"/>
              </a:solidFill>
              <a:latin typeface="Arial"/>
              <a:ea typeface="Arial"/>
              <a:cs typeface="Arial"/>
              <a:sym typeface="Arial"/>
            </a:endParaRPr>
          </a:p>
          <a:p>
            <a:pPr marL="397923" marR="0" lvl="0" indent="-341197" algn="l" rtl="0">
              <a:spcBef>
                <a:spcPts val="0"/>
              </a:spcBef>
              <a:spcAft>
                <a:spcPts val="0"/>
              </a:spcAft>
              <a:buClr>
                <a:schemeClr val="dk1"/>
              </a:buClr>
              <a:buSzPts val="2133"/>
              <a:buFont typeface="Arial"/>
              <a:buChar char="•"/>
            </a:pPr>
            <a:r>
              <a:rPr lang="en-US" sz="2133" b="0" i="0" u="none" strike="noStrike" cap="none">
                <a:solidFill>
                  <a:schemeClr val="dk1"/>
                </a:solidFill>
                <a:latin typeface="Arial"/>
                <a:ea typeface="Arial"/>
                <a:cs typeface="Arial"/>
                <a:sym typeface="Arial"/>
              </a:rPr>
              <a:t>Install TF and TFX</a:t>
            </a:r>
            <a:endParaRPr sz="2133" b="0" i="0" u="none" strike="noStrike" cap="none">
              <a:solidFill>
                <a:schemeClr val="dk1"/>
              </a:solidFill>
              <a:latin typeface="Arial"/>
              <a:ea typeface="Arial"/>
              <a:cs typeface="Arial"/>
              <a:sym typeface="Arial"/>
            </a:endParaRPr>
          </a:p>
          <a:p>
            <a:pPr marL="397923" marR="0" lvl="0" indent="-341197" algn="l" rtl="0">
              <a:spcBef>
                <a:spcPts val="0"/>
              </a:spcBef>
              <a:spcAft>
                <a:spcPts val="0"/>
              </a:spcAft>
              <a:buClr>
                <a:schemeClr val="dk1"/>
              </a:buClr>
              <a:buSzPts val="2133"/>
              <a:buFont typeface="Arial"/>
              <a:buChar char="•"/>
            </a:pPr>
            <a:r>
              <a:rPr lang="en-US" sz="2133" b="0" i="0" u="none" strike="noStrike" cap="none">
                <a:solidFill>
                  <a:schemeClr val="dk1"/>
                </a:solidFill>
                <a:latin typeface="Arial"/>
                <a:ea typeface="Arial"/>
                <a:cs typeface="Arial"/>
                <a:sym typeface="Arial"/>
              </a:rPr>
              <a:t>Build your first TFX pipeline</a:t>
            </a:r>
            <a:endParaRPr sz="2133" b="0" i="0" u="none" strike="noStrike" cap="none">
              <a:solidFill>
                <a:schemeClr val="dk1"/>
              </a:solidFill>
              <a:latin typeface="Arial"/>
              <a:ea typeface="Arial"/>
              <a:cs typeface="Arial"/>
              <a:sym typeface="Arial"/>
            </a:endParaRPr>
          </a:p>
          <a:p>
            <a:pPr marL="397923" marR="0" lvl="0" indent="-341197" algn="l" rtl="0">
              <a:spcBef>
                <a:spcPts val="0"/>
              </a:spcBef>
              <a:spcAft>
                <a:spcPts val="0"/>
              </a:spcAft>
              <a:buClr>
                <a:schemeClr val="dk1"/>
              </a:buClr>
              <a:buSzPts val="2133"/>
              <a:buFont typeface="Arial"/>
              <a:buChar char="•"/>
            </a:pPr>
            <a:r>
              <a:rPr lang="en-US" sz="2133" b="0" i="0" u="none" strike="noStrike" cap="none">
                <a:solidFill>
                  <a:schemeClr val="dk1"/>
                </a:solidFill>
                <a:latin typeface="Arial"/>
                <a:ea typeface="Arial"/>
                <a:cs typeface="Arial"/>
                <a:sym typeface="Arial"/>
              </a:rPr>
              <a:t>Install Kubeflow</a:t>
            </a:r>
            <a:endParaRPr sz="2133" b="0" i="0" u="none" strike="noStrike" cap="none">
              <a:solidFill>
                <a:schemeClr val="dk1"/>
              </a:solidFill>
              <a:latin typeface="Arial"/>
              <a:ea typeface="Arial"/>
              <a:cs typeface="Arial"/>
              <a:sym typeface="Arial"/>
            </a:endParaRPr>
          </a:p>
          <a:p>
            <a:pPr marL="397923" marR="0" lvl="0" indent="-341197" algn="l" rtl="0">
              <a:spcBef>
                <a:spcPts val="0"/>
              </a:spcBef>
              <a:spcAft>
                <a:spcPts val="0"/>
              </a:spcAft>
              <a:buClr>
                <a:schemeClr val="dk1"/>
              </a:buClr>
              <a:buSzPts val="2133"/>
              <a:buFont typeface="Arial"/>
              <a:buChar char="•"/>
            </a:pPr>
            <a:r>
              <a:rPr lang="en-US" sz="2133" b="0" i="0" u="none" strike="noStrike" cap="none">
                <a:solidFill>
                  <a:schemeClr val="dk1"/>
                </a:solidFill>
                <a:latin typeface="Arial"/>
                <a:ea typeface="Arial"/>
                <a:cs typeface="Arial"/>
                <a:sym typeface="Arial"/>
              </a:rPr>
              <a:t>Build your first Kubeflow pipeline</a:t>
            </a:r>
            <a:endParaRPr sz="2133"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3E5CEC79-685C-8A60-6D4C-BFCB5B7BAA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sz="1200" b="0" i="0" u="none" strike="noStrike" cap="none">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39"/>
          <p:cNvSpPr txBox="1">
            <a:spLocks noGrp="1"/>
          </p:cNvSpPr>
          <p:nvPr>
            <p:ph type="ctrTitle"/>
          </p:nvPr>
        </p:nvSpPr>
        <p:spPr>
          <a:xfrm>
            <a:off x="4263845" y="649743"/>
            <a:ext cx="3664309" cy="921685"/>
          </a:xfrm>
          <a:prstGeom prst="rect">
            <a:avLst/>
          </a:prstGeom>
          <a:noFill/>
          <a:ln>
            <a:noFill/>
          </a:ln>
        </p:spPr>
        <p:txBody>
          <a:bodyPr spcFirstLastPara="1" wrap="square" lIns="0" tIns="18625" rIns="0" bIns="0" anchor="ctr" anchorCtr="0">
            <a:spAutoFit/>
          </a:bodyPr>
          <a:lstStyle/>
          <a:p>
            <a:pPr marL="21166" lvl="0" indent="0" algn="l" rtl="0">
              <a:lnSpc>
                <a:spcPct val="100000"/>
              </a:lnSpc>
              <a:spcBef>
                <a:spcPts val="0"/>
              </a:spcBef>
              <a:spcAft>
                <a:spcPts val="0"/>
              </a:spcAft>
              <a:buClr>
                <a:srgbClr val="1A1A1A"/>
              </a:buClr>
              <a:buSzPts val="5800"/>
              <a:buFont typeface="Trebuchet MS"/>
              <a:buNone/>
            </a:pPr>
            <a:r>
              <a:rPr lang="en-US"/>
              <a:t>Backup</a:t>
            </a:r>
            <a:endParaRPr/>
          </a:p>
        </p:txBody>
      </p:sp>
      <p:sp>
        <p:nvSpPr>
          <p:cNvPr id="538" name="Google Shape;538;p39"/>
          <p:cNvSpPr txBox="1"/>
          <p:nvPr/>
        </p:nvSpPr>
        <p:spPr>
          <a:xfrm>
            <a:off x="1194960" y="3212609"/>
            <a:ext cx="9433560" cy="2479504"/>
          </a:xfrm>
          <a:prstGeom prst="rect">
            <a:avLst/>
          </a:prstGeom>
          <a:noFill/>
          <a:ln>
            <a:noFill/>
          </a:ln>
        </p:spPr>
        <p:txBody>
          <a:bodyPr spcFirstLastPara="1" wrap="square" lIns="0" tIns="16925" rIns="0" bIns="0" anchor="t" anchorCtr="0">
            <a:spAutoFit/>
          </a:bodyPr>
          <a:lstStyle/>
          <a:p>
            <a:pPr marL="16933" marR="6773" lvl="0" indent="-846" algn="ctr" rtl="0">
              <a:lnSpc>
                <a:spcPct val="114999"/>
              </a:lnSpc>
              <a:spcBef>
                <a:spcPts val="0"/>
              </a:spcBef>
              <a:spcAft>
                <a:spcPts val="0"/>
              </a:spcAft>
              <a:buNone/>
            </a:pPr>
            <a:r>
              <a:rPr lang="en-US" sz="4800" b="0" i="0" u="none" strike="noStrike" cap="none">
                <a:solidFill>
                  <a:srgbClr val="595959"/>
                </a:solidFill>
                <a:latin typeface="Tahoma"/>
                <a:ea typeface="Tahoma"/>
                <a:cs typeface="Tahoma"/>
                <a:sym typeface="Tahoma"/>
              </a:rPr>
              <a:t>Continuous Integration and  Continuous Delivery pipeline for an  ML/AI project in Microsoft Azure</a:t>
            </a:r>
            <a:endParaRPr sz="4800" b="0" i="0" u="none" strike="noStrike" cap="none">
              <a:solidFill>
                <a:schemeClr val="dk1"/>
              </a:solidFill>
              <a:latin typeface="Tahoma"/>
              <a:ea typeface="Tahoma"/>
              <a:cs typeface="Tahoma"/>
              <a:sym typeface="Tahoma"/>
            </a:endParaRPr>
          </a:p>
        </p:txBody>
      </p:sp>
      <p:pic>
        <p:nvPicPr>
          <p:cNvPr id="539" name="Google Shape;539;p39"/>
          <p:cNvPicPr preferRelativeResize="0"/>
          <p:nvPr/>
        </p:nvPicPr>
        <p:blipFill rotWithShape="1">
          <a:blip r:embed="rId3">
            <a:alphaModFix/>
          </a:blip>
          <a:srcRect/>
          <a:stretch/>
        </p:blipFill>
        <p:spPr>
          <a:xfrm>
            <a:off x="3274876" y="2087050"/>
            <a:ext cx="4876799" cy="1015999"/>
          </a:xfrm>
          <a:prstGeom prst="rect">
            <a:avLst/>
          </a:prstGeom>
          <a:noFill/>
          <a:ln>
            <a:noFill/>
          </a:ln>
        </p:spPr>
      </p:pic>
      <p:sp>
        <p:nvSpPr>
          <p:cNvPr id="2" name="Slide Number Placeholder 1">
            <a:extLst>
              <a:ext uri="{FF2B5EF4-FFF2-40B4-BE49-F238E27FC236}">
                <a16:creationId xmlns:a16="http://schemas.microsoft.com/office/drawing/2014/main" id="{81E2AFB7-97AC-ED1A-1705-F54F3111DD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sz="1200" b="0" i="0" u="none" strike="noStrike" cap="none">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5" name="Google Shape;545;p40"/>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65</a:t>
            </a:fld>
            <a:endParaRPr/>
          </a:p>
        </p:txBody>
      </p:sp>
      <p:sp>
        <p:nvSpPr>
          <p:cNvPr id="546" name="Google Shape;546;p40"/>
          <p:cNvSpPr txBox="1"/>
          <p:nvPr/>
        </p:nvSpPr>
        <p:spPr>
          <a:xfrm>
            <a:off x="736600" y="1409065"/>
            <a:ext cx="10515600" cy="435133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Q&amp;A </a:t>
            </a:r>
            <a:endParaRPr/>
          </a:p>
          <a:p>
            <a:pPr marL="0" marR="0" lvl="0" indent="0" algn="ctr"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Questions and answers </a:t>
            </a: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grpSp>
        <p:nvGrpSpPr>
          <p:cNvPr id="551" name="Google Shape;551;p41"/>
          <p:cNvGrpSpPr/>
          <p:nvPr/>
        </p:nvGrpSpPr>
        <p:grpSpPr>
          <a:xfrm>
            <a:off x="2174240" y="736600"/>
            <a:ext cx="8760948" cy="4749266"/>
            <a:chOff x="0" y="72390"/>
            <a:chExt cx="9062349" cy="4194338"/>
          </a:xfrm>
        </p:grpSpPr>
        <p:pic>
          <p:nvPicPr>
            <p:cNvPr id="552" name="Google Shape;552;p41"/>
            <p:cNvPicPr preferRelativeResize="0"/>
            <p:nvPr/>
          </p:nvPicPr>
          <p:blipFill rotWithShape="1">
            <a:blip r:embed="rId3">
              <a:alphaModFix/>
            </a:blip>
            <a:srcRect/>
            <a:stretch/>
          </p:blipFill>
          <p:spPr>
            <a:xfrm>
              <a:off x="0" y="72390"/>
              <a:ext cx="4362449" cy="1400174"/>
            </a:xfrm>
            <a:prstGeom prst="rect">
              <a:avLst/>
            </a:prstGeom>
            <a:noFill/>
            <a:ln>
              <a:noFill/>
            </a:ln>
          </p:spPr>
        </p:pic>
        <p:pic>
          <p:nvPicPr>
            <p:cNvPr id="553" name="Google Shape;553;p41"/>
            <p:cNvPicPr preferRelativeResize="0"/>
            <p:nvPr/>
          </p:nvPicPr>
          <p:blipFill rotWithShape="1">
            <a:blip r:embed="rId4">
              <a:alphaModFix/>
            </a:blip>
            <a:srcRect/>
            <a:stretch/>
          </p:blipFill>
          <p:spPr>
            <a:xfrm>
              <a:off x="210883" y="1383220"/>
              <a:ext cx="4836604" cy="2883508"/>
            </a:xfrm>
            <a:prstGeom prst="rect">
              <a:avLst/>
            </a:prstGeom>
            <a:noFill/>
            <a:ln>
              <a:noFill/>
            </a:ln>
          </p:spPr>
        </p:pic>
        <p:pic>
          <p:nvPicPr>
            <p:cNvPr id="554" name="Google Shape;554;p41"/>
            <p:cNvPicPr preferRelativeResize="0"/>
            <p:nvPr/>
          </p:nvPicPr>
          <p:blipFill rotWithShape="1">
            <a:blip r:embed="rId5">
              <a:alphaModFix/>
            </a:blip>
            <a:srcRect/>
            <a:stretch/>
          </p:blipFill>
          <p:spPr>
            <a:xfrm>
              <a:off x="4781552" y="1255775"/>
              <a:ext cx="4280797" cy="2426208"/>
            </a:xfrm>
            <a:prstGeom prst="rect">
              <a:avLst/>
            </a:prstGeom>
            <a:noFill/>
            <a:ln>
              <a:noFill/>
            </a:ln>
          </p:spPr>
        </p:pic>
      </p:grpSp>
      <p:sp>
        <p:nvSpPr>
          <p:cNvPr id="555" name="Google Shape;555;p41"/>
          <p:cNvSpPr txBox="1"/>
          <p:nvPr/>
        </p:nvSpPr>
        <p:spPr>
          <a:xfrm>
            <a:off x="2572343" y="5876510"/>
            <a:ext cx="6741160" cy="509541"/>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3200" b="0" i="0" u="none" strike="noStrike" cap="none">
                <a:solidFill>
                  <a:schemeClr val="dk1"/>
                </a:solidFill>
                <a:latin typeface="Arial"/>
                <a:ea typeface="Arial"/>
                <a:cs typeface="Arial"/>
                <a:sym typeface="Arial"/>
              </a:rPr>
              <a:t>CI/CD and source code management</a:t>
            </a:r>
            <a:endParaRPr sz="3200"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A3690B53-4740-69E5-775B-35AB13DB14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560" name="Google Shape;560;p42"/>
          <p:cNvPicPr preferRelativeResize="0"/>
          <p:nvPr/>
        </p:nvPicPr>
        <p:blipFill rotWithShape="1">
          <a:blip r:embed="rId3">
            <a:alphaModFix/>
          </a:blip>
          <a:srcRect/>
          <a:stretch/>
        </p:blipFill>
        <p:spPr>
          <a:xfrm>
            <a:off x="1656333" y="715292"/>
            <a:ext cx="3250947" cy="1333047"/>
          </a:xfrm>
          <a:prstGeom prst="rect">
            <a:avLst/>
          </a:prstGeom>
          <a:noFill/>
          <a:ln>
            <a:noFill/>
          </a:ln>
        </p:spPr>
      </p:pic>
      <p:pic>
        <p:nvPicPr>
          <p:cNvPr id="561" name="Google Shape;561;p42"/>
          <p:cNvPicPr preferRelativeResize="0"/>
          <p:nvPr/>
        </p:nvPicPr>
        <p:blipFill rotWithShape="1">
          <a:blip r:embed="rId4">
            <a:alphaModFix/>
          </a:blip>
          <a:srcRect/>
          <a:stretch/>
        </p:blipFill>
        <p:spPr>
          <a:xfrm>
            <a:off x="7132320" y="1144901"/>
            <a:ext cx="4829408" cy="1818302"/>
          </a:xfrm>
          <a:prstGeom prst="rect">
            <a:avLst/>
          </a:prstGeom>
          <a:noFill/>
          <a:ln>
            <a:noFill/>
          </a:ln>
        </p:spPr>
      </p:pic>
      <p:pic>
        <p:nvPicPr>
          <p:cNvPr id="562" name="Google Shape;562;p42"/>
          <p:cNvPicPr preferRelativeResize="0"/>
          <p:nvPr/>
        </p:nvPicPr>
        <p:blipFill rotWithShape="1">
          <a:blip r:embed="rId5">
            <a:alphaModFix/>
          </a:blip>
          <a:srcRect/>
          <a:stretch/>
        </p:blipFill>
        <p:spPr>
          <a:xfrm>
            <a:off x="7014153" y="3429000"/>
            <a:ext cx="5065741" cy="2139630"/>
          </a:xfrm>
          <a:prstGeom prst="rect">
            <a:avLst/>
          </a:prstGeom>
          <a:noFill/>
          <a:ln>
            <a:noFill/>
          </a:ln>
        </p:spPr>
      </p:pic>
      <p:pic>
        <p:nvPicPr>
          <p:cNvPr id="563" name="Google Shape;563;p42"/>
          <p:cNvPicPr preferRelativeResize="0"/>
          <p:nvPr/>
        </p:nvPicPr>
        <p:blipFill rotWithShape="1">
          <a:blip r:embed="rId6">
            <a:alphaModFix/>
          </a:blip>
          <a:srcRect/>
          <a:stretch/>
        </p:blipFill>
        <p:spPr>
          <a:xfrm>
            <a:off x="199055" y="2194561"/>
            <a:ext cx="5439745" cy="3007359"/>
          </a:xfrm>
          <a:prstGeom prst="rect">
            <a:avLst/>
          </a:prstGeom>
          <a:noFill/>
          <a:ln>
            <a:noFill/>
          </a:ln>
        </p:spPr>
      </p:pic>
      <p:sp>
        <p:nvSpPr>
          <p:cNvPr id="564" name="Google Shape;564;p42"/>
          <p:cNvSpPr txBox="1"/>
          <p:nvPr/>
        </p:nvSpPr>
        <p:spPr>
          <a:xfrm>
            <a:off x="1174325" y="6034428"/>
            <a:ext cx="4625339" cy="345330"/>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2133" b="0" i="0" u="none" strike="noStrike" cap="none">
                <a:solidFill>
                  <a:schemeClr val="dk1"/>
                </a:solidFill>
                <a:latin typeface="Arial"/>
                <a:ea typeface="Arial"/>
                <a:cs typeface="Arial"/>
                <a:sym typeface="Arial"/>
              </a:rPr>
              <a:t>Cloud based machine learning service</a:t>
            </a:r>
            <a:endParaRPr sz="2133"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88E11EE8-BA18-FB8F-6400-5F9A2831E1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pic>
        <p:nvPicPr>
          <p:cNvPr id="569" name="Google Shape;569;p43"/>
          <p:cNvPicPr preferRelativeResize="0"/>
          <p:nvPr/>
        </p:nvPicPr>
        <p:blipFill rotWithShape="1">
          <a:blip r:embed="rId3">
            <a:alphaModFix/>
          </a:blip>
          <a:srcRect/>
          <a:stretch/>
        </p:blipFill>
        <p:spPr>
          <a:xfrm>
            <a:off x="589280" y="1502917"/>
            <a:ext cx="11602720" cy="3699003"/>
          </a:xfrm>
          <a:prstGeom prst="rect">
            <a:avLst/>
          </a:prstGeom>
          <a:noFill/>
          <a:ln>
            <a:noFill/>
          </a:ln>
        </p:spPr>
      </p:pic>
      <p:sp>
        <p:nvSpPr>
          <p:cNvPr id="2" name="Slide Number Placeholder 1">
            <a:extLst>
              <a:ext uri="{FF2B5EF4-FFF2-40B4-BE49-F238E27FC236}">
                <a16:creationId xmlns:a16="http://schemas.microsoft.com/office/drawing/2014/main" id="{91A33E0A-A146-0170-00C3-0DB79319A9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44"/>
          <p:cNvPicPr preferRelativeResize="0"/>
          <p:nvPr/>
        </p:nvPicPr>
        <p:blipFill rotWithShape="1">
          <a:blip r:embed="rId3">
            <a:alphaModFix/>
          </a:blip>
          <a:srcRect/>
          <a:stretch/>
        </p:blipFill>
        <p:spPr>
          <a:xfrm>
            <a:off x="2011679" y="789301"/>
            <a:ext cx="7325553" cy="5408300"/>
          </a:xfrm>
          <a:prstGeom prst="rect">
            <a:avLst/>
          </a:prstGeom>
          <a:noFill/>
          <a:ln>
            <a:noFill/>
          </a:ln>
        </p:spPr>
      </p:pic>
      <p:sp>
        <p:nvSpPr>
          <p:cNvPr id="2" name="Slide Number Placeholder 1">
            <a:extLst>
              <a:ext uri="{FF2B5EF4-FFF2-40B4-BE49-F238E27FC236}">
                <a16:creationId xmlns:a16="http://schemas.microsoft.com/office/drawing/2014/main" id="{63349D1E-73A9-FAD0-795C-32BA3C496A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pic>
        <p:nvPicPr>
          <p:cNvPr id="579" name="Google Shape;579;p45"/>
          <p:cNvPicPr preferRelativeResize="0"/>
          <p:nvPr/>
        </p:nvPicPr>
        <p:blipFill rotWithShape="1">
          <a:blip r:embed="rId3">
            <a:alphaModFix/>
          </a:blip>
          <a:srcRect/>
          <a:stretch/>
        </p:blipFill>
        <p:spPr>
          <a:xfrm>
            <a:off x="2241294" y="950140"/>
            <a:ext cx="8106199" cy="5088965"/>
          </a:xfrm>
          <a:prstGeom prst="rect">
            <a:avLst/>
          </a:prstGeom>
          <a:noFill/>
          <a:ln>
            <a:noFill/>
          </a:ln>
        </p:spPr>
      </p:pic>
      <p:sp>
        <p:nvSpPr>
          <p:cNvPr id="580" name="Google Shape;580;p45"/>
          <p:cNvSpPr txBox="1"/>
          <p:nvPr/>
        </p:nvSpPr>
        <p:spPr>
          <a:xfrm>
            <a:off x="1592918" y="6039105"/>
            <a:ext cx="5509260" cy="304421"/>
          </a:xfrm>
          <a:prstGeom prst="rect">
            <a:avLst/>
          </a:prstGeom>
          <a:noFill/>
          <a:ln>
            <a:noFill/>
          </a:ln>
        </p:spPr>
        <p:txBody>
          <a:bodyPr spcFirstLastPara="1" wrap="square" lIns="0" tIns="16925" rIns="0" bIns="0" anchor="t" anchorCtr="0">
            <a:spAutoFit/>
          </a:bodyPr>
          <a:lstStyle/>
          <a:p>
            <a:pPr marL="16933" marR="0" lvl="0" indent="0" algn="l" rtl="0">
              <a:spcBef>
                <a:spcPts val="0"/>
              </a:spcBef>
              <a:spcAft>
                <a:spcPts val="0"/>
              </a:spcAft>
              <a:buNone/>
            </a:pPr>
            <a:r>
              <a:rPr lang="en-US" sz="1867" b="0" i="0" u="sng" strike="noStrike" cap="none">
                <a:solidFill>
                  <a:srgbClr val="1B3678"/>
                </a:solidFill>
                <a:latin typeface="Arial"/>
                <a:ea typeface="Arial"/>
                <a:cs typeface="Arial"/>
                <a:sym typeface="Arial"/>
                <a:hlinkClick r:id="rId4">
                  <a:extLst>
                    <a:ext uri="{A12FA001-AC4F-418D-AE19-62706E023703}">
                      <ahyp:hlinkClr xmlns:ahyp="http://schemas.microsoft.com/office/drawing/2018/hyperlinkcolor" val="tx"/>
                    </a:ext>
                  </a:extLst>
                </a:hlinkClick>
              </a:rPr>
              <a:t>MLOps using Azure ML Services and Azure DevOps</a:t>
            </a:r>
            <a:endParaRPr sz="1867" b="0" i="0" u="none" strike="noStrike" cap="none">
              <a:solidFill>
                <a:schemeClr val="dk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E1DB18D7-F21E-A730-D662-F2D1059138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5" name="Google Shape;585;p46"/>
          <p:cNvPicPr preferRelativeResize="0"/>
          <p:nvPr/>
        </p:nvPicPr>
        <p:blipFill rotWithShape="1">
          <a:blip r:embed="rId3">
            <a:alphaModFix/>
          </a:blip>
          <a:srcRect/>
          <a:stretch/>
        </p:blipFill>
        <p:spPr>
          <a:xfrm>
            <a:off x="1669288" y="1100171"/>
            <a:ext cx="8853424" cy="4985669"/>
          </a:xfrm>
          <a:prstGeom prst="rect">
            <a:avLst/>
          </a:prstGeom>
          <a:noFill/>
          <a:ln>
            <a:noFill/>
          </a:ln>
        </p:spPr>
      </p:pic>
      <p:sp>
        <p:nvSpPr>
          <p:cNvPr id="2" name="Slide Number Placeholder 1">
            <a:extLst>
              <a:ext uri="{FF2B5EF4-FFF2-40B4-BE49-F238E27FC236}">
                <a16:creationId xmlns:a16="http://schemas.microsoft.com/office/drawing/2014/main" id="{E1B09AA8-FEB4-5780-4F4A-F05DE89CBF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47"/>
          <p:cNvPicPr preferRelativeResize="0"/>
          <p:nvPr/>
        </p:nvPicPr>
        <p:blipFill rotWithShape="1">
          <a:blip r:embed="rId3">
            <a:alphaModFix/>
          </a:blip>
          <a:srcRect/>
          <a:stretch/>
        </p:blipFill>
        <p:spPr>
          <a:xfrm>
            <a:off x="1807464" y="969071"/>
            <a:ext cx="8577072" cy="5259009"/>
          </a:xfrm>
          <a:prstGeom prst="rect">
            <a:avLst/>
          </a:prstGeom>
          <a:noFill/>
          <a:ln>
            <a:noFill/>
          </a:ln>
        </p:spPr>
      </p:pic>
      <p:sp>
        <p:nvSpPr>
          <p:cNvPr id="2" name="Slide Number Placeholder 1">
            <a:extLst>
              <a:ext uri="{FF2B5EF4-FFF2-40B4-BE49-F238E27FC236}">
                <a16:creationId xmlns:a16="http://schemas.microsoft.com/office/drawing/2014/main" id="{F1E1D535-A8F2-389A-0C1D-893E20CAE9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pic>
        <p:nvPicPr>
          <p:cNvPr id="595" name="Google Shape;595;p48"/>
          <p:cNvPicPr preferRelativeResize="0"/>
          <p:nvPr/>
        </p:nvPicPr>
        <p:blipFill rotWithShape="1">
          <a:blip r:embed="rId3">
            <a:alphaModFix/>
          </a:blip>
          <a:srcRect/>
          <a:stretch/>
        </p:blipFill>
        <p:spPr>
          <a:xfrm>
            <a:off x="1828800" y="1249681"/>
            <a:ext cx="9256213" cy="4521199"/>
          </a:xfrm>
          <a:prstGeom prst="rect">
            <a:avLst/>
          </a:prstGeom>
          <a:noFill/>
          <a:ln>
            <a:noFill/>
          </a:ln>
        </p:spPr>
      </p:pic>
      <p:sp>
        <p:nvSpPr>
          <p:cNvPr id="2" name="Slide Number Placeholder 1">
            <a:extLst>
              <a:ext uri="{FF2B5EF4-FFF2-40B4-BE49-F238E27FC236}">
                <a16:creationId xmlns:a16="http://schemas.microsoft.com/office/drawing/2014/main" id="{16F62E09-41CD-8E8D-6DB0-0A06633337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pic>
        <p:nvPicPr>
          <p:cNvPr id="600" name="Google Shape;600;p49"/>
          <p:cNvPicPr preferRelativeResize="0"/>
          <p:nvPr/>
        </p:nvPicPr>
        <p:blipFill rotWithShape="1">
          <a:blip r:embed="rId3">
            <a:alphaModFix/>
          </a:blip>
          <a:srcRect/>
          <a:stretch/>
        </p:blipFill>
        <p:spPr>
          <a:xfrm>
            <a:off x="1944624" y="872653"/>
            <a:ext cx="8302752" cy="5324948"/>
          </a:xfrm>
          <a:prstGeom prst="rect">
            <a:avLst/>
          </a:prstGeom>
          <a:noFill/>
          <a:ln>
            <a:noFill/>
          </a:ln>
        </p:spPr>
      </p:pic>
      <p:sp>
        <p:nvSpPr>
          <p:cNvPr id="2" name="Slide Number Placeholder 1">
            <a:extLst>
              <a:ext uri="{FF2B5EF4-FFF2-40B4-BE49-F238E27FC236}">
                <a16:creationId xmlns:a16="http://schemas.microsoft.com/office/drawing/2014/main" id="{D46716AC-6FF4-918C-5D57-30349C4E48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50"/>
          <p:cNvPicPr preferRelativeResize="0"/>
          <p:nvPr/>
        </p:nvPicPr>
        <p:blipFill rotWithShape="1">
          <a:blip r:embed="rId3">
            <a:alphaModFix/>
          </a:blip>
          <a:srcRect/>
          <a:stretch/>
        </p:blipFill>
        <p:spPr>
          <a:xfrm>
            <a:off x="919480" y="1609732"/>
            <a:ext cx="10353040" cy="3638535"/>
          </a:xfrm>
          <a:prstGeom prst="rect">
            <a:avLst/>
          </a:prstGeom>
          <a:noFill/>
          <a:ln>
            <a:noFill/>
          </a:ln>
        </p:spPr>
      </p:pic>
      <p:sp>
        <p:nvSpPr>
          <p:cNvPr id="2" name="Slide Number Placeholder 1">
            <a:extLst>
              <a:ext uri="{FF2B5EF4-FFF2-40B4-BE49-F238E27FC236}">
                <a16:creationId xmlns:a16="http://schemas.microsoft.com/office/drawing/2014/main" id="{74968867-D310-18E4-F991-BD81167DAD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pic>
        <p:nvPicPr>
          <p:cNvPr id="610" name="Google Shape;610;p51"/>
          <p:cNvPicPr preferRelativeResize="0"/>
          <p:nvPr/>
        </p:nvPicPr>
        <p:blipFill rotWithShape="1">
          <a:blip r:embed="rId3">
            <a:alphaModFix/>
          </a:blip>
          <a:srcRect/>
          <a:stretch/>
        </p:blipFill>
        <p:spPr>
          <a:xfrm>
            <a:off x="482600" y="1525426"/>
            <a:ext cx="11226800" cy="3807147"/>
          </a:xfrm>
          <a:prstGeom prst="rect">
            <a:avLst/>
          </a:prstGeom>
          <a:noFill/>
          <a:ln>
            <a:noFill/>
          </a:ln>
        </p:spPr>
      </p:pic>
      <p:sp>
        <p:nvSpPr>
          <p:cNvPr id="2" name="Slide Number Placeholder 1">
            <a:extLst>
              <a:ext uri="{FF2B5EF4-FFF2-40B4-BE49-F238E27FC236}">
                <a16:creationId xmlns:a16="http://schemas.microsoft.com/office/drawing/2014/main" id="{F89CB7E2-7429-2FDD-339B-F255BEB82B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52"/>
          <p:cNvPicPr preferRelativeResize="0"/>
          <p:nvPr/>
        </p:nvPicPr>
        <p:blipFill rotWithShape="1">
          <a:blip r:embed="rId3">
            <a:alphaModFix/>
          </a:blip>
          <a:srcRect/>
          <a:stretch/>
        </p:blipFill>
        <p:spPr>
          <a:xfrm>
            <a:off x="1574800" y="1164063"/>
            <a:ext cx="9042400" cy="4529873"/>
          </a:xfrm>
          <a:prstGeom prst="rect">
            <a:avLst/>
          </a:prstGeom>
          <a:noFill/>
          <a:ln>
            <a:noFill/>
          </a:ln>
        </p:spPr>
      </p:pic>
      <p:sp>
        <p:nvSpPr>
          <p:cNvPr id="2" name="Slide Number Placeholder 1">
            <a:extLst>
              <a:ext uri="{FF2B5EF4-FFF2-40B4-BE49-F238E27FC236}">
                <a16:creationId xmlns:a16="http://schemas.microsoft.com/office/drawing/2014/main" id="{B27CC008-03E0-7036-9E98-522BE2D306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Google Shape;620;p53"/>
          <p:cNvPicPr preferRelativeResize="0"/>
          <p:nvPr/>
        </p:nvPicPr>
        <p:blipFill rotWithShape="1">
          <a:blip r:embed="rId3">
            <a:alphaModFix/>
          </a:blip>
          <a:srcRect/>
          <a:stretch/>
        </p:blipFill>
        <p:spPr>
          <a:xfrm>
            <a:off x="1706880" y="1121359"/>
            <a:ext cx="8402320" cy="4873041"/>
          </a:xfrm>
          <a:prstGeom prst="rect">
            <a:avLst/>
          </a:prstGeom>
          <a:noFill/>
          <a:ln>
            <a:noFill/>
          </a:ln>
        </p:spPr>
      </p:pic>
      <p:sp>
        <p:nvSpPr>
          <p:cNvPr id="2" name="Slide Number Placeholder 1">
            <a:extLst>
              <a:ext uri="{FF2B5EF4-FFF2-40B4-BE49-F238E27FC236}">
                <a16:creationId xmlns:a16="http://schemas.microsoft.com/office/drawing/2014/main" id="{4ED3E120-A3B2-E7C9-14AD-8C3F2A105A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
        <p:nvSpPr>
          <p:cNvPr id="626" name="Google Shape;626;p54"/>
          <p:cNvSpPr txBox="1"/>
          <p:nvPr/>
        </p:nvSpPr>
        <p:spPr>
          <a:xfrm>
            <a:off x="736600" y="1409065"/>
            <a:ext cx="10515600" cy="435133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Q&amp;A </a:t>
            </a:r>
            <a:endParaRPr/>
          </a:p>
          <a:p>
            <a:pPr marL="0" marR="0" lvl="0" indent="0" algn="ctr" rtl="0">
              <a:lnSpc>
                <a:spcPct val="90000"/>
              </a:lnSpc>
              <a:spcBef>
                <a:spcPts val="100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Questions and answers </a:t>
            </a: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
        <p:nvSpPr>
          <p:cNvPr id="632" name="Google Shape;632;p55"/>
          <p:cNvSpPr txBox="1"/>
          <p:nvPr/>
        </p:nvSpPr>
        <p:spPr>
          <a:xfrm>
            <a:off x="4034368" y="2432493"/>
            <a:ext cx="3941233" cy="1371315"/>
          </a:xfrm>
          <a:prstGeom prst="rect">
            <a:avLst/>
          </a:prstGeom>
          <a:noFill/>
          <a:ln>
            <a:noFill/>
          </a:ln>
        </p:spPr>
        <p:txBody>
          <a:bodyPr spcFirstLastPara="1" wrap="square" lIns="0" tIns="16925" rIns="0" bIns="0" anchor="ctr" anchorCtr="0">
            <a:spAutoFit/>
          </a:bodyPr>
          <a:lstStyle/>
          <a:p>
            <a:pPr marL="16933" marR="0" lvl="0" indent="0" algn="l" rtl="0">
              <a:lnSpc>
                <a:spcPct val="100000"/>
              </a:lnSpc>
              <a:spcBef>
                <a:spcPts val="0"/>
              </a:spcBef>
              <a:spcAft>
                <a:spcPts val="0"/>
              </a:spcAft>
              <a:buClr>
                <a:srgbClr val="21C3AB"/>
              </a:buClr>
              <a:buSzPts val="8800"/>
              <a:buFont typeface="Calibri"/>
              <a:buNone/>
            </a:pPr>
            <a:r>
              <a:rPr lang="en-US" sz="8800" b="0" i="0" u="none" strike="noStrike" cap="none">
                <a:solidFill>
                  <a:srgbClr val="21C3AB"/>
                </a:solidFill>
                <a:latin typeface="Calibri"/>
                <a:ea typeface="Calibri"/>
                <a:cs typeface="Calibri"/>
                <a:sym typeface="Calibri"/>
              </a:rPr>
              <a:t>Thanks</a:t>
            </a:r>
            <a:endParaRPr sz="8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1513</Words>
  <Application>Microsoft Office PowerPoint</Application>
  <PresentationFormat>Widescreen</PresentationFormat>
  <Paragraphs>297</Paragraphs>
  <Slides>80</Slides>
  <Notes>80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Trebuchet MS</vt:lpstr>
      <vt:lpstr>Calibri</vt:lpstr>
      <vt:lpstr>Arial</vt:lpstr>
      <vt:lpstr>Tahoma</vt:lpstr>
      <vt:lpstr>Office Theme</vt:lpstr>
      <vt:lpstr>ML Ops Tools: ML ﬂow and  Hugging Face</vt:lpstr>
      <vt:lpstr>Course Overview </vt:lpstr>
      <vt:lpstr>The Proof of Concept Factory</vt:lpstr>
      <vt:lpstr>Gartner Top 10 Data and Analytics Trends</vt:lpstr>
      <vt:lpstr>The problem with scaling AI</vt:lpstr>
      <vt:lpstr>PowerPoint Presentation</vt:lpstr>
      <vt:lpstr>Machine learning operations (MLOps)</vt:lpstr>
      <vt:lpstr>Machine learning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pipeline?</vt:lpstr>
      <vt:lpstr>PowerPoint Presentation</vt:lpstr>
      <vt:lpstr>TensorFlow Extended (TFX)</vt:lpstr>
      <vt:lpstr>TFX 1.0 (19.05.21)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Pipeline orchestration</vt:lpstr>
      <vt:lpstr>TFX &amp; Apache Airﬂow</vt:lpstr>
      <vt:lpstr>TFX &amp; Apache Airﬂow</vt:lpstr>
      <vt:lpstr>TFX &amp; Kubeﬂow pipelines</vt:lpstr>
      <vt:lpstr>PowerPoint Presentation</vt:lpstr>
      <vt:lpstr>PowerPoint Presentation</vt:lpstr>
      <vt:lpstr>PowerPoint Presentation</vt:lpstr>
      <vt:lpstr>PowerPoint Presentation</vt:lpstr>
      <vt:lpstr>ML toolkit for Kubernetes</vt:lpstr>
      <vt:lpstr>Google’s Vertex  AI Launched in  May 2021</vt:lpstr>
      <vt:lpstr>ML Pipelines | wrap-up</vt:lpstr>
      <vt:lpstr>Backup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Ops Tools: ML ﬂow and  Hugging Face</dc:title>
  <dc:creator>SAMA</dc:creator>
  <cp:lastModifiedBy>Mai Ahmed</cp:lastModifiedBy>
  <cp:revision>1</cp:revision>
  <dcterms:created xsi:type="dcterms:W3CDTF">2024-03-14T10:03:54Z</dcterms:created>
  <dcterms:modified xsi:type="dcterms:W3CDTF">2024-04-17T15:00:56Z</dcterms:modified>
</cp:coreProperties>
</file>